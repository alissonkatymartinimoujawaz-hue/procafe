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8"/>
          <c:w val="0.91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9C93D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125.2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173.9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179.7F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125.15100000000002</c:v>
                </c:pt>
                <c:pt idx="1">
                  <c:v>124.35200000000003</c:v>
                </c:pt>
                <c:pt idx="2">
                  <c:v>128.90800000000002</c:v>
                </c:pt>
                <c:pt idx="3">
                  <c:v>125.867</c:v>
                </c:pt>
                <c:pt idx="4">
                  <c:v>139.19599999999997</c:v>
                </c:pt>
                <c:pt idx="5">
                  <c:v>135.508</c:v>
                </c:pt>
                <c:pt idx="6">
                  <c:v>142.831</c:v>
                </c:pt>
                <c:pt idx="7">
                  <c:v>143.39999999999998</c:v>
                </c:pt>
                <c:pt idx="8">
                  <c:v>143.877</c:v>
                </c:pt>
                <c:pt idx="9">
                  <c:v>147.163</c:v>
                </c:pt>
                <c:pt idx="10">
                  <c:v>153.18599999999998</c:v>
                </c:pt>
                <c:pt idx="11">
                  <c:v>155.104</c:v>
                </c:pt>
                <c:pt idx="12">
                  <c:v>160.627</c:v>
                </c:pt>
                <c:pt idx="13">
                  <c:v>166.00300000000001</c:v>
                </c:pt>
                <c:pt idx="14">
                  <c:v>162.355</c:v>
                </c:pt>
                <c:pt idx="15">
                  <c:v>162.093</c:v>
                </c:pt>
                <c:pt idx="16">
                  <c:v>167.88299999999998</c:v>
                </c:pt>
                <c:pt idx="17">
                  <c:v>168.75399999999996</c:v>
                </c:pt>
                <c:pt idx="18">
                  <c:v>163.96800000000002</c:v>
                </c:pt>
                <c:pt idx="19">
                  <c:v>171.556</c:v>
                </c:pt>
                <c:pt idx="20">
                  <c:v>173.852</c:v>
                </c:pt>
                <c:pt idx="21">
                  <c:v>179.7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5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5"/>
          <c:w val="0.91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y/y %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4A3AA7"/>
              </a:solidFill>
            </c:spPr>
          </c:dPt>
          <c:dPt>
            <c:idx val="1"/>
            <c:invertIfNegative val="0"/>
            <c:spPr>
              <a:solidFill>
                <a:srgbClr val="E34948"/>
              </a:solidFill>
            </c:spPr>
          </c:dPt>
          <c:dPt>
            <c:idx val="2"/>
            <c:invertIfNegative val="0"/>
            <c:spPr>
              <a:solidFill>
                <a:srgbClr val="4A3AA7"/>
              </a:solidFill>
            </c:spPr>
          </c:dPt>
          <c:dPt>
            <c:idx val="3"/>
            <c:invertIfNegative val="0"/>
            <c:spPr>
              <a:solidFill>
                <a:srgbClr val="E34948"/>
              </a:solidFill>
            </c:spPr>
          </c:dPt>
          <c:dPt>
            <c:idx val="4"/>
            <c:invertIfNegative val="0"/>
            <c:spPr>
              <a:solidFill>
                <a:srgbClr val="4A3AA7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6"/>
            <c:invertIfNegative val="0"/>
            <c:spPr>
              <a:solidFill>
                <a:srgbClr val="4A3AA7"/>
              </a:solidFill>
            </c:spPr>
          </c:dPt>
          <c:dPt>
            <c:idx val="7"/>
            <c:invertIfNegative val="0"/>
            <c:spPr>
              <a:solidFill>
                <a:srgbClr val="4A3AA7"/>
              </a:solidFill>
            </c:spPr>
          </c:dPt>
          <c:dPt>
            <c:idx val="8"/>
            <c:invertIfNegative val="0"/>
            <c:spPr>
              <a:solidFill>
                <a:srgbClr val="4A3AA7"/>
              </a:solidFill>
            </c:spPr>
          </c:dPt>
          <c:dPt>
            <c:idx val="9"/>
            <c:invertIfNegative val="0"/>
            <c:spPr>
              <a:solidFill>
                <a:srgbClr val="4A3AA7"/>
              </a:solidFill>
            </c:spPr>
          </c:dPt>
          <c:dPt>
            <c:idx val="10"/>
            <c:invertIfNegative val="0"/>
            <c:spPr>
              <a:solidFill>
                <a:srgbClr val="4A3AA7"/>
              </a:solidFill>
            </c:spPr>
          </c:dPt>
          <c:dPt>
            <c:idx val="11"/>
            <c:invertIfNegative val="0"/>
            <c:spPr>
              <a:solidFill>
                <a:srgbClr val="4A3AA7"/>
              </a:solidFill>
            </c:spPr>
          </c:dPt>
          <c:dPt>
            <c:idx val="12"/>
            <c:invertIfNegative val="0"/>
            <c:spPr>
              <a:solidFill>
                <a:srgbClr val="4A3AA7"/>
              </a:solidFill>
            </c:spPr>
          </c:dPt>
          <c:dPt>
            <c:idx val="13"/>
            <c:invertIfNegative val="0"/>
            <c:spPr>
              <a:solidFill>
                <a:srgbClr val="4A3AA7"/>
              </a:solidFill>
            </c:spPr>
          </c:dPt>
          <c:dPt>
            <c:idx val="14"/>
            <c:invertIfNegative val="0"/>
            <c:spPr>
              <a:solidFill>
                <a:srgbClr val="E34948"/>
              </a:solidFill>
            </c:spPr>
          </c:dPt>
          <c:dPt>
            <c:idx val="15"/>
            <c:invertIfNegative val="0"/>
            <c:spPr>
              <a:solidFill>
                <a:srgbClr val="E34948"/>
              </a:solidFill>
            </c:spPr>
          </c:dPt>
          <c:dPt>
            <c:idx val="16"/>
            <c:invertIfNegative val="0"/>
            <c:spPr>
              <a:solidFill>
                <a:srgbClr val="4A3AA7"/>
              </a:solidFill>
            </c:spPr>
          </c:dPt>
          <c:dPt>
            <c:idx val="17"/>
            <c:invertIfNegative val="0"/>
            <c:spPr>
              <a:solidFill>
                <a:srgbClr val="4A3AA7"/>
              </a:solidFill>
            </c:spPr>
          </c:dPt>
          <c:dPt>
            <c:idx val="18"/>
            <c:invertIfNegative val="0"/>
            <c:spPr>
              <a:solidFill>
                <a:srgbClr val="E34948"/>
              </a:solidFill>
            </c:spPr>
          </c:dPt>
          <c:dPt>
            <c:idx val="19"/>
            <c:invertIfNegative val="0"/>
            <c:spPr>
              <a:solidFill>
                <a:srgbClr val="4A3AA7"/>
              </a:solidFill>
            </c:spPr>
          </c:dPt>
          <c:dPt>
            <c:idx val="20"/>
            <c:invertIfNegative val="0"/>
            <c:spPr>
              <a:solidFill>
                <a:srgbClr val="4A3AA7"/>
              </a:solidFill>
            </c:spPr>
          </c:dPt>
          <c:dPt>
            <c:idx val="21"/>
            <c:invertIfNegative val="0"/>
            <c:spPr>
              <a:solidFill>
                <a:srgbClr val="9C93D6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−0.6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−2.4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+10.6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−2.6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+5.4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−2.2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−0.2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−2.8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52514E"/>
                        </a:solidFill>
                        <a:latin typeface="Calibri"/>
                      </a:rPr>
                      <a:t>+4.6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1">
                  <c:v>-0.6384287780361264</c:v>
                </c:pt>
                <c:pt idx="2">
                  <c:v>3.663793103448265</c:v>
                </c:pt>
                <c:pt idx="3">
                  <c:v>-2.3590467620318467</c:v>
                </c:pt>
                <c:pt idx="4">
                  <c:v>10.589749497485412</c:v>
                </c:pt>
                <c:pt idx="5">
                  <c:v>-2.6495014224546365</c:v>
                </c:pt>
                <c:pt idx="6">
                  <c:v>5.404108982495481</c:v>
                </c:pt>
                <c:pt idx="7">
                  <c:v>0.39837290224109534</c:v>
                </c:pt>
                <c:pt idx="8">
                  <c:v>0.3326359832636294</c:v>
                </c:pt>
                <c:pt idx="9">
                  <c:v>2.283895271655645</c:v>
                </c:pt>
                <c:pt idx="10">
                  <c:v>4.0927407024863305</c:v>
                </c:pt>
                <c:pt idx="11">
                  <c:v>1.2520726437142082</c:v>
                </c:pt>
                <c:pt idx="12">
                  <c:v>3.560836599958739</c:v>
                </c:pt>
                <c:pt idx="13">
                  <c:v>3.3468843967701556</c:v>
                </c:pt>
                <c:pt idx="14">
                  <c:v>-2.1975506466750727</c:v>
                </c:pt>
                <c:pt idx="15">
                  <c:v>-0.16137476517508187</c:v>
                </c:pt>
                <c:pt idx="16">
                  <c:v>3.572023468009111</c:v>
                </c:pt>
                <c:pt idx="17">
                  <c:v>0.5188136976346458</c:v>
                </c:pt>
                <c:pt idx="18">
                  <c:v>-2.8360809225262518</c:v>
                </c:pt>
                <c:pt idx="19">
                  <c:v>4.627732240437155</c:v>
                </c:pt>
                <c:pt idx="20">
                  <c:v>1.3383385017137206</c:v>
                </c:pt>
                <c:pt idx="21">
                  <c:v>3.363780687021145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2.0"/>
          <c:min val="-5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4"/>
          <c:w val="0.91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</c:v>
                </c:pt>
              </c:strCache>
            </c:strRef>
          </c:tx>
          <c:spPr>
            <a:ln w="28575">
              <a:solidFill>
                <a:srgbClr val="1BAF7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189.7F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117.883</c:v>
                </c:pt>
                <c:pt idx="1">
                  <c:v>134.04999999999998</c:v>
                </c:pt>
                <c:pt idx="2">
                  <c:v>124.388</c:v>
                </c:pt>
                <c:pt idx="3">
                  <c:v>136.75099999999998</c:v>
                </c:pt>
                <c:pt idx="4">
                  <c:v>129.77399999999997</c:v>
                </c:pt>
                <c:pt idx="5">
                  <c:v>141.40900000000002</c:v>
                </c:pt>
                <c:pt idx="6">
                  <c:v>144.837</c:v>
                </c:pt>
                <c:pt idx="7">
                  <c:v>158.01799999999997</c:v>
                </c:pt>
                <c:pt idx="8">
                  <c:v>160.05399999999997</c:v>
                </c:pt>
                <c:pt idx="9">
                  <c:v>153.796</c:v>
                </c:pt>
                <c:pt idx="10">
                  <c:v>152.429</c:v>
                </c:pt>
                <c:pt idx="11">
                  <c:v>161.07899999999998</c:v>
                </c:pt>
                <c:pt idx="12">
                  <c:v>159.814</c:v>
                </c:pt>
                <c:pt idx="13">
                  <c:v>175.856</c:v>
                </c:pt>
                <c:pt idx="14">
                  <c:v>169.03000000000003</c:v>
                </c:pt>
                <c:pt idx="15">
                  <c:v>176.549</c:v>
                </c:pt>
                <c:pt idx="16">
                  <c:v>165.04399999999998</c:v>
                </c:pt>
                <c:pt idx="17">
                  <c:v>164.389</c:v>
                </c:pt>
                <c:pt idx="18">
                  <c:v>169.345</c:v>
                </c:pt>
                <c:pt idx="19">
                  <c:v>175.316</c:v>
                </c:pt>
                <c:pt idx="20">
                  <c:v>178.848</c:v>
                </c:pt>
                <c:pt idx="21">
                  <c:v>189.667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Consumption</c:v>
                </c:pt>
              </c:strCache>
            </c:strRef>
          </c:tx>
          <c:spPr>
            <a:ln w="28575">
              <a:solidFill>
                <a:srgbClr val="4A3AA7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179.7F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125.15100000000002</c:v>
                </c:pt>
                <c:pt idx="1">
                  <c:v>124.35200000000003</c:v>
                </c:pt>
                <c:pt idx="2">
                  <c:v>128.90800000000002</c:v>
                </c:pt>
                <c:pt idx="3">
                  <c:v>125.867</c:v>
                </c:pt>
                <c:pt idx="4">
                  <c:v>139.19599999999997</c:v>
                </c:pt>
                <c:pt idx="5">
                  <c:v>135.508</c:v>
                </c:pt>
                <c:pt idx="6">
                  <c:v>142.831</c:v>
                </c:pt>
                <c:pt idx="7">
                  <c:v>143.39999999999998</c:v>
                </c:pt>
                <c:pt idx="8">
                  <c:v>143.877</c:v>
                </c:pt>
                <c:pt idx="9">
                  <c:v>147.163</c:v>
                </c:pt>
                <c:pt idx="10">
                  <c:v>153.18599999999998</c:v>
                </c:pt>
                <c:pt idx="11">
                  <c:v>155.104</c:v>
                </c:pt>
                <c:pt idx="12">
                  <c:v>160.627</c:v>
                </c:pt>
                <c:pt idx="13">
                  <c:v>166.00300000000001</c:v>
                </c:pt>
                <c:pt idx="14">
                  <c:v>162.355</c:v>
                </c:pt>
                <c:pt idx="15">
                  <c:v>162.093</c:v>
                </c:pt>
                <c:pt idx="16">
                  <c:v>167.88299999999998</c:v>
                </c:pt>
                <c:pt idx="17">
                  <c:v>168.75399999999996</c:v>
                </c:pt>
                <c:pt idx="18">
                  <c:v>163.96800000000002</c:v>
                </c:pt>
                <c:pt idx="19">
                  <c:v>171.556</c:v>
                </c:pt>
                <c:pt idx="20">
                  <c:v>173.852</c:v>
                </c:pt>
                <c:pt idx="21">
                  <c:v>179.7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00.0"/>
          <c:min val="10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5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7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change</c:v>
                </c:pt>
              </c:strCache>
            </c:strRef>
          </c:tx>
          <c:spPr>
            <a:solidFill>
              <a:srgbClr val="A9A79F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A9A79F"/>
              </a:solidFill>
            </c:spPr>
          </c:dPt>
          <c:dPt>
            <c:idx val="1"/>
            <c:invertIfNegative val="0"/>
            <c:spPr>
              <a:solidFill>
                <a:srgbClr val="A9A79F"/>
              </a:solidFill>
            </c:spPr>
          </c:dPt>
          <c:dPt>
            <c:idx val="2"/>
            <c:invertIfNegative val="0"/>
            <c:spPr>
              <a:solidFill>
                <a:srgbClr val="E34948"/>
              </a:solidFill>
            </c:spPr>
          </c:dPt>
          <c:dPt>
            <c:idx val="3"/>
            <c:invertIfNegative val="0"/>
            <c:spPr>
              <a:solidFill>
                <a:srgbClr val="A9A79F"/>
              </a:solidFill>
            </c:spPr>
          </c:dPt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6"/>
            <c:invertIfNegative val="0"/>
            <c:spPr>
              <a:solidFill>
                <a:srgbClr val="E34948"/>
              </a:solidFill>
            </c:spPr>
          </c:dPt>
          <c:dPt>
            <c:idx val="7"/>
            <c:invertIfNegative val="0"/>
            <c:spPr>
              <a:solidFill>
                <a:srgbClr val="A9A79F"/>
              </a:solidFill>
            </c:spPr>
          </c:dPt>
          <c:dPt>
            <c:idx val="8"/>
            <c:invertIfNegative val="0"/>
            <c:spPr>
              <a:solidFill>
                <a:srgbClr val="A9A79F"/>
              </a:solidFill>
            </c:spPr>
          </c:dPt>
          <c:dPt>
            <c:idx val="9"/>
            <c:invertIfNegative val="0"/>
            <c:spPr>
              <a:solidFill>
                <a:srgbClr val="A9A79F"/>
              </a:solidFill>
            </c:spPr>
          </c:dPt>
          <c:dPt>
            <c:idx val="10"/>
            <c:invertIfNegative val="0"/>
            <c:spPr>
              <a:solidFill>
                <a:srgbClr val="E34948"/>
              </a:solidFill>
            </c:spPr>
          </c:dPt>
          <c:dPt>
            <c:idx val="11"/>
            <c:invertIfNegative val="0"/>
            <c:spPr>
              <a:solidFill>
                <a:srgbClr val="A9A79F"/>
              </a:solidFill>
            </c:spPr>
          </c:dPt>
          <c:dPt>
            <c:idx val="12"/>
            <c:invertIfNegative val="0"/>
            <c:spPr>
              <a:solidFill>
                <a:srgbClr val="E34948"/>
              </a:solidFill>
            </c:spPr>
          </c:dPt>
          <c:dPt>
            <c:idx val="13"/>
            <c:invertIfNegative val="0"/>
            <c:spPr>
              <a:solidFill>
                <a:srgbClr val="A9A79F"/>
              </a:solidFill>
            </c:spPr>
          </c:dPt>
          <c:dPt>
            <c:idx val="14"/>
            <c:invertIfNegative val="0"/>
            <c:spPr>
              <a:solidFill>
                <a:srgbClr val="E34948"/>
              </a:solidFill>
            </c:spPr>
          </c:dPt>
          <c:dPt>
            <c:idx val="15"/>
            <c:invertIfNegative val="0"/>
            <c:spPr>
              <a:solidFill>
                <a:srgbClr val="A9A79F"/>
              </a:solidFill>
            </c:spPr>
          </c:dPt>
          <c:dPt>
            <c:idx val="16"/>
            <c:invertIfNegative val="0"/>
            <c:spPr>
              <a:solidFill>
                <a:srgbClr val="E34948"/>
              </a:solidFill>
            </c:spPr>
          </c:dPt>
          <c:dPt>
            <c:idx val="17"/>
            <c:invertIfNegative val="0"/>
            <c:spPr>
              <a:solidFill>
                <a:srgbClr val="E34948"/>
              </a:solidFill>
            </c:spPr>
          </c:dPt>
          <c:dPt>
            <c:idx val="18"/>
            <c:invertIfNegative val="0"/>
            <c:spPr>
              <a:solidFill>
                <a:srgbClr val="E34948"/>
              </a:solidFill>
            </c:spPr>
          </c:dPt>
          <c:dPt>
            <c:idx val="19"/>
            <c:invertIfNegative val="0"/>
            <c:spPr>
              <a:solidFill>
                <a:srgbClr val="E34948"/>
              </a:solidFill>
            </c:spPr>
          </c:dPt>
          <c:dPt>
            <c:idx val="20"/>
            <c:invertIfNegative val="0"/>
            <c:spPr>
              <a:solidFill>
                <a:srgbClr val="E34948"/>
              </a:solidFill>
            </c:spPr>
          </c:dPt>
          <c:dPt>
            <c:idx val="21"/>
            <c:invertIfNegative val="0"/>
            <c:spPr>
              <a:solidFill>
                <a:srgbClr val="A9A79F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+8.2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−10.7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+9.6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+5.8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−8.2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−5.6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−5.0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1">
                  <c:v>3.124999999999986</c:v>
                </c:pt>
                <c:pt idx="2">
                  <c:v>-4.297999999999998</c:v>
                </c:pt>
                <c:pt idx="3">
                  <c:v>8.184999999999999</c:v>
                </c:pt>
                <c:pt idx="4">
                  <c:v>-10.747999999999994</c:v>
                </c:pt>
                <c:pt idx="5">
                  <c:v>-0.20500000000000185</c:v>
                </c:pt>
                <c:pt idx="6">
                  <c:v>-2.8919999999999995</c:v>
                </c:pt>
                <c:pt idx="7">
                  <c:v>9.617</c:v>
                </c:pt>
                <c:pt idx="8">
                  <c:v>5.8189999999999955</c:v>
                </c:pt>
                <c:pt idx="9">
                  <c:v>1.9480000000000075</c:v>
                </c:pt>
                <c:pt idx="10">
                  <c:v>-8.181000000000004</c:v>
                </c:pt>
                <c:pt idx="11">
                  <c:v>1.5020000000000024</c:v>
                </c:pt>
                <c:pt idx="12">
                  <c:v>-4.5020000000000024</c:v>
                </c:pt>
                <c:pt idx="13">
                  <c:v>4.994999999999997</c:v>
                </c:pt>
                <c:pt idx="14">
                  <c:v>-1.1379999999999981</c:v>
                </c:pt>
                <c:pt idx="15">
                  <c:v>1.686</c:v>
                </c:pt>
                <c:pt idx="16">
                  <c:v>-5.553999999999995</c:v>
                </c:pt>
                <c:pt idx="17">
                  <c:v>-5.006000000000004</c:v>
                </c:pt>
                <c:pt idx="18">
                  <c:v>-3.8130000000000024</c:v>
                </c:pt>
                <c:pt idx="19">
                  <c:v>-1.814</c:v>
                </c:pt>
                <c:pt idx="20">
                  <c:v>-1.158999999999999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2.0"/>
          <c:min val="-12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6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1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2005/06–2010/11</c:v>
                </c:pt>
                <c:pt idx="1">
                  <c:v>2010/11–2015/16</c:v>
                </c:pt>
                <c:pt idx="2">
                  <c:v>2015/16–2020/21</c:v>
                </c:pt>
                <c:pt idx="3">
                  <c:v>2020/21–2025/26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1.6029042801207316</c:v>
                </c:pt>
                <c:pt idx="1">
                  <c:v>2.482763556996659</c:v>
                </c:pt>
                <c:pt idx="2">
                  <c:v>1.136760071470544</c:v>
                </c:pt>
                <c:pt idx="3">
                  <c:v>1.4105378758055398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2005/06–2010/11</c:v>
                </c:pt>
                <c:pt idx="1">
                  <c:v>2010/11–2015/16</c:v>
                </c:pt>
                <c:pt idx="2">
                  <c:v>2015/16–2020/21</c:v>
                </c:pt>
                <c:pt idx="3">
                  <c:v>2020/21–2025/26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3.706308206170328</c:v>
                </c:pt>
                <c:pt idx="1">
                  <c:v>1.512169579434408</c:v>
                </c:pt>
                <c:pt idx="2">
                  <c:v>2.981575631328437</c:v>
                </c:pt>
                <c:pt idx="3">
                  <c:v>0.2590915604957278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52514E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5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"/>
          <c:w val="0.91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Stocks-to-use</c:v>
                </c:pt>
              </c:strCache>
            </c:strRef>
          </c:tx>
          <c:spPr>
            <a:solidFill>
              <a:srgbClr val="898781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17"/>
            <c:invertIfNegative val="0"/>
            <c:spPr>
              <a:solidFill>
                <a:srgbClr val="E34948"/>
              </a:solidFill>
            </c:spPr>
          </c:dPt>
          <c:dPt>
            <c:idx val="18"/>
            <c:invertIfNegative val="0"/>
            <c:spPr>
              <a:solidFill>
                <a:srgbClr val="E34948"/>
              </a:solidFill>
            </c:spPr>
          </c:dPt>
          <c:dPt>
            <c:idx val="19"/>
            <c:invertIfNegative val="0"/>
            <c:spPr>
              <a:solidFill>
                <a:srgbClr val="E34948"/>
              </a:solidFill>
            </c:spPr>
          </c:dPt>
          <c:dPt>
            <c:idx val="20"/>
            <c:invertIfNegative val="0"/>
            <c:spPr>
              <a:solidFill>
                <a:srgbClr val="E34948"/>
              </a:solidFill>
            </c:spPr>
          </c:dPt>
          <c:dPt>
            <c:idx val="21"/>
            <c:invertIfNegative val="0"/>
            <c:spPr>
              <a:solidFill>
                <a:srgbClr val="C9C7C0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15%F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26.03335171113296</c:v>
                </c:pt>
                <c:pt idx="1">
                  <c:v>28.713651569737507</c:v>
                </c:pt>
                <c:pt idx="2">
                  <c:v>24.364663170633317</c:v>
                </c:pt>
                <c:pt idx="3">
                  <c:v>31.45621966043522</c:v>
                </c:pt>
                <c:pt idx="4">
                  <c:v>20.722578235006758</c:v>
                </c:pt>
                <c:pt idx="5">
                  <c:v>21.1352835256959</c:v>
                </c:pt>
                <c:pt idx="6">
                  <c:v>18.02689892250282</c:v>
                </c:pt>
                <c:pt idx="7">
                  <c:v>24.66178521617853</c:v>
                </c:pt>
                <c:pt idx="8">
                  <c:v>28.624450051085297</c:v>
                </c:pt>
                <c:pt idx="9">
                  <c:v>29.308997506166634</c:v>
                </c:pt>
                <c:pt idx="10">
                  <c:v>22.81605368636821</c:v>
                </c:pt>
                <c:pt idx="11">
                  <c:v>23.502295234165462</c:v>
                </c:pt>
                <c:pt idx="12">
                  <c:v>19.8914254764143</c:v>
                </c:pt>
                <c:pt idx="13">
                  <c:v>22.25622428510328</c:v>
                </c:pt>
                <c:pt idx="14">
                  <c:v>22.055372486218474</c:v>
                </c:pt>
                <c:pt idx="15">
                  <c:v>23.13116544206104</c:v>
                </c:pt>
                <c:pt idx="16">
                  <c:v>19.025154423020798</c:v>
                </c:pt>
                <c:pt idx="17">
                  <c:v>15.960510565675484</c:v>
                </c:pt>
                <c:pt idx="18">
                  <c:v>14.10092213114754</c:v>
                </c:pt>
                <c:pt idx="19">
                  <c:v>12.419851243908694</c:v>
                </c:pt>
                <c:pt idx="20">
                  <c:v>11.589167797897062</c:v>
                </c:pt>
                <c:pt idx="21">
                  <c:v>14.635503617139678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4"/>
          <c:w val="0.91"/>
          <c:h val="0.7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 (Other Milds)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none"/>
          </c:marker>
          <c:dLbls>
            <c:dLbl>
              <c:idx val="19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361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110.86833333333334</c:v>
                </c:pt>
                <c:pt idx="1">
                  <c:v>120.1025</c:v>
                </c:pt>
                <c:pt idx="2">
                  <c:v>142.97166666666666</c:v>
                </c:pt>
                <c:pt idx="3">
                  <c:v>135.38333333333333</c:v>
                </c:pt>
                <c:pt idx="4">
                  <c:v>176.40916666666666</c:v>
                </c:pt>
                <c:pt idx="5">
                  <c:v>268.7075</c:v>
                </c:pt>
                <c:pt idx="6">
                  <c:v>206.71583333333334</c:v>
                </c:pt>
                <c:pt idx="7">
                  <c:v>148.60916666666665</c:v>
                </c:pt>
                <c:pt idx="8">
                  <c:v>179.39083333333335</c:v>
                </c:pt>
                <c:pt idx="9">
                  <c:v>174.75666666666666</c:v>
                </c:pt>
                <c:pt idx="10">
                  <c:v>157.58833333333334</c:v>
                </c:pt>
                <c:pt idx="11">
                  <c:v>159.58333333333334</c:v>
                </c:pt>
                <c:pt idx="12">
                  <c:v>134.16583333333332</c:v>
                </c:pt>
                <c:pt idx="13">
                  <c:v>128.67583333333334</c:v>
                </c:pt>
                <c:pt idx="14">
                  <c:v>147.77583333333334</c:v>
                </c:pt>
                <c:pt idx="15">
                  <c:v>179.05666666666664</c:v>
                </c:pt>
                <c:pt idx="16">
                  <c:v>264.1475</c:v>
                </c:pt>
                <c:pt idx="17">
                  <c:v>212.00166666666667</c:v>
                </c:pt>
                <c:pt idx="18">
                  <c:v>227.5975</c:v>
                </c:pt>
                <c:pt idx="19">
                  <c:v>360.7616666666667</c:v>
                </c:pt>
                <c:pt idx="2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none"/>
          </c:marker>
          <c:dLbls>
            <c:dLbl>
              <c:idx val="19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226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61.45583333333334</c:v>
                </c:pt>
                <c:pt idx="1">
                  <c:v>82.7525</c:v>
                </c:pt>
                <c:pt idx="2">
                  <c:v>106.37083333333334</c:v>
                </c:pt>
                <c:pt idx="3">
                  <c:v>78.61333333333333</c:v>
                </c:pt>
                <c:pt idx="4">
                  <c:v>73.85000000000001</c:v>
                </c:pt>
                <c:pt idx="5">
                  <c:v>107.3275</c:v>
                </c:pt>
                <c:pt idx="6">
                  <c:v>102.45666666666666</c:v>
                </c:pt>
                <c:pt idx="7">
                  <c:v>98.08666666666666</c:v>
                </c:pt>
                <c:pt idx="8">
                  <c:v>95.84249999999999</c:v>
                </c:pt>
                <c:pt idx="9">
                  <c:v>93.22500000000001</c:v>
                </c:pt>
                <c:pt idx="10">
                  <c:v>83.165</c:v>
                </c:pt>
                <c:pt idx="11">
                  <c:v>103.62083333333334</c:v>
                </c:pt>
                <c:pt idx="12">
                  <c:v>87.35083333333334</c:v>
                </c:pt>
                <c:pt idx="13">
                  <c:v>76.16166666666668</c:v>
                </c:pt>
                <c:pt idx="14">
                  <c:v>68.9675</c:v>
                </c:pt>
                <c:pt idx="15">
                  <c:v>80.28083333333333</c:v>
                </c:pt>
                <c:pt idx="16">
                  <c:v>106.89166666666667</c:v>
                </c:pt>
                <c:pt idx="17">
                  <c:v>111.71416666666666</c:v>
                </c:pt>
                <c:pt idx="18">
                  <c:v>175.03166666666667</c:v>
                </c:pt>
                <c:pt idx="19">
                  <c:v>225.6866666666667</c:v>
                </c:pt>
                <c:pt idx="2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10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"/>
          <c:y val="0.06"/>
          <c:w val="0.72"/>
          <c:h val="0.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2005/06</c:v>
                </c:pt>
              </c:strCache>
            </c:strRef>
          </c:tx>
          <c:spPr>
            <a:solidFill>
              <a:srgbClr val="C9C7C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Sheet1!$A$2:$A$16</c:f>
              <c:strCache>
                <c:ptCount val="15"/>
                <c:pt idx="0">
                  <c:v>Colombia</c:v>
                </c:pt>
                <c:pt idx="1">
                  <c:v>Australia</c:v>
                </c:pt>
                <c:pt idx="2">
                  <c:v>Mexico</c:v>
                </c:pt>
                <c:pt idx="3">
                  <c:v>Korea, South</c:v>
                </c:pt>
                <c:pt idx="4">
                  <c:v>Ethiopia</c:v>
                </c:pt>
                <c:pt idx="5">
                  <c:v>Russia</c:v>
                </c:pt>
                <c:pt idx="6">
                  <c:v>Indonesia</c:v>
                </c:pt>
                <c:pt idx="7">
                  <c:v>Vietnam</c:v>
                </c:pt>
                <c:pt idx="8">
                  <c:v>Canada</c:v>
                </c:pt>
                <c:pt idx="9">
                  <c:v>China</c:v>
                </c:pt>
                <c:pt idx="10">
                  <c:v>Japan</c:v>
                </c:pt>
                <c:pt idx="11">
                  <c:v>Philippines</c:v>
                </c:pt>
                <c:pt idx="12">
                  <c:v>Brazil</c:v>
                </c:pt>
                <c:pt idx="13">
                  <c:v>United States</c:v>
                </c:pt>
                <c:pt idx="14">
                  <c:v>EU-27 + UK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1.302</c:v>
                </c:pt>
                <c:pt idx="1">
                  <c:v>1.13</c:v>
                </c:pt>
                <c:pt idx="2">
                  <c:v>1.9</c:v>
                </c:pt>
                <c:pt idx="3">
                  <c:v>1.455</c:v>
                </c:pt>
                <c:pt idx="4">
                  <c:v>1.826</c:v>
                </c:pt>
                <c:pt idx="5">
                  <c:v>3.585</c:v>
                </c:pt>
                <c:pt idx="6">
                  <c:v>1.695</c:v>
                </c:pt>
                <c:pt idx="7">
                  <c:v>0.665</c:v>
                </c:pt>
                <c:pt idx="8">
                  <c:v>3.205</c:v>
                </c:pt>
                <c:pt idx="9">
                  <c:v>0.198</c:v>
                </c:pt>
                <c:pt idx="10">
                  <c:v>7.275</c:v>
                </c:pt>
                <c:pt idx="11">
                  <c:v>1.21</c:v>
                </c:pt>
                <c:pt idx="12">
                  <c:v>15.915</c:v>
                </c:pt>
                <c:pt idx="13">
                  <c:v>22.066</c:v>
                </c:pt>
                <c:pt idx="14">
                  <c:v>43.675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2025/26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2.3  (1.3%)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2.6  (1.5%)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3.1  (1.8%)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3.4  (2.0%)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3.7  (2.1%)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4.6  (2.6%)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4.8  (2.8%)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4.9  (2.8%)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5.2  (3.0%)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5.8  (3.4%)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6.7  (3.9%)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6.8  (3.9%)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22.3  (12.8%)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26.6  (15.3%)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46.2  (26.6%)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Colombia</c:v>
                </c:pt>
                <c:pt idx="1">
                  <c:v>Australia</c:v>
                </c:pt>
                <c:pt idx="2">
                  <c:v>Mexico</c:v>
                </c:pt>
                <c:pt idx="3">
                  <c:v>Korea, South</c:v>
                </c:pt>
                <c:pt idx="4">
                  <c:v>Ethiopia</c:v>
                </c:pt>
                <c:pt idx="5">
                  <c:v>Russia</c:v>
                </c:pt>
                <c:pt idx="6">
                  <c:v>Indonesia</c:v>
                </c:pt>
                <c:pt idx="7">
                  <c:v>Vietnam</c:v>
                </c:pt>
                <c:pt idx="8">
                  <c:v>Canada</c:v>
                </c:pt>
                <c:pt idx="9">
                  <c:v>China</c:v>
                </c:pt>
                <c:pt idx="10">
                  <c:v>Japan</c:v>
                </c:pt>
                <c:pt idx="11">
                  <c:v>Philippines</c:v>
                </c:pt>
                <c:pt idx="12">
                  <c:v>Brazil</c:v>
                </c:pt>
                <c:pt idx="13">
                  <c:v>United States</c:v>
                </c:pt>
                <c:pt idx="14">
                  <c:v>EU-27 + UK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2.27</c:v>
                </c:pt>
                <c:pt idx="1">
                  <c:v>2.6</c:v>
                </c:pt>
                <c:pt idx="2">
                  <c:v>3.1</c:v>
                </c:pt>
                <c:pt idx="3">
                  <c:v>3.4</c:v>
                </c:pt>
                <c:pt idx="4">
                  <c:v>3.7</c:v>
                </c:pt>
                <c:pt idx="5">
                  <c:v>4.575</c:v>
                </c:pt>
                <c:pt idx="6">
                  <c:v>4.81</c:v>
                </c:pt>
                <c:pt idx="7">
                  <c:v>4.9</c:v>
                </c:pt>
                <c:pt idx="8">
                  <c:v>5.2</c:v>
                </c:pt>
                <c:pt idx="9">
                  <c:v>5.85</c:v>
                </c:pt>
                <c:pt idx="10">
                  <c:v>6.718</c:v>
                </c:pt>
                <c:pt idx="11">
                  <c:v>6.75</c:v>
                </c:pt>
                <c:pt idx="12">
                  <c:v>22.28</c:v>
                </c:pt>
                <c:pt idx="13">
                  <c:v>26.55</c:v>
                </c:pt>
                <c:pt idx="14">
                  <c:v>46.199999999999996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b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3"/>
          <c:w val="0.72"/>
          <c:h val="0.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2005/06→2025/26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EDA100"/>
              </a:solidFill>
            </c:spPr>
          </c:dPt>
          <c:dPt>
            <c:idx val="1"/>
            <c:invertIfNegative val="0"/>
            <c:spPr>
              <a:solidFill>
                <a:srgbClr val="EDA100"/>
              </a:solidFill>
            </c:spPr>
          </c:dPt>
          <c:dPt>
            <c:idx val="2"/>
            <c:invertIfNegative val="0"/>
            <c:spPr>
              <a:solidFill>
                <a:srgbClr val="EDA100"/>
              </a:solidFill>
            </c:spPr>
          </c:dPt>
          <c:dPt>
            <c:idx val="3"/>
            <c:invertIfNegative val="0"/>
            <c:spPr>
              <a:solidFill>
                <a:srgbClr val="EDA100"/>
              </a:solidFill>
            </c:spPr>
          </c:dPt>
          <c:dPt>
            <c:idx val="4"/>
            <c:invertIfNegative val="0"/>
            <c:spPr>
              <a:solidFill>
                <a:srgbClr val="E87BA4"/>
              </a:solidFill>
            </c:spPr>
          </c:dPt>
          <c:dPt>
            <c:idx val="5"/>
            <c:invertIfNegative val="0"/>
            <c:spPr>
              <a:solidFill>
                <a:srgbClr val="4A3AA7"/>
              </a:solidFill>
            </c:spPr>
          </c:dPt>
          <c:dPt>
            <c:idx val="6"/>
            <c:invertIfNegative val="0"/>
            <c:spPr>
              <a:solidFill>
                <a:srgbClr val="E87BA4"/>
              </a:solidFill>
            </c:spPr>
          </c:dPt>
          <c:dPt>
            <c:idx val="7"/>
            <c:invertIfNegative val="0"/>
            <c:spPr>
              <a:solidFill>
                <a:srgbClr val="EDA100"/>
              </a:solidFill>
            </c:spPr>
          </c:dPt>
          <c:dPt>
            <c:idx val="8"/>
            <c:invertIfNegative val="0"/>
            <c:spPr>
              <a:solidFill>
                <a:srgbClr val="4A3AA7"/>
              </a:solidFill>
            </c:spPr>
          </c:dPt>
          <c:dPt>
            <c:idx val="9"/>
            <c:invertIfNegative val="0"/>
            <c:spPr>
              <a:solidFill>
                <a:srgbClr val="E87BA4"/>
              </a:solidFill>
            </c:spPr>
          </c:dPt>
          <c:dPt>
            <c:idx val="10"/>
            <c:invertIfNegative val="0"/>
            <c:spPr>
              <a:solidFill>
                <a:srgbClr val="EDA100"/>
              </a:solidFill>
            </c:spPr>
          </c:dPt>
          <c:dPt>
            <c:idx val="11"/>
            <c:invertIfNegative val="0"/>
            <c:spPr>
              <a:solidFill>
                <a:srgbClr val="E87BA4"/>
              </a:solidFill>
            </c:spPr>
          </c:dPt>
          <c:dPt>
            <c:idx val="12"/>
            <c:invertIfNegative val="0"/>
            <c:spPr>
              <a:solidFill>
                <a:srgbClr val="4A3AA7"/>
              </a:solidFill>
            </c:spPr>
          </c:dPt>
          <c:dPt>
            <c:idx val="13"/>
            <c:invertIfNegative val="0"/>
            <c:spPr>
              <a:solidFill>
                <a:srgbClr val="4A3AA7"/>
              </a:solidFill>
            </c:spPr>
          </c:dPt>
          <c:dPt>
            <c:idx val="14"/>
            <c:invertIfNegative val="0"/>
            <c:spPr>
              <a:solidFill>
                <a:srgbClr val="EDA100"/>
              </a:solidFill>
            </c:spPr>
          </c:dPt>
          <c:dPt>
            <c:idx val="15"/>
            <c:invertIfNegative val="0"/>
            <c:spPr>
              <a:solidFill>
                <a:srgbClr val="EDA100"/>
              </a:solidFill>
            </c:spPr>
          </c:dPt>
          <c:dPt>
            <c:idx val="16"/>
            <c:invertIfNegative val="0"/>
            <c:spPr>
              <a:solidFill>
                <a:srgbClr val="4A3AA7"/>
              </a:solidFill>
            </c:spPr>
          </c:dPt>
          <c:dPt>
            <c:idx val="17"/>
            <c:invertIfNegative val="0"/>
            <c:spPr>
              <a:solidFill>
                <a:srgbClr val="EDA100"/>
              </a:solidFill>
            </c:spPr>
          </c:dPt>
          <c:dPt>
            <c:idx val="18"/>
            <c:invertIfNegative val="0"/>
            <c:spPr>
              <a:solidFill>
                <a:srgbClr val="E87BA4"/>
              </a:solidFill>
            </c:spPr>
          </c:dPt>
          <c:dPt>
            <c:idx val="19"/>
            <c:invertIfNegative val="0"/>
            <c:spPr>
              <a:solidFill>
                <a:srgbClr val="EDA100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+1.0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+1.2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+1.5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+1.9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+1.9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+3.1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+4.2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+4.5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+5.5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+5.7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+6.4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Cote d'Ivoire</c:v>
                </c:pt>
                <c:pt idx="1">
                  <c:v>Madagascar</c:v>
                </c:pt>
                <c:pt idx="2">
                  <c:v>Haiti</c:v>
                </c:pt>
                <c:pt idx="3">
                  <c:v>Venezuela</c:v>
                </c:pt>
                <c:pt idx="4">
                  <c:v>Ukraine</c:v>
                </c:pt>
                <c:pt idx="5">
                  <c:v>Japan</c:v>
                </c:pt>
                <c:pt idx="6">
                  <c:v>Russia</c:v>
                </c:pt>
                <c:pt idx="7">
                  <c:v>Mexico</c:v>
                </c:pt>
                <c:pt idx="8">
                  <c:v>Australia</c:v>
                </c:pt>
                <c:pt idx="9">
                  <c:v>Turkey</c:v>
                </c:pt>
                <c:pt idx="10">
                  <c:v>Ethiopia</c:v>
                </c:pt>
                <c:pt idx="11">
                  <c:v>Korea, South</c:v>
                </c:pt>
                <c:pt idx="12">
                  <c:v>Canada</c:v>
                </c:pt>
                <c:pt idx="13">
                  <c:v>EU-27 + UK</c:v>
                </c:pt>
                <c:pt idx="14">
                  <c:v>Indonesia</c:v>
                </c:pt>
                <c:pt idx="15">
                  <c:v>Vietnam</c:v>
                </c:pt>
                <c:pt idx="16">
                  <c:v>United States</c:v>
                </c:pt>
                <c:pt idx="17">
                  <c:v>Philippines</c:v>
                </c:pt>
                <c:pt idx="18">
                  <c:v>China</c:v>
                </c:pt>
                <c:pt idx="19">
                  <c:v>Brazil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-0.25</c:v>
                </c:pt>
                <c:pt idx="1">
                  <c:v>-0.27499999999999997</c:v>
                </c:pt>
                <c:pt idx="2">
                  <c:v>-0.34</c:v>
                </c:pt>
                <c:pt idx="3">
                  <c:v>-0.38</c:v>
                </c:pt>
                <c:pt idx="4">
                  <c:v>-0.45499999999999985</c:v>
                </c:pt>
                <c:pt idx="5">
                  <c:v>-0.5570000000000004</c:v>
                </c:pt>
                <c:pt idx="6">
                  <c:v>0.9900000000000002</c:v>
                </c:pt>
                <c:pt idx="7">
                  <c:v>1.2000000000000002</c:v>
                </c:pt>
                <c:pt idx="8">
                  <c:v>1.4700000000000002</c:v>
                </c:pt>
                <c:pt idx="9">
                  <c:v>1.55</c:v>
                </c:pt>
                <c:pt idx="10">
                  <c:v>1.874</c:v>
                </c:pt>
                <c:pt idx="11">
                  <c:v>1.9449999999999998</c:v>
                </c:pt>
                <c:pt idx="12">
                  <c:v>1.995</c:v>
                </c:pt>
                <c:pt idx="13">
                  <c:v>2.5249999999999986</c:v>
                </c:pt>
                <c:pt idx="14">
                  <c:v>3.1149999999999993</c:v>
                </c:pt>
                <c:pt idx="15">
                  <c:v>4.235</c:v>
                </c:pt>
                <c:pt idx="16">
                  <c:v>4.484000000000002</c:v>
                </c:pt>
                <c:pt idx="17">
                  <c:v>5.54</c:v>
                </c:pt>
                <c:pt idx="18">
                  <c:v>5.651999999999999</c:v>
                </c:pt>
                <c:pt idx="19">
                  <c:v>6.365000000000002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-2.0"/>
        </c:scaling>
        <c:delete val="0"/>
        <c:axPos val="b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2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1"/>
          <c:h val="0.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importers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Calibri"/>
                      </a:rPr>
                      <a:t>63%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Calibri"/>
                      </a:rPr>
                      <a:t>52%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79.20599999999999</c:v>
                </c:pt>
                <c:pt idx="1">
                  <c:v>77.19200000000001</c:v>
                </c:pt>
                <c:pt idx="2">
                  <c:v>78.87100000000001</c:v>
                </c:pt>
                <c:pt idx="3">
                  <c:v>75.157</c:v>
                </c:pt>
                <c:pt idx="4">
                  <c:v>84.916</c:v>
                </c:pt>
                <c:pt idx="5">
                  <c:v>78.578</c:v>
                </c:pt>
                <c:pt idx="6">
                  <c:v>83.176</c:v>
                </c:pt>
                <c:pt idx="7">
                  <c:v>81.912</c:v>
                </c:pt>
                <c:pt idx="8">
                  <c:v>81.366</c:v>
                </c:pt>
                <c:pt idx="9">
                  <c:v>83.768</c:v>
                </c:pt>
                <c:pt idx="10">
                  <c:v>85.806</c:v>
                </c:pt>
                <c:pt idx="11">
                  <c:v>85.617</c:v>
                </c:pt>
                <c:pt idx="12">
                  <c:v>88.43299999999999</c:v>
                </c:pt>
                <c:pt idx="13">
                  <c:v>90.26599999999999</c:v>
                </c:pt>
                <c:pt idx="14">
                  <c:v>86.818</c:v>
                </c:pt>
                <c:pt idx="15">
                  <c:v>87.072</c:v>
                </c:pt>
                <c:pt idx="16">
                  <c:v>89.88499999999999</c:v>
                </c:pt>
                <c:pt idx="17">
                  <c:v>89.631</c:v>
                </c:pt>
                <c:pt idx="18">
                  <c:v>83.7</c:v>
                </c:pt>
                <c:pt idx="19">
                  <c:v>88.829</c:v>
                </c:pt>
                <c:pt idx="20">
                  <c:v>89.883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Emerging importers</c:v>
                </c:pt>
              </c:strCache>
            </c:strRef>
          </c:tx>
          <c:spPr>
            <a:solidFill>
              <a:srgbClr val="E87BA4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13.844000000000001</c:v>
                </c:pt>
                <c:pt idx="1">
                  <c:v>14.798</c:v>
                </c:pt>
                <c:pt idx="2">
                  <c:v>15.997</c:v>
                </c:pt>
                <c:pt idx="3">
                  <c:v>14.94</c:v>
                </c:pt>
                <c:pt idx="4">
                  <c:v>16.47</c:v>
                </c:pt>
                <c:pt idx="5">
                  <c:v>16.889</c:v>
                </c:pt>
                <c:pt idx="6">
                  <c:v>17.151</c:v>
                </c:pt>
                <c:pt idx="7">
                  <c:v>17.874</c:v>
                </c:pt>
                <c:pt idx="8">
                  <c:v>19.104</c:v>
                </c:pt>
                <c:pt idx="9">
                  <c:v>19.061</c:v>
                </c:pt>
                <c:pt idx="10">
                  <c:v>20.433</c:v>
                </c:pt>
                <c:pt idx="11">
                  <c:v>21.114</c:v>
                </c:pt>
                <c:pt idx="12">
                  <c:v>22.45</c:v>
                </c:pt>
                <c:pt idx="13">
                  <c:v>23.805</c:v>
                </c:pt>
                <c:pt idx="14">
                  <c:v>24.019</c:v>
                </c:pt>
                <c:pt idx="15">
                  <c:v>24.574</c:v>
                </c:pt>
                <c:pt idx="16">
                  <c:v>25.817999999999998</c:v>
                </c:pt>
                <c:pt idx="17">
                  <c:v>26.909</c:v>
                </c:pt>
                <c:pt idx="18">
                  <c:v>26.91</c:v>
                </c:pt>
                <c:pt idx="19">
                  <c:v>28.997</c:v>
                </c:pt>
                <c:pt idx="20">
                  <c:v>28.919999999999998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Producing countries</c:v>
                </c:pt>
              </c:strCache>
            </c:strRef>
          </c:tx>
          <c:spPr>
            <a:solidFill>
              <a:srgbClr val="EDA100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26%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32%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32.101</c:v>
                </c:pt>
                <c:pt idx="1">
                  <c:v>32.362</c:v>
                </c:pt>
                <c:pt idx="2">
                  <c:v>34.04</c:v>
                </c:pt>
                <c:pt idx="3">
                  <c:v>35.77</c:v>
                </c:pt>
                <c:pt idx="4">
                  <c:v>37.81</c:v>
                </c:pt>
                <c:pt idx="5">
                  <c:v>40.041000000000004</c:v>
                </c:pt>
                <c:pt idx="6">
                  <c:v>42.504</c:v>
                </c:pt>
                <c:pt idx="7">
                  <c:v>43.614</c:v>
                </c:pt>
                <c:pt idx="8">
                  <c:v>43.407</c:v>
                </c:pt>
                <c:pt idx="9">
                  <c:v>44.334</c:v>
                </c:pt>
                <c:pt idx="10">
                  <c:v>46.947</c:v>
                </c:pt>
                <c:pt idx="11">
                  <c:v>48.373000000000005</c:v>
                </c:pt>
                <c:pt idx="12">
                  <c:v>49.744</c:v>
                </c:pt>
                <c:pt idx="13">
                  <c:v>51.932</c:v>
                </c:pt>
                <c:pt idx="14">
                  <c:v>51.518</c:v>
                </c:pt>
                <c:pt idx="15">
                  <c:v>50.447</c:v>
                </c:pt>
                <c:pt idx="16">
                  <c:v>52.18</c:v>
                </c:pt>
                <c:pt idx="17">
                  <c:v>52.214</c:v>
                </c:pt>
                <c:pt idx="18">
                  <c:v>53.358000000000004</c:v>
                </c:pt>
                <c:pt idx="19">
                  <c:v>53.73</c:v>
                </c:pt>
                <c:pt idx="20">
                  <c:v>55.049</c:v>
                </c:pt>
              </c:numCache>
            </c:numRef>
          </c:val>
        </c:ser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8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30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7"/>
          <c:y val="0.1"/>
          <c:w val="0.9"/>
          <c:h val="0.7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importers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3AA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Canada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Japan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Norway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Switzerland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US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EU-27 + UK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Sheet1!$A$2:$A$8</c:f>
              <c:numCache>
                <c:formatCode>General</c:formatCode>
                <c:ptCount val="7"/>
                <c:pt idx="0">
                  <c:v>64407.484256932</c:v>
                </c:pt>
                <c:pt idx="1">
                  <c:v>54282.6176051733</c:v>
                </c:pt>
                <c:pt idx="2">
                  <c:v>32475.8924992191</c:v>
                </c:pt>
                <c:pt idx="3">
                  <c:v>86809.7246897431</c:v>
                </c:pt>
                <c:pt idx="4">
                  <c:v>103669.872008144</c:v>
                </c:pt>
                <c:pt idx="5">
                  <c:v>85809.9003846356</c:v>
                </c:pt>
                <c:pt idx="6">
                  <c:v>43145.1566930223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6.0448261362397915</c:v>
                </c:pt>
                <c:pt idx="1">
                  <c:v>7.425778724049223</c:v>
                </c:pt>
                <c:pt idx="2">
                  <c:v>3.159337188029064</c:v>
                </c:pt>
                <c:pt idx="3">
                  <c:v>8.667907690910667</c:v>
                </c:pt>
                <c:pt idx="4">
                  <c:v>8.094979313941064</c:v>
                </c:pt>
                <c:pt idx="5">
                  <c:v>4.625548881119948</c:v>
                </c:pt>
                <c:pt idx="6">
                  <c:v>5.279310598223533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Emerging importers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E87BA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Algeria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China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Korea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Russia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Saudi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Turkey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Sheet1!$A$11:$A$23</c:f>
              <c:numCache>
                <c:formatCode>General</c:formatCode>
                <c:ptCount val="13"/>
                <c:pt idx="0">
                  <c:v>5631.17999109851</c:v>
                </c:pt>
                <c:pt idx="1">
                  <c:v>13858.2039802008</c:v>
                </c:pt>
                <c:pt idx="2">
                  <c:v>13303.1481543868</c:v>
                </c:pt>
                <c:pt idx="3">
                  <c:v>3338.47371395895</c:v>
                </c:pt>
                <c:pt idx="4">
                  <c:v>4771.40029026226</c:v>
                </c:pt>
                <c:pt idx="5">
                  <c:v>4618.09592498567</c:v>
                </c:pt>
                <c:pt idx="6">
                  <c:v>33121.3712885508</c:v>
                </c:pt>
                <c:pt idx="7">
                  <c:v>3993.38745117188</c:v>
                </c:pt>
                <c:pt idx="8">
                  <c:v>14889.0185546875</c:v>
                </c:pt>
                <c:pt idx="9">
                  <c:v>35057.2252306969</c:v>
                </c:pt>
                <c:pt idx="10">
                  <c:v>6253.37158194543</c:v>
                </c:pt>
                <c:pt idx="11">
                  <c:v>15473.2872636856</c:v>
                </c:pt>
                <c:pt idx="12">
                  <c:v>5389.47314453125</c:v>
                </c:pt>
              </c:numCache>
            </c:numRef>
          </c:xVal>
          <c:yVal>
            <c:numRef>
              <c:f>Sheet1!$B$11:$B$23</c:f>
              <c:numCache>
                <c:formatCode>General</c:formatCode>
                <c:ptCount val="13"/>
                <c:pt idx="0">
                  <c:v>2.627401861841042</c:v>
                </c:pt>
                <c:pt idx="1">
                  <c:v>1.1567711850792537</c:v>
                </c:pt>
                <c:pt idx="2">
                  <c:v>0.26074273851558755</c:v>
                </c:pt>
                <c:pt idx="3">
                  <c:v>0.6049515516183536</c:v>
                </c:pt>
                <c:pt idx="4">
                  <c:v>0.5602409879339817</c:v>
                </c:pt>
                <c:pt idx="5">
                  <c:v>4.1548095902699895</c:v>
                </c:pt>
                <c:pt idx="6">
                  <c:v>3.901368986319412</c:v>
                </c:pt>
                <c:pt idx="7">
                  <c:v>1.583459627149615</c:v>
                </c:pt>
                <c:pt idx="8">
                  <c:v>1.8601883676903506</c:v>
                </c:pt>
                <c:pt idx="9">
                  <c:v>2.507062266928194</c:v>
                </c:pt>
                <c:pt idx="10">
                  <c:v>0.7030460501255898</c:v>
                </c:pt>
                <c:pt idx="11">
                  <c:v>1.2769142865789258</c:v>
                </c:pt>
                <c:pt idx="12">
                  <c:v>1.6957111792876223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Sheet1!$B$25</c:f>
              <c:strCache>
                <c:ptCount val="1"/>
                <c:pt idx="0">
                  <c:v>Producing countries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EDA100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Brazil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Ethiopia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India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Indonesia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Mexico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Philippines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Vietnam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Sheet1!$A$26:$A$35</c:f>
              <c:numCache>
                <c:formatCode>General</c:formatCode>
                <c:ptCount val="10"/>
                <c:pt idx="0">
                  <c:v>10280.3148624429</c:v>
                </c:pt>
                <c:pt idx="1">
                  <c:v>7913.98801464547</c:v>
                </c:pt>
                <c:pt idx="2">
                  <c:v>1011.07332413462</c:v>
                </c:pt>
                <c:pt idx="3">
                  <c:v>6150.02597767851</c:v>
                </c:pt>
                <c:pt idx="4">
                  <c:v>2696.66389984463</c:v>
                </c:pt>
                <c:pt idx="5">
                  <c:v>4925.43048751861</c:v>
                </c:pt>
                <c:pt idx="6">
                  <c:v>14157.9445835849</c:v>
                </c:pt>
                <c:pt idx="7">
                  <c:v>3984.8315387656</c:v>
                </c:pt>
                <c:pt idx="8">
                  <c:v>7345.13569000377</c:v>
                </c:pt>
                <c:pt idx="9">
                  <c:v>4717.29028732449</c:v>
                </c:pt>
              </c:numCache>
            </c:numRef>
          </c:xVal>
          <c:yVal>
            <c:numRef>
              <c:f>Sheet1!$B$26:$B$35</c:f>
              <c:numCache>
                <c:formatCode>General</c:formatCode>
                <c:ptCount val="10"/>
                <c:pt idx="0">
                  <c:v>6.217966382254847</c:v>
                </c:pt>
                <c:pt idx="1">
                  <c:v>2.4391921221733472</c:v>
                </c:pt>
                <c:pt idx="2">
                  <c:v>1.6469815519211086</c:v>
                </c:pt>
                <c:pt idx="3">
                  <c:v>2.3893916227538536</c:v>
                </c:pt>
                <c:pt idx="4">
                  <c:v>0.05375840921688312</c:v>
                </c:pt>
                <c:pt idx="5">
                  <c:v>1.0313666580747665</c:v>
                </c:pt>
                <c:pt idx="6">
                  <c:v>1.4213554080322797</c:v>
                </c:pt>
                <c:pt idx="7">
                  <c:v>3.206044836114049</c:v>
                </c:pt>
                <c:pt idx="8">
                  <c:v>0.7785900462620624</c:v>
                </c:pt>
                <c:pt idx="9">
                  <c:v>2.851832846234342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50000.0"/>
          <c:min val="500.0"/>
        </c:scaling>
        <c:delete val="0"/>
        <c:axPos val="b"/>
        <c:numFmt formatCode="#,##0" sourceLinked="0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2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6"/>
          <c:w val="0.91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 w="9525"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2005/06</c:v>
                </c:pt>
                <c:pt idx="1">
                  <c:v>+ more people</c:v>
                </c:pt>
                <c:pt idx="2">
                  <c:v>+ more per person</c:v>
                </c:pt>
                <c:pt idx="3">
                  <c:v>2024/25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125.15100000000002</c:v>
                </c:pt>
                <c:pt idx="2">
                  <c:v>154.9543933420489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1"/>
            <c:invertIfNegative val="0"/>
            <c:spPr>
              <a:solidFill>
                <a:srgbClr val="7A6FCF"/>
              </a:solidFill>
            </c:spPr>
          </c:dPt>
          <c:dPt>
            <c:idx val="2"/>
            <c:invertIfNegative val="0"/>
            <c:spPr>
              <a:solidFill>
                <a:srgbClr val="9C93D6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Calibri"/>
                      </a:rPr>
                      <a:t>125.2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Calibri"/>
                      </a:rPr>
                      <a:t>+29.8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Calibri"/>
                      </a:rPr>
                      <a:t>+16.6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Calibri"/>
                      </a:rPr>
                      <a:t>171.6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2005/06</c:v>
                </c:pt>
                <c:pt idx="1">
                  <c:v>+ more people</c:v>
                </c:pt>
                <c:pt idx="2">
                  <c:v>+ more per person</c:v>
                </c:pt>
                <c:pt idx="3">
                  <c:v>2024/25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125.15100000000002</c:v>
                </c:pt>
                <c:pt idx="1">
                  <c:v>29.803393342048867</c:v>
                </c:pt>
                <c:pt idx="2">
                  <c:v>16.60160665795112</c:v>
                </c:pt>
                <c:pt idx="3">
                  <c:v>171.556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3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1"/>
          <c:h val="0.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Roast &amp; ground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Sheet1!$A$2:$A$22</c:f>
              <c:strCache>
                <c:ptCount val="21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111.02400000000002</c:v>
                </c:pt>
                <c:pt idx="1">
                  <c:v>109.16800000000003</c:v>
                </c:pt>
                <c:pt idx="2">
                  <c:v>111.873</c:v>
                </c:pt>
                <c:pt idx="3">
                  <c:v>109.947</c:v>
                </c:pt>
                <c:pt idx="4">
                  <c:v>121.99799999999999</c:v>
                </c:pt>
                <c:pt idx="5">
                  <c:v>117.204</c:v>
                </c:pt>
                <c:pt idx="6">
                  <c:v>124.258</c:v>
                </c:pt>
                <c:pt idx="7">
                  <c:v>123.48499999999999</c:v>
                </c:pt>
                <c:pt idx="8">
                  <c:v>124.48500000000001</c:v>
                </c:pt>
                <c:pt idx="9">
                  <c:v>127.07899999999998</c:v>
                </c:pt>
                <c:pt idx="10">
                  <c:v>130.19799999999998</c:v>
                </c:pt>
                <c:pt idx="11">
                  <c:v>130.275</c:v>
                </c:pt>
                <c:pt idx="12">
                  <c:v>136.792</c:v>
                </c:pt>
                <c:pt idx="13">
                  <c:v>141.895</c:v>
                </c:pt>
                <c:pt idx="14">
                  <c:v>137.27</c:v>
                </c:pt>
                <c:pt idx="15">
                  <c:v>137.716</c:v>
                </c:pt>
                <c:pt idx="16">
                  <c:v>141.153</c:v>
                </c:pt>
                <c:pt idx="17">
                  <c:v>142.805</c:v>
                </c:pt>
                <c:pt idx="18">
                  <c:v>137.12399999999997</c:v>
                </c:pt>
                <c:pt idx="19">
                  <c:v>143.13600000000002</c:v>
                </c:pt>
                <c:pt idx="20">
                  <c:v>144.767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Soluble (instant)</c:v>
                </c:pt>
              </c:strCache>
            </c:strRef>
          </c:tx>
          <c:spPr>
            <a:solidFill>
              <a:srgbClr val="E87BA4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Sheet1!$A$2:$A$22</c:f>
              <c:strCache>
                <c:ptCount val="21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14.126999999999997</c:v>
                </c:pt>
                <c:pt idx="1">
                  <c:v>15.184</c:v>
                </c:pt>
                <c:pt idx="2">
                  <c:v>17.035000000000004</c:v>
                </c:pt>
                <c:pt idx="3">
                  <c:v>15.92</c:v>
                </c:pt>
                <c:pt idx="4">
                  <c:v>17.198</c:v>
                </c:pt>
                <c:pt idx="5">
                  <c:v>18.304000000000002</c:v>
                </c:pt>
                <c:pt idx="6">
                  <c:v>18.573</c:v>
                </c:pt>
                <c:pt idx="7">
                  <c:v>19.915</c:v>
                </c:pt>
                <c:pt idx="8">
                  <c:v>19.392</c:v>
                </c:pt>
                <c:pt idx="9">
                  <c:v>20.084000000000003</c:v>
                </c:pt>
                <c:pt idx="10">
                  <c:v>22.988000000000003</c:v>
                </c:pt>
                <c:pt idx="11">
                  <c:v>24.829000000000004</c:v>
                </c:pt>
                <c:pt idx="12">
                  <c:v>23.835</c:v>
                </c:pt>
                <c:pt idx="13">
                  <c:v>24.107999999999997</c:v>
                </c:pt>
                <c:pt idx="14">
                  <c:v>25.085</c:v>
                </c:pt>
                <c:pt idx="15">
                  <c:v>24.377</c:v>
                </c:pt>
                <c:pt idx="16">
                  <c:v>26.73</c:v>
                </c:pt>
                <c:pt idx="17">
                  <c:v>25.949</c:v>
                </c:pt>
                <c:pt idx="18">
                  <c:v>26.844</c:v>
                </c:pt>
                <c:pt idx="19">
                  <c:v>28.419999999999998</c:v>
                </c:pt>
                <c:pt idx="20">
                  <c:v>29.085</c:v>
                </c:pt>
              </c:numCache>
            </c:numRef>
          </c:val>
        </c:ser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8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30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2"/>
          <c:y val="0.08"/>
          <c:w val="0.84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Starbucks stores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3AA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10.2k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41.0k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Sheet1!$A$2:$A$16</c:f>
              <c:numCache>
                <c:formatCode>General</c:formatCode>
                <c:ptCount val="15"/>
                <c:pt idx="0">
                  <c:v>2005.0</c:v>
                </c:pt>
                <c:pt idx="1">
                  <c:v>2006.0</c:v>
                </c:pt>
                <c:pt idx="2">
                  <c:v>2010.0</c:v>
                </c:pt>
                <c:pt idx="3">
                  <c:v>2014.0</c:v>
                </c:pt>
                <c:pt idx="4">
                  <c:v>2015.0</c:v>
                </c:pt>
                <c:pt idx="5">
                  <c:v>2016.0</c:v>
                </c:pt>
                <c:pt idx="6">
                  <c:v>2017.0</c:v>
                </c:pt>
                <c:pt idx="7">
                  <c:v>2018.0</c:v>
                </c:pt>
                <c:pt idx="8">
                  <c:v>2019.0</c:v>
                </c:pt>
                <c:pt idx="9">
                  <c:v>2020.0</c:v>
                </c:pt>
                <c:pt idx="10">
                  <c:v>2021.0</c:v>
                </c:pt>
                <c:pt idx="11">
                  <c:v>2022.0</c:v>
                </c:pt>
                <c:pt idx="12">
                  <c:v>2023.0</c:v>
                </c:pt>
                <c:pt idx="13">
                  <c:v>2024.0</c:v>
                </c:pt>
                <c:pt idx="14">
                  <c:v>2025.0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10241.0</c:v>
                </c:pt>
                <c:pt idx="1">
                  <c:v>12440.0</c:v>
                </c:pt>
                <c:pt idx="2">
                  <c:v>16858.0</c:v>
                </c:pt>
                <c:pt idx="3">
                  <c:v>21366.0</c:v>
                </c:pt>
                <c:pt idx="4">
                  <c:v>23043.0</c:v>
                </c:pt>
                <c:pt idx="5">
                  <c:v>25085.0</c:v>
                </c:pt>
                <c:pt idx="6">
                  <c:v>27339.0</c:v>
                </c:pt>
                <c:pt idx="7">
                  <c:v>29324.0</c:v>
                </c:pt>
                <c:pt idx="8">
                  <c:v>31256.0</c:v>
                </c:pt>
                <c:pt idx="9">
                  <c:v>32660.0</c:v>
                </c:pt>
                <c:pt idx="10">
                  <c:v>33833.0</c:v>
                </c:pt>
                <c:pt idx="11">
                  <c:v>35711.0</c:v>
                </c:pt>
                <c:pt idx="12">
                  <c:v>38038.0</c:v>
                </c:pt>
                <c:pt idx="13">
                  <c:v>40199.0</c:v>
                </c:pt>
                <c:pt idx="14">
                  <c:v>40990.0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26.0"/>
          <c:min val="2004.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45000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0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4"/>
          <c:y val="0.12"/>
          <c:w val="0.84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</c:v>
                </c:pt>
              </c:strCache>
            </c:strRef>
          </c:tx>
          <c:spPr>
            <a:solidFill>
              <a:srgbClr val="C9C7C0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15337.0</c:v>
                </c:pt>
                <c:pt idx="1">
                  <c:v>15450.0</c:v>
                </c:pt>
                <c:pt idx="2">
                  <c:v>15878.0</c:v>
                </c:pt>
                <c:pt idx="3">
                  <c:v>16352.0</c:v>
                </c:pt>
                <c:pt idx="4">
                  <c:v>16941.0</c:v>
                </c:pt>
                <c:pt idx="5">
                  <c:v>16864.0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China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4,706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8,011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4706.0</c:v>
                </c:pt>
                <c:pt idx="1">
                  <c:v>5360.0</c:v>
                </c:pt>
                <c:pt idx="3">
                  <c:v>6806.0</c:v>
                </c:pt>
                <c:pt idx="4">
                  <c:v>7596.0</c:v>
                </c:pt>
                <c:pt idx="5">
                  <c:v>8011.0</c:v>
                </c:pt>
              </c:numCache>
            </c:numRef>
          </c:val>
        </c:ser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5000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8"/>
          <c:y val="0.1"/>
          <c:w val="0.88"/>
          <c:h val="0.7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importers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3AA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Japan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US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EU-27 + UK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Sheet1!$A$2:$A$8</c:f>
              <c:numCache>
                <c:formatCode>General</c:formatCode>
                <c:ptCount val="7"/>
                <c:pt idx="0">
                  <c:v>3.343397906498269</c:v>
                </c:pt>
                <c:pt idx="1">
                  <c:v>2.1280332023101867</c:v>
                </c:pt>
                <c:pt idx="2">
                  <c:v>-0.7976028576719196</c:v>
                </c:pt>
                <c:pt idx="3">
                  <c:v>1.3688752150772698</c:v>
                </c:pt>
                <c:pt idx="4">
                  <c:v>3.2709454553053297</c:v>
                </c:pt>
                <c:pt idx="5">
                  <c:v>3.562756552906876</c:v>
                </c:pt>
                <c:pt idx="6">
                  <c:v>2.4122027642926147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4.7721608512411695</c:v>
                </c:pt>
                <c:pt idx="1">
                  <c:v>2.4855845216332995</c:v>
                </c:pt>
                <c:pt idx="2">
                  <c:v>-0.5686046339122064</c:v>
                </c:pt>
                <c:pt idx="3">
                  <c:v>0.7763158891124</c:v>
                </c:pt>
                <c:pt idx="4">
                  <c:v>1.592037858405737</c:v>
                </c:pt>
                <c:pt idx="5">
                  <c:v>0.9119463640464343</c:v>
                </c:pt>
                <c:pt idx="6">
                  <c:v>0.23951651144187291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Emerging importers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E87BA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Algeria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China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Korea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Russia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Saudi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Turkey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Sheet1!$A$11:$A$21</c:f>
              <c:numCache>
                <c:formatCode>General</c:formatCode>
                <c:ptCount val="11"/>
                <c:pt idx="0">
                  <c:v>2.963414441287604</c:v>
                </c:pt>
                <c:pt idx="1">
                  <c:v>5.437412407084796</c:v>
                </c:pt>
                <c:pt idx="2">
                  <c:v>11.17464667481094</c:v>
                </c:pt>
                <c:pt idx="3">
                  <c:v>4.2666038277790586</c:v>
                </c:pt>
                <c:pt idx="4">
                  <c:v>3.015555507015777</c:v>
                </c:pt>
                <c:pt idx="5">
                  <c:v>3.0825066589091454</c:v>
                </c:pt>
                <c:pt idx="6">
                  <c:v>5.562356796943324</c:v>
                </c:pt>
                <c:pt idx="7">
                  <c:v>4.223107684530802</c:v>
                </c:pt>
                <c:pt idx="8">
                  <c:v>0.36342162661262556</c:v>
                </c:pt>
                <c:pt idx="9">
                  <c:v>4.0308458309262996</c:v>
                </c:pt>
                <c:pt idx="10">
                  <c:v>5.7133571405962424</c:v>
                </c:pt>
              </c:numCache>
            </c:numRef>
          </c:xVal>
          <c:yVal>
            <c:numRef>
              <c:f>Sheet1!$B$11:$B$21</c:f>
              <c:numCache>
                <c:formatCode>General</c:formatCode>
                <c:ptCount val="11"/>
                <c:pt idx="0">
                  <c:v>-0.08906064428988447</c:v>
                </c:pt>
                <c:pt idx="1">
                  <c:v>1.5236156465099349</c:v>
                </c:pt>
                <c:pt idx="2">
                  <c:v>19.794476254088565</c:v>
                </c:pt>
                <c:pt idx="3">
                  <c:v>8.167217227900325</c:v>
                </c:pt>
                <c:pt idx="4">
                  <c:v>4.511557456616644</c:v>
                </c:pt>
                <c:pt idx="5">
                  <c:v>3.425064303799097</c:v>
                </c:pt>
                <c:pt idx="6">
                  <c:v>1.1441039107035866</c:v>
                </c:pt>
                <c:pt idx="7">
                  <c:v>5.3798700889624795</c:v>
                </c:pt>
                <c:pt idx="8">
                  <c:v>3.0987172247099126</c:v>
                </c:pt>
                <c:pt idx="9">
                  <c:v>12.324853996088848</c:v>
                </c:pt>
                <c:pt idx="10">
                  <c:v>-2.191016381242905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Sheet1!$B$23</c:f>
              <c:strCache>
                <c:ptCount val="1"/>
                <c:pt idx="0">
                  <c:v>Producing countries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EDA100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Brazil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Colombia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Ethiopia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India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Indonesia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Mexico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Philippines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Vietnam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Sheet1!$A$24:$A$33</c:f>
              <c:numCache>
                <c:formatCode>General</c:formatCode>
                <c:ptCount val="10"/>
                <c:pt idx="0">
                  <c:v>4.058312420203181</c:v>
                </c:pt>
                <c:pt idx="1">
                  <c:v>4.4569989935406396</c:v>
                </c:pt>
                <c:pt idx="2">
                  <c:v>11.526947809340559</c:v>
                </c:pt>
                <c:pt idx="3">
                  <c:v>5.962251706882893</c:v>
                </c:pt>
                <c:pt idx="4">
                  <c:v>7.272375020847477</c:v>
                </c:pt>
                <c:pt idx="5">
                  <c:v>7.5376242611916</c:v>
                </c:pt>
                <c:pt idx="6">
                  <c:v>2.613593178912499</c:v>
                </c:pt>
                <c:pt idx="7">
                  <c:v>6.425732989497068</c:v>
                </c:pt>
                <c:pt idx="8">
                  <c:v>5.074706499656423</c:v>
                </c:pt>
                <c:pt idx="9">
                  <c:v>10.474484807220819</c:v>
                </c:pt>
              </c:numCache>
            </c:numRef>
          </c:xVal>
          <c:yVal>
            <c:numRef>
              <c:f>Sheet1!$B$24:$B$33</c:f>
              <c:numCache>
                <c:formatCode>General</c:formatCode>
                <c:ptCount val="10"/>
                <c:pt idx="0">
                  <c:v>1.7114049637848572</c:v>
                </c:pt>
                <c:pt idx="1">
                  <c:v>2.6749745750636267</c:v>
                </c:pt>
                <c:pt idx="2">
                  <c:v>3.6750050385568</c:v>
                </c:pt>
                <c:pt idx="3">
                  <c:v>3.967267033271682</c:v>
                </c:pt>
                <c:pt idx="4">
                  <c:v>-0.2526135250112582</c:v>
                </c:pt>
                <c:pt idx="5">
                  <c:v>5.715397673553224</c:v>
                </c:pt>
                <c:pt idx="6">
                  <c:v>2.6100500925087644</c:v>
                </c:pt>
                <c:pt idx="7">
                  <c:v>8.970966832438387</c:v>
                </c:pt>
                <c:pt idx="8">
                  <c:v>3.430036344284071</c:v>
                </c:pt>
                <c:pt idx="9">
                  <c:v>10.963457017842781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4.0"/>
          <c:min val="-2.0"/>
        </c:scaling>
        <c:delete val="0"/>
        <c:axPos val="b"/>
        <c:numFmt formatCode="0&quot;%&quot;" sourceLinked="0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22.0"/>
          <c:min val="-4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4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1"/>
          <c:h val="0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 (Other Milds)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dLbls>
            <c:dLbl>
              <c:idx val="112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1F1E1C"/>
                        </a:solidFill>
                        <a:latin typeface="Calibri"/>
                      </a:rPr>
                      <a:t>121 (2019-05)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0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1F1E1C"/>
                        </a:solidFill>
                        <a:latin typeface="Calibri"/>
                      </a:rPr>
                      <a:t>410 (2025-11)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9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1F1E1C"/>
                        </a:solidFill>
                        <a:latin typeface="Calibri"/>
                      </a:rPr>
                      <a:t>361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Sheet1!$A$2:$A$201</c:f>
              <c:strCache>
                <c:ptCount val="200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2010</c:v>
                </c:pt>
                <c:pt idx="5">
                  <c:v>2010</c:v>
                </c:pt>
                <c:pt idx="6">
                  <c:v>2010</c:v>
                </c:pt>
                <c:pt idx="7">
                  <c:v>2010</c:v>
                </c:pt>
                <c:pt idx="8">
                  <c:v>2010</c:v>
                </c:pt>
                <c:pt idx="9">
                  <c:v>2010</c:v>
                </c:pt>
                <c:pt idx="10">
                  <c:v>2010</c:v>
                </c:pt>
                <c:pt idx="11">
                  <c:v>2010</c:v>
                </c:pt>
                <c:pt idx="12">
                  <c:v>2011</c:v>
                </c:pt>
                <c:pt idx="13">
                  <c:v>2011</c:v>
                </c:pt>
                <c:pt idx="14">
                  <c:v>2011</c:v>
                </c:pt>
                <c:pt idx="15">
                  <c:v>2011</c:v>
                </c:pt>
                <c:pt idx="16">
                  <c:v>2011</c:v>
                </c:pt>
                <c:pt idx="17">
                  <c:v>2011</c:v>
                </c:pt>
                <c:pt idx="18">
                  <c:v>2011</c:v>
                </c:pt>
                <c:pt idx="19">
                  <c:v>2011</c:v>
                </c:pt>
                <c:pt idx="20">
                  <c:v>2011</c:v>
                </c:pt>
                <c:pt idx="21">
                  <c:v>2011</c:v>
                </c:pt>
                <c:pt idx="22">
                  <c:v>2011</c:v>
                </c:pt>
                <c:pt idx="23">
                  <c:v>2011</c:v>
                </c:pt>
                <c:pt idx="24">
                  <c:v>2012</c:v>
                </c:pt>
                <c:pt idx="25">
                  <c:v>2012</c:v>
                </c:pt>
                <c:pt idx="26">
                  <c:v>2012</c:v>
                </c:pt>
                <c:pt idx="27">
                  <c:v>2012</c:v>
                </c:pt>
                <c:pt idx="28">
                  <c:v>2012</c:v>
                </c:pt>
                <c:pt idx="29">
                  <c:v>2012</c:v>
                </c:pt>
                <c:pt idx="30">
                  <c:v>2012</c:v>
                </c:pt>
                <c:pt idx="31">
                  <c:v>2012</c:v>
                </c:pt>
                <c:pt idx="32">
                  <c:v>2012</c:v>
                </c:pt>
                <c:pt idx="33">
                  <c:v>2012</c:v>
                </c:pt>
                <c:pt idx="34">
                  <c:v>2012</c:v>
                </c:pt>
                <c:pt idx="35">
                  <c:v>2012</c:v>
                </c:pt>
                <c:pt idx="36">
                  <c:v>2013</c:v>
                </c:pt>
                <c:pt idx="37">
                  <c:v>2013</c:v>
                </c:pt>
                <c:pt idx="38">
                  <c:v>2013</c:v>
                </c:pt>
                <c:pt idx="39">
                  <c:v>2013</c:v>
                </c:pt>
                <c:pt idx="40">
                  <c:v>2013</c:v>
                </c:pt>
                <c:pt idx="41">
                  <c:v>2013</c:v>
                </c:pt>
                <c:pt idx="42">
                  <c:v>2013</c:v>
                </c:pt>
                <c:pt idx="43">
                  <c:v>2013</c:v>
                </c:pt>
                <c:pt idx="44">
                  <c:v>2013</c:v>
                </c:pt>
                <c:pt idx="45">
                  <c:v>2013</c:v>
                </c:pt>
                <c:pt idx="46">
                  <c:v>2013</c:v>
                </c:pt>
                <c:pt idx="47">
                  <c:v>2013</c:v>
                </c:pt>
                <c:pt idx="48">
                  <c:v>2014</c:v>
                </c:pt>
                <c:pt idx="49">
                  <c:v>2014</c:v>
                </c:pt>
                <c:pt idx="50">
                  <c:v>2014</c:v>
                </c:pt>
                <c:pt idx="51">
                  <c:v>2014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2014</c:v>
                </c:pt>
                <c:pt idx="57">
                  <c:v>2014</c:v>
                </c:pt>
                <c:pt idx="58">
                  <c:v>2014</c:v>
                </c:pt>
                <c:pt idx="59">
                  <c:v>2014</c:v>
                </c:pt>
                <c:pt idx="60">
                  <c:v>2015</c:v>
                </c:pt>
                <c:pt idx="61">
                  <c:v>2015</c:v>
                </c:pt>
                <c:pt idx="62">
                  <c:v>2015</c:v>
                </c:pt>
                <c:pt idx="63">
                  <c:v>2015</c:v>
                </c:pt>
                <c:pt idx="64">
                  <c:v>2015</c:v>
                </c:pt>
                <c:pt idx="65">
                  <c:v>2015</c:v>
                </c:pt>
                <c:pt idx="66">
                  <c:v>2015</c:v>
                </c:pt>
                <c:pt idx="67">
                  <c:v>2015</c:v>
                </c:pt>
                <c:pt idx="68">
                  <c:v>2015</c:v>
                </c:pt>
                <c:pt idx="69">
                  <c:v>2015</c:v>
                </c:pt>
                <c:pt idx="70">
                  <c:v>2015</c:v>
                </c:pt>
                <c:pt idx="71">
                  <c:v>2015</c:v>
                </c:pt>
                <c:pt idx="72">
                  <c:v>2016</c:v>
                </c:pt>
                <c:pt idx="73">
                  <c:v>2016</c:v>
                </c:pt>
                <c:pt idx="74">
                  <c:v>2016</c:v>
                </c:pt>
                <c:pt idx="75">
                  <c:v>2016</c:v>
                </c:pt>
                <c:pt idx="76">
                  <c:v>2016</c:v>
                </c:pt>
                <c:pt idx="77">
                  <c:v>2016</c:v>
                </c:pt>
                <c:pt idx="78">
                  <c:v>2016</c:v>
                </c:pt>
                <c:pt idx="79">
                  <c:v>2016</c:v>
                </c:pt>
                <c:pt idx="80">
                  <c:v>2016</c:v>
                </c:pt>
                <c:pt idx="81">
                  <c:v>2016</c:v>
                </c:pt>
                <c:pt idx="82">
                  <c:v>2016</c:v>
                </c:pt>
                <c:pt idx="83">
                  <c:v>2016</c:v>
                </c:pt>
                <c:pt idx="84">
                  <c:v>2017</c:v>
                </c:pt>
                <c:pt idx="85">
                  <c:v>2017</c:v>
                </c:pt>
                <c:pt idx="86">
                  <c:v>2017</c:v>
                </c:pt>
                <c:pt idx="87">
                  <c:v>2017</c:v>
                </c:pt>
                <c:pt idx="88">
                  <c:v>2017</c:v>
                </c:pt>
                <c:pt idx="89">
                  <c:v>2017</c:v>
                </c:pt>
                <c:pt idx="90">
                  <c:v>2017</c:v>
                </c:pt>
                <c:pt idx="91">
                  <c:v>2017</c:v>
                </c:pt>
                <c:pt idx="92">
                  <c:v>2017</c:v>
                </c:pt>
                <c:pt idx="93">
                  <c:v>2017</c:v>
                </c:pt>
                <c:pt idx="94">
                  <c:v>2017</c:v>
                </c:pt>
                <c:pt idx="95">
                  <c:v>2017</c:v>
                </c:pt>
                <c:pt idx="96">
                  <c:v>2018</c:v>
                </c:pt>
                <c:pt idx="97">
                  <c:v>2018</c:v>
                </c:pt>
                <c:pt idx="98">
                  <c:v>2018</c:v>
                </c:pt>
                <c:pt idx="99">
                  <c:v>2018</c:v>
                </c:pt>
                <c:pt idx="100">
                  <c:v>2018</c:v>
                </c:pt>
                <c:pt idx="101">
                  <c:v>2018</c:v>
                </c:pt>
                <c:pt idx="102">
                  <c:v>2018</c:v>
                </c:pt>
                <c:pt idx="103">
                  <c:v>2018</c:v>
                </c:pt>
                <c:pt idx="104">
                  <c:v>2018</c:v>
                </c:pt>
                <c:pt idx="105">
                  <c:v>2018</c:v>
                </c:pt>
                <c:pt idx="106">
                  <c:v>2018</c:v>
                </c:pt>
                <c:pt idx="107">
                  <c:v>2018</c:v>
                </c:pt>
                <c:pt idx="108">
                  <c:v>2019</c:v>
                </c:pt>
                <c:pt idx="109">
                  <c:v>2019</c:v>
                </c:pt>
                <c:pt idx="110">
                  <c:v>2019</c:v>
                </c:pt>
                <c:pt idx="111">
                  <c:v>2019</c:v>
                </c:pt>
                <c:pt idx="112">
                  <c:v>2019</c:v>
                </c:pt>
                <c:pt idx="113">
                  <c:v>2019</c:v>
                </c:pt>
                <c:pt idx="114">
                  <c:v>2019</c:v>
                </c:pt>
                <c:pt idx="115">
                  <c:v>2019</c:v>
                </c:pt>
                <c:pt idx="116">
                  <c:v>2019</c:v>
                </c:pt>
                <c:pt idx="117">
                  <c:v>2019</c:v>
                </c:pt>
                <c:pt idx="118">
                  <c:v>2019</c:v>
                </c:pt>
                <c:pt idx="119">
                  <c:v>2019</c:v>
                </c:pt>
                <c:pt idx="120">
                  <c:v>2020</c:v>
                </c:pt>
                <c:pt idx="121">
                  <c:v>2020</c:v>
                </c:pt>
                <c:pt idx="122">
                  <c:v>2020</c:v>
                </c:pt>
                <c:pt idx="123">
                  <c:v>2020</c:v>
                </c:pt>
                <c:pt idx="124">
                  <c:v>2020</c:v>
                </c:pt>
                <c:pt idx="125">
                  <c:v>2020</c:v>
                </c:pt>
                <c:pt idx="126">
                  <c:v>2020</c:v>
                </c:pt>
                <c:pt idx="127">
                  <c:v>2020</c:v>
                </c:pt>
                <c:pt idx="128">
                  <c:v>2020</c:v>
                </c:pt>
                <c:pt idx="129">
                  <c:v>2020</c:v>
                </c:pt>
                <c:pt idx="130">
                  <c:v>2020</c:v>
                </c:pt>
                <c:pt idx="131">
                  <c:v>2020</c:v>
                </c:pt>
                <c:pt idx="132">
                  <c:v>2021</c:v>
                </c:pt>
                <c:pt idx="133">
                  <c:v>2021</c:v>
                </c:pt>
                <c:pt idx="134">
                  <c:v>2021</c:v>
                </c:pt>
                <c:pt idx="135">
                  <c:v>2021</c:v>
                </c:pt>
                <c:pt idx="136">
                  <c:v>2021</c:v>
                </c:pt>
                <c:pt idx="137">
                  <c:v>2021</c:v>
                </c:pt>
                <c:pt idx="138">
                  <c:v>2021</c:v>
                </c:pt>
                <c:pt idx="139">
                  <c:v>2021</c:v>
                </c:pt>
                <c:pt idx="140">
                  <c:v>2021</c:v>
                </c:pt>
                <c:pt idx="141">
                  <c:v>2021</c:v>
                </c:pt>
                <c:pt idx="142">
                  <c:v>2021</c:v>
                </c:pt>
                <c:pt idx="143">
                  <c:v>2021</c:v>
                </c:pt>
                <c:pt idx="144">
                  <c:v>2022</c:v>
                </c:pt>
                <c:pt idx="145">
                  <c:v>2022</c:v>
                </c:pt>
                <c:pt idx="146">
                  <c:v>2022</c:v>
                </c:pt>
                <c:pt idx="147">
                  <c:v>2022</c:v>
                </c:pt>
                <c:pt idx="148">
                  <c:v>2022</c:v>
                </c:pt>
                <c:pt idx="149">
                  <c:v>2022</c:v>
                </c:pt>
                <c:pt idx="150">
                  <c:v>2022</c:v>
                </c:pt>
                <c:pt idx="151">
                  <c:v>2022</c:v>
                </c:pt>
                <c:pt idx="152">
                  <c:v>2022</c:v>
                </c:pt>
                <c:pt idx="153">
                  <c:v>2022</c:v>
                </c:pt>
                <c:pt idx="154">
                  <c:v>2022</c:v>
                </c:pt>
                <c:pt idx="155">
                  <c:v>2022</c:v>
                </c:pt>
                <c:pt idx="156">
                  <c:v>2023</c:v>
                </c:pt>
                <c:pt idx="157">
                  <c:v>2023</c:v>
                </c:pt>
                <c:pt idx="158">
                  <c:v>2023</c:v>
                </c:pt>
                <c:pt idx="159">
                  <c:v>2023</c:v>
                </c:pt>
                <c:pt idx="160">
                  <c:v>2023</c:v>
                </c:pt>
                <c:pt idx="161">
                  <c:v>2023</c:v>
                </c:pt>
                <c:pt idx="162">
                  <c:v>2023</c:v>
                </c:pt>
                <c:pt idx="163">
                  <c:v>2023</c:v>
                </c:pt>
                <c:pt idx="164">
                  <c:v>2023</c:v>
                </c:pt>
                <c:pt idx="165">
                  <c:v>2023</c:v>
                </c:pt>
                <c:pt idx="166">
                  <c:v>2023</c:v>
                </c:pt>
                <c:pt idx="167">
                  <c:v>2023</c:v>
                </c:pt>
                <c:pt idx="168">
                  <c:v>2024</c:v>
                </c:pt>
                <c:pt idx="169">
                  <c:v>2024</c:v>
                </c:pt>
                <c:pt idx="170">
                  <c:v>2024</c:v>
                </c:pt>
                <c:pt idx="171">
                  <c:v>2024</c:v>
                </c:pt>
                <c:pt idx="172">
                  <c:v>2024</c:v>
                </c:pt>
                <c:pt idx="173">
                  <c:v>2024</c:v>
                </c:pt>
                <c:pt idx="174">
                  <c:v>2024</c:v>
                </c:pt>
                <c:pt idx="175">
                  <c:v>2024</c:v>
                </c:pt>
                <c:pt idx="176">
                  <c:v>2024</c:v>
                </c:pt>
                <c:pt idx="177">
                  <c:v>2024</c:v>
                </c:pt>
                <c:pt idx="178">
                  <c:v>2024</c:v>
                </c:pt>
                <c:pt idx="179">
                  <c:v>2024</c:v>
                </c:pt>
                <c:pt idx="180">
                  <c:v>2025</c:v>
                </c:pt>
                <c:pt idx="181">
                  <c:v>2025</c:v>
                </c:pt>
                <c:pt idx="182">
                  <c:v>2025</c:v>
                </c:pt>
                <c:pt idx="183">
                  <c:v>2025</c:v>
                </c:pt>
                <c:pt idx="184">
                  <c:v>2025</c:v>
                </c:pt>
                <c:pt idx="185">
                  <c:v>2025</c:v>
                </c:pt>
                <c:pt idx="186">
                  <c:v>2025</c:v>
                </c:pt>
                <c:pt idx="187">
                  <c:v>2025</c:v>
                </c:pt>
                <c:pt idx="188">
                  <c:v>2025</c:v>
                </c:pt>
                <c:pt idx="189">
                  <c:v>2025</c:v>
                </c:pt>
                <c:pt idx="190">
                  <c:v>2025</c:v>
                </c:pt>
                <c:pt idx="191">
                  <c:v>2025</c:v>
                </c:pt>
                <c:pt idx="192">
                  <c:v>2026</c:v>
                </c:pt>
                <c:pt idx="193">
                  <c:v>2026</c:v>
                </c:pt>
                <c:pt idx="194">
                  <c:v>2026</c:v>
                </c:pt>
                <c:pt idx="195">
                  <c:v>2026</c:v>
                </c:pt>
                <c:pt idx="196">
                  <c:v>2026</c:v>
                </c:pt>
                <c:pt idx="197">
                  <c:v>2026</c:v>
                </c:pt>
                <c:pt idx="198">
                  <c:v>2026</c:v>
                </c:pt>
                <c:pt idx="199">
                  <c:v>2026</c:v>
                </c:pt>
              </c:strCache>
            </c:strRef>
          </c:cat>
          <c:val>
            <c:numRef>
              <c:f>Sheet1!$B$2:$B$201</c:f>
              <c:numCache>
                <c:formatCode>General</c:formatCode>
                <c:ptCount val="200"/>
                <c:pt idx="0">
                  <c:v>158.66</c:v>
                </c:pt>
                <c:pt idx="1">
                  <c:v>157.86</c:v>
                </c:pt>
                <c:pt idx="2">
                  <c:v>164.5</c:v>
                </c:pt>
                <c:pt idx="3">
                  <c:v>169.39</c:v>
                </c:pt>
                <c:pt idx="4">
                  <c:v>173.37</c:v>
                </c:pt>
                <c:pt idx="5">
                  <c:v>190.9</c:v>
                </c:pt>
                <c:pt idx="6">
                  <c:v>203.21</c:v>
                </c:pt>
                <c:pt idx="7">
                  <c:v>211.59</c:v>
                </c:pt>
                <c:pt idx="8">
                  <c:v>222.71</c:v>
                </c:pt>
                <c:pt idx="9">
                  <c:v>217.44</c:v>
                </c:pt>
                <c:pt idx="10">
                  <c:v>233.51</c:v>
                </c:pt>
                <c:pt idx="11">
                  <c:v>249.44</c:v>
                </c:pt>
                <c:pt idx="12">
                  <c:v>263.77</c:v>
                </c:pt>
                <c:pt idx="13">
                  <c:v>288.39</c:v>
                </c:pt>
                <c:pt idx="14">
                  <c:v>292.07</c:v>
                </c:pt>
                <c:pt idx="15">
                  <c:v>300.48</c:v>
                </c:pt>
                <c:pt idx="16">
                  <c:v>291.07</c:v>
                </c:pt>
                <c:pt idx="17">
                  <c:v>274.98</c:v>
                </c:pt>
                <c:pt idx="18">
                  <c:v>268.02</c:v>
                </c:pt>
                <c:pt idx="19">
                  <c:v>270.44</c:v>
                </c:pt>
                <c:pt idx="20">
                  <c:v>274.88</c:v>
                </c:pt>
                <c:pt idx="21">
                  <c:v>247.82</c:v>
                </c:pt>
                <c:pt idx="22">
                  <c:v>245.09</c:v>
                </c:pt>
                <c:pt idx="23">
                  <c:v>236.3</c:v>
                </c:pt>
                <c:pt idx="24">
                  <c:v>237.21</c:v>
                </c:pt>
                <c:pt idx="25">
                  <c:v>224.16</c:v>
                </c:pt>
                <c:pt idx="26">
                  <c:v>201.26</c:v>
                </c:pt>
                <c:pt idx="27">
                  <c:v>191.45</c:v>
                </c:pt>
                <c:pt idx="28">
                  <c:v>184.36</c:v>
                </c:pt>
                <c:pt idx="29">
                  <c:v>168.69</c:v>
                </c:pt>
                <c:pt idx="30">
                  <c:v>190.45</c:v>
                </c:pt>
                <c:pt idx="31">
                  <c:v>174.82</c:v>
                </c:pt>
                <c:pt idx="32">
                  <c:v>178.98</c:v>
                </c:pt>
                <c:pt idx="33">
                  <c:v>173.32</c:v>
                </c:pt>
                <c:pt idx="34">
                  <c:v>159.91</c:v>
                </c:pt>
                <c:pt idx="35">
                  <c:v>152.71</c:v>
                </c:pt>
                <c:pt idx="36">
                  <c:v>157.04</c:v>
                </c:pt>
                <c:pt idx="37">
                  <c:v>149.46</c:v>
                </c:pt>
                <c:pt idx="38">
                  <c:v>149.81</c:v>
                </c:pt>
                <c:pt idx="39">
                  <c:v>149.79</c:v>
                </c:pt>
                <c:pt idx="40">
                  <c:v>147.19</c:v>
                </c:pt>
                <c:pt idx="41">
                  <c:v>138.26</c:v>
                </c:pt>
                <c:pt idx="42">
                  <c:v>138.39</c:v>
                </c:pt>
                <c:pt idx="43">
                  <c:v>135.15</c:v>
                </c:pt>
                <c:pt idx="44">
                  <c:v>132.28</c:v>
                </c:pt>
                <c:pt idx="45">
                  <c:v>128.7</c:v>
                </c:pt>
                <c:pt idx="46">
                  <c:v>122.02</c:v>
                </c:pt>
                <c:pt idx="47">
                  <c:v>125.74</c:v>
                </c:pt>
                <c:pt idx="48">
                  <c:v>132.52</c:v>
                </c:pt>
                <c:pt idx="49">
                  <c:v>173.64</c:v>
                </c:pt>
                <c:pt idx="50">
                  <c:v>214.09</c:v>
                </c:pt>
                <c:pt idx="51">
                  <c:v>223.49</c:v>
                </c:pt>
                <c:pt idx="52">
                  <c:v>214.2</c:v>
                </c:pt>
                <c:pt idx="53">
                  <c:v>197.89</c:v>
                </c:pt>
                <c:pt idx="54">
                  <c:v>196.9</c:v>
                </c:pt>
                <c:pt idx="55">
                  <c:v>212.97</c:v>
                </c:pt>
                <c:pt idx="56">
                  <c:v>210.53</c:v>
                </c:pt>
                <c:pt idx="57">
                  <c:v>225.29</c:v>
                </c:pt>
                <c:pt idx="58">
                  <c:v>209.38</c:v>
                </c:pt>
                <c:pt idx="59">
                  <c:v>193.39</c:v>
                </c:pt>
                <c:pt idx="60">
                  <c:v>189.63</c:v>
                </c:pt>
                <c:pt idx="61">
                  <c:v>178.89</c:v>
                </c:pt>
                <c:pt idx="62">
                  <c:v>160.74</c:v>
                </c:pt>
                <c:pt idx="63">
                  <c:v>164.0</c:v>
                </c:pt>
                <c:pt idx="64">
                  <c:v>158.48</c:v>
                </c:pt>
                <c:pt idx="65">
                  <c:v>159.76</c:v>
                </c:pt>
                <c:pt idx="66">
                  <c:v>154.45</c:v>
                </c:pt>
                <c:pt idx="67">
                  <c:v>156.92</c:v>
                </c:pt>
                <c:pt idx="68">
                  <c:v>146.15</c:v>
                </c:pt>
                <c:pt idx="69">
                  <c:v>153.25</c:v>
                </c:pt>
                <c:pt idx="70">
                  <c:v>147.98</c:v>
                </c:pt>
                <c:pt idx="71">
                  <c:v>148.61</c:v>
                </c:pt>
                <c:pt idx="72">
                  <c:v>145.43</c:v>
                </c:pt>
                <c:pt idx="73">
                  <c:v>147.7</c:v>
                </c:pt>
                <c:pt idx="74">
                  <c:v>157.63</c:v>
                </c:pt>
                <c:pt idx="75">
                  <c:v>154.22</c:v>
                </c:pt>
                <c:pt idx="76">
                  <c:v>155.19</c:v>
                </c:pt>
                <c:pt idx="77">
                  <c:v>165.45</c:v>
                </c:pt>
                <c:pt idx="78">
                  <c:v>171.76</c:v>
                </c:pt>
                <c:pt idx="79">
                  <c:v>167.54</c:v>
                </c:pt>
                <c:pt idx="80">
                  <c:v>176.3</c:v>
                </c:pt>
                <c:pt idx="81">
                  <c:v>178.96</c:v>
                </c:pt>
                <c:pt idx="82">
                  <c:v>184.12</c:v>
                </c:pt>
                <c:pt idx="83">
                  <c:v>161.78</c:v>
                </c:pt>
                <c:pt idx="84">
                  <c:v>168.61</c:v>
                </c:pt>
                <c:pt idx="85">
                  <c:v>166.35</c:v>
                </c:pt>
                <c:pt idx="86">
                  <c:v>160.15</c:v>
                </c:pt>
                <c:pt idx="87">
                  <c:v>155.57</c:v>
                </c:pt>
                <c:pt idx="88">
                  <c:v>150.0</c:v>
                </c:pt>
                <c:pt idx="89">
                  <c:v>143.22</c:v>
                </c:pt>
                <c:pt idx="90">
                  <c:v>149.8</c:v>
                </c:pt>
                <c:pt idx="91">
                  <c:v>149.88</c:v>
                </c:pt>
                <c:pt idx="92">
                  <c:v>146.56</c:v>
                </c:pt>
                <c:pt idx="93">
                  <c:v>140.71</c:v>
                </c:pt>
                <c:pt idx="94">
                  <c:v>140.9</c:v>
                </c:pt>
                <c:pt idx="95">
                  <c:v>137.31</c:v>
                </c:pt>
                <c:pt idx="96">
                  <c:v>138.88</c:v>
                </c:pt>
                <c:pt idx="97">
                  <c:v>136.28</c:v>
                </c:pt>
                <c:pt idx="98">
                  <c:v>134.94</c:v>
                </c:pt>
                <c:pt idx="99">
                  <c:v>134.34</c:v>
                </c:pt>
                <c:pt idx="100">
                  <c:v>135.61</c:v>
                </c:pt>
                <c:pt idx="101">
                  <c:v>134.03</c:v>
                </c:pt>
                <c:pt idx="102">
                  <c:v>130.6</c:v>
                </c:pt>
                <c:pt idx="103">
                  <c:v>125.21</c:v>
                </c:pt>
                <c:pt idx="104">
                  <c:v>121.18</c:v>
                </c:pt>
                <c:pt idx="105">
                  <c:v>137.34</c:v>
                </c:pt>
                <c:pt idx="106">
                  <c:v>137.11</c:v>
                </c:pt>
                <c:pt idx="107">
                  <c:v>127.06</c:v>
                </c:pt>
                <c:pt idx="108">
                  <c:v>128.36</c:v>
                </c:pt>
                <c:pt idx="109">
                  <c:v>128.45</c:v>
                </c:pt>
                <c:pt idx="110">
                  <c:v>123.89</c:v>
                </c:pt>
                <c:pt idx="111">
                  <c:v>120.99</c:v>
                </c:pt>
                <c:pt idx="112">
                  <c:v>120.55</c:v>
                </c:pt>
                <c:pt idx="113">
                  <c:v>129.72</c:v>
                </c:pt>
                <c:pt idx="114">
                  <c:v>135.47</c:v>
                </c:pt>
                <c:pt idx="115">
                  <c:v>126.28</c:v>
                </c:pt>
                <c:pt idx="116">
                  <c:v>128.89</c:v>
                </c:pt>
                <c:pt idx="117">
                  <c:v>127.05</c:v>
                </c:pt>
                <c:pt idx="118">
                  <c:v>140.98</c:v>
                </c:pt>
                <c:pt idx="119">
                  <c:v>156.03</c:v>
                </c:pt>
                <c:pt idx="120">
                  <c:v>142.94</c:v>
                </c:pt>
                <c:pt idx="121">
                  <c:v>135.5</c:v>
                </c:pt>
                <c:pt idx="122">
                  <c:v>148.33</c:v>
                </c:pt>
                <c:pt idx="123">
                  <c:v>154.63</c:v>
                </c:pt>
                <c:pt idx="124">
                  <c:v>149.92</c:v>
                </c:pt>
                <c:pt idx="125">
                  <c:v>141.52</c:v>
                </c:pt>
                <c:pt idx="126">
                  <c:v>146.78</c:v>
                </c:pt>
                <c:pt idx="127">
                  <c:v>163.07</c:v>
                </c:pt>
                <c:pt idx="128">
                  <c:v>166.56</c:v>
                </c:pt>
                <c:pt idx="129">
                  <c:v>152.06</c:v>
                </c:pt>
                <c:pt idx="130">
                  <c:v>150.73</c:v>
                </c:pt>
                <c:pt idx="131">
                  <c:v>157.95</c:v>
                </c:pt>
                <c:pt idx="132">
                  <c:v>160.82</c:v>
                </c:pt>
                <c:pt idx="133">
                  <c:v>166.43</c:v>
                </c:pt>
                <c:pt idx="134">
                  <c:v>167.05</c:v>
                </c:pt>
                <c:pt idx="135">
                  <c:v>168.65</c:v>
                </c:pt>
                <c:pt idx="136">
                  <c:v>186.46</c:v>
                </c:pt>
                <c:pt idx="137">
                  <c:v>192.06</c:v>
                </c:pt>
                <c:pt idx="138">
                  <c:v>204.5</c:v>
                </c:pt>
                <c:pt idx="139">
                  <c:v>216.43</c:v>
                </c:pt>
                <c:pt idx="140">
                  <c:v>225.54</c:v>
                </c:pt>
                <c:pt idx="141">
                  <c:v>241.07</c:v>
                </c:pt>
                <c:pt idx="142">
                  <c:v>258.98</c:v>
                </c:pt>
                <c:pt idx="143">
                  <c:v>268.33</c:v>
                </c:pt>
                <c:pt idx="144">
                  <c:v>271.08</c:v>
                </c:pt>
                <c:pt idx="145">
                  <c:v>279.83</c:v>
                </c:pt>
                <c:pt idx="146">
                  <c:v>258.99</c:v>
                </c:pt>
                <c:pt idx="147">
                  <c:v>265.4</c:v>
                </c:pt>
                <c:pt idx="148">
                  <c:v>260.45</c:v>
                </c:pt>
                <c:pt idx="149">
                  <c:v>273.76</c:v>
                </c:pt>
                <c:pt idx="150">
                  <c:v>255.91</c:v>
                </c:pt>
                <c:pt idx="151">
                  <c:v>268.48</c:v>
                </c:pt>
                <c:pt idx="152">
                  <c:v>267.49</c:v>
                </c:pt>
                <c:pt idx="153">
                  <c:v>240.08</c:v>
                </c:pt>
                <c:pt idx="154">
                  <c:v>213.72</c:v>
                </c:pt>
                <c:pt idx="155">
                  <c:v>210.39</c:v>
                </c:pt>
                <c:pt idx="156">
                  <c:v>206.76</c:v>
                </c:pt>
                <c:pt idx="157">
                  <c:v>229.51</c:v>
                </c:pt>
                <c:pt idx="158">
                  <c:v>222.66</c:v>
                </c:pt>
                <c:pt idx="159">
                  <c:v>229.96</c:v>
                </c:pt>
                <c:pt idx="160">
                  <c:v>220.12</c:v>
                </c:pt>
                <c:pt idx="161">
                  <c:v>207.39</c:v>
                </c:pt>
                <c:pt idx="162">
                  <c:v>193.49</c:v>
                </c:pt>
                <c:pt idx="163">
                  <c:v>186.35</c:v>
                </c:pt>
                <c:pt idx="164">
                  <c:v>183.59</c:v>
                </c:pt>
                <c:pt idx="165">
                  <c:v>183.95</c:v>
                </c:pt>
                <c:pt idx="166">
                  <c:v>197.43</c:v>
                </c:pt>
                <c:pt idx="167">
                  <c:v>210.31</c:v>
                </c:pt>
                <c:pt idx="168">
                  <c:v>203.88</c:v>
                </c:pt>
                <c:pt idx="169">
                  <c:v>208.78</c:v>
                </c:pt>
                <c:pt idx="170">
                  <c:v>208.91</c:v>
                </c:pt>
                <c:pt idx="171">
                  <c:v>239.87</c:v>
                </c:pt>
                <c:pt idx="172">
                  <c:v>232.34</c:v>
                </c:pt>
                <c:pt idx="173">
                  <c:v>248.4</c:v>
                </c:pt>
                <c:pt idx="174">
                  <c:v>257.1</c:v>
                </c:pt>
                <c:pt idx="175">
                  <c:v>261.44</c:v>
                </c:pt>
                <c:pt idx="176">
                  <c:v>278.76</c:v>
                </c:pt>
                <c:pt idx="177">
                  <c:v>276.78</c:v>
                </c:pt>
                <c:pt idx="178">
                  <c:v>304.95</c:v>
                </c:pt>
                <c:pt idx="179">
                  <c:v>344.12</c:v>
                </c:pt>
                <c:pt idx="180">
                  <c:v>353.93</c:v>
                </c:pt>
                <c:pt idx="181">
                  <c:v>409.52</c:v>
                </c:pt>
                <c:pt idx="182">
                  <c:v>404.21</c:v>
                </c:pt>
                <c:pt idx="183">
                  <c:v>392.91</c:v>
                </c:pt>
                <c:pt idx="184">
                  <c:v>397.59</c:v>
                </c:pt>
                <c:pt idx="185">
                  <c:v>363.16</c:v>
                </c:pt>
                <c:pt idx="186">
                  <c:v>316.73</c:v>
                </c:pt>
                <c:pt idx="187">
                  <c:v>365.69</c:v>
                </c:pt>
                <c:pt idx="188">
                  <c:v>399.55</c:v>
                </c:pt>
                <c:pt idx="189">
                  <c:v>403.79</c:v>
                </c:pt>
                <c:pt idx="190">
                  <c:v>410.31</c:v>
                </c:pt>
                <c:pt idx="191">
                  <c:v>381.14</c:v>
                </c:pt>
                <c:pt idx="192">
                  <c:v>363.94</c:v>
                </c:pt>
                <c:pt idx="193">
                  <c:v>321.35</c:v>
                </c:pt>
                <c:pt idx="194">
                  <c:v>334.34</c:v>
                </c:pt>
                <c:pt idx="195">
                  <c:v>331.22</c:v>
                </c:pt>
                <c:pt idx="196">
                  <c:v>315.42</c:v>
                </c:pt>
                <c:pt idx="197">
                  <c:v>307.83</c:v>
                </c:pt>
                <c:pt idx="198">
                  <c:v>358.65</c:v>
                </c:pt>
                <c:pt idx="199">
                  <c:v>361.31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dLbls>
            <c:dLbl>
              <c:idx val="123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1F1E1C"/>
                        </a:solidFill>
                        <a:latin typeface="Calibri"/>
                      </a:rPr>
                      <a:t>64 (2020-04)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81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1F1E1C"/>
                        </a:solidFill>
                        <a:latin typeface="Calibri"/>
                      </a:rPr>
                      <a:t>263 (2025-02)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99"/>
              <c:tx>
                <c:rich>
                  <a:bodyPr/>
                  <a:lstStyle/>
                  <a:p>
                    <a:r>
                      <a:rPr sz="800" b="1">
                        <a:solidFill>
                          <a:srgbClr val="1F1E1C"/>
                        </a:solidFill>
                        <a:latin typeface="Calibri"/>
                      </a:rPr>
                      <a:t>181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Sheet1!$A$2:$A$201</c:f>
              <c:strCache>
                <c:ptCount val="200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2010</c:v>
                </c:pt>
                <c:pt idx="5">
                  <c:v>2010</c:v>
                </c:pt>
                <c:pt idx="6">
                  <c:v>2010</c:v>
                </c:pt>
                <c:pt idx="7">
                  <c:v>2010</c:v>
                </c:pt>
                <c:pt idx="8">
                  <c:v>2010</c:v>
                </c:pt>
                <c:pt idx="9">
                  <c:v>2010</c:v>
                </c:pt>
                <c:pt idx="10">
                  <c:v>2010</c:v>
                </c:pt>
                <c:pt idx="11">
                  <c:v>2010</c:v>
                </c:pt>
                <c:pt idx="12">
                  <c:v>2011</c:v>
                </c:pt>
                <c:pt idx="13">
                  <c:v>2011</c:v>
                </c:pt>
                <c:pt idx="14">
                  <c:v>2011</c:v>
                </c:pt>
                <c:pt idx="15">
                  <c:v>2011</c:v>
                </c:pt>
                <c:pt idx="16">
                  <c:v>2011</c:v>
                </c:pt>
                <c:pt idx="17">
                  <c:v>2011</c:v>
                </c:pt>
                <c:pt idx="18">
                  <c:v>2011</c:v>
                </c:pt>
                <c:pt idx="19">
                  <c:v>2011</c:v>
                </c:pt>
                <c:pt idx="20">
                  <c:v>2011</c:v>
                </c:pt>
                <c:pt idx="21">
                  <c:v>2011</c:v>
                </c:pt>
                <c:pt idx="22">
                  <c:v>2011</c:v>
                </c:pt>
                <c:pt idx="23">
                  <c:v>2011</c:v>
                </c:pt>
                <c:pt idx="24">
                  <c:v>2012</c:v>
                </c:pt>
                <c:pt idx="25">
                  <c:v>2012</c:v>
                </c:pt>
                <c:pt idx="26">
                  <c:v>2012</c:v>
                </c:pt>
                <c:pt idx="27">
                  <c:v>2012</c:v>
                </c:pt>
                <c:pt idx="28">
                  <c:v>2012</c:v>
                </c:pt>
                <c:pt idx="29">
                  <c:v>2012</c:v>
                </c:pt>
                <c:pt idx="30">
                  <c:v>2012</c:v>
                </c:pt>
                <c:pt idx="31">
                  <c:v>2012</c:v>
                </c:pt>
                <c:pt idx="32">
                  <c:v>2012</c:v>
                </c:pt>
                <c:pt idx="33">
                  <c:v>2012</c:v>
                </c:pt>
                <c:pt idx="34">
                  <c:v>2012</c:v>
                </c:pt>
                <c:pt idx="35">
                  <c:v>2012</c:v>
                </c:pt>
                <c:pt idx="36">
                  <c:v>2013</c:v>
                </c:pt>
                <c:pt idx="37">
                  <c:v>2013</c:v>
                </c:pt>
                <c:pt idx="38">
                  <c:v>2013</c:v>
                </c:pt>
                <c:pt idx="39">
                  <c:v>2013</c:v>
                </c:pt>
                <c:pt idx="40">
                  <c:v>2013</c:v>
                </c:pt>
                <c:pt idx="41">
                  <c:v>2013</c:v>
                </c:pt>
                <c:pt idx="42">
                  <c:v>2013</c:v>
                </c:pt>
                <c:pt idx="43">
                  <c:v>2013</c:v>
                </c:pt>
                <c:pt idx="44">
                  <c:v>2013</c:v>
                </c:pt>
                <c:pt idx="45">
                  <c:v>2013</c:v>
                </c:pt>
                <c:pt idx="46">
                  <c:v>2013</c:v>
                </c:pt>
                <c:pt idx="47">
                  <c:v>2013</c:v>
                </c:pt>
                <c:pt idx="48">
                  <c:v>2014</c:v>
                </c:pt>
                <c:pt idx="49">
                  <c:v>2014</c:v>
                </c:pt>
                <c:pt idx="50">
                  <c:v>2014</c:v>
                </c:pt>
                <c:pt idx="51">
                  <c:v>2014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2014</c:v>
                </c:pt>
                <c:pt idx="57">
                  <c:v>2014</c:v>
                </c:pt>
                <c:pt idx="58">
                  <c:v>2014</c:v>
                </c:pt>
                <c:pt idx="59">
                  <c:v>2014</c:v>
                </c:pt>
                <c:pt idx="60">
                  <c:v>2015</c:v>
                </c:pt>
                <c:pt idx="61">
                  <c:v>2015</c:v>
                </c:pt>
                <c:pt idx="62">
                  <c:v>2015</c:v>
                </c:pt>
                <c:pt idx="63">
                  <c:v>2015</c:v>
                </c:pt>
                <c:pt idx="64">
                  <c:v>2015</c:v>
                </c:pt>
                <c:pt idx="65">
                  <c:v>2015</c:v>
                </c:pt>
                <c:pt idx="66">
                  <c:v>2015</c:v>
                </c:pt>
                <c:pt idx="67">
                  <c:v>2015</c:v>
                </c:pt>
                <c:pt idx="68">
                  <c:v>2015</c:v>
                </c:pt>
                <c:pt idx="69">
                  <c:v>2015</c:v>
                </c:pt>
                <c:pt idx="70">
                  <c:v>2015</c:v>
                </c:pt>
                <c:pt idx="71">
                  <c:v>2015</c:v>
                </c:pt>
                <c:pt idx="72">
                  <c:v>2016</c:v>
                </c:pt>
                <c:pt idx="73">
                  <c:v>2016</c:v>
                </c:pt>
                <c:pt idx="74">
                  <c:v>2016</c:v>
                </c:pt>
                <c:pt idx="75">
                  <c:v>2016</c:v>
                </c:pt>
                <c:pt idx="76">
                  <c:v>2016</c:v>
                </c:pt>
                <c:pt idx="77">
                  <c:v>2016</c:v>
                </c:pt>
                <c:pt idx="78">
                  <c:v>2016</c:v>
                </c:pt>
                <c:pt idx="79">
                  <c:v>2016</c:v>
                </c:pt>
                <c:pt idx="80">
                  <c:v>2016</c:v>
                </c:pt>
                <c:pt idx="81">
                  <c:v>2016</c:v>
                </c:pt>
                <c:pt idx="82">
                  <c:v>2016</c:v>
                </c:pt>
                <c:pt idx="83">
                  <c:v>2016</c:v>
                </c:pt>
                <c:pt idx="84">
                  <c:v>2017</c:v>
                </c:pt>
                <c:pt idx="85">
                  <c:v>2017</c:v>
                </c:pt>
                <c:pt idx="86">
                  <c:v>2017</c:v>
                </c:pt>
                <c:pt idx="87">
                  <c:v>2017</c:v>
                </c:pt>
                <c:pt idx="88">
                  <c:v>2017</c:v>
                </c:pt>
                <c:pt idx="89">
                  <c:v>2017</c:v>
                </c:pt>
                <c:pt idx="90">
                  <c:v>2017</c:v>
                </c:pt>
                <c:pt idx="91">
                  <c:v>2017</c:v>
                </c:pt>
                <c:pt idx="92">
                  <c:v>2017</c:v>
                </c:pt>
                <c:pt idx="93">
                  <c:v>2017</c:v>
                </c:pt>
                <c:pt idx="94">
                  <c:v>2017</c:v>
                </c:pt>
                <c:pt idx="95">
                  <c:v>2017</c:v>
                </c:pt>
                <c:pt idx="96">
                  <c:v>2018</c:v>
                </c:pt>
                <c:pt idx="97">
                  <c:v>2018</c:v>
                </c:pt>
                <c:pt idx="98">
                  <c:v>2018</c:v>
                </c:pt>
                <c:pt idx="99">
                  <c:v>2018</c:v>
                </c:pt>
                <c:pt idx="100">
                  <c:v>2018</c:v>
                </c:pt>
                <c:pt idx="101">
                  <c:v>2018</c:v>
                </c:pt>
                <c:pt idx="102">
                  <c:v>2018</c:v>
                </c:pt>
                <c:pt idx="103">
                  <c:v>2018</c:v>
                </c:pt>
                <c:pt idx="104">
                  <c:v>2018</c:v>
                </c:pt>
                <c:pt idx="105">
                  <c:v>2018</c:v>
                </c:pt>
                <c:pt idx="106">
                  <c:v>2018</c:v>
                </c:pt>
                <c:pt idx="107">
                  <c:v>2018</c:v>
                </c:pt>
                <c:pt idx="108">
                  <c:v>2019</c:v>
                </c:pt>
                <c:pt idx="109">
                  <c:v>2019</c:v>
                </c:pt>
                <c:pt idx="110">
                  <c:v>2019</c:v>
                </c:pt>
                <c:pt idx="111">
                  <c:v>2019</c:v>
                </c:pt>
                <c:pt idx="112">
                  <c:v>2019</c:v>
                </c:pt>
                <c:pt idx="113">
                  <c:v>2019</c:v>
                </c:pt>
                <c:pt idx="114">
                  <c:v>2019</c:v>
                </c:pt>
                <c:pt idx="115">
                  <c:v>2019</c:v>
                </c:pt>
                <c:pt idx="116">
                  <c:v>2019</c:v>
                </c:pt>
                <c:pt idx="117">
                  <c:v>2019</c:v>
                </c:pt>
                <c:pt idx="118">
                  <c:v>2019</c:v>
                </c:pt>
                <c:pt idx="119">
                  <c:v>2019</c:v>
                </c:pt>
                <c:pt idx="120">
                  <c:v>2020</c:v>
                </c:pt>
                <c:pt idx="121">
                  <c:v>2020</c:v>
                </c:pt>
                <c:pt idx="122">
                  <c:v>2020</c:v>
                </c:pt>
                <c:pt idx="123">
                  <c:v>2020</c:v>
                </c:pt>
                <c:pt idx="124">
                  <c:v>2020</c:v>
                </c:pt>
                <c:pt idx="125">
                  <c:v>2020</c:v>
                </c:pt>
                <c:pt idx="126">
                  <c:v>2020</c:v>
                </c:pt>
                <c:pt idx="127">
                  <c:v>2020</c:v>
                </c:pt>
                <c:pt idx="128">
                  <c:v>2020</c:v>
                </c:pt>
                <c:pt idx="129">
                  <c:v>2020</c:v>
                </c:pt>
                <c:pt idx="130">
                  <c:v>2020</c:v>
                </c:pt>
                <c:pt idx="131">
                  <c:v>2020</c:v>
                </c:pt>
                <c:pt idx="132">
                  <c:v>2021</c:v>
                </c:pt>
                <c:pt idx="133">
                  <c:v>2021</c:v>
                </c:pt>
                <c:pt idx="134">
                  <c:v>2021</c:v>
                </c:pt>
                <c:pt idx="135">
                  <c:v>2021</c:v>
                </c:pt>
                <c:pt idx="136">
                  <c:v>2021</c:v>
                </c:pt>
                <c:pt idx="137">
                  <c:v>2021</c:v>
                </c:pt>
                <c:pt idx="138">
                  <c:v>2021</c:v>
                </c:pt>
                <c:pt idx="139">
                  <c:v>2021</c:v>
                </c:pt>
                <c:pt idx="140">
                  <c:v>2021</c:v>
                </c:pt>
                <c:pt idx="141">
                  <c:v>2021</c:v>
                </c:pt>
                <c:pt idx="142">
                  <c:v>2021</c:v>
                </c:pt>
                <c:pt idx="143">
                  <c:v>2021</c:v>
                </c:pt>
                <c:pt idx="144">
                  <c:v>2022</c:v>
                </c:pt>
                <c:pt idx="145">
                  <c:v>2022</c:v>
                </c:pt>
                <c:pt idx="146">
                  <c:v>2022</c:v>
                </c:pt>
                <c:pt idx="147">
                  <c:v>2022</c:v>
                </c:pt>
                <c:pt idx="148">
                  <c:v>2022</c:v>
                </c:pt>
                <c:pt idx="149">
                  <c:v>2022</c:v>
                </c:pt>
                <c:pt idx="150">
                  <c:v>2022</c:v>
                </c:pt>
                <c:pt idx="151">
                  <c:v>2022</c:v>
                </c:pt>
                <c:pt idx="152">
                  <c:v>2022</c:v>
                </c:pt>
                <c:pt idx="153">
                  <c:v>2022</c:v>
                </c:pt>
                <c:pt idx="154">
                  <c:v>2022</c:v>
                </c:pt>
                <c:pt idx="155">
                  <c:v>2022</c:v>
                </c:pt>
                <c:pt idx="156">
                  <c:v>2023</c:v>
                </c:pt>
                <c:pt idx="157">
                  <c:v>2023</c:v>
                </c:pt>
                <c:pt idx="158">
                  <c:v>2023</c:v>
                </c:pt>
                <c:pt idx="159">
                  <c:v>2023</c:v>
                </c:pt>
                <c:pt idx="160">
                  <c:v>2023</c:v>
                </c:pt>
                <c:pt idx="161">
                  <c:v>2023</c:v>
                </c:pt>
                <c:pt idx="162">
                  <c:v>2023</c:v>
                </c:pt>
                <c:pt idx="163">
                  <c:v>2023</c:v>
                </c:pt>
                <c:pt idx="164">
                  <c:v>2023</c:v>
                </c:pt>
                <c:pt idx="165">
                  <c:v>2023</c:v>
                </c:pt>
                <c:pt idx="166">
                  <c:v>2023</c:v>
                </c:pt>
                <c:pt idx="167">
                  <c:v>2023</c:v>
                </c:pt>
                <c:pt idx="168">
                  <c:v>2024</c:v>
                </c:pt>
                <c:pt idx="169">
                  <c:v>2024</c:v>
                </c:pt>
                <c:pt idx="170">
                  <c:v>2024</c:v>
                </c:pt>
                <c:pt idx="171">
                  <c:v>2024</c:v>
                </c:pt>
                <c:pt idx="172">
                  <c:v>2024</c:v>
                </c:pt>
                <c:pt idx="173">
                  <c:v>2024</c:v>
                </c:pt>
                <c:pt idx="174">
                  <c:v>2024</c:v>
                </c:pt>
                <c:pt idx="175">
                  <c:v>2024</c:v>
                </c:pt>
                <c:pt idx="176">
                  <c:v>2024</c:v>
                </c:pt>
                <c:pt idx="177">
                  <c:v>2024</c:v>
                </c:pt>
                <c:pt idx="178">
                  <c:v>2024</c:v>
                </c:pt>
                <c:pt idx="179">
                  <c:v>2024</c:v>
                </c:pt>
                <c:pt idx="180">
                  <c:v>2025</c:v>
                </c:pt>
                <c:pt idx="181">
                  <c:v>2025</c:v>
                </c:pt>
                <c:pt idx="182">
                  <c:v>2025</c:v>
                </c:pt>
                <c:pt idx="183">
                  <c:v>2025</c:v>
                </c:pt>
                <c:pt idx="184">
                  <c:v>2025</c:v>
                </c:pt>
                <c:pt idx="185">
                  <c:v>2025</c:v>
                </c:pt>
                <c:pt idx="186">
                  <c:v>2025</c:v>
                </c:pt>
                <c:pt idx="187">
                  <c:v>2025</c:v>
                </c:pt>
                <c:pt idx="188">
                  <c:v>2025</c:v>
                </c:pt>
                <c:pt idx="189">
                  <c:v>2025</c:v>
                </c:pt>
                <c:pt idx="190">
                  <c:v>2025</c:v>
                </c:pt>
                <c:pt idx="191">
                  <c:v>2025</c:v>
                </c:pt>
                <c:pt idx="192">
                  <c:v>2026</c:v>
                </c:pt>
                <c:pt idx="193">
                  <c:v>2026</c:v>
                </c:pt>
                <c:pt idx="194">
                  <c:v>2026</c:v>
                </c:pt>
                <c:pt idx="195">
                  <c:v>2026</c:v>
                </c:pt>
                <c:pt idx="196">
                  <c:v>2026</c:v>
                </c:pt>
                <c:pt idx="197">
                  <c:v>2026</c:v>
                </c:pt>
                <c:pt idx="198">
                  <c:v>2026</c:v>
                </c:pt>
                <c:pt idx="199">
                  <c:v>2026</c:v>
                </c:pt>
              </c:strCache>
            </c:strRef>
          </c:cat>
          <c:val>
            <c:numRef>
              <c:f>Sheet1!$C$2:$C$201</c:f>
              <c:numCache>
                <c:formatCode>General</c:formatCode>
                <c:ptCount val="200"/>
                <c:pt idx="0">
                  <c:v>69.94</c:v>
                </c:pt>
                <c:pt idx="1">
                  <c:v>67.88</c:v>
                </c:pt>
                <c:pt idx="2">
                  <c:v>67.25</c:v>
                </c:pt>
                <c:pt idx="3">
                  <c:v>71.64</c:v>
                </c:pt>
                <c:pt idx="4">
                  <c:v>70.72</c:v>
                </c:pt>
                <c:pt idx="5">
                  <c:v>76.92</c:v>
                </c:pt>
                <c:pt idx="6">
                  <c:v>85.27</c:v>
                </c:pt>
                <c:pt idx="7">
                  <c:v>82.7</c:v>
                </c:pt>
                <c:pt idx="8">
                  <c:v>81.28</c:v>
                </c:pt>
                <c:pt idx="9">
                  <c:v>85.12</c:v>
                </c:pt>
                <c:pt idx="10">
                  <c:v>91.99</c:v>
                </c:pt>
                <c:pt idx="11">
                  <c:v>94.06</c:v>
                </c:pt>
                <c:pt idx="12">
                  <c:v>101.09</c:v>
                </c:pt>
                <c:pt idx="13">
                  <c:v>109.35</c:v>
                </c:pt>
                <c:pt idx="14">
                  <c:v>118.13</c:v>
                </c:pt>
                <c:pt idx="15">
                  <c:v>117.4</c:v>
                </c:pt>
                <c:pt idx="16">
                  <c:v>121.98</c:v>
                </c:pt>
                <c:pt idx="17">
                  <c:v>117.95</c:v>
                </c:pt>
                <c:pt idx="18">
                  <c:v>112.73</c:v>
                </c:pt>
                <c:pt idx="19">
                  <c:v>112.07</c:v>
                </c:pt>
                <c:pt idx="20">
                  <c:v>106.06</c:v>
                </c:pt>
                <c:pt idx="21">
                  <c:v>98.1</c:v>
                </c:pt>
                <c:pt idx="22">
                  <c:v>97.24</c:v>
                </c:pt>
                <c:pt idx="23">
                  <c:v>98.75</c:v>
                </c:pt>
                <c:pt idx="24">
                  <c:v>96.72</c:v>
                </c:pt>
                <c:pt idx="25">
                  <c:v>101.98</c:v>
                </c:pt>
                <c:pt idx="26">
                  <c:v>103.57</c:v>
                </c:pt>
                <c:pt idx="27">
                  <c:v>101.8</c:v>
                </c:pt>
                <c:pt idx="28">
                  <c:v>107.09</c:v>
                </c:pt>
                <c:pt idx="29">
                  <c:v>105.7</c:v>
                </c:pt>
                <c:pt idx="30">
                  <c:v>107.06</c:v>
                </c:pt>
                <c:pt idx="31">
                  <c:v>106.52</c:v>
                </c:pt>
                <c:pt idx="32">
                  <c:v>104.95</c:v>
                </c:pt>
                <c:pt idx="33">
                  <c:v>104.47</c:v>
                </c:pt>
                <c:pt idx="34">
                  <c:v>97.67</c:v>
                </c:pt>
                <c:pt idx="35">
                  <c:v>96.6</c:v>
                </c:pt>
                <c:pt idx="36">
                  <c:v>99.56</c:v>
                </c:pt>
                <c:pt idx="37">
                  <c:v>104.03</c:v>
                </c:pt>
                <c:pt idx="38">
                  <c:v>106.07</c:v>
                </c:pt>
                <c:pt idx="39">
                  <c:v>101.67</c:v>
                </c:pt>
                <c:pt idx="40">
                  <c:v>99.18</c:v>
                </c:pt>
                <c:pt idx="41">
                  <c:v>90.79</c:v>
                </c:pt>
                <c:pt idx="42">
                  <c:v>95.21</c:v>
                </c:pt>
                <c:pt idx="43">
                  <c:v>94.01</c:v>
                </c:pt>
                <c:pt idx="44">
                  <c:v>87.78</c:v>
                </c:pt>
                <c:pt idx="45">
                  <c:v>83.7</c:v>
                </c:pt>
                <c:pt idx="46">
                  <c:v>79.71</c:v>
                </c:pt>
                <c:pt idx="47">
                  <c:v>87.72</c:v>
                </c:pt>
                <c:pt idx="48">
                  <c:v>87.69</c:v>
                </c:pt>
                <c:pt idx="49">
                  <c:v>95.9</c:v>
                </c:pt>
                <c:pt idx="50">
                  <c:v>105.37</c:v>
                </c:pt>
                <c:pt idx="51">
                  <c:v>105.57</c:v>
                </c:pt>
                <c:pt idx="52">
                  <c:v>102.98</c:v>
                </c:pt>
                <c:pt idx="53">
                  <c:v>98.91</c:v>
                </c:pt>
                <c:pt idx="54">
                  <c:v>101.79</c:v>
                </c:pt>
                <c:pt idx="55">
                  <c:v>100.25</c:v>
                </c:pt>
                <c:pt idx="56">
                  <c:v>100.52</c:v>
                </c:pt>
                <c:pt idx="57">
                  <c:v>104.7</c:v>
                </c:pt>
                <c:pt idx="58">
                  <c:v>103.06</c:v>
                </c:pt>
                <c:pt idx="59">
                  <c:v>98.29</c:v>
                </c:pt>
                <c:pt idx="60">
                  <c:v>97.88</c:v>
                </c:pt>
                <c:pt idx="61">
                  <c:v>98.36</c:v>
                </c:pt>
                <c:pt idx="62">
                  <c:v>92.16</c:v>
                </c:pt>
                <c:pt idx="63">
                  <c:v>92.04</c:v>
                </c:pt>
                <c:pt idx="64">
                  <c:v>87.56</c:v>
                </c:pt>
                <c:pt idx="65">
                  <c:v>90.25</c:v>
                </c:pt>
                <c:pt idx="66">
                  <c:v>87.12</c:v>
                </c:pt>
                <c:pt idx="67">
                  <c:v>85.78</c:v>
                </c:pt>
                <c:pt idx="68">
                  <c:v>81.5</c:v>
                </c:pt>
                <c:pt idx="69">
                  <c:v>82.78</c:v>
                </c:pt>
                <c:pt idx="70">
                  <c:v>81.74</c:v>
                </c:pt>
                <c:pt idx="71">
                  <c:v>79.27</c:v>
                </c:pt>
                <c:pt idx="72">
                  <c:v>74.93</c:v>
                </c:pt>
                <c:pt idx="73">
                  <c:v>74.04</c:v>
                </c:pt>
                <c:pt idx="74">
                  <c:v>75.68</c:v>
                </c:pt>
                <c:pt idx="75">
                  <c:v>80.18</c:v>
                </c:pt>
                <c:pt idx="76">
                  <c:v>83.93</c:v>
                </c:pt>
                <c:pt idx="77">
                  <c:v>85.94</c:v>
                </c:pt>
                <c:pt idx="78">
                  <c:v>90.82</c:v>
                </c:pt>
                <c:pt idx="79">
                  <c:v>91.79</c:v>
                </c:pt>
                <c:pt idx="80">
                  <c:v>96.88</c:v>
                </c:pt>
                <c:pt idx="81">
                  <c:v>103.65</c:v>
                </c:pt>
                <c:pt idx="82">
                  <c:v>103.72</c:v>
                </c:pt>
                <c:pt idx="83">
                  <c:v>101.85</c:v>
                </c:pt>
                <c:pt idx="84">
                  <c:v>108.32</c:v>
                </c:pt>
                <c:pt idx="85">
                  <c:v>106.49</c:v>
                </c:pt>
                <c:pt idx="86">
                  <c:v>106.73</c:v>
                </c:pt>
                <c:pt idx="87">
                  <c:v>103.76</c:v>
                </c:pt>
                <c:pt idx="88">
                  <c:v>98.36</c:v>
                </c:pt>
                <c:pt idx="89">
                  <c:v>101.93</c:v>
                </c:pt>
                <c:pt idx="90">
                  <c:v>104.94</c:v>
                </c:pt>
                <c:pt idx="91">
                  <c:v>104.52</c:v>
                </c:pt>
                <c:pt idx="92">
                  <c:v>99.18</c:v>
                </c:pt>
                <c:pt idx="93">
                  <c:v>98.39</c:v>
                </c:pt>
                <c:pt idx="94">
                  <c:v>91.33</c:v>
                </c:pt>
                <c:pt idx="95">
                  <c:v>87.56</c:v>
                </c:pt>
                <c:pt idx="96">
                  <c:v>88.61</c:v>
                </c:pt>
                <c:pt idx="97">
                  <c:v>89.2</c:v>
                </c:pt>
                <c:pt idx="98">
                  <c:v>88.14</c:v>
                </c:pt>
                <c:pt idx="99">
                  <c:v>88.31</c:v>
                </c:pt>
                <c:pt idx="100">
                  <c:v>88.74</c:v>
                </c:pt>
                <c:pt idx="101">
                  <c:v>86.07</c:v>
                </c:pt>
                <c:pt idx="102">
                  <c:v>84.42</c:v>
                </c:pt>
                <c:pt idx="103">
                  <c:v>80.74</c:v>
                </c:pt>
                <c:pt idx="104">
                  <c:v>76.7</c:v>
                </c:pt>
                <c:pt idx="105">
                  <c:v>85.32</c:v>
                </c:pt>
                <c:pt idx="106">
                  <c:v>83.52</c:v>
                </c:pt>
                <c:pt idx="107">
                  <c:v>77.54</c:v>
                </c:pt>
                <c:pt idx="108">
                  <c:v>78.2</c:v>
                </c:pt>
                <c:pt idx="109">
                  <c:v>78.65</c:v>
                </c:pt>
                <c:pt idx="110">
                  <c:v>76.96</c:v>
                </c:pt>
                <c:pt idx="111">
                  <c:v>73.26</c:v>
                </c:pt>
                <c:pt idx="112">
                  <c:v>71.12</c:v>
                </c:pt>
                <c:pt idx="113">
                  <c:v>73.99</c:v>
                </c:pt>
                <c:pt idx="114">
                  <c:v>73.93</c:v>
                </c:pt>
                <c:pt idx="115">
                  <c:v>70.81</c:v>
                </c:pt>
                <c:pt idx="116">
                  <c:v>70.64</c:v>
                </c:pt>
                <c:pt idx="117">
                  <c:v>68.63</c:v>
                </c:pt>
                <c:pt idx="118">
                  <c:v>73.28</c:v>
                </c:pt>
                <c:pt idx="119">
                  <c:v>73.31</c:v>
                </c:pt>
                <c:pt idx="120">
                  <c:v>70.58</c:v>
                </c:pt>
                <c:pt idx="121">
                  <c:v>68.07</c:v>
                </c:pt>
                <c:pt idx="122">
                  <c:v>67.46</c:v>
                </c:pt>
                <c:pt idx="123">
                  <c:v>64.02</c:v>
                </c:pt>
                <c:pt idx="124">
                  <c:v>64.54</c:v>
                </c:pt>
                <c:pt idx="125">
                  <c:v>64.62</c:v>
                </c:pt>
                <c:pt idx="126">
                  <c:v>67.69</c:v>
                </c:pt>
                <c:pt idx="127">
                  <c:v>72.64</c:v>
                </c:pt>
                <c:pt idx="128">
                  <c:v>72.77</c:v>
                </c:pt>
                <c:pt idx="129">
                  <c:v>68.36</c:v>
                </c:pt>
                <c:pt idx="130">
                  <c:v>72.38</c:v>
                </c:pt>
                <c:pt idx="131">
                  <c:v>71.95</c:v>
                </c:pt>
                <c:pt idx="132">
                  <c:v>70.81</c:v>
                </c:pt>
                <c:pt idx="133">
                  <c:v>73.37</c:v>
                </c:pt>
                <c:pt idx="134">
                  <c:v>73.86</c:v>
                </c:pt>
                <c:pt idx="135">
                  <c:v>74.46</c:v>
                </c:pt>
                <c:pt idx="136">
                  <c:v>79.68</c:v>
                </c:pt>
                <c:pt idx="137">
                  <c:v>84.93</c:v>
                </c:pt>
                <c:pt idx="138">
                  <c:v>94.09</c:v>
                </c:pt>
                <c:pt idx="139">
                  <c:v>94.89</c:v>
                </c:pt>
                <c:pt idx="140">
                  <c:v>104.59</c:v>
                </c:pt>
                <c:pt idx="141">
                  <c:v>105.3</c:v>
                </c:pt>
                <c:pt idx="142">
                  <c:v>109.43</c:v>
                </c:pt>
                <c:pt idx="143">
                  <c:v>112.46</c:v>
                </c:pt>
                <c:pt idx="144">
                  <c:v>109.71</c:v>
                </c:pt>
                <c:pt idx="145">
                  <c:v>109.43</c:v>
                </c:pt>
                <c:pt idx="146">
                  <c:v>103.92</c:v>
                </c:pt>
                <c:pt idx="147">
                  <c:v>103.96</c:v>
                </c:pt>
                <c:pt idx="148">
                  <c:v>103.15</c:v>
                </c:pt>
                <c:pt idx="149">
                  <c:v>103.85</c:v>
                </c:pt>
                <c:pt idx="150">
                  <c:v>100.44</c:v>
                </c:pt>
                <c:pt idx="151">
                  <c:v>109.69</c:v>
                </c:pt>
                <c:pt idx="152">
                  <c:v>111.36</c:v>
                </c:pt>
                <c:pt idx="153">
                  <c:v>103.01</c:v>
                </c:pt>
                <c:pt idx="154">
                  <c:v>92.6</c:v>
                </c:pt>
                <c:pt idx="155">
                  <c:v>92.44</c:v>
                </c:pt>
                <c:pt idx="156">
                  <c:v>95.98</c:v>
                </c:pt>
                <c:pt idx="157">
                  <c:v>103.96</c:v>
                </c:pt>
                <c:pt idx="158">
                  <c:v>106.49</c:v>
                </c:pt>
                <c:pt idx="159">
                  <c:v>115.58</c:v>
                </c:pt>
                <c:pt idx="160">
                  <c:v>122.55</c:v>
                </c:pt>
                <c:pt idx="161">
                  <c:v>132.13</c:v>
                </c:pt>
                <c:pt idx="162">
                  <c:v>127.58</c:v>
                </c:pt>
                <c:pt idx="163">
                  <c:v>124.36</c:v>
                </c:pt>
                <c:pt idx="164">
                  <c:v>123.89</c:v>
                </c:pt>
                <c:pt idx="165">
                  <c:v>118.84</c:v>
                </c:pt>
                <c:pt idx="166">
                  <c:v>122.78</c:v>
                </c:pt>
                <c:pt idx="167">
                  <c:v>135.39</c:v>
                </c:pt>
                <c:pt idx="168">
                  <c:v>148.13</c:v>
                </c:pt>
                <c:pt idx="169">
                  <c:v>153.23</c:v>
                </c:pt>
                <c:pt idx="170">
                  <c:v>165.84</c:v>
                </c:pt>
                <c:pt idx="171">
                  <c:v>193.68</c:v>
                </c:pt>
                <c:pt idx="172">
                  <c:v>186.46</c:v>
                </c:pt>
                <c:pt idx="173">
                  <c:v>204.33</c:v>
                </c:pt>
                <c:pt idx="174">
                  <c:v>214.54</c:v>
                </c:pt>
                <c:pt idx="175">
                  <c:v>214.7</c:v>
                </c:pt>
                <c:pt idx="176">
                  <c:v>242.46</c:v>
                </c:pt>
                <c:pt idx="177">
                  <c:v>221.9</c:v>
                </c:pt>
                <c:pt idx="178">
                  <c:v>226.13</c:v>
                </c:pt>
                <c:pt idx="179">
                  <c:v>237.62</c:v>
                </c:pt>
                <c:pt idx="180">
                  <c:v>244.94</c:v>
                </c:pt>
                <c:pt idx="181">
                  <c:v>263.04</c:v>
                </c:pt>
                <c:pt idx="182">
                  <c:v>257.68</c:v>
                </c:pt>
                <c:pt idx="183">
                  <c:v>246.55</c:v>
                </c:pt>
                <c:pt idx="184">
                  <c:v>237.3</c:v>
                </c:pt>
                <c:pt idx="185">
                  <c:v>196.21</c:v>
                </c:pt>
                <c:pt idx="186">
                  <c:v>167.17</c:v>
                </c:pt>
                <c:pt idx="187">
                  <c:v>198.86</c:v>
                </c:pt>
                <c:pt idx="188">
                  <c:v>210.84</c:v>
                </c:pt>
                <c:pt idx="189">
                  <c:v>215.06</c:v>
                </c:pt>
                <c:pt idx="190">
                  <c:v>214.91</c:v>
                </c:pt>
                <c:pt idx="191">
                  <c:v>190.53</c:v>
                </c:pt>
                <c:pt idx="192">
                  <c:v>192.52</c:v>
                </c:pt>
                <c:pt idx="193">
                  <c:v>179.73</c:v>
                </c:pt>
                <c:pt idx="194">
                  <c:v>176.77</c:v>
                </c:pt>
                <c:pt idx="195">
                  <c:v>164.64</c:v>
                </c:pt>
                <c:pt idx="196">
                  <c:v>166.51</c:v>
                </c:pt>
                <c:pt idx="197">
                  <c:v>169.39</c:v>
                </c:pt>
                <c:pt idx="198">
                  <c:v>184.78</c:v>
                </c:pt>
                <c:pt idx="199">
                  <c:v>180.63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12"/>
        <c:noMultiLvlLbl val="0"/>
      </c:catAx>
      <c:valAx>
        <c:axId val="2140495176"/>
        <c:scaling>
          <c:max val="45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10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1"/>
          <c:h val="0.6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 ÷ robusta</c:v>
                </c:pt>
              </c:strCache>
            </c:strRef>
          </c:tx>
          <c:spPr>
            <a:ln w="19050">
              <a:solidFill>
                <a:srgbClr val="52514E"/>
              </a:solidFill>
            </a:ln>
          </c:spPr>
          <c:marker>
            <c:symbol val="none"/>
          </c:marker>
          <c:cat>
            <c:strRef>
              <c:f>Sheet1!$A$2:$A$201</c:f>
              <c:strCache>
                <c:ptCount val="200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2010</c:v>
                </c:pt>
                <c:pt idx="5">
                  <c:v>2010</c:v>
                </c:pt>
                <c:pt idx="6">
                  <c:v>2010</c:v>
                </c:pt>
                <c:pt idx="7">
                  <c:v>2010</c:v>
                </c:pt>
                <c:pt idx="8">
                  <c:v>2010</c:v>
                </c:pt>
                <c:pt idx="9">
                  <c:v>2010</c:v>
                </c:pt>
                <c:pt idx="10">
                  <c:v>2010</c:v>
                </c:pt>
                <c:pt idx="11">
                  <c:v>2010</c:v>
                </c:pt>
                <c:pt idx="12">
                  <c:v>2011</c:v>
                </c:pt>
                <c:pt idx="13">
                  <c:v>2011</c:v>
                </c:pt>
                <c:pt idx="14">
                  <c:v>2011</c:v>
                </c:pt>
                <c:pt idx="15">
                  <c:v>2011</c:v>
                </c:pt>
                <c:pt idx="16">
                  <c:v>2011</c:v>
                </c:pt>
                <c:pt idx="17">
                  <c:v>2011</c:v>
                </c:pt>
                <c:pt idx="18">
                  <c:v>2011</c:v>
                </c:pt>
                <c:pt idx="19">
                  <c:v>2011</c:v>
                </c:pt>
                <c:pt idx="20">
                  <c:v>2011</c:v>
                </c:pt>
                <c:pt idx="21">
                  <c:v>2011</c:v>
                </c:pt>
                <c:pt idx="22">
                  <c:v>2011</c:v>
                </c:pt>
                <c:pt idx="23">
                  <c:v>2011</c:v>
                </c:pt>
                <c:pt idx="24">
                  <c:v>2012</c:v>
                </c:pt>
                <c:pt idx="25">
                  <c:v>2012</c:v>
                </c:pt>
                <c:pt idx="26">
                  <c:v>2012</c:v>
                </c:pt>
                <c:pt idx="27">
                  <c:v>2012</c:v>
                </c:pt>
                <c:pt idx="28">
                  <c:v>2012</c:v>
                </c:pt>
                <c:pt idx="29">
                  <c:v>2012</c:v>
                </c:pt>
                <c:pt idx="30">
                  <c:v>2012</c:v>
                </c:pt>
                <c:pt idx="31">
                  <c:v>2012</c:v>
                </c:pt>
                <c:pt idx="32">
                  <c:v>2012</c:v>
                </c:pt>
                <c:pt idx="33">
                  <c:v>2012</c:v>
                </c:pt>
                <c:pt idx="34">
                  <c:v>2012</c:v>
                </c:pt>
                <c:pt idx="35">
                  <c:v>2012</c:v>
                </c:pt>
                <c:pt idx="36">
                  <c:v>2013</c:v>
                </c:pt>
                <c:pt idx="37">
                  <c:v>2013</c:v>
                </c:pt>
                <c:pt idx="38">
                  <c:v>2013</c:v>
                </c:pt>
                <c:pt idx="39">
                  <c:v>2013</c:v>
                </c:pt>
                <c:pt idx="40">
                  <c:v>2013</c:v>
                </c:pt>
                <c:pt idx="41">
                  <c:v>2013</c:v>
                </c:pt>
                <c:pt idx="42">
                  <c:v>2013</c:v>
                </c:pt>
                <c:pt idx="43">
                  <c:v>2013</c:v>
                </c:pt>
                <c:pt idx="44">
                  <c:v>2013</c:v>
                </c:pt>
                <c:pt idx="45">
                  <c:v>2013</c:v>
                </c:pt>
                <c:pt idx="46">
                  <c:v>2013</c:v>
                </c:pt>
                <c:pt idx="47">
                  <c:v>2013</c:v>
                </c:pt>
                <c:pt idx="48">
                  <c:v>2014</c:v>
                </c:pt>
                <c:pt idx="49">
                  <c:v>2014</c:v>
                </c:pt>
                <c:pt idx="50">
                  <c:v>2014</c:v>
                </c:pt>
                <c:pt idx="51">
                  <c:v>2014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2014</c:v>
                </c:pt>
                <c:pt idx="57">
                  <c:v>2014</c:v>
                </c:pt>
                <c:pt idx="58">
                  <c:v>2014</c:v>
                </c:pt>
                <c:pt idx="59">
                  <c:v>2014</c:v>
                </c:pt>
                <c:pt idx="60">
                  <c:v>2015</c:v>
                </c:pt>
                <c:pt idx="61">
                  <c:v>2015</c:v>
                </c:pt>
                <c:pt idx="62">
                  <c:v>2015</c:v>
                </c:pt>
                <c:pt idx="63">
                  <c:v>2015</c:v>
                </c:pt>
                <c:pt idx="64">
                  <c:v>2015</c:v>
                </c:pt>
                <c:pt idx="65">
                  <c:v>2015</c:v>
                </c:pt>
                <c:pt idx="66">
                  <c:v>2015</c:v>
                </c:pt>
                <c:pt idx="67">
                  <c:v>2015</c:v>
                </c:pt>
                <c:pt idx="68">
                  <c:v>2015</c:v>
                </c:pt>
                <c:pt idx="69">
                  <c:v>2015</c:v>
                </c:pt>
                <c:pt idx="70">
                  <c:v>2015</c:v>
                </c:pt>
                <c:pt idx="71">
                  <c:v>2015</c:v>
                </c:pt>
                <c:pt idx="72">
                  <c:v>2016</c:v>
                </c:pt>
                <c:pt idx="73">
                  <c:v>2016</c:v>
                </c:pt>
                <c:pt idx="74">
                  <c:v>2016</c:v>
                </c:pt>
                <c:pt idx="75">
                  <c:v>2016</c:v>
                </c:pt>
                <c:pt idx="76">
                  <c:v>2016</c:v>
                </c:pt>
                <c:pt idx="77">
                  <c:v>2016</c:v>
                </c:pt>
                <c:pt idx="78">
                  <c:v>2016</c:v>
                </c:pt>
                <c:pt idx="79">
                  <c:v>2016</c:v>
                </c:pt>
                <c:pt idx="80">
                  <c:v>2016</c:v>
                </c:pt>
                <c:pt idx="81">
                  <c:v>2016</c:v>
                </c:pt>
                <c:pt idx="82">
                  <c:v>2016</c:v>
                </c:pt>
                <c:pt idx="83">
                  <c:v>2016</c:v>
                </c:pt>
                <c:pt idx="84">
                  <c:v>2017</c:v>
                </c:pt>
                <c:pt idx="85">
                  <c:v>2017</c:v>
                </c:pt>
                <c:pt idx="86">
                  <c:v>2017</c:v>
                </c:pt>
                <c:pt idx="87">
                  <c:v>2017</c:v>
                </c:pt>
                <c:pt idx="88">
                  <c:v>2017</c:v>
                </c:pt>
                <c:pt idx="89">
                  <c:v>2017</c:v>
                </c:pt>
                <c:pt idx="90">
                  <c:v>2017</c:v>
                </c:pt>
                <c:pt idx="91">
                  <c:v>2017</c:v>
                </c:pt>
                <c:pt idx="92">
                  <c:v>2017</c:v>
                </c:pt>
                <c:pt idx="93">
                  <c:v>2017</c:v>
                </c:pt>
                <c:pt idx="94">
                  <c:v>2017</c:v>
                </c:pt>
                <c:pt idx="95">
                  <c:v>2017</c:v>
                </c:pt>
                <c:pt idx="96">
                  <c:v>2018</c:v>
                </c:pt>
                <c:pt idx="97">
                  <c:v>2018</c:v>
                </c:pt>
                <c:pt idx="98">
                  <c:v>2018</c:v>
                </c:pt>
                <c:pt idx="99">
                  <c:v>2018</c:v>
                </c:pt>
                <c:pt idx="100">
                  <c:v>2018</c:v>
                </c:pt>
                <c:pt idx="101">
                  <c:v>2018</c:v>
                </c:pt>
                <c:pt idx="102">
                  <c:v>2018</c:v>
                </c:pt>
                <c:pt idx="103">
                  <c:v>2018</c:v>
                </c:pt>
                <c:pt idx="104">
                  <c:v>2018</c:v>
                </c:pt>
                <c:pt idx="105">
                  <c:v>2018</c:v>
                </c:pt>
                <c:pt idx="106">
                  <c:v>2018</c:v>
                </c:pt>
                <c:pt idx="107">
                  <c:v>2018</c:v>
                </c:pt>
                <c:pt idx="108">
                  <c:v>2019</c:v>
                </c:pt>
                <c:pt idx="109">
                  <c:v>2019</c:v>
                </c:pt>
                <c:pt idx="110">
                  <c:v>2019</c:v>
                </c:pt>
                <c:pt idx="111">
                  <c:v>2019</c:v>
                </c:pt>
                <c:pt idx="112">
                  <c:v>2019</c:v>
                </c:pt>
                <c:pt idx="113">
                  <c:v>2019</c:v>
                </c:pt>
                <c:pt idx="114">
                  <c:v>2019</c:v>
                </c:pt>
                <c:pt idx="115">
                  <c:v>2019</c:v>
                </c:pt>
                <c:pt idx="116">
                  <c:v>2019</c:v>
                </c:pt>
                <c:pt idx="117">
                  <c:v>2019</c:v>
                </c:pt>
                <c:pt idx="118">
                  <c:v>2019</c:v>
                </c:pt>
                <c:pt idx="119">
                  <c:v>2019</c:v>
                </c:pt>
                <c:pt idx="120">
                  <c:v>2020</c:v>
                </c:pt>
                <c:pt idx="121">
                  <c:v>2020</c:v>
                </c:pt>
                <c:pt idx="122">
                  <c:v>2020</c:v>
                </c:pt>
                <c:pt idx="123">
                  <c:v>2020</c:v>
                </c:pt>
                <c:pt idx="124">
                  <c:v>2020</c:v>
                </c:pt>
                <c:pt idx="125">
                  <c:v>2020</c:v>
                </c:pt>
                <c:pt idx="126">
                  <c:v>2020</c:v>
                </c:pt>
                <c:pt idx="127">
                  <c:v>2020</c:v>
                </c:pt>
                <c:pt idx="128">
                  <c:v>2020</c:v>
                </c:pt>
                <c:pt idx="129">
                  <c:v>2020</c:v>
                </c:pt>
                <c:pt idx="130">
                  <c:v>2020</c:v>
                </c:pt>
                <c:pt idx="131">
                  <c:v>2020</c:v>
                </c:pt>
                <c:pt idx="132">
                  <c:v>2021</c:v>
                </c:pt>
                <c:pt idx="133">
                  <c:v>2021</c:v>
                </c:pt>
                <c:pt idx="134">
                  <c:v>2021</c:v>
                </c:pt>
                <c:pt idx="135">
                  <c:v>2021</c:v>
                </c:pt>
                <c:pt idx="136">
                  <c:v>2021</c:v>
                </c:pt>
                <c:pt idx="137">
                  <c:v>2021</c:v>
                </c:pt>
                <c:pt idx="138">
                  <c:v>2021</c:v>
                </c:pt>
                <c:pt idx="139">
                  <c:v>2021</c:v>
                </c:pt>
                <c:pt idx="140">
                  <c:v>2021</c:v>
                </c:pt>
                <c:pt idx="141">
                  <c:v>2021</c:v>
                </c:pt>
                <c:pt idx="142">
                  <c:v>2021</c:v>
                </c:pt>
                <c:pt idx="143">
                  <c:v>2021</c:v>
                </c:pt>
                <c:pt idx="144">
                  <c:v>2022</c:v>
                </c:pt>
                <c:pt idx="145">
                  <c:v>2022</c:v>
                </c:pt>
                <c:pt idx="146">
                  <c:v>2022</c:v>
                </c:pt>
                <c:pt idx="147">
                  <c:v>2022</c:v>
                </c:pt>
                <c:pt idx="148">
                  <c:v>2022</c:v>
                </c:pt>
                <c:pt idx="149">
                  <c:v>2022</c:v>
                </c:pt>
                <c:pt idx="150">
                  <c:v>2022</c:v>
                </c:pt>
                <c:pt idx="151">
                  <c:v>2022</c:v>
                </c:pt>
                <c:pt idx="152">
                  <c:v>2022</c:v>
                </c:pt>
                <c:pt idx="153">
                  <c:v>2022</c:v>
                </c:pt>
                <c:pt idx="154">
                  <c:v>2022</c:v>
                </c:pt>
                <c:pt idx="155">
                  <c:v>2022</c:v>
                </c:pt>
                <c:pt idx="156">
                  <c:v>2023</c:v>
                </c:pt>
                <c:pt idx="157">
                  <c:v>2023</c:v>
                </c:pt>
                <c:pt idx="158">
                  <c:v>2023</c:v>
                </c:pt>
                <c:pt idx="159">
                  <c:v>2023</c:v>
                </c:pt>
                <c:pt idx="160">
                  <c:v>2023</c:v>
                </c:pt>
                <c:pt idx="161">
                  <c:v>2023</c:v>
                </c:pt>
                <c:pt idx="162">
                  <c:v>2023</c:v>
                </c:pt>
                <c:pt idx="163">
                  <c:v>2023</c:v>
                </c:pt>
                <c:pt idx="164">
                  <c:v>2023</c:v>
                </c:pt>
                <c:pt idx="165">
                  <c:v>2023</c:v>
                </c:pt>
                <c:pt idx="166">
                  <c:v>2023</c:v>
                </c:pt>
                <c:pt idx="167">
                  <c:v>2023</c:v>
                </c:pt>
                <c:pt idx="168">
                  <c:v>2024</c:v>
                </c:pt>
                <c:pt idx="169">
                  <c:v>2024</c:v>
                </c:pt>
                <c:pt idx="170">
                  <c:v>2024</c:v>
                </c:pt>
                <c:pt idx="171">
                  <c:v>2024</c:v>
                </c:pt>
                <c:pt idx="172">
                  <c:v>2024</c:v>
                </c:pt>
                <c:pt idx="173">
                  <c:v>2024</c:v>
                </c:pt>
                <c:pt idx="174">
                  <c:v>2024</c:v>
                </c:pt>
                <c:pt idx="175">
                  <c:v>2024</c:v>
                </c:pt>
                <c:pt idx="176">
                  <c:v>2024</c:v>
                </c:pt>
                <c:pt idx="177">
                  <c:v>2024</c:v>
                </c:pt>
                <c:pt idx="178">
                  <c:v>2024</c:v>
                </c:pt>
                <c:pt idx="179">
                  <c:v>2024</c:v>
                </c:pt>
                <c:pt idx="180">
                  <c:v>2025</c:v>
                </c:pt>
                <c:pt idx="181">
                  <c:v>2025</c:v>
                </c:pt>
                <c:pt idx="182">
                  <c:v>2025</c:v>
                </c:pt>
                <c:pt idx="183">
                  <c:v>2025</c:v>
                </c:pt>
                <c:pt idx="184">
                  <c:v>2025</c:v>
                </c:pt>
                <c:pt idx="185">
                  <c:v>2025</c:v>
                </c:pt>
                <c:pt idx="186">
                  <c:v>2025</c:v>
                </c:pt>
                <c:pt idx="187">
                  <c:v>2025</c:v>
                </c:pt>
                <c:pt idx="188">
                  <c:v>2025</c:v>
                </c:pt>
                <c:pt idx="189">
                  <c:v>2025</c:v>
                </c:pt>
                <c:pt idx="190">
                  <c:v>2025</c:v>
                </c:pt>
                <c:pt idx="191">
                  <c:v>2025</c:v>
                </c:pt>
                <c:pt idx="192">
                  <c:v>2026</c:v>
                </c:pt>
                <c:pt idx="193">
                  <c:v>2026</c:v>
                </c:pt>
                <c:pt idx="194">
                  <c:v>2026</c:v>
                </c:pt>
                <c:pt idx="195">
                  <c:v>2026</c:v>
                </c:pt>
                <c:pt idx="196">
                  <c:v>2026</c:v>
                </c:pt>
                <c:pt idx="197">
                  <c:v>2026</c:v>
                </c:pt>
                <c:pt idx="198">
                  <c:v>2026</c:v>
                </c:pt>
                <c:pt idx="199">
                  <c:v>2026</c:v>
                </c:pt>
              </c:strCache>
            </c:strRef>
          </c:cat>
          <c:val>
            <c:numRef>
              <c:f>Sheet1!$B$2:$B$201</c:f>
              <c:numCache>
                <c:formatCode>General</c:formatCode>
                <c:ptCount val="200"/>
                <c:pt idx="0">
                  <c:v>2.268515870746354</c:v>
                </c:pt>
                <c:pt idx="1">
                  <c:v>2.3255745433117267</c:v>
                </c:pt>
                <c:pt idx="2">
                  <c:v>2.446096654275093</c:v>
                </c:pt>
                <c:pt idx="3">
                  <c:v>2.3644611948632046</c:v>
                </c:pt>
                <c:pt idx="4">
                  <c:v>2.451498868778281</c:v>
                </c:pt>
                <c:pt idx="5">
                  <c:v>2.481799271970879</c:v>
                </c:pt>
                <c:pt idx="6">
                  <c:v>2.3831359211915095</c:v>
                </c:pt>
                <c:pt idx="7">
                  <c:v>2.5585247883917774</c:v>
                </c:pt>
                <c:pt idx="8">
                  <c:v>2.7400344488188977</c:v>
                </c:pt>
                <c:pt idx="9">
                  <c:v>2.5545112781954886</c:v>
                </c:pt>
                <c:pt idx="10">
                  <c:v>2.5384280900097838</c:v>
                </c:pt>
                <c:pt idx="11">
                  <c:v>2.651924303635977</c:v>
                </c:pt>
                <c:pt idx="12">
                  <c:v>2.6092590760708276</c:v>
                </c:pt>
                <c:pt idx="13">
                  <c:v>2.6373113854595336</c:v>
                </c:pt>
                <c:pt idx="14">
                  <c:v>2.472445610767798</c:v>
                </c:pt>
                <c:pt idx="15">
                  <c:v>2.5594548551959115</c:v>
                </c:pt>
                <c:pt idx="16">
                  <c:v>2.3862108542383997</c:v>
                </c:pt>
                <c:pt idx="17">
                  <c:v>2.3313268334039847</c:v>
                </c:pt>
                <c:pt idx="18">
                  <c:v>2.3775392530825865</c:v>
                </c:pt>
                <c:pt idx="19">
                  <c:v>2.413134647987865</c:v>
                </c:pt>
                <c:pt idx="20">
                  <c:v>2.5917405242315668</c:v>
                </c:pt>
                <c:pt idx="21">
                  <c:v>2.526197757390418</c:v>
                </c:pt>
                <c:pt idx="22">
                  <c:v>2.520464829288359</c:v>
                </c:pt>
                <c:pt idx="23">
                  <c:v>2.3929113924050633</c:v>
                </c:pt>
                <c:pt idx="24">
                  <c:v>2.452543424317618</c:v>
                </c:pt>
                <c:pt idx="25">
                  <c:v>2.198078054520494</c:v>
                </c:pt>
                <c:pt idx="26">
                  <c:v>1.943226803128319</c:v>
                </c:pt>
                <c:pt idx="27">
                  <c:v>1.880648330058939</c:v>
                </c:pt>
                <c:pt idx="28">
                  <c:v>1.7215426276963302</c:v>
                </c:pt>
                <c:pt idx="29">
                  <c:v>1.5959318826868496</c:v>
                </c:pt>
                <c:pt idx="30">
                  <c:v>1.7789090229777693</c:v>
                </c:pt>
                <c:pt idx="31">
                  <c:v>1.6411941419451745</c:v>
                </c:pt>
                <c:pt idx="32">
                  <c:v>1.7053835159599808</c:v>
                </c:pt>
                <c:pt idx="33">
                  <c:v>1.6590408729778883</c:v>
                </c:pt>
                <c:pt idx="34">
                  <c:v>1.6372478754991298</c:v>
                </c:pt>
                <c:pt idx="35">
                  <c:v>1.580848861283644</c:v>
                </c:pt>
                <c:pt idx="36">
                  <c:v>1.5773402973081558</c:v>
                </c:pt>
                <c:pt idx="37">
                  <c:v>1.436700951648563</c:v>
                </c:pt>
                <c:pt idx="38">
                  <c:v>1.4123691901574433</c:v>
                </c:pt>
                <c:pt idx="39">
                  <c:v>1.4732959575095896</c:v>
                </c:pt>
                <c:pt idx="40">
                  <c:v>1.4840693688243596</c:v>
                </c:pt>
                <c:pt idx="41">
                  <c:v>1.5228549399713622</c:v>
                </c:pt>
                <c:pt idx="42">
                  <c:v>1.4535237895179078</c:v>
                </c:pt>
                <c:pt idx="43">
                  <c:v>1.437613019891501</c:v>
                </c:pt>
                <c:pt idx="44">
                  <c:v>1.5069491911597175</c:v>
                </c:pt>
                <c:pt idx="45">
                  <c:v>1.5376344086021503</c:v>
                </c:pt>
                <c:pt idx="46">
                  <c:v>1.53079914690754</c:v>
                </c:pt>
                <c:pt idx="47">
                  <c:v>1.4334245326037391</c:v>
                </c:pt>
                <c:pt idx="48">
                  <c:v>1.5112327517390811</c:v>
                </c:pt>
                <c:pt idx="49">
                  <c:v>1.8106360792492178</c:v>
                </c:pt>
                <c:pt idx="50">
                  <c:v>2.031792730378666</c:v>
                </c:pt>
                <c:pt idx="51">
                  <c:v>2.116983991664299</c:v>
                </c:pt>
                <c:pt idx="52">
                  <c:v>2.080015536997475</c:v>
                </c:pt>
                <c:pt idx="53">
                  <c:v>2.0007077140835103</c:v>
                </c:pt>
                <c:pt idx="54">
                  <c:v>1.9343746929953827</c:v>
                </c:pt>
                <c:pt idx="55">
                  <c:v>2.1243890274314214</c:v>
                </c:pt>
                <c:pt idx="56">
                  <c:v>2.094409072821329</c:v>
                </c:pt>
                <c:pt idx="57">
                  <c:v>2.1517669531996177</c:v>
                </c:pt>
                <c:pt idx="58">
                  <c:v>2.0316320589947603</c:v>
                </c:pt>
                <c:pt idx="59">
                  <c:v>1.967545019839251</c:v>
                </c:pt>
                <c:pt idx="60">
                  <c:v>1.9373722926031876</c:v>
                </c:pt>
                <c:pt idx="61">
                  <c:v>1.8187271248474988</c:v>
                </c:pt>
                <c:pt idx="62">
                  <c:v>1.7441406250000002</c:v>
                </c:pt>
                <c:pt idx="63">
                  <c:v>1.7818339852238156</c:v>
                </c:pt>
                <c:pt idx="64">
                  <c:v>1.8099588853357695</c:v>
                </c:pt>
                <c:pt idx="65">
                  <c:v>1.7701939058171745</c:v>
                </c:pt>
                <c:pt idx="66">
                  <c:v>1.7728420569329657</c:v>
                </c:pt>
                <c:pt idx="67">
                  <c:v>1.8293308463511306</c:v>
                </c:pt>
                <c:pt idx="68">
                  <c:v>1.7932515337423314</c:v>
                </c:pt>
                <c:pt idx="69">
                  <c:v>1.8512925827494564</c:v>
                </c:pt>
                <c:pt idx="70">
                  <c:v>1.8103743577195988</c:v>
                </c:pt>
                <c:pt idx="71">
                  <c:v>1.8747319288507636</c:v>
                </c:pt>
                <c:pt idx="72">
                  <c:v>1.9408781529427466</c:v>
                </c:pt>
                <c:pt idx="73">
                  <c:v>1.9948676391139921</c:v>
                </c:pt>
                <c:pt idx="74">
                  <c:v>2.082848837209302</c:v>
                </c:pt>
                <c:pt idx="75">
                  <c:v>1.9234222998253927</c:v>
                </c:pt>
                <c:pt idx="76">
                  <c:v>1.8490408673894911</c:v>
                </c:pt>
                <c:pt idx="77">
                  <c:v>1.9251803583895741</c:v>
                </c:pt>
                <c:pt idx="78">
                  <c:v>1.891213389121339</c:v>
                </c:pt>
                <c:pt idx="79">
                  <c:v>1.8252532955659655</c:v>
                </c:pt>
                <c:pt idx="80">
                  <c:v>1.8197770437654832</c:v>
                </c:pt>
                <c:pt idx="81">
                  <c:v>1.726579835986493</c:v>
                </c:pt>
                <c:pt idx="82">
                  <c:v>1.775163902815272</c:v>
                </c:pt>
                <c:pt idx="83">
                  <c:v>1.5884143348060875</c:v>
                </c:pt>
                <c:pt idx="84">
                  <c:v>1.556591580502216</c:v>
                </c:pt>
                <c:pt idx="85">
                  <c:v>1.5621185087801672</c:v>
                </c:pt>
                <c:pt idx="86">
                  <c:v>1.5005153190293263</c:v>
                </c:pt>
                <c:pt idx="87">
                  <c:v>1.4993253662297608</c:v>
                </c:pt>
                <c:pt idx="88">
                  <c:v>1.525010166734445</c:v>
                </c:pt>
                <c:pt idx="89">
                  <c:v>1.4050819189639947</c:v>
                </c:pt>
                <c:pt idx="90">
                  <c:v>1.4274823708785975</c:v>
                </c:pt>
                <c:pt idx="91">
                  <c:v>1.43398392652124</c:v>
                </c:pt>
                <c:pt idx="92">
                  <c:v>1.4777172817100221</c:v>
                </c:pt>
                <c:pt idx="93">
                  <c:v>1.4301250127045433</c:v>
                </c:pt>
                <c:pt idx="94">
                  <c:v>1.5427570349282822</c:v>
                </c:pt>
                <c:pt idx="95">
                  <c:v>1.5681818181818181</c:v>
                </c:pt>
                <c:pt idx="96">
                  <c:v>1.5673174585261256</c:v>
                </c:pt>
                <c:pt idx="97">
                  <c:v>1.5278026905829596</c:v>
                </c:pt>
                <c:pt idx="98">
                  <c:v>1.5309734513274336</c:v>
                </c:pt>
                <c:pt idx="99">
                  <c:v>1.5212320235533914</c:v>
                </c:pt>
                <c:pt idx="100">
                  <c:v>1.5281721884155963</c:v>
                </c:pt>
                <c:pt idx="101">
                  <c:v>1.5572208667363776</c:v>
                </c:pt>
                <c:pt idx="102">
                  <c:v>1.5470267709073677</c:v>
                </c:pt>
                <c:pt idx="103">
                  <c:v>1.5507802823879118</c:v>
                </c:pt>
                <c:pt idx="104">
                  <c:v>1.5799217731421122</c:v>
                </c:pt>
                <c:pt idx="105">
                  <c:v>1.6097046413502112</c:v>
                </c:pt>
                <c:pt idx="106">
                  <c:v>1.6416427203065136</c:v>
                </c:pt>
                <c:pt idx="107">
                  <c:v>1.6386381222594788</c:v>
                </c:pt>
                <c:pt idx="108">
                  <c:v>1.6414322250639388</c:v>
                </c:pt>
                <c:pt idx="109">
                  <c:v>1.63318499682136</c:v>
                </c:pt>
                <c:pt idx="110">
                  <c:v>1.6097972972972974</c:v>
                </c:pt>
                <c:pt idx="111">
                  <c:v>1.6515151515151514</c:v>
                </c:pt>
                <c:pt idx="112">
                  <c:v>1.6950224971878514</c:v>
                </c:pt>
                <c:pt idx="113">
                  <c:v>1.7532098932288147</c:v>
                </c:pt>
                <c:pt idx="114">
                  <c:v>1.8324090355741915</c:v>
                </c:pt>
                <c:pt idx="115">
                  <c:v>1.7833639316480723</c:v>
                </c:pt>
                <c:pt idx="116">
                  <c:v>1.8246036240090597</c:v>
                </c:pt>
                <c:pt idx="117">
                  <c:v>1.851231239982515</c:v>
                </c:pt>
                <c:pt idx="118">
                  <c:v>1.9238537117903929</c:v>
                </c:pt>
                <c:pt idx="119">
                  <c:v>2.1283590233256033</c:v>
                </c:pt>
                <c:pt idx="120">
                  <c:v>2.025219608954378</c:v>
                </c:pt>
                <c:pt idx="121">
                  <c:v>1.9905979139121495</c:v>
                </c:pt>
                <c:pt idx="122">
                  <c:v>2.1987844648680706</c:v>
                </c:pt>
                <c:pt idx="123">
                  <c:v>2.41533895657607</c:v>
                </c:pt>
                <c:pt idx="124">
                  <c:v>2.3229005268050815</c:v>
                </c:pt>
                <c:pt idx="125">
                  <c:v>2.1900340451872484</c:v>
                </c:pt>
                <c:pt idx="126">
                  <c:v>2.1684148323238293</c:v>
                </c:pt>
                <c:pt idx="127">
                  <c:v>2.244906387665198</c:v>
                </c:pt>
                <c:pt idx="128">
                  <c:v>2.288855297512711</c:v>
                </c:pt>
                <c:pt idx="129">
                  <c:v>2.224400234055003</c:v>
                </c:pt>
                <c:pt idx="130">
                  <c:v>2.082481348438795</c:v>
                </c:pt>
                <c:pt idx="131">
                  <c:v>2.195274496177901</c:v>
                </c:pt>
                <c:pt idx="132">
                  <c:v>2.2711481429176668</c:v>
                </c:pt>
                <c:pt idx="133">
                  <c:v>2.2683658170914542</c:v>
                </c:pt>
                <c:pt idx="134">
                  <c:v>2.2617113457893314</c:v>
                </c:pt>
                <c:pt idx="135">
                  <c:v>2.2649744829438627</c:v>
                </c:pt>
                <c:pt idx="136">
                  <c:v>2.3401104417670684</c:v>
                </c:pt>
                <c:pt idx="137">
                  <c:v>2.2613917343694805</c:v>
                </c:pt>
                <c:pt idx="138">
                  <c:v>2.17345095121692</c:v>
                </c:pt>
                <c:pt idx="139">
                  <c:v>2.280851512277374</c:v>
                </c:pt>
                <c:pt idx="140">
                  <c:v>2.156420307868821</c:v>
                </c:pt>
                <c:pt idx="141">
                  <c:v>2.2893637226970562</c:v>
                </c:pt>
                <c:pt idx="142">
                  <c:v>2.3666270675317556</c:v>
                </c:pt>
                <c:pt idx="143">
                  <c:v>2.386003912502223</c:v>
                </c:pt>
                <c:pt idx="144">
                  <c:v>2.4708777686628385</c:v>
                </c:pt>
                <c:pt idx="145">
                  <c:v>2.557159828200676</c:v>
                </c:pt>
                <c:pt idx="146">
                  <c:v>2.4922055427251735</c:v>
                </c:pt>
                <c:pt idx="147">
                  <c:v>2.55290496344748</c:v>
                </c:pt>
                <c:pt idx="148">
                  <c:v>2.5249636451769266</c:v>
                </c:pt>
                <c:pt idx="149">
                  <c:v>2.636109773712085</c:v>
                </c:pt>
                <c:pt idx="150">
                  <c:v>2.547889287136599</c:v>
                </c:pt>
                <c:pt idx="151">
                  <c:v>2.4476251253532686</c:v>
                </c:pt>
                <c:pt idx="152">
                  <c:v>2.4020294540229887</c:v>
                </c:pt>
                <c:pt idx="153">
                  <c:v>2.33064750995049</c:v>
                </c:pt>
                <c:pt idx="154">
                  <c:v>2.307991360691145</c:v>
                </c:pt>
                <c:pt idx="155">
                  <c:v>2.275962786672436</c:v>
                </c:pt>
                <c:pt idx="156">
                  <c:v>2.154198791414878</c:v>
                </c:pt>
                <c:pt idx="157">
                  <c:v>2.207676029242016</c:v>
                </c:pt>
                <c:pt idx="158">
                  <c:v>2.090900554042633</c:v>
                </c:pt>
                <c:pt idx="159">
                  <c:v>1.989617580896349</c:v>
                </c:pt>
                <c:pt idx="160">
                  <c:v>1.7961648306813547</c:v>
                </c:pt>
                <c:pt idx="161">
                  <c:v>1.569590554756679</c:v>
                </c:pt>
                <c:pt idx="162">
                  <c:v>1.5166170246120083</c:v>
                </c:pt>
                <c:pt idx="163">
                  <c:v>1.498472177549051</c:v>
                </c:pt>
                <c:pt idx="164">
                  <c:v>1.4818790862862217</c:v>
                </c:pt>
                <c:pt idx="165">
                  <c:v>1.5478795018512284</c:v>
                </c:pt>
                <c:pt idx="166">
                  <c:v>1.6079980452842484</c:v>
                </c:pt>
                <c:pt idx="167">
                  <c:v>1.5533643548267968</c:v>
                </c:pt>
                <c:pt idx="168">
                  <c:v>1.3763586039289812</c:v>
                </c:pt>
                <c:pt idx="169">
                  <c:v>1.3625269203158652</c:v>
                </c:pt>
                <c:pt idx="170">
                  <c:v>1.259708152436083</c:v>
                </c:pt>
                <c:pt idx="171">
                  <c:v>1.2384861627426682</c:v>
                </c:pt>
                <c:pt idx="172">
                  <c:v>1.2460581357931997</c:v>
                </c:pt>
                <c:pt idx="173">
                  <c:v>1.215680516811041</c:v>
                </c:pt>
                <c:pt idx="174">
                  <c:v>1.1983779248624966</c:v>
                </c:pt>
                <c:pt idx="175">
                  <c:v>1.2176991150442478</c:v>
                </c:pt>
                <c:pt idx="176">
                  <c:v>1.149715416975996</c:v>
                </c:pt>
                <c:pt idx="177">
                  <c:v>1.2473186119873816</c:v>
                </c:pt>
                <c:pt idx="178">
                  <c:v>1.3485605625082917</c:v>
                </c:pt>
                <c:pt idx="179">
                  <c:v>1.4481945964144431</c:v>
                </c:pt>
                <c:pt idx="180">
                  <c:v>1.4449661141504042</c:v>
                </c:pt>
                <c:pt idx="181">
                  <c:v>1.5568734793187347</c:v>
                </c:pt>
                <c:pt idx="182">
                  <c:v>1.5686510400496738</c:v>
                </c:pt>
                <c:pt idx="183">
                  <c:v>1.5936321233015616</c:v>
                </c:pt>
                <c:pt idx="184">
                  <c:v>1.675474083438685</c:v>
                </c:pt>
                <c:pt idx="185">
                  <c:v>1.8508740635033893</c:v>
                </c:pt>
                <c:pt idx="186">
                  <c:v>1.8946581324400313</c:v>
                </c:pt>
                <c:pt idx="187">
                  <c:v>1.8389319118978174</c:v>
                </c:pt>
                <c:pt idx="188">
                  <c:v>1.8950388920508443</c:v>
                </c:pt>
                <c:pt idx="189">
                  <c:v>1.8775690504975358</c:v>
                </c:pt>
                <c:pt idx="190">
                  <c:v>1.909217812107394</c:v>
                </c:pt>
                <c:pt idx="191">
                  <c:v>2.0004198813835092</c:v>
                </c:pt>
                <c:pt idx="192">
                  <c:v>1.890400997298982</c:v>
                </c:pt>
                <c:pt idx="193">
                  <c:v>1.7879597173538087</c:v>
                </c:pt>
                <c:pt idx="194">
                  <c:v>1.891384284663687</c:v>
                </c:pt>
                <c:pt idx="195">
                  <c:v>2.0117832847424686</c:v>
                </c:pt>
                <c:pt idx="196">
                  <c:v>1.894300642604048</c:v>
                </c:pt>
                <c:pt idx="197">
                  <c:v>1.8172855540468742</c:v>
                </c:pt>
                <c:pt idx="198">
                  <c:v>1.9409568135079553</c:v>
                </c:pt>
                <c:pt idx="199">
                  <c:v>2.0002768089464653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2.0×</c:v>
                </c:pt>
              </c:strCache>
            </c:strRef>
          </c:tx>
          <c:spPr>
            <a:ln w="12700">
              <a:solidFill>
                <a:srgbClr val="E34948"/>
              </a:solidFill>
              <a:prstDash val="dash"/>
            </a:ln>
          </c:spPr>
          <c:marker>
            <c:symbol val="none"/>
          </c:marker>
          <c:cat>
            <c:strRef>
              <c:f>Sheet1!$A$2:$A$201</c:f>
              <c:strCache>
                <c:ptCount val="200"/>
                <c:pt idx="0">
                  <c:v>2010</c:v>
                </c:pt>
                <c:pt idx="1">
                  <c:v>2010</c:v>
                </c:pt>
                <c:pt idx="2">
                  <c:v>2010</c:v>
                </c:pt>
                <c:pt idx="3">
                  <c:v>2010</c:v>
                </c:pt>
                <c:pt idx="4">
                  <c:v>2010</c:v>
                </c:pt>
                <c:pt idx="5">
                  <c:v>2010</c:v>
                </c:pt>
                <c:pt idx="6">
                  <c:v>2010</c:v>
                </c:pt>
                <c:pt idx="7">
                  <c:v>2010</c:v>
                </c:pt>
                <c:pt idx="8">
                  <c:v>2010</c:v>
                </c:pt>
                <c:pt idx="9">
                  <c:v>2010</c:v>
                </c:pt>
                <c:pt idx="10">
                  <c:v>2010</c:v>
                </c:pt>
                <c:pt idx="11">
                  <c:v>2010</c:v>
                </c:pt>
                <c:pt idx="12">
                  <c:v>2011</c:v>
                </c:pt>
                <c:pt idx="13">
                  <c:v>2011</c:v>
                </c:pt>
                <c:pt idx="14">
                  <c:v>2011</c:v>
                </c:pt>
                <c:pt idx="15">
                  <c:v>2011</c:v>
                </c:pt>
                <c:pt idx="16">
                  <c:v>2011</c:v>
                </c:pt>
                <c:pt idx="17">
                  <c:v>2011</c:v>
                </c:pt>
                <c:pt idx="18">
                  <c:v>2011</c:v>
                </c:pt>
                <c:pt idx="19">
                  <c:v>2011</c:v>
                </c:pt>
                <c:pt idx="20">
                  <c:v>2011</c:v>
                </c:pt>
                <c:pt idx="21">
                  <c:v>2011</c:v>
                </c:pt>
                <c:pt idx="22">
                  <c:v>2011</c:v>
                </c:pt>
                <c:pt idx="23">
                  <c:v>2011</c:v>
                </c:pt>
                <c:pt idx="24">
                  <c:v>2012</c:v>
                </c:pt>
                <c:pt idx="25">
                  <c:v>2012</c:v>
                </c:pt>
                <c:pt idx="26">
                  <c:v>2012</c:v>
                </c:pt>
                <c:pt idx="27">
                  <c:v>2012</c:v>
                </c:pt>
                <c:pt idx="28">
                  <c:v>2012</c:v>
                </c:pt>
                <c:pt idx="29">
                  <c:v>2012</c:v>
                </c:pt>
                <c:pt idx="30">
                  <c:v>2012</c:v>
                </c:pt>
                <c:pt idx="31">
                  <c:v>2012</c:v>
                </c:pt>
                <c:pt idx="32">
                  <c:v>2012</c:v>
                </c:pt>
                <c:pt idx="33">
                  <c:v>2012</c:v>
                </c:pt>
                <c:pt idx="34">
                  <c:v>2012</c:v>
                </c:pt>
                <c:pt idx="35">
                  <c:v>2012</c:v>
                </c:pt>
                <c:pt idx="36">
                  <c:v>2013</c:v>
                </c:pt>
                <c:pt idx="37">
                  <c:v>2013</c:v>
                </c:pt>
                <c:pt idx="38">
                  <c:v>2013</c:v>
                </c:pt>
                <c:pt idx="39">
                  <c:v>2013</c:v>
                </c:pt>
                <c:pt idx="40">
                  <c:v>2013</c:v>
                </c:pt>
                <c:pt idx="41">
                  <c:v>2013</c:v>
                </c:pt>
                <c:pt idx="42">
                  <c:v>2013</c:v>
                </c:pt>
                <c:pt idx="43">
                  <c:v>2013</c:v>
                </c:pt>
                <c:pt idx="44">
                  <c:v>2013</c:v>
                </c:pt>
                <c:pt idx="45">
                  <c:v>2013</c:v>
                </c:pt>
                <c:pt idx="46">
                  <c:v>2013</c:v>
                </c:pt>
                <c:pt idx="47">
                  <c:v>2013</c:v>
                </c:pt>
                <c:pt idx="48">
                  <c:v>2014</c:v>
                </c:pt>
                <c:pt idx="49">
                  <c:v>2014</c:v>
                </c:pt>
                <c:pt idx="50">
                  <c:v>2014</c:v>
                </c:pt>
                <c:pt idx="51">
                  <c:v>2014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2014</c:v>
                </c:pt>
                <c:pt idx="57">
                  <c:v>2014</c:v>
                </c:pt>
                <c:pt idx="58">
                  <c:v>2014</c:v>
                </c:pt>
                <c:pt idx="59">
                  <c:v>2014</c:v>
                </c:pt>
                <c:pt idx="60">
                  <c:v>2015</c:v>
                </c:pt>
                <c:pt idx="61">
                  <c:v>2015</c:v>
                </c:pt>
                <c:pt idx="62">
                  <c:v>2015</c:v>
                </c:pt>
                <c:pt idx="63">
                  <c:v>2015</c:v>
                </c:pt>
                <c:pt idx="64">
                  <c:v>2015</c:v>
                </c:pt>
                <c:pt idx="65">
                  <c:v>2015</c:v>
                </c:pt>
                <c:pt idx="66">
                  <c:v>2015</c:v>
                </c:pt>
                <c:pt idx="67">
                  <c:v>2015</c:v>
                </c:pt>
                <c:pt idx="68">
                  <c:v>2015</c:v>
                </c:pt>
                <c:pt idx="69">
                  <c:v>2015</c:v>
                </c:pt>
                <c:pt idx="70">
                  <c:v>2015</c:v>
                </c:pt>
                <c:pt idx="71">
                  <c:v>2015</c:v>
                </c:pt>
                <c:pt idx="72">
                  <c:v>2016</c:v>
                </c:pt>
                <c:pt idx="73">
                  <c:v>2016</c:v>
                </c:pt>
                <c:pt idx="74">
                  <c:v>2016</c:v>
                </c:pt>
                <c:pt idx="75">
                  <c:v>2016</c:v>
                </c:pt>
                <c:pt idx="76">
                  <c:v>2016</c:v>
                </c:pt>
                <c:pt idx="77">
                  <c:v>2016</c:v>
                </c:pt>
                <c:pt idx="78">
                  <c:v>2016</c:v>
                </c:pt>
                <c:pt idx="79">
                  <c:v>2016</c:v>
                </c:pt>
                <c:pt idx="80">
                  <c:v>2016</c:v>
                </c:pt>
                <c:pt idx="81">
                  <c:v>2016</c:v>
                </c:pt>
                <c:pt idx="82">
                  <c:v>2016</c:v>
                </c:pt>
                <c:pt idx="83">
                  <c:v>2016</c:v>
                </c:pt>
                <c:pt idx="84">
                  <c:v>2017</c:v>
                </c:pt>
                <c:pt idx="85">
                  <c:v>2017</c:v>
                </c:pt>
                <c:pt idx="86">
                  <c:v>2017</c:v>
                </c:pt>
                <c:pt idx="87">
                  <c:v>2017</c:v>
                </c:pt>
                <c:pt idx="88">
                  <c:v>2017</c:v>
                </c:pt>
                <c:pt idx="89">
                  <c:v>2017</c:v>
                </c:pt>
                <c:pt idx="90">
                  <c:v>2017</c:v>
                </c:pt>
                <c:pt idx="91">
                  <c:v>2017</c:v>
                </c:pt>
                <c:pt idx="92">
                  <c:v>2017</c:v>
                </c:pt>
                <c:pt idx="93">
                  <c:v>2017</c:v>
                </c:pt>
                <c:pt idx="94">
                  <c:v>2017</c:v>
                </c:pt>
                <c:pt idx="95">
                  <c:v>2017</c:v>
                </c:pt>
                <c:pt idx="96">
                  <c:v>2018</c:v>
                </c:pt>
                <c:pt idx="97">
                  <c:v>2018</c:v>
                </c:pt>
                <c:pt idx="98">
                  <c:v>2018</c:v>
                </c:pt>
                <c:pt idx="99">
                  <c:v>2018</c:v>
                </c:pt>
                <c:pt idx="100">
                  <c:v>2018</c:v>
                </c:pt>
                <c:pt idx="101">
                  <c:v>2018</c:v>
                </c:pt>
                <c:pt idx="102">
                  <c:v>2018</c:v>
                </c:pt>
                <c:pt idx="103">
                  <c:v>2018</c:v>
                </c:pt>
                <c:pt idx="104">
                  <c:v>2018</c:v>
                </c:pt>
                <c:pt idx="105">
                  <c:v>2018</c:v>
                </c:pt>
                <c:pt idx="106">
                  <c:v>2018</c:v>
                </c:pt>
                <c:pt idx="107">
                  <c:v>2018</c:v>
                </c:pt>
                <c:pt idx="108">
                  <c:v>2019</c:v>
                </c:pt>
                <c:pt idx="109">
                  <c:v>2019</c:v>
                </c:pt>
                <c:pt idx="110">
                  <c:v>2019</c:v>
                </c:pt>
                <c:pt idx="111">
                  <c:v>2019</c:v>
                </c:pt>
                <c:pt idx="112">
                  <c:v>2019</c:v>
                </c:pt>
                <c:pt idx="113">
                  <c:v>2019</c:v>
                </c:pt>
                <c:pt idx="114">
                  <c:v>2019</c:v>
                </c:pt>
                <c:pt idx="115">
                  <c:v>2019</c:v>
                </c:pt>
                <c:pt idx="116">
                  <c:v>2019</c:v>
                </c:pt>
                <c:pt idx="117">
                  <c:v>2019</c:v>
                </c:pt>
                <c:pt idx="118">
                  <c:v>2019</c:v>
                </c:pt>
                <c:pt idx="119">
                  <c:v>2019</c:v>
                </c:pt>
                <c:pt idx="120">
                  <c:v>2020</c:v>
                </c:pt>
                <c:pt idx="121">
                  <c:v>2020</c:v>
                </c:pt>
                <c:pt idx="122">
                  <c:v>2020</c:v>
                </c:pt>
                <c:pt idx="123">
                  <c:v>2020</c:v>
                </c:pt>
                <c:pt idx="124">
                  <c:v>2020</c:v>
                </c:pt>
                <c:pt idx="125">
                  <c:v>2020</c:v>
                </c:pt>
                <c:pt idx="126">
                  <c:v>2020</c:v>
                </c:pt>
                <c:pt idx="127">
                  <c:v>2020</c:v>
                </c:pt>
                <c:pt idx="128">
                  <c:v>2020</c:v>
                </c:pt>
                <c:pt idx="129">
                  <c:v>2020</c:v>
                </c:pt>
                <c:pt idx="130">
                  <c:v>2020</c:v>
                </c:pt>
                <c:pt idx="131">
                  <c:v>2020</c:v>
                </c:pt>
                <c:pt idx="132">
                  <c:v>2021</c:v>
                </c:pt>
                <c:pt idx="133">
                  <c:v>2021</c:v>
                </c:pt>
                <c:pt idx="134">
                  <c:v>2021</c:v>
                </c:pt>
                <c:pt idx="135">
                  <c:v>2021</c:v>
                </c:pt>
                <c:pt idx="136">
                  <c:v>2021</c:v>
                </c:pt>
                <c:pt idx="137">
                  <c:v>2021</c:v>
                </c:pt>
                <c:pt idx="138">
                  <c:v>2021</c:v>
                </c:pt>
                <c:pt idx="139">
                  <c:v>2021</c:v>
                </c:pt>
                <c:pt idx="140">
                  <c:v>2021</c:v>
                </c:pt>
                <c:pt idx="141">
                  <c:v>2021</c:v>
                </c:pt>
                <c:pt idx="142">
                  <c:v>2021</c:v>
                </c:pt>
                <c:pt idx="143">
                  <c:v>2021</c:v>
                </c:pt>
                <c:pt idx="144">
                  <c:v>2022</c:v>
                </c:pt>
                <c:pt idx="145">
                  <c:v>2022</c:v>
                </c:pt>
                <c:pt idx="146">
                  <c:v>2022</c:v>
                </c:pt>
                <c:pt idx="147">
                  <c:v>2022</c:v>
                </c:pt>
                <c:pt idx="148">
                  <c:v>2022</c:v>
                </c:pt>
                <c:pt idx="149">
                  <c:v>2022</c:v>
                </c:pt>
                <c:pt idx="150">
                  <c:v>2022</c:v>
                </c:pt>
                <c:pt idx="151">
                  <c:v>2022</c:v>
                </c:pt>
                <c:pt idx="152">
                  <c:v>2022</c:v>
                </c:pt>
                <c:pt idx="153">
                  <c:v>2022</c:v>
                </c:pt>
                <c:pt idx="154">
                  <c:v>2022</c:v>
                </c:pt>
                <c:pt idx="155">
                  <c:v>2022</c:v>
                </c:pt>
                <c:pt idx="156">
                  <c:v>2023</c:v>
                </c:pt>
                <c:pt idx="157">
                  <c:v>2023</c:v>
                </c:pt>
                <c:pt idx="158">
                  <c:v>2023</c:v>
                </c:pt>
                <c:pt idx="159">
                  <c:v>2023</c:v>
                </c:pt>
                <c:pt idx="160">
                  <c:v>2023</c:v>
                </c:pt>
                <c:pt idx="161">
                  <c:v>2023</c:v>
                </c:pt>
                <c:pt idx="162">
                  <c:v>2023</c:v>
                </c:pt>
                <c:pt idx="163">
                  <c:v>2023</c:v>
                </c:pt>
                <c:pt idx="164">
                  <c:v>2023</c:v>
                </c:pt>
                <c:pt idx="165">
                  <c:v>2023</c:v>
                </c:pt>
                <c:pt idx="166">
                  <c:v>2023</c:v>
                </c:pt>
                <c:pt idx="167">
                  <c:v>2023</c:v>
                </c:pt>
                <c:pt idx="168">
                  <c:v>2024</c:v>
                </c:pt>
                <c:pt idx="169">
                  <c:v>2024</c:v>
                </c:pt>
                <c:pt idx="170">
                  <c:v>2024</c:v>
                </c:pt>
                <c:pt idx="171">
                  <c:v>2024</c:v>
                </c:pt>
                <c:pt idx="172">
                  <c:v>2024</c:v>
                </c:pt>
                <c:pt idx="173">
                  <c:v>2024</c:v>
                </c:pt>
                <c:pt idx="174">
                  <c:v>2024</c:v>
                </c:pt>
                <c:pt idx="175">
                  <c:v>2024</c:v>
                </c:pt>
                <c:pt idx="176">
                  <c:v>2024</c:v>
                </c:pt>
                <c:pt idx="177">
                  <c:v>2024</c:v>
                </c:pt>
                <c:pt idx="178">
                  <c:v>2024</c:v>
                </c:pt>
                <c:pt idx="179">
                  <c:v>2024</c:v>
                </c:pt>
                <c:pt idx="180">
                  <c:v>2025</c:v>
                </c:pt>
                <c:pt idx="181">
                  <c:v>2025</c:v>
                </c:pt>
                <c:pt idx="182">
                  <c:v>2025</c:v>
                </c:pt>
                <c:pt idx="183">
                  <c:v>2025</c:v>
                </c:pt>
                <c:pt idx="184">
                  <c:v>2025</c:v>
                </c:pt>
                <c:pt idx="185">
                  <c:v>2025</c:v>
                </c:pt>
                <c:pt idx="186">
                  <c:v>2025</c:v>
                </c:pt>
                <c:pt idx="187">
                  <c:v>2025</c:v>
                </c:pt>
                <c:pt idx="188">
                  <c:v>2025</c:v>
                </c:pt>
                <c:pt idx="189">
                  <c:v>2025</c:v>
                </c:pt>
                <c:pt idx="190">
                  <c:v>2025</c:v>
                </c:pt>
                <c:pt idx="191">
                  <c:v>2025</c:v>
                </c:pt>
                <c:pt idx="192">
                  <c:v>2026</c:v>
                </c:pt>
                <c:pt idx="193">
                  <c:v>2026</c:v>
                </c:pt>
                <c:pt idx="194">
                  <c:v>2026</c:v>
                </c:pt>
                <c:pt idx="195">
                  <c:v>2026</c:v>
                </c:pt>
                <c:pt idx="196">
                  <c:v>2026</c:v>
                </c:pt>
                <c:pt idx="197">
                  <c:v>2026</c:v>
                </c:pt>
                <c:pt idx="198">
                  <c:v>2026</c:v>
                </c:pt>
                <c:pt idx="199">
                  <c:v>2026</c:v>
                </c:pt>
              </c:strCache>
            </c:strRef>
          </c:cat>
          <c:val>
            <c:numRef>
              <c:f>Sheet1!$C$2:$C$201</c:f>
              <c:numCache>
                <c:formatCode>General</c:formatCode>
                <c:ptCount val="20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2.0</c:v>
                </c:pt>
                <c:pt idx="30">
                  <c:v>2.0</c:v>
                </c:pt>
                <c:pt idx="31">
                  <c:v>2.0</c:v>
                </c:pt>
                <c:pt idx="32">
                  <c:v>2.0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2.0</c:v>
                </c:pt>
                <c:pt idx="37">
                  <c:v>2.0</c:v>
                </c:pt>
                <c:pt idx="38">
                  <c:v>2.0</c:v>
                </c:pt>
                <c:pt idx="39">
                  <c:v>2.0</c:v>
                </c:pt>
                <c:pt idx="40">
                  <c:v>2.0</c:v>
                </c:pt>
                <c:pt idx="41">
                  <c:v>2.0</c:v>
                </c:pt>
                <c:pt idx="42">
                  <c:v>2.0</c:v>
                </c:pt>
                <c:pt idx="43">
                  <c:v>2.0</c:v>
                </c:pt>
                <c:pt idx="44">
                  <c:v>2.0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2.0</c:v>
                </c:pt>
                <c:pt idx="49">
                  <c:v>2.0</c:v>
                </c:pt>
                <c:pt idx="50">
                  <c:v>2.0</c:v>
                </c:pt>
                <c:pt idx="51">
                  <c:v>2.0</c:v>
                </c:pt>
                <c:pt idx="52">
                  <c:v>2.0</c:v>
                </c:pt>
                <c:pt idx="53">
                  <c:v>2.0</c:v>
                </c:pt>
                <c:pt idx="54">
                  <c:v>2.0</c:v>
                </c:pt>
                <c:pt idx="55">
                  <c:v>2.0</c:v>
                </c:pt>
                <c:pt idx="56">
                  <c:v>2.0</c:v>
                </c:pt>
                <c:pt idx="57">
                  <c:v>2.0</c:v>
                </c:pt>
                <c:pt idx="58">
                  <c:v>2.0</c:v>
                </c:pt>
                <c:pt idx="59">
                  <c:v>2.0</c:v>
                </c:pt>
                <c:pt idx="60">
                  <c:v>2.0</c:v>
                </c:pt>
                <c:pt idx="61">
                  <c:v>2.0</c:v>
                </c:pt>
                <c:pt idx="62">
                  <c:v>2.0</c:v>
                </c:pt>
                <c:pt idx="63">
                  <c:v>2.0</c:v>
                </c:pt>
                <c:pt idx="64">
                  <c:v>2.0</c:v>
                </c:pt>
                <c:pt idx="65">
                  <c:v>2.0</c:v>
                </c:pt>
                <c:pt idx="66">
                  <c:v>2.0</c:v>
                </c:pt>
                <c:pt idx="67">
                  <c:v>2.0</c:v>
                </c:pt>
                <c:pt idx="68">
                  <c:v>2.0</c:v>
                </c:pt>
                <c:pt idx="69">
                  <c:v>2.0</c:v>
                </c:pt>
                <c:pt idx="70">
                  <c:v>2.0</c:v>
                </c:pt>
                <c:pt idx="71">
                  <c:v>2.0</c:v>
                </c:pt>
                <c:pt idx="72">
                  <c:v>2.0</c:v>
                </c:pt>
                <c:pt idx="73">
                  <c:v>2.0</c:v>
                </c:pt>
                <c:pt idx="74">
                  <c:v>2.0</c:v>
                </c:pt>
                <c:pt idx="75">
                  <c:v>2.0</c:v>
                </c:pt>
                <c:pt idx="76">
                  <c:v>2.0</c:v>
                </c:pt>
                <c:pt idx="77">
                  <c:v>2.0</c:v>
                </c:pt>
                <c:pt idx="78">
                  <c:v>2.0</c:v>
                </c:pt>
                <c:pt idx="79">
                  <c:v>2.0</c:v>
                </c:pt>
                <c:pt idx="80">
                  <c:v>2.0</c:v>
                </c:pt>
                <c:pt idx="81">
                  <c:v>2.0</c:v>
                </c:pt>
                <c:pt idx="82">
                  <c:v>2.0</c:v>
                </c:pt>
                <c:pt idx="83">
                  <c:v>2.0</c:v>
                </c:pt>
                <c:pt idx="84">
                  <c:v>2.0</c:v>
                </c:pt>
                <c:pt idx="85">
                  <c:v>2.0</c:v>
                </c:pt>
                <c:pt idx="86">
                  <c:v>2.0</c:v>
                </c:pt>
                <c:pt idx="87">
                  <c:v>2.0</c:v>
                </c:pt>
                <c:pt idx="88">
                  <c:v>2.0</c:v>
                </c:pt>
                <c:pt idx="89">
                  <c:v>2.0</c:v>
                </c:pt>
                <c:pt idx="90">
                  <c:v>2.0</c:v>
                </c:pt>
                <c:pt idx="91">
                  <c:v>2.0</c:v>
                </c:pt>
                <c:pt idx="92">
                  <c:v>2.0</c:v>
                </c:pt>
                <c:pt idx="93">
                  <c:v>2.0</c:v>
                </c:pt>
                <c:pt idx="94">
                  <c:v>2.0</c:v>
                </c:pt>
                <c:pt idx="95">
                  <c:v>2.0</c:v>
                </c:pt>
                <c:pt idx="96">
                  <c:v>2.0</c:v>
                </c:pt>
                <c:pt idx="97">
                  <c:v>2.0</c:v>
                </c:pt>
                <c:pt idx="98">
                  <c:v>2.0</c:v>
                </c:pt>
                <c:pt idx="99">
                  <c:v>2.0</c:v>
                </c:pt>
                <c:pt idx="100">
                  <c:v>2.0</c:v>
                </c:pt>
                <c:pt idx="101">
                  <c:v>2.0</c:v>
                </c:pt>
                <c:pt idx="102">
                  <c:v>2.0</c:v>
                </c:pt>
                <c:pt idx="103">
                  <c:v>2.0</c:v>
                </c:pt>
                <c:pt idx="104">
                  <c:v>2.0</c:v>
                </c:pt>
                <c:pt idx="105">
                  <c:v>2.0</c:v>
                </c:pt>
                <c:pt idx="106">
                  <c:v>2.0</c:v>
                </c:pt>
                <c:pt idx="107">
                  <c:v>2.0</c:v>
                </c:pt>
                <c:pt idx="108">
                  <c:v>2.0</c:v>
                </c:pt>
                <c:pt idx="109">
                  <c:v>2.0</c:v>
                </c:pt>
                <c:pt idx="110">
                  <c:v>2.0</c:v>
                </c:pt>
                <c:pt idx="111">
                  <c:v>2.0</c:v>
                </c:pt>
                <c:pt idx="112">
                  <c:v>2.0</c:v>
                </c:pt>
                <c:pt idx="113">
                  <c:v>2.0</c:v>
                </c:pt>
                <c:pt idx="114">
                  <c:v>2.0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2.0</c:v>
                </c:pt>
                <c:pt idx="120">
                  <c:v>2.0</c:v>
                </c:pt>
                <c:pt idx="121">
                  <c:v>2.0</c:v>
                </c:pt>
                <c:pt idx="122">
                  <c:v>2.0</c:v>
                </c:pt>
                <c:pt idx="123">
                  <c:v>2.0</c:v>
                </c:pt>
                <c:pt idx="124">
                  <c:v>2.0</c:v>
                </c:pt>
                <c:pt idx="125">
                  <c:v>2.0</c:v>
                </c:pt>
                <c:pt idx="126">
                  <c:v>2.0</c:v>
                </c:pt>
                <c:pt idx="127">
                  <c:v>2.0</c:v>
                </c:pt>
                <c:pt idx="128">
                  <c:v>2.0</c:v>
                </c:pt>
                <c:pt idx="129">
                  <c:v>2.0</c:v>
                </c:pt>
                <c:pt idx="130">
                  <c:v>2.0</c:v>
                </c:pt>
                <c:pt idx="131">
                  <c:v>2.0</c:v>
                </c:pt>
                <c:pt idx="132">
                  <c:v>2.0</c:v>
                </c:pt>
                <c:pt idx="133">
                  <c:v>2.0</c:v>
                </c:pt>
                <c:pt idx="134">
                  <c:v>2.0</c:v>
                </c:pt>
                <c:pt idx="135">
                  <c:v>2.0</c:v>
                </c:pt>
                <c:pt idx="136">
                  <c:v>2.0</c:v>
                </c:pt>
                <c:pt idx="137">
                  <c:v>2.0</c:v>
                </c:pt>
                <c:pt idx="138">
                  <c:v>2.0</c:v>
                </c:pt>
                <c:pt idx="139">
                  <c:v>2.0</c:v>
                </c:pt>
                <c:pt idx="140">
                  <c:v>2.0</c:v>
                </c:pt>
                <c:pt idx="141">
                  <c:v>2.0</c:v>
                </c:pt>
                <c:pt idx="142">
                  <c:v>2.0</c:v>
                </c:pt>
                <c:pt idx="143">
                  <c:v>2.0</c:v>
                </c:pt>
                <c:pt idx="144">
                  <c:v>2.0</c:v>
                </c:pt>
                <c:pt idx="145">
                  <c:v>2.0</c:v>
                </c:pt>
                <c:pt idx="146">
                  <c:v>2.0</c:v>
                </c:pt>
                <c:pt idx="147">
                  <c:v>2.0</c:v>
                </c:pt>
                <c:pt idx="148">
                  <c:v>2.0</c:v>
                </c:pt>
                <c:pt idx="149">
                  <c:v>2.0</c:v>
                </c:pt>
                <c:pt idx="150">
                  <c:v>2.0</c:v>
                </c:pt>
                <c:pt idx="151">
                  <c:v>2.0</c:v>
                </c:pt>
                <c:pt idx="152">
                  <c:v>2.0</c:v>
                </c:pt>
                <c:pt idx="153">
                  <c:v>2.0</c:v>
                </c:pt>
                <c:pt idx="154">
                  <c:v>2.0</c:v>
                </c:pt>
                <c:pt idx="155">
                  <c:v>2.0</c:v>
                </c:pt>
                <c:pt idx="156">
                  <c:v>2.0</c:v>
                </c:pt>
                <c:pt idx="157">
                  <c:v>2.0</c:v>
                </c:pt>
                <c:pt idx="158">
                  <c:v>2.0</c:v>
                </c:pt>
                <c:pt idx="159">
                  <c:v>2.0</c:v>
                </c:pt>
                <c:pt idx="160">
                  <c:v>2.0</c:v>
                </c:pt>
                <c:pt idx="161">
                  <c:v>2.0</c:v>
                </c:pt>
                <c:pt idx="162">
                  <c:v>2.0</c:v>
                </c:pt>
                <c:pt idx="163">
                  <c:v>2.0</c:v>
                </c:pt>
                <c:pt idx="164">
                  <c:v>2.0</c:v>
                </c:pt>
                <c:pt idx="165">
                  <c:v>2.0</c:v>
                </c:pt>
                <c:pt idx="166">
                  <c:v>2.0</c:v>
                </c:pt>
                <c:pt idx="167">
                  <c:v>2.0</c:v>
                </c:pt>
                <c:pt idx="168">
                  <c:v>2.0</c:v>
                </c:pt>
                <c:pt idx="169">
                  <c:v>2.0</c:v>
                </c:pt>
                <c:pt idx="170">
                  <c:v>2.0</c:v>
                </c:pt>
                <c:pt idx="171">
                  <c:v>2.0</c:v>
                </c:pt>
                <c:pt idx="172">
                  <c:v>2.0</c:v>
                </c:pt>
                <c:pt idx="173">
                  <c:v>2.0</c:v>
                </c:pt>
                <c:pt idx="174">
                  <c:v>2.0</c:v>
                </c:pt>
                <c:pt idx="175">
                  <c:v>2.0</c:v>
                </c:pt>
                <c:pt idx="176">
                  <c:v>2.0</c:v>
                </c:pt>
                <c:pt idx="177">
                  <c:v>2.0</c:v>
                </c:pt>
                <c:pt idx="178">
                  <c:v>2.0</c:v>
                </c:pt>
                <c:pt idx="179">
                  <c:v>2.0</c:v>
                </c:pt>
                <c:pt idx="180">
                  <c:v>2.0</c:v>
                </c:pt>
                <c:pt idx="181">
                  <c:v>2.0</c:v>
                </c:pt>
                <c:pt idx="182">
                  <c:v>2.0</c:v>
                </c:pt>
                <c:pt idx="183">
                  <c:v>2.0</c:v>
                </c:pt>
                <c:pt idx="184">
                  <c:v>2.0</c:v>
                </c:pt>
                <c:pt idx="185">
                  <c:v>2.0</c:v>
                </c:pt>
                <c:pt idx="186">
                  <c:v>2.0</c:v>
                </c:pt>
                <c:pt idx="187">
                  <c:v>2.0</c:v>
                </c:pt>
                <c:pt idx="188">
                  <c:v>2.0</c:v>
                </c:pt>
                <c:pt idx="189">
                  <c:v>2.0</c:v>
                </c:pt>
                <c:pt idx="190">
                  <c:v>2.0</c:v>
                </c:pt>
                <c:pt idx="191">
                  <c:v>2.0</c:v>
                </c:pt>
                <c:pt idx="192">
                  <c:v>2.0</c:v>
                </c:pt>
                <c:pt idx="193">
                  <c:v>2.0</c:v>
                </c:pt>
                <c:pt idx="194">
                  <c:v>2.0</c:v>
                </c:pt>
                <c:pt idx="195">
                  <c:v>2.0</c:v>
                </c:pt>
                <c:pt idx="196">
                  <c:v>2.0</c:v>
                </c:pt>
                <c:pt idx="197">
                  <c:v>2.0</c:v>
                </c:pt>
                <c:pt idx="198">
                  <c:v>2.0</c:v>
                </c:pt>
                <c:pt idx="199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12"/>
        <c:noMultiLvlLbl val="0"/>
      </c:catAx>
      <c:valAx>
        <c:axId val="2140495176"/>
        <c:scaling>
          <c:max val="3.0"/>
          <c:min val="1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&quot;×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0.5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1"/>
            <c:invertIfNegative val="0"/>
            <c:spPr>
              <a:solidFill>
                <a:srgbClr val="E34948"/>
              </a:solidFill>
            </c:spPr>
          </c:dPt>
          <c:dPt>
            <c:idx val="10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+21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2.487</c:v>
                </c:pt>
                <c:pt idx="1">
                  <c:v>2.345</c:v>
                </c:pt>
                <c:pt idx="2">
                  <c:v>2.715</c:v>
                </c:pt>
                <c:pt idx="3">
                  <c:v>2.915</c:v>
                </c:pt>
                <c:pt idx="4">
                  <c:v>3.705</c:v>
                </c:pt>
                <c:pt idx="5">
                  <c:v>4.48</c:v>
                </c:pt>
                <c:pt idx="6">
                  <c:v>4.92</c:v>
                </c:pt>
                <c:pt idx="7">
                  <c:v>5.28</c:v>
                </c:pt>
                <c:pt idx="8">
                  <c:v>5.765</c:v>
                </c:pt>
                <c:pt idx="9">
                  <c:v>6.123</c:v>
                </c:pt>
                <c:pt idx="10">
                  <c:v>5.85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5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+22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+23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2.63</c:v>
                </c:pt>
                <c:pt idx="1">
                  <c:v>2.77</c:v>
                </c:pt>
                <c:pt idx="2">
                  <c:v>2.88</c:v>
                </c:pt>
                <c:pt idx="3">
                  <c:v>2.94</c:v>
                </c:pt>
                <c:pt idx="4">
                  <c:v>3.1</c:v>
                </c:pt>
                <c:pt idx="5">
                  <c:v>2.72</c:v>
                </c:pt>
                <c:pt idx="6">
                  <c:v>3.2</c:v>
                </c:pt>
                <c:pt idx="7">
                  <c:v>3.2</c:v>
                </c:pt>
                <c:pt idx="8">
                  <c:v>3.9</c:v>
                </c:pt>
                <c:pt idx="9">
                  <c:v>4.8</c:v>
                </c:pt>
                <c:pt idx="10">
                  <c:v>4.9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6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"/>
            <c:invertIfNegative val="0"/>
            <c:spPr>
              <a:solidFill>
                <a:srgbClr val="E34948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8"/>
            <c:invertIfNegative val="0"/>
            <c:spPr>
              <a:solidFill>
                <a:srgbClr val="E34948"/>
              </a:solidFill>
            </c:spPr>
          </c:dPt>
          <c:dPt>
            <c:idx val="10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+24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0.71</c:v>
                </c:pt>
                <c:pt idx="1">
                  <c:v>0.96</c:v>
                </c:pt>
                <c:pt idx="2">
                  <c:v>0.865</c:v>
                </c:pt>
                <c:pt idx="3">
                  <c:v>1.205</c:v>
                </c:pt>
                <c:pt idx="4">
                  <c:v>1.215</c:v>
                </c:pt>
                <c:pt idx="5">
                  <c:v>1.165</c:v>
                </c:pt>
                <c:pt idx="6">
                  <c:v>1.285</c:v>
                </c:pt>
                <c:pt idx="7">
                  <c:v>1.59</c:v>
                </c:pt>
                <c:pt idx="8">
                  <c:v>1.545</c:v>
                </c:pt>
                <c:pt idx="9">
                  <c:v>1.82</c:v>
                </c:pt>
                <c:pt idx="10">
                  <c:v>1.75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2.5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0.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1"/>
            <c:invertIfNegative val="0"/>
            <c:spPr>
              <a:solidFill>
                <a:srgbClr val="E34948"/>
              </a:solidFill>
            </c:spPr>
          </c:dPt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8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44.095</c:v>
                </c:pt>
                <c:pt idx="1">
                  <c:v>43.305</c:v>
                </c:pt>
                <c:pt idx="2">
                  <c:v>45.675</c:v>
                </c:pt>
                <c:pt idx="3">
                  <c:v>45.967</c:v>
                </c:pt>
                <c:pt idx="4">
                  <c:v>44.069</c:v>
                </c:pt>
                <c:pt idx="5">
                  <c:v>44.226</c:v>
                </c:pt>
                <c:pt idx="6">
                  <c:v>45.882</c:v>
                </c:pt>
                <c:pt idx="7">
                  <c:v>48.477</c:v>
                </c:pt>
                <c:pt idx="8">
                  <c:v>43.803</c:v>
                </c:pt>
                <c:pt idx="9">
                  <c:v>45.705999999999996</c:v>
                </c:pt>
                <c:pt idx="10">
                  <c:v>46.199999999999996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7"/>
            <c:invertIfNegative val="0"/>
            <c:spPr>
              <a:solidFill>
                <a:srgbClr val="E34948"/>
              </a:solidFill>
            </c:spPr>
          </c:dPt>
          <c:dPt>
            <c:idx val="8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25.083</c:v>
                </c:pt>
                <c:pt idx="1">
                  <c:v>25.512</c:v>
                </c:pt>
                <c:pt idx="2">
                  <c:v>25.557</c:v>
                </c:pt>
                <c:pt idx="3">
                  <c:v>27.162</c:v>
                </c:pt>
                <c:pt idx="4">
                  <c:v>26.049</c:v>
                </c:pt>
                <c:pt idx="5">
                  <c:v>25.922</c:v>
                </c:pt>
                <c:pt idx="6">
                  <c:v>26.708</c:v>
                </c:pt>
                <c:pt idx="7">
                  <c:v>24.623</c:v>
                </c:pt>
                <c:pt idx="8">
                  <c:v>23.545</c:v>
                </c:pt>
                <c:pt idx="9">
                  <c:v>26.22</c:v>
                </c:pt>
                <c:pt idx="10">
                  <c:v>26.55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5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7"/>
            <c:invertIfNegative val="0"/>
            <c:spPr>
              <a:solidFill>
                <a:srgbClr val="E34948"/>
              </a:solidFill>
            </c:spPr>
          </c:dPt>
          <c:dPt>
            <c:idx val="8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4.545</c:v>
                </c:pt>
                <c:pt idx="1">
                  <c:v>4.55</c:v>
                </c:pt>
                <c:pt idx="2">
                  <c:v>4.75</c:v>
                </c:pt>
                <c:pt idx="3">
                  <c:v>4.885</c:v>
                </c:pt>
                <c:pt idx="4">
                  <c:v>4.83</c:v>
                </c:pt>
                <c:pt idx="5">
                  <c:v>4.995</c:v>
                </c:pt>
                <c:pt idx="6">
                  <c:v>5.33</c:v>
                </c:pt>
                <c:pt idx="7">
                  <c:v>5.11</c:v>
                </c:pt>
                <c:pt idx="8">
                  <c:v>4.98</c:v>
                </c:pt>
                <c:pt idx="9">
                  <c:v>5.11</c:v>
                </c:pt>
                <c:pt idx="10">
                  <c:v>5.2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7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3"/>
            <c:invertIfNegative val="0"/>
            <c:spPr>
              <a:solidFill>
                <a:srgbClr val="E34948"/>
              </a:solidFill>
            </c:spPr>
          </c:dPt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6"/>
            <c:invertIfNegative val="0"/>
            <c:spPr>
              <a:solidFill>
                <a:srgbClr val="E34948"/>
              </a:solidFill>
            </c:spPr>
          </c:dPt>
          <c:dPt>
            <c:idx val="7"/>
            <c:invertIfNegative val="0"/>
            <c:spPr>
              <a:solidFill>
                <a:srgbClr val="E34948"/>
              </a:solidFill>
            </c:spPr>
          </c:dPt>
          <c:dPt>
            <c:idx val="9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8.06</c:v>
                </c:pt>
                <c:pt idx="1">
                  <c:v>8.21</c:v>
                </c:pt>
                <c:pt idx="2">
                  <c:v>8.231</c:v>
                </c:pt>
                <c:pt idx="3">
                  <c:v>7.897</c:v>
                </c:pt>
                <c:pt idx="4">
                  <c:v>7.61</c:v>
                </c:pt>
                <c:pt idx="5">
                  <c:v>7.354</c:v>
                </c:pt>
                <c:pt idx="6">
                  <c:v>7.21</c:v>
                </c:pt>
                <c:pt idx="7">
                  <c:v>6.886</c:v>
                </c:pt>
                <c:pt idx="8">
                  <c:v>6.996</c:v>
                </c:pt>
                <c:pt idx="9">
                  <c:v>6.528</c:v>
                </c:pt>
                <c:pt idx="10">
                  <c:v>6.718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8"/>
            <c:invertIfNegative val="0"/>
            <c:spPr>
              <a:solidFill>
                <a:srgbClr val="E34948"/>
              </a:solidFill>
            </c:spPr>
          </c:dPt>
          <c:dPt>
            <c:idx val="9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20.855</c:v>
                </c:pt>
                <c:pt idx="1">
                  <c:v>21.625</c:v>
                </c:pt>
                <c:pt idx="2">
                  <c:v>22.42</c:v>
                </c:pt>
                <c:pt idx="3">
                  <c:v>23.2</c:v>
                </c:pt>
                <c:pt idx="4">
                  <c:v>22.994</c:v>
                </c:pt>
                <c:pt idx="5">
                  <c:v>22.28</c:v>
                </c:pt>
                <c:pt idx="6">
                  <c:v>22.34</c:v>
                </c:pt>
                <c:pt idx="7">
                  <c:v>22.45</c:v>
                </c:pt>
                <c:pt idx="8">
                  <c:v>22.16</c:v>
                </c:pt>
                <c:pt idx="9">
                  <c:v>21.97</c:v>
                </c:pt>
                <c:pt idx="10">
                  <c:v>22.28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5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8"/>
          <c:w val="0.83"/>
          <c:h val="0.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157.58833333333334</c:v>
                </c:pt>
                <c:pt idx="1">
                  <c:v>159.58333333333334</c:v>
                </c:pt>
                <c:pt idx="2">
                  <c:v>134.16583333333332</c:v>
                </c:pt>
                <c:pt idx="3">
                  <c:v>128.67583333333334</c:v>
                </c:pt>
                <c:pt idx="4">
                  <c:v>147.77583333333334</c:v>
                </c:pt>
                <c:pt idx="5">
                  <c:v>179.05666666666664</c:v>
                </c:pt>
                <c:pt idx="6">
                  <c:v>264.1475</c:v>
                </c:pt>
                <c:pt idx="7">
                  <c:v>212.00166666666667</c:v>
                </c:pt>
                <c:pt idx="8">
                  <c:v>227.5975</c:v>
                </c:pt>
                <c:pt idx="9">
                  <c:v>360.7616666666667</c:v>
                </c:pt>
                <c:pt idx="10">
                  <c:v>353.57272727272726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ln w="22225">
              <a:solidFill>
                <a:srgbClr val="EB6834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83.165</c:v>
                </c:pt>
                <c:pt idx="1">
                  <c:v>103.62083333333334</c:v>
                </c:pt>
                <c:pt idx="2">
                  <c:v>87.35083333333334</c:v>
                </c:pt>
                <c:pt idx="3">
                  <c:v>76.16166666666668</c:v>
                </c:pt>
                <c:pt idx="4">
                  <c:v>68.9675</c:v>
                </c:pt>
                <c:pt idx="5">
                  <c:v>80.28083333333333</c:v>
                </c:pt>
                <c:pt idx="6">
                  <c:v>106.89166666666667</c:v>
                </c:pt>
                <c:pt idx="7">
                  <c:v>111.71416666666666</c:v>
                </c:pt>
                <c:pt idx="8">
                  <c:v>175.03166666666667</c:v>
                </c:pt>
                <c:pt idx="9">
                  <c:v>225.6866666666667</c:v>
                </c:pt>
                <c:pt idx="10">
                  <c:v>185.04272727272726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0"/>
        <c:noMultiLvlLbl val="0"/>
      </c:catAx>
      <c:valAx>
        <c:axId val="2140495176"/>
        <c:scaling>
          <c:max val="4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3"/>
          <c:y val="0.06"/>
          <c:w val="0.83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</c:v>
                </c:pt>
              </c:strCache>
            </c:strRef>
          </c:tx>
          <c:spPr>
            <a:solidFill>
              <a:srgbClr val="4A3AA7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1"/>
            <c:invertIfNegative val="0"/>
            <c:spPr>
              <a:solidFill>
                <a:srgbClr val="E34948"/>
              </a:solidFill>
            </c:spPr>
          </c:dPt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6"/>
            <c:invertIfNegative val="0"/>
            <c:spPr>
              <a:solidFill>
                <a:srgbClr val="E34948"/>
              </a:solidFill>
            </c:spPr>
          </c:dPt>
          <c:dPt>
            <c:idx val="7"/>
            <c:invertIfNegative val="0"/>
            <c:spPr>
              <a:solidFill>
                <a:srgbClr val="E34948"/>
              </a:solidFill>
            </c:spPr>
          </c:dPt>
          <c:dPt>
            <c:idx val="8"/>
            <c:invertIfNegative val="0"/>
            <c:spPr>
              <a:solidFill>
                <a:srgbClr val="E34948"/>
              </a:solidFill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+10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−5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+5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15/16</c:v>
                </c:pt>
                <c:pt idx="1">
                  <c:v>16/17</c:v>
                </c:pt>
                <c:pt idx="2">
                  <c:v>17/18</c:v>
                </c:pt>
                <c:pt idx="3">
                  <c:v>18/19</c:v>
                </c:pt>
                <c:pt idx="4">
                  <c:v>19/20</c:v>
                </c:pt>
                <c:pt idx="5">
                  <c:v>20/21</c:v>
                </c:pt>
                <c:pt idx="6">
                  <c:v>21/22</c:v>
                </c:pt>
                <c:pt idx="7">
                  <c:v>22/23</c:v>
                </c:pt>
                <c:pt idx="8">
                  <c:v>23/24</c:v>
                </c:pt>
                <c:pt idx="9">
                  <c:v>24/25</c:v>
                </c:pt>
                <c:pt idx="10">
                  <c:v>25/26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2.32</c:v>
                </c:pt>
                <c:pt idx="1">
                  <c:v>2.205</c:v>
                </c:pt>
                <c:pt idx="2">
                  <c:v>2.3</c:v>
                </c:pt>
                <c:pt idx="3">
                  <c:v>2.34</c:v>
                </c:pt>
                <c:pt idx="4">
                  <c:v>2.04</c:v>
                </c:pt>
                <c:pt idx="5">
                  <c:v>2.24</c:v>
                </c:pt>
                <c:pt idx="6">
                  <c:v>2.09</c:v>
                </c:pt>
                <c:pt idx="7">
                  <c:v>2.05</c:v>
                </c:pt>
                <c:pt idx="8">
                  <c:v>1.95</c:v>
                </c:pt>
                <c:pt idx="9">
                  <c:v>2.05</c:v>
                </c:pt>
                <c:pt idx="10">
                  <c:v>2.05</c:v>
                </c:pt>
              </c:numCache>
            </c:numRef>
          </c:val>
        </c:ser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7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2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0.5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"/>
          <c:y val="0.03"/>
          <c:w val="0.74"/>
          <c:h val="0.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Elasticity</c:v>
                </c:pt>
              </c:strCache>
            </c:strRef>
          </c:tx>
          <c:spPr>
            <a:solidFill>
              <a:srgbClr val="B5B3AC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B5B3AC"/>
              </a:solidFill>
            </c:spPr>
          </c:dPt>
          <c:dPt>
            <c:idx val="1"/>
            <c:invertIfNegative val="0"/>
            <c:spPr>
              <a:solidFill>
                <a:srgbClr val="E34948"/>
              </a:solidFill>
            </c:spPr>
          </c:dPt>
          <c:dPt>
            <c:idx val="2"/>
            <c:invertIfNegative val="0"/>
            <c:spPr>
              <a:solidFill>
                <a:srgbClr val="E34948"/>
              </a:solidFill>
            </c:spPr>
          </c:dPt>
          <c:dPt>
            <c:idx val="3"/>
            <c:invertIfNegative val="0"/>
            <c:spPr>
              <a:solidFill>
                <a:srgbClr val="B5B3AC"/>
              </a:solidFill>
            </c:spPr>
          </c:dPt>
          <c:dPt>
            <c:idx val="4"/>
            <c:invertIfNegative val="0"/>
            <c:spPr>
              <a:solidFill>
                <a:srgbClr val="B5B3AC"/>
              </a:solidFill>
            </c:spPr>
          </c:dPt>
          <c:dPt>
            <c:idx val="5"/>
            <c:invertIfNegative val="0"/>
            <c:spPr>
              <a:solidFill>
                <a:srgbClr val="B5B3AC"/>
              </a:solidFill>
            </c:spPr>
          </c:dPt>
          <c:dPt>
            <c:idx val="6"/>
            <c:invertIfNegative val="0"/>
            <c:spPr>
              <a:solidFill>
                <a:srgbClr val="B5B3AC"/>
              </a:solidFill>
            </c:spPr>
          </c:dPt>
          <c:dPt>
            <c:idx val="7"/>
            <c:invertIfNegative val="0"/>
            <c:spPr>
              <a:solidFill>
                <a:srgbClr val="B5B3AC"/>
              </a:solidFill>
            </c:spPr>
          </c:dPt>
          <c:dPt>
            <c:idx val="8"/>
            <c:invertIfNegative val="0"/>
            <c:spPr>
              <a:solidFill>
                <a:srgbClr val="B5B3AC"/>
              </a:solidFill>
            </c:spPr>
          </c:dPt>
          <c:dPt>
            <c:idx val="9"/>
            <c:invertIfNegative val="0"/>
            <c:spPr>
              <a:solidFill>
                <a:srgbClr val="B5B3AC"/>
              </a:solidFill>
            </c:spPr>
          </c:dPt>
          <c:dPt>
            <c:idx val="10"/>
            <c:invertIfNegative val="0"/>
            <c:spPr>
              <a:solidFill>
                <a:srgbClr val="B5B3AC"/>
              </a:solidFill>
            </c:spPr>
          </c:dPt>
          <c:dPt>
            <c:idx val="11"/>
            <c:invertIfNegative val="0"/>
            <c:spPr>
              <a:solidFill>
                <a:srgbClr val="B5B3AC"/>
              </a:solidFill>
            </c:spPr>
          </c:dPt>
          <c:dPt>
            <c:idx val="12"/>
            <c:invertIfNegative val="0"/>
            <c:spPr>
              <a:solidFill>
                <a:srgbClr val="B5B3AC"/>
              </a:solidFill>
            </c:spPr>
          </c:dPt>
          <c:dPt>
            <c:idx val="13"/>
            <c:invertIfNegative val="0"/>
            <c:spPr>
              <a:solidFill>
                <a:srgbClr val="B5B3AC"/>
              </a:solidFill>
            </c:spPr>
          </c:dPt>
          <c:dPt>
            <c:idx val="14"/>
            <c:invertIfNegative val="0"/>
            <c:spPr>
              <a:solidFill>
                <a:srgbClr val="B5B3AC"/>
              </a:solidFill>
            </c:spPr>
          </c:dPt>
          <c:dPt>
            <c:idx val="15"/>
            <c:invertIfNegative val="0"/>
            <c:spPr>
              <a:solidFill>
                <a:srgbClr val="B5B3A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−0.76 (±1.11)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−0.43 (±0.29)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−0.11 (±0.10)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−0.11 (±0.30)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−0.05 (±0.31)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−0.02 (±0.52)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−0.01 (±0.07)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0.00 (±0.18)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0.00 (±0.28)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+0.03 (±0.34)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+0.04 (±0.36)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+0.05 (±0.13)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+0.05 (±0.14)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+0.09 (±0.30)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+0.10 (±0.17)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1F1E1C"/>
                        </a:solidFill>
                        <a:latin typeface="Calibri"/>
                      </a:rPr>
                      <a:t>+0.20 (±0.25)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Sheet1!$A$2:$A$17</c:f>
              <c:strCache>
                <c:ptCount val="16"/>
                <c:pt idx="0">
                  <c:v>China</c:v>
                </c:pt>
                <c:pt idx="1">
                  <c:v>Indonesia</c:v>
                </c:pt>
                <c:pt idx="2">
                  <c:v>Japan</c:v>
                </c:pt>
                <c:pt idx="3">
                  <c:v>Colombia</c:v>
                </c:pt>
                <c:pt idx="4">
                  <c:v>Russia</c:v>
                </c:pt>
                <c:pt idx="5">
                  <c:v>Philippines</c:v>
                </c:pt>
                <c:pt idx="6">
                  <c:v>Brazil</c:v>
                </c:pt>
                <c:pt idx="7">
                  <c:v>South Korea</c:v>
                </c:pt>
                <c:pt idx="8">
                  <c:v>EU-27 + UK</c:v>
                </c:pt>
                <c:pt idx="9">
                  <c:v>Algeria</c:v>
                </c:pt>
                <c:pt idx="10">
                  <c:v>Mexico</c:v>
                </c:pt>
                <c:pt idx="11">
                  <c:v>Canada</c:v>
                </c:pt>
                <c:pt idx="12">
                  <c:v>United States</c:v>
                </c:pt>
                <c:pt idx="13">
                  <c:v>Vietnam</c:v>
                </c:pt>
                <c:pt idx="14">
                  <c:v>Ethiopia</c:v>
                </c:pt>
                <c:pt idx="15">
                  <c:v>Australia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-0.7617706861161954</c:v>
                </c:pt>
                <c:pt idx="1">
                  <c:v>-0.43176819477666856</c:v>
                </c:pt>
                <c:pt idx="2">
                  <c:v>-0.11365139168753058</c:v>
                </c:pt>
                <c:pt idx="3">
                  <c:v>-0.1056701399594506</c:v>
                </c:pt>
                <c:pt idx="4">
                  <c:v>-0.04541172990036081</c:v>
                </c:pt>
                <c:pt idx="5">
                  <c:v>-0.02399229021994248</c:v>
                </c:pt>
                <c:pt idx="6">
                  <c:v>-0.013156008198234289</c:v>
                </c:pt>
                <c:pt idx="7">
                  <c:v>-0.0022031498076278966</c:v>
                </c:pt>
                <c:pt idx="8">
                  <c:v>-0.00012777900024716488</c:v>
                </c:pt>
                <c:pt idx="9">
                  <c:v>0.026935318074870596</c:v>
                </c:pt>
                <c:pt idx="10">
                  <c:v>0.04164706314273256</c:v>
                </c:pt>
                <c:pt idx="11">
                  <c:v>0.04761817891222624</c:v>
                </c:pt>
                <c:pt idx="12">
                  <c:v>0.05275515877593501</c:v>
                </c:pt>
                <c:pt idx="13">
                  <c:v>0.0869938432595778</c:v>
                </c:pt>
                <c:pt idx="14">
                  <c:v>0.10302304843374531</c:v>
                </c:pt>
                <c:pt idx="15">
                  <c:v>0.20147616070668434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  <c:min val="-1.2"/>
        </c:scaling>
        <c:delete val="0"/>
        <c:axPos val="b"/>
        <c:majorGridlines>
          <c:spPr>
            <a:ln w="9525">
              <a:solidFill>
                <a:srgbClr val="E1E0D9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0.2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9"/>
          <c:y val="0.12"/>
          <c:w val="0.88"/>
          <c:h val="0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coffee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6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1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217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138.38411022126536</c:v>
                </c:pt>
                <c:pt idx="1">
                  <c:v>191.50186991341792</c:v>
                </c:pt>
                <c:pt idx="2">
                  <c:v>141.98690287276858</c:v>
                </c:pt>
                <c:pt idx="3">
                  <c:v>112.6023503063936</c:v>
                </c:pt>
                <c:pt idx="4">
                  <c:v>148.83412677054045</c:v>
                </c:pt>
                <c:pt idx="5">
                  <c:v>121.71388623378714</c:v>
                </c:pt>
                <c:pt idx="6">
                  <c:v>124.12049109587136</c:v>
                </c:pt>
                <c:pt idx="7">
                  <c:v>121.41599928234919</c:v>
                </c:pt>
                <c:pt idx="8">
                  <c:v>105.36413045159416</c:v>
                </c:pt>
                <c:pt idx="9">
                  <c:v>100.0</c:v>
                </c:pt>
                <c:pt idx="10">
                  <c:v>109.50562520686596</c:v>
                </c:pt>
                <c:pt idx="11">
                  <c:v>147.3148414517581</c:v>
                </c:pt>
                <c:pt idx="12">
                  <c:v>180.70973190174374</c:v>
                </c:pt>
                <c:pt idx="13">
                  <c:v>158.89809667869972</c:v>
                </c:pt>
                <c:pt idx="14">
                  <c:v>216.74956770818835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 retail (CPI coffee)</c:v>
                </c:pt>
              </c:strCache>
            </c:strRef>
          </c:tx>
          <c:spPr>
            <a:ln w="28575">
              <a:solidFill>
                <a:srgbClr val="4A3AA7"/>
              </a:solidFill>
            </a:ln>
          </c:spPr>
          <c:marker>
            <c:symbol val="circle"/>
            <c:size val="6"/>
            <c:spPr>
              <a:solidFill>
                <a:srgbClr val="4A3AA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1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122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96.47117270502027</c:v>
                </c:pt>
                <c:pt idx="1">
                  <c:v>110.65375678570875</c:v>
                </c:pt>
                <c:pt idx="2">
                  <c:v>112.52555152481149</c:v>
                </c:pt>
                <c:pt idx="3">
                  <c:v>105.93830374100197</c:v>
                </c:pt>
                <c:pt idx="4">
                  <c:v>104.00906658662679</c:v>
                </c:pt>
                <c:pt idx="5">
                  <c:v>106.36679310898016</c:v>
                </c:pt>
                <c:pt idx="6">
                  <c:v>103.14122036669995</c:v>
                </c:pt>
                <c:pt idx="7">
                  <c:v>103.06307798195998</c:v>
                </c:pt>
                <c:pt idx="8">
                  <c:v>100.84818124893266</c:v>
                </c:pt>
                <c:pt idx="9">
                  <c:v>100.0</c:v>
                </c:pt>
                <c:pt idx="10">
                  <c:v>100.48644928248731</c:v>
                </c:pt>
                <c:pt idx="11">
                  <c:v>103.11845040028567</c:v>
                </c:pt>
                <c:pt idx="12">
                  <c:v>117.93134855126088</c:v>
                </c:pt>
                <c:pt idx="13">
                  <c:v>122.77410640819306</c:v>
                </c:pt>
                <c:pt idx="14">
                  <c:v>121.69460300046057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30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5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4"/>
          <c:y val="0.12"/>
          <c:w val="0.82"/>
          <c:h val="0.7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Brazil ground coffee (IPCA)</c:v>
                </c:pt>
              </c:strCache>
            </c:strRef>
          </c:tx>
          <c:spPr>
            <a:ln w="25400">
              <a:solidFill>
                <a:srgbClr val="E34948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309 (2025-06)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52514E"/>
                        </a:solidFill>
                        <a:latin typeface="Calibri"/>
                      </a:rPr>
                      <a:t>249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Sheet1!$A$2:$A$27</c:f>
              <c:numCache>
                <c:formatCode>General</c:formatCode>
                <c:ptCount val="26"/>
                <c:pt idx="0">
                  <c:v>2019.9166666666667</c:v>
                </c:pt>
                <c:pt idx="1">
                  <c:v>2020.9166666666667</c:v>
                </c:pt>
                <c:pt idx="2">
                  <c:v>2021.9166666666667</c:v>
                </c:pt>
                <c:pt idx="3">
                  <c:v>2022.9166666666667</c:v>
                </c:pt>
                <c:pt idx="4">
                  <c:v>2023.9166666666667</c:v>
                </c:pt>
                <c:pt idx="5">
                  <c:v>2024.9166666666667</c:v>
                </c:pt>
                <c:pt idx="6">
                  <c:v>2025.0</c:v>
                </c:pt>
                <c:pt idx="7">
                  <c:v>2025.0833333333333</c:v>
                </c:pt>
                <c:pt idx="8">
                  <c:v>2025.1666666666667</c:v>
                </c:pt>
                <c:pt idx="9">
                  <c:v>2025.25</c:v>
                </c:pt>
                <c:pt idx="10">
                  <c:v>2025.3333333333333</c:v>
                </c:pt>
                <c:pt idx="11">
                  <c:v>2025.4166666666667</c:v>
                </c:pt>
                <c:pt idx="12">
                  <c:v>2025.5</c:v>
                </c:pt>
                <c:pt idx="13">
                  <c:v>2025.5833333333333</c:v>
                </c:pt>
                <c:pt idx="14">
                  <c:v>2025.6666666666667</c:v>
                </c:pt>
                <c:pt idx="15">
                  <c:v>2025.75</c:v>
                </c:pt>
                <c:pt idx="16">
                  <c:v>2025.8333333333333</c:v>
                </c:pt>
                <c:pt idx="17">
                  <c:v>2025.9166666666667</c:v>
                </c:pt>
                <c:pt idx="18">
                  <c:v>2026.0</c:v>
                </c:pt>
                <c:pt idx="19">
                  <c:v>2026.0833333333333</c:v>
                </c:pt>
                <c:pt idx="20">
                  <c:v>2026.1666666666667</c:v>
                </c:pt>
                <c:pt idx="21">
                  <c:v>2026.25</c:v>
                </c:pt>
                <c:pt idx="22">
                  <c:v>2026.3333333333333</c:v>
                </c:pt>
                <c:pt idx="23">
                  <c:v>2026.4166666666667</c:v>
                </c:pt>
                <c:pt idx="24">
                  <c:v>2026.5</c:v>
                </c:pt>
                <c:pt idx="25">
                  <c:v>2026.5833333333333</c:v>
                </c:pt>
              </c:numCache>
            </c:numRef>
          </c:xVal>
          <c:yVal>
            <c:numRef>
              <c:f>Sheet1!$B$2:$B$27</c:f>
              <c:numCache>
                <c:formatCode>General</c:formatCode>
                <c:ptCount val="26"/>
                <c:pt idx="0">
                  <c:v>92.84</c:v>
                </c:pt>
                <c:pt idx="1">
                  <c:v>100.0</c:v>
                </c:pt>
                <c:pt idx="2">
                  <c:v>150.24</c:v>
                </c:pt>
                <c:pt idx="3">
                  <c:v>170.56</c:v>
                </c:pt>
                <c:pt idx="4">
                  <c:v>155.1</c:v>
                </c:pt>
                <c:pt idx="5">
                  <c:v>216.51</c:v>
                </c:pt>
                <c:pt idx="6">
                  <c:v>235.04</c:v>
                </c:pt>
                <c:pt idx="7">
                  <c:v>260.36</c:v>
                </c:pt>
                <c:pt idx="8">
                  <c:v>281.55</c:v>
                </c:pt>
                <c:pt idx="9">
                  <c:v>294.16</c:v>
                </c:pt>
                <c:pt idx="10">
                  <c:v>307.66</c:v>
                </c:pt>
                <c:pt idx="11">
                  <c:v>309.39</c:v>
                </c:pt>
                <c:pt idx="12">
                  <c:v>306.26</c:v>
                </c:pt>
                <c:pt idx="13">
                  <c:v>299.62</c:v>
                </c:pt>
                <c:pt idx="14">
                  <c:v>299.44</c:v>
                </c:pt>
                <c:pt idx="15">
                  <c:v>298.51</c:v>
                </c:pt>
                <c:pt idx="16">
                  <c:v>294.45</c:v>
                </c:pt>
                <c:pt idx="17">
                  <c:v>293.68</c:v>
                </c:pt>
                <c:pt idx="18">
                  <c:v>290.22</c:v>
                </c:pt>
                <c:pt idx="19">
                  <c:v>286.73</c:v>
                </c:pt>
                <c:pt idx="20">
                  <c:v>283.06</c:v>
                </c:pt>
                <c:pt idx="21">
                  <c:v>276.55</c:v>
                </c:pt>
                <c:pt idx="22">
                  <c:v>269.97</c:v>
                </c:pt>
                <c:pt idx="23">
                  <c:v>259.93</c:v>
                </c:pt>
                <c:pt idx="24">
                  <c:v>253.56</c:v>
                </c:pt>
                <c:pt idx="25">
                  <c:v>248.84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27.0"/>
          <c:min val="2019.5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350.0"/>
          <c:min val="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5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7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 price inflation</c:v>
                </c:pt>
              </c:strCache>
            </c:strRef>
          </c:tx>
          <c:spPr>
            <a:solidFill>
              <a:srgbClr val="E34948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E34948"/>
              </a:solidFill>
            </c:spPr>
          </c:dPt>
          <c:dPt>
            <c:idx val="1"/>
            <c:invertIfNegative val="0"/>
            <c:spPr>
              <a:solidFill>
                <a:srgbClr val="E34948"/>
              </a:solidFill>
            </c:spPr>
          </c:dPt>
          <c:dPt>
            <c:idx val="2"/>
            <c:invertIfNegative val="0"/>
            <c:spPr>
              <a:solidFill>
                <a:srgbClr val="E34948"/>
              </a:solidFill>
            </c:spPr>
          </c:dPt>
          <c:dPt>
            <c:idx val="3"/>
            <c:invertIfNegative val="0"/>
            <c:spPr>
              <a:solidFill>
                <a:srgbClr val="B5B3AC"/>
              </a:solidFill>
            </c:spPr>
          </c:dPt>
          <c:dPt>
            <c:idx val="4"/>
            <c:invertIfNegative val="0"/>
            <c:spPr>
              <a:solidFill>
                <a:srgbClr val="E34948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6"/>
            <c:invertIfNegative val="0"/>
            <c:spPr>
              <a:solidFill>
                <a:srgbClr val="B5B3A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+50%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+14%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−9%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+40%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+36%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−15%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YTD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7.71</c:v>
                </c:pt>
                <c:pt idx="1">
                  <c:v>50.24</c:v>
                </c:pt>
                <c:pt idx="2">
                  <c:v>13.52</c:v>
                </c:pt>
                <c:pt idx="3">
                  <c:v>-9.07</c:v>
                </c:pt>
                <c:pt idx="4">
                  <c:v>39.6</c:v>
                </c:pt>
                <c:pt idx="5">
                  <c:v>35.64</c:v>
                </c:pt>
                <c:pt idx="6">
                  <c:v>-15.27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-2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20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08"/>
          <c:w val="0.87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 y/y</c:v>
                </c:pt>
              </c:strCache>
            </c:strRef>
          </c:tx>
          <c:spPr>
            <a:solidFill>
              <a:srgbClr val="EDA100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EDA100"/>
              </a:solidFill>
            </c:spPr>
          </c:dPt>
          <c:dPt>
            <c:idx val="1"/>
            <c:invertIfNegative val="0"/>
            <c:spPr>
              <a:solidFill>
                <a:srgbClr val="EDA100"/>
              </a:solidFill>
            </c:spPr>
          </c:dPt>
          <c:dPt>
            <c:idx val="2"/>
            <c:invertIfNegative val="0"/>
            <c:spPr>
              <a:solidFill>
                <a:srgbClr val="E34948"/>
              </a:solidFill>
            </c:spPr>
          </c:dPt>
          <c:dPt>
            <c:idx val="3"/>
            <c:invertIfNegative val="0"/>
            <c:spPr>
              <a:solidFill>
                <a:srgbClr val="EDA100"/>
              </a:solidFill>
            </c:spPr>
          </c:dPt>
          <c:dPt>
            <c:idx val="4"/>
            <c:invertIfNegative val="0"/>
            <c:spPr>
              <a:solidFill>
                <a:srgbClr val="EDA100"/>
              </a:solidFill>
            </c:spPr>
          </c:dPt>
          <c:dPt>
            <c:idx val="5"/>
            <c:invertIfNegative val="0"/>
            <c:spPr>
              <a:solidFill>
                <a:srgbClr val="E34948"/>
              </a:solidFill>
            </c:spPr>
          </c:dPt>
          <c:dPt>
            <c:idx val="6"/>
            <c:invertIfNegative val="0"/>
            <c:spPr>
              <a:solidFill>
                <a:srgbClr val="EDA100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+1.7%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−1.0%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+1.6%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+1.1%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−2.3%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+2.3%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 YTD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1.34</c:v>
                </c:pt>
                <c:pt idx="1">
                  <c:v>1.71</c:v>
                </c:pt>
                <c:pt idx="2">
                  <c:v>-1.01</c:v>
                </c:pt>
                <c:pt idx="3">
                  <c:v>1.64</c:v>
                </c:pt>
                <c:pt idx="4">
                  <c:v>1.11</c:v>
                </c:pt>
                <c:pt idx="5">
                  <c:v>-2.31</c:v>
                </c:pt>
                <c:pt idx="6">
                  <c:v>2.29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-3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1.0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"/>
          <c:w val="0.91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Robusta share (12m)</c:v>
                </c:pt>
              </c:strCache>
            </c:strRef>
          </c:tx>
          <c:spPr>
            <a:ln w="25400">
              <a:solidFill>
                <a:srgbClr val="EB6834"/>
              </a:solidFill>
            </a:ln>
          </c:spPr>
          <c:marker>
            <c:symbol val="none"/>
          </c:marker>
          <c:dLbls>
            <c:dLbl>
              <c:idx val="3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35.4%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43.3%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Sheet1!$A$2:$A$118</c:f>
              <c:strCache>
                <c:ptCount val="117"/>
                <c:pt idx="0">
                  <c:v>2016</c:v>
                </c:pt>
                <c:pt idx="1">
                  <c:v>2016</c:v>
                </c:pt>
                <c:pt idx="2">
                  <c:v>2016</c:v>
                </c:pt>
                <c:pt idx="3">
                  <c:v>2016</c:v>
                </c:pt>
                <c:pt idx="4">
                  <c:v>2016</c:v>
                </c:pt>
                <c:pt idx="5">
                  <c:v>2017</c:v>
                </c:pt>
                <c:pt idx="6">
                  <c:v>2017</c:v>
                </c:pt>
                <c:pt idx="7">
                  <c:v>2017</c:v>
                </c:pt>
                <c:pt idx="8">
                  <c:v>2017</c:v>
                </c:pt>
                <c:pt idx="9">
                  <c:v>2017</c:v>
                </c:pt>
                <c:pt idx="10">
                  <c:v>2017</c:v>
                </c:pt>
                <c:pt idx="11">
                  <c:v>2017</c:v>
                </c:pt>
                <c:pt idx="12">
                  <c:v>2017</c:v>
                </c:pt>
                <c:pt idx="13">
                  <c:v>2017</c:v>
                </c:pt>
                <c:pt idx="14">
                  <c:v>2017</c:v>
                </c:pt>
                <c:pt idx="15">
                  <c:v>2017</c:v>
                </c:pt>
                <c:pt idx="16">
                  <c:v>2018</c:v>
                </c:pt>
                <c:pt idx="17">
                  <c:v>2018</c:v>
                </c:pt>
                <c:pt idx="18">
                  <c:v>2018</c:v>
                </c:pt>
                <c:pt idx="19">
                  <c:v>2018</c:v>
                </c:pt>
                <c:pt idx="20">
                  <c:v>2018</c:v>
                </c:pt>
                <c:pt idx="21">
                  <c:v>2018</c:v>
                </c:pt>
                <c:pt idx="22">
                  <c:v>2018</c:v>
                </c:pt>
                <c:pt idx="23">
                  <c:v>2018</c:v>
                </c:pt>
                <c:pt idx="24">
                  <c:v>2018</c:v>
                </c:pt>
                <c:pt idx="25">
                  <c:v>2018</c:v>
                </c:pt>
                <c:pt idx="26">
                  <c:v>2018</c:v>
                </c:pt>
                <c:pt idx="27">
                  <c:v>2018</c:v>
                </c:pt>
                <c:pt idx="28">
                  <c:v>2019</c:v>
                </c:pt>
                <c:pt idx="29">
                  <c:v>2019</c:v>
                </c:pt>
                <c:pt idx="30">
                  <c:v>2019</c:v>
                </c:pt>
                <c:pt idx="31">
                  <c:v>2019</c:v>
                </c:pt>
                <c:pt idx="32">
                  <c:v>2019</c:v>
                </c:pt>
                <c:pt idx="33">
                  <c:v>2019</c:v>
                </c:pt>
                <c:pt idx="34">
                  <c:v>2019</c:v>
                </c:pt>
                <c:pt idx="35">
                  <c:v>2019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2020</c:v>
                </c:pt>
                <c:pt idx="45">
                  <c:v>2020</c:v>
                </c:pt>
                <c:pt idx="46">
                  <c:v>2020</c:v>
                </c:pt>
                <c:pt idx="47">
                  <c:v>2020</c:v>
                </c:pt>
                <c:pt idx="48">
                  <c:v>2020</c:v>
                </c:pt>
                <c:pt idx="49">
                  <c:v>2020</c:v>
                </c:pt>
                <c:pt idx="50">
                  <c:v>2020</c:v>
                </c:pt>
                <c:pt idx="51">
                  <c:v>2020</c:v>
                </c:pt>
                <c:pt idx="52">
                  <c:v>2021</c:v>
                </c:pt>
                <c:pt idx="53">
                  <c:v>2021</c:v>
                </c:pt>
                <c:pt idx="54">
                  <c:v>2021</c:v>
                </c:pt>
                <c:pt idx="55">
                  <c:v>2021</c:v>
                </c:pt>
                <c:pt idx="56">
                  <c:v>2021</c:v>
                </c:pt>
                <c:pt idx="57">
                  <c:v>2021</c:v>
                </c:pt>
                <c:pt idx="58">
                  <c:v>2021</c:v>
                </c:pt>
                <c:pt idx="59">
                  <c:v>2021</c:v>
                </c:pt>
                <c:pt idx="60">
                  <c:v>2021</c:v>
                </c:pt>
                <c:pt idx="61">
                  <c:v>2021</c:v>
                </c:pt>
                <c:pt idx="62">
                  <c:v>2021</c:v>
                </c:pt>
                <c:pt idx="63">
                  <c:v>2021</c:v>
                </c:pt>
                <c:pt idx="64">
                  <c:v>2022</c:v>
                </c:pt>
                <c:pt idx="65">
                  <c:v>2022</c:v>
                </c:pt>
                <c:pt idx="66">
                  <c:v>2022</c:v>
                </c:pt>
                <c:pt idx="67">
                  <c:v>2022</c:v>
                </c:pt>
                <c:pt idx="68">
                  <c:v>2022</c:v>
                </c:pt>
                <c:pt idx="69">
                  <c:v>2022</c:v>
                </c:pt>
                <c:pt idx="70">
                  <c:v>2022</c:v>
                </c:pt>
                <c:pt idx="71">
                  <c:v>2022</c:v>
                </c:pt>
                <c:pt idx="72">
                  <c:v>2022</c:v>
                </c:pt>
                <c:pt idx="73">
                  <c:v>2022</c:v>
                </c:pt>
                <c:pt idx="74">
                  <c:v>2022</c:v>
                </c:pt>
                <c:pt idx="75">
                  <c:v>2022</c:v>
                </c:pt>
                <c:pt idx="76">
                  <c:v>2023</c:v>
                </c:pt>
                <c:pt idx="77">
                  <c:v>2023</c:v>
                </c:pt>
                <c:pt idx="78">
                  <c:v>2023</c:v>
                </c:pt>
                <c:pt idx="79">
                  <c:v>2023</c:v>
                </c:pt>
                <c:pt idx="80">
                  <c:v>2023</c:v>
                </c:pt>
                <c:pt idx="81">
                  <c:v>2023</c:v>
                </c:pt>
                <c:pt idx="82">
                  <c:v>2023</c:v>
                </c:pt>
                <c:pt idx="83">
                  <c:v>2023</c:v>
                </c:pt>
                <c:pt idx="84">
                  <c:v>2023</c:v>
                </c:pt>
                <c:pt idx="85">
                  <c:v>2023</c:v>
                </c:pt>
                <c:pt idx="86">
                  <c:v>2023</c:v>
                </c:pt>
                <c:pt idx="87">
                  <c:v>2023</c:v>
                </c:pt>
                <c:pt idx="88">
                  <c:v>2024</c:v>
                </c:pt>
                <c:pt idx="89">
                  <c:v>2024</c:v>
                </c:pt>
                <c:pt idx="90">
                  <c:v>2024</c:v>
                </c:pt>
                <c:pt idx="91">
                  <c:v>2024</c:v>
                </c:pt>
                <c:pt idx="92">
                  <c:v>2024</c:v>
                </c:pt>
                <c:pt idx="93">
                  <c:v>2024</c:v>
                </c:pt>
                <c:pt idx="94">
                  <c:v>2024</c:v>
                </c:pt>
                <c:pt idx="95">
                  <c:v>2024</c:v>
                </c:pt>
                <c:pt idx="96">
                  <c:v>2024</c:v>
                </c:pt>
                <c:pt idx="97">
                  <c:v>2024</c:v>
                </c:pt>
                <c:pt idx="98">
                  <c:v>2024</c:v>
                </c:pt>
                <c:pt idx="99">
                  <c:v>2024</c:v>
                </c:pt>
                <c:pt idx="100">
                  <c:v>2025</c:v>
                </c:pt>
                <c:pt idx="101">
                  <c:v>2025</c:v>
                </c:pt>
                <c:pt idx="102">
                  <c:v>2025</c:v>
                </c:pt>
                <c:pt idx="103">
                  <c:v>2025</c:v>
                </c:pt>
                <c:pt idx="104">
                  <c:v>2025</c:v>
                </c:pt>
                <c:pt idx="105">
                  <c:v>2025</c:v>
                </c:pt>
                <c:pt idx="106">
                  <c:v>2025</c:v>
                </c:pt>
                <c:pt idx="107">
                  <c:v>2025</c:v>
                </c:pt>
                <c:pt idx="108">
                  <c:v>2025</c:v>
                </c:pt>
                <c:pt idx="109">
                  <c:v>2025</c:v>
                </c:pt>
                <c:pt idx="110">
                  <c:v>2025</c:v>
                </c:pt>
                <c:pt idx="111">
                  <c:v>2025</c:v>
                </c:pt>
                <c:pt idx="112">
                  <c:v>2026</c:v>
                </c:pt>
                <c:pt idx="113">
                  <c:v>2026</c:v>
                </c:pt>
                <c:pt idx="114">
                  <c:v>2026</c:v>
                </c:pt>
                <c:pt idx="115">
                  <c:v>2026</c:v>
                </c:pt>
                <c:pt idx="116">
                  <c:v>2026</c:v>
                </c:pt>
              </c:strCache>
            </c:strRef>
          </c:cat>
          <c:val>
            <c:numRef>
              <c:f>Sheet1!$B$2:$B$118</c:f>
              <c:numCache>
                <c:formatCode>General</c:formatCode>
                <c:ptCount val="117"/>
                <c:pt idx="0">
                  <c:v>36.20533301578287</c:v>
                </c:pt>
                <c:pt idx="1">
                  <c:v>36.35714808579167</c:v>
                </c:pt>
                <c:pt idx="2">
                  <c:v>36.06962452358809</c:v>
                </c:pt>
                <c:pt idx="3">
                  <c:v>36.39832949308756</c:v>
                </c:pt>
                <c:pt idx="4">
                  <c:v>36.38434125559337</c:v>
                </c:pt>
                <c:pt idx="5">
                  <c:v>36.22070970257719</c:v>
                </c:pt>
                <c:pt idx="6">
                  <c:v>36.47601736491018</c:v>
                </c:pt>
                <c:pt idx="7">
                  <c:v>36.49880349099099</c:v>
                </c:pt>
                <c:pt idx="8">
                  <c:v>36.76367276686923</c:v>
                </c:pt>
                <c:pt idx="9">
                  <c:v>36.784247821341324</c:v>
                </c:pt>
                <c:pt idx="10">
                  <c:v>36.84291607469917</c:v>
                </c:pt>
                <c:pt idx="11">
                  <c:v>36.80323441034471</c:v>
                </c:pt>
                <c:pt idx="12">
                  <c:v>36.87463635520402</c:v>
                </c:pt>
                <c:pt idx="13">
                  <c:v>36.51401972172527</c:v>
                </c:pt>
                <c:pt idx="14">
                  <c:v>36.68395544596548</c:v>
                </c:pt>
                <c:pt idx="15">
                  <c:v>36.76148611522042</c:v>
                </c:pt>
                <c:pt idx="16">
                  <c:v>37.22290769605251</c:v>
                </c:pt>
                <c:pt idx="17">
                  <c:v>37.26180891035963</c:v>
                </c:pt>
                <c:pt idx="18">
                  <c:v>37.68448344635022</c:v>
                </c:pt>
                <c:pt idx="19">
                  <c:v>37.72173666240932</c:v>
                </c:pt>
                <c:pt idx="20">
                  <c:v>37.661783530081074</c:v>
                </c:pt>
                <c:pt idx="21">
                  <c:v>37.78326322594729</c:v>
                </c:pt>
                <c:pt idx="22">
                  <c:v>37.97283985956877</c:v>
                </c:pt>
                <c:pt idx="23">
                  <c:v>37.95913625122409</c:v>
                </c:pt>
                <c:pt idx="24">
                  <c:v>37.91658684081197</c:v>
                </c:pt>
                <c:pt idx="25">
                  <c:v>37.91875138184885</c:v>
                </c:pt>
                <c:pt idx="26">
                  <c:v>37.70007467290023</c:v>
                </c:pt>
                <c:pt idx="27">
                  <c:v>37.2420072022566</c:v>
                </c:pt>
                <c:pt idx="28">
                  <c:v>37.18004972941348</c:v>
                </c:pt>
                <c:pt idx="29">
                  <c:v>36.81354777488504</c:v>
                </c:pt>
                <c:pt idx="30">
                  <c:v>36.529521341216494</c:v>
                </c:pt>
                <c:pt idx="31">
                  <c:v>36.34604375136068</c:v>
                </c:pt>
                <c:pt idx="32">
                  <c:v>35.99350983418418</c:v>
                </c:pt>
                <c:pt idx="33">
                  <c:v>35.789415586463555</c:v>
                </c:pt>
                <c:pt idx="34">
                  <c:v>35.84151302894714</c:v>
                </c:pt>
                <c:pt idx="35">
                  <c:v>35.82848666085851</c:v>
                </c:pt>
                <c:pt idx="36">
                  <c:v>35.631949082622874</c:v>
                </c:pt>
                <c:pt idx="37">
                  <c:v>35.404640363850326</c:v>
                </c:pt>
                <c:pt idx="38">
                  <c:v>35.80078281012861</c:v>
                </c:pt>
                <c:pt idx="39">
                  <c:v>36.533602021559034</c:v>
                </c:pt>
                <c:pt idx="40">
                  <c:v>36.22297498451116</c:v>
                </c:pt>
                <c:pt idx="41">
                  <c:v>37.05282994761722</c:v>
                </c:pt>
                <c:pt idx="42">
                  <c:v>37.17918023367171</c:v>
                </c:pt>
                <c:pt idx="43">
                  <c:v>37.380978962981864</c:v>
                </c:pt>
                <c:pt idx="44">
                  <c:v>37.72085089949474</c:v>
                </c:pt>
                <c:pt idx="45">
                  <c:v>38.063266623628145</c:v>
                </c:pt>
                <c:pt idx="46">
                  <c:v>37.854336461343635</c:v>
                </c:pt>
                <c:pt idx="47">
                  <c:v>37.80785770132916</c:v>
                </c:pt>
                <c:pt idx="48">
                  <c:v>38.333023346083245</c:v>
                </c:pt>
                <c:pt idx="49">
                  <c:v>38.514458392940384</c:v>
                </c:pt>
                <c:pt idx="50">
                  <c:v>38.07417814889914</c:v>
                </c:pt>
                <c:pt idx="51">
                  <c:v>37.61711926314118</c:v>
                </c:pt>
                <c:pt idx="52">
                  <c:v>38.010408803782134</c:v>
                </c:pt>
                <c:pt idx="53">
                  <c:v>37.54851383942119</c:v>
                </c:pt>
                <c:pt idx="54">
                  <c:v>37.686939973039415</c:v>
                </c:pt>
                <c:pt idx="55">
                  <c:v>37.3732191483484</c:v>
                </c:pt>
                <c:pt idx="56">
                  <c:v>37.43124508893492</c:v>
                </c:pt>
                <c:pt idx="57">
                  <c:v>37.39135293037808</c:v>
                </c:pt>
                <c:pt idx="58">
                  <c:v>37.44694092490345</c:v>
                </c:pt>
                <c:pt idx="59">
                  <c:v>37.527211833658946</c:v>
                </c:pt>
                <c:pt idx="60">
                  <c:v>37.537604634646534</c:v>
                </c:pt>
                <c:pt idx="61">
                  <c:v>37.67145695522769</c:v>
                </c:pt>
                <c:pt idx="62">
                  <c:v>38.12088088731715</c:v>
                </c:pt>
                <c:pt idx="63">
                  <c:v>38.60838124970135</c:v>
                </c:pt>
                <c:pt idx="64">
                  <c:v>38.37225884142477</c:v>
                </c:pt>
                <c:pt idx="65">
                  <c:v>38.363652093213474</c:v>
                </c:pt>
                <c:pt idx="66">
                  <c:v>38.37428522459918</c:v>
                </c:pt>
                <c:pt idx="67">
                  <c:v>38.59369257356449</c:v>
                </c:pt>
                <c:pt idx="68">
                  <c:v>38.425731974119074</c:v>
                </c:pt>
                <c:pt idx="69">
                  <c:v>38.20968919282339</c:v>
                </c:pt>
                <c:pt idx="70">
                  <c:v>38.125255580331306</c:v>
                </c:pt>
                <c:pt idx="71">
                  <c:v>38.06369840251641</c:v>
                </c:pt>
                <c:pt idx="72">
                  <c:v>37.77569760875115</c:v>
                </c:pt>
                <c:pt idx="73">
                  <c:v>37.67743732159572</c:v>
                </c:pt>
                <c:pt idx="74">
                  <c:v>37.811281358430314</c:v>
                </c:pt>
                <c:pt idx="75">
                  <c:v>38.01286522514144</c:v>
                </c:pt>
                <c:pt idx="76">
                  <c:v>38.169646348521105</c:v>
                </c:pt>
                <c:pt idx="77">
                  <c:v>38.273722161955206</c:v>
                </c:pt>
                <c:pt idx="78">
                  <c:v>38.54902844631904</c:v>
                </c:pt>
                <c:pt idx="79">
                  <c:v>38.691753804783616</c:v>
                </c:pt>
                <c:pt idx="80">
                  <c:v>38.82290948887358</c:v>
                </c:pt>
                <c:pt idx="81">
                  <c:v>39.15744673912157</c:v>
                </c:pt>
                <c:pt idx="82">
                  <c:v>39.33372439751675</c:v>
                </c:pt>
                <c:pt idx="83">
                  <c:v>39.38591718571092</c:v>
                </c:pt>
                <c:pt idx="84">
                  <c:v>39.375230901851324</c:v>
                </c:pt>
                <c:pt idx="85">
                  <c:v>39.00977402198127</c:v>
                </c:pt>
                <c:pt idx="86">
                  <c:v>38.90437006196112</c:v>
                </c:pt>
                <c:pt idx="87">
                  <c:v>38.90610046876774</c:v>
                </c:pt>
                <c:pt idx="88">
                  <c:v>39.3625617949043</c:v>
                </c:pt>
                <c:pt idx="89">
                  <c:v>39.67757982775238</c:v>
                </c:pt>
                <c:pt idx="90">
                  <c:v>39.597139396557715</c:v>
                </c:pt>
                <c:pt idx="91">
                  <c:v>39.487959828051885</c:v>
                </c:pt>
                <c:pt idx="92">
                  <c:v>38.9020110930838</c:v>
                </c:pt>
                <c:pt idx="93">
                  <c:v>38.44318857375063</c:v>
                </c:pt>
                <c:pt idx="94">
                  <c:v>38.33854605985056</c:v>
                </c:pt>
                <c:pt idx="95">
                  <c:v>38.54453047212852</c:v>
                </c:pt>
                <c:pt idx="96">
                  <c:v>38.33198037107732</c:v>
                </c:pt>
                <c:pt idx="97">
                  <c:v>38.423727220812644</c:v>
                </c:pt>
                <c:pt idx="98">
                  <c:v>38.011573539598245</c:v>
                </c:pt>
                <c:pt idx="99">
                  <c:v>37.5848517327617</c:v>
                </c:pt>
                <c:pt idx="100">
                  <c:v>36.98321463400219</c:v>
                </c:pt>
                <c:pt idx="101">
                  <c:v>37.13176474041891</c:v>
                </c:pt>
                <c:pt idx="102">
                  <c:v>36.814759367707275</c:v>
                </c:pt>
                <c:pt idx="103">
                  <c:v>36.923382967279906</c:v>
                </c:pt>
                <c:pt idx="104">
                  <c:v>37.550512445095166</c:v>
                </c:pt>
                <c:pt idx="105">
                  <c:v>37.96187885883833</c:v>
                </c:pt>
                <c:pt idx="106">
                  <c:v>38.09838638196468</c:v>
                </c:pt>
                <c:pt idx="107">
                  <c:v>38.26605252103884</c:v>
                </c:pt>
                <c:pt idx="108">
                  <c:v>38.699905287283194</c:v>
                </c:pt>
                <c:pt idx="109">
                  <c:v>38.85338807847446</c:v>
                </c:pt>
                <c:pt idx="110">
                  <c:v>39.32019832985386</c:v>
                </c:pt>
                <c:pt idx="111">
                  <c:v>40.05030000359286</c:v>
                </c:pt>
                <c:pt idx="112">
                  <c:v>41.08628872634917</c:v>
                </c:pt>
                <c:pt idx="113">
                  <c:v>41.23991525605085</c:v>
                </c:pt>
                <c:pt idx="114">
                  <c:v>41.53023029887422</c:v>
                </c:pt>
                <c:pt idx="115">
                  <c:v>42.56255691920725</c:v>
                </c:pt>
                <c:pt idx="116">
                  <c:v>43.344618351324115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12"/>
        <c:noMultiLvlLbl val="0"/>
      </c:catAx>
      <c:valAx>
        <c:axId val="2140495176"/>
        <c:scaling>
          <c:max val="46.0"/>
          <c:min val="32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2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"/>
          <c:w val="0.91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 ÷ robusta</c:v>
                </c:pt>
              </c:strCache>
            </c:strRef>
          </c:tx>
          <c:spPr>
            <a:ln w="22225">
              <a:solidFill>
                <a:srgbClr val="2A78D6"/>
              </a:solidFill>
            </a:ln>
          </c:spPr>
          <c:marker>
            <c:symbol val="none"/>
          </c:marker>
          <c:cat>
            <c:strRef>
              <c:f>Sheet1!$A$2:$A$118</c:f>
              <c:strCache>
                <c:ptCount val="117"/>
                <c:pt idx="0">
                  <c:v>2016</c:v>
                </c:pt>
                <c:pt idx="1">
                  <c:v>2016</c:v>
                </c:pt>
                <c:pt idx="2">
                  <c:v>2016</c:v>
                </c:pt>
                <c:pt idx="3">
                  <c:v>2016</c:v>
                </c:pt>
                <c:pt idx="4">
                  <c:v>2016</c:v>
                </c:pt>
                <c:pt idx="5">
                  <c:v>2017</c:v>
                </c:pt>
                <c:pt idx="6">
                  <c:v>2017</c:v>
                </c:pt>
                <c:pt idx="7">
                  <c:v>2017</c:v>
                </c:pt>
                <c:pt idx="8">
                  <c:v>2017</c:v>
                </c:pt>
                <c:pt idx="9">
                  <c:v>2017</c:v>
                </c:pt>
                <c:pt idx="10">
                  <c:v>2017</c:v>
                </c:pt>
                <c:pt idx="11">
                  <c:v>2017</c:v>
                </c:pt>
                <c:pt idx="12">
                  <c:v>2017</c:v>
                </c:pt>
                <c:pt idx="13">
                  <c:v>2017</c:v>
                </c:pt>
                <c:pt idx="14">
                  <c:v>2017</c:v>
                </c:pt>
                <c:pt idx="15">
                  <c:v>2017</c:v>
                </c:pt>
                <c:pt idx="16">
                  <c:v>2018</c:v>
                </c:pt>
                <c:pt idx="17">
                  <c:v>2018</c:v>
                </c:pt>
                <c:pt idx="18">
                  <c:v>2018</c:v>
                </c:pt>
                <c:pt idx="19">
                  <c:v>2018</c:v>
                </c:pt>
                <c:pt idx="20">
                  <c:v>2018</c:v>
                </c:pt>
                <c:pt idx="21">
                  <c:v>2018</c:v>
                </c:pt>
                <c:pt idx="22">
                  <c:v>2018</c:v>
                </c:pt>
                <c:pt idx="23">
                  <c:v>2018</c:v>
                </c:pt>
                <c:pt idx="24">
                  <c:v>2018</c:v>
                </c:pt>
                <c:pt idx="25">
                  <c:v>2018</c:v>
                </c:pt>
                <c:pt idx="26">
                  <c:v>2018</c:v>
                </c:pt>
                <c:pt idx="27">
                  <c:v>2018</c:v>
                </c:pt>
                <c:pt idx="28">
                  <c:v>2019</c:v>
                </c:pt>
                <c:pt idx="29">
                  <c:v>2019</c:v>
                </c:pt>
                <c:pt idx="30">
                  <c:v>2019</c:v>
                </c:pt>
                <c:pt idx="31">
                  <c:v>2019</c:v>
                </c:pt>
                <c:pt idx="32">
                  <c:v>2019</c:v>
                </c:pt>
                <c:pt idx="33">
                  <c:v>2019</c:v>
                </c:pt>
                <c:pt idx="34">
                  <c:v>2019</c:v>
                </c:pt>
                <c:pt idx="35">
                  <c:v>2019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2020</c:v>
                </c:pt>
                <c:pt idx="45">
                  <c:v>2020</c:v>
                </c:pt>
                <c:pt idx="46">
                  <c:v>2020</c:v>
                </c:pt>
                <c:pt idx="47">
                  <c:v>2020</c:v>
                </c:pt>
                <c:pt idx="48">
                  <c:v>2020</c:v>
                </c:pt>
                <c:pt idx="49">
                  <c:v>2020</c:v>
                </c:pt>
                <c:pt idx="50">
                  <c:v>2020</c:v>
                </c:pt>
                <c:pt idx="51">
                  <c:v>2020</c:v>
                </c:pt>
                <c:pt idx="52">
                  <c:v>2021</c:v>
                </c:pt>
                <c:pt idx="53">
                  <c:v>2021</c:v>
                </c:pt>
                <c:pt idx="54">
                  <c:v>2021</c:v>
                </c:pt>
                <c:pt idx="55">
                  <c:v>2021</c:v>
                </c:pt>
                <c:pt idx="56">
                  <c:v>2021</c:v>
                </c:pt>
                <c:pt idx="57">
                  <c:v>2021</c:v>
                </c:pt>
                <c:pt idx="58">
                  <c:v>2021</c:v>
                </c:pt>
                <c:pt idx="59">
                  <c:v>2021</c:v>
                </c:pt>
                <c:pt idx="60">
                  <c:v>2021</c:v>
                </c:pt>
                <c:pt idx="61">
                  <c:v>2021</c:v>
                </c:pt>
                <c:pt idx="62">
                  <c:v>2021</c:v>
                </c:pt>
                <c:pt idx="63">
                  <c:v>2021</c:v>
                </c:pt>
                <c:pt idx="64">
                  <c:v>2022</c:v>
                </c:pt>
                <c:pt idx="65">
                  <c:v>2022</c:v>
                </c:pt>
                <c:pt idx="66">
                  <c:v>2022</c:v>
                </c:pt>
                <c:pt idx="67">
                  <c:v>2022</c:v>
                </c:pt>
                <c:pt idx="68">
                  <c:v>2022</c:v>
                </c:pt>
                <c:pt idx="69">
                  <c:v>2022</c:v>
                </c:pt>
                <c:pt idx="70">
                  <c:v>2022</c:v>
                </c:pt>
                <c:pt idx="71">
                  <c:v>2022</c:v>
                </c:pt>
                <c:pt idx="72">
                  <c:v>2022</c:v>
                </c:pt>
                <c:pt idx="73">
                  <c:v>2022</c:v>
                </c:pt>
                <c:pt idx="74">
                  <c:v>2022</c:v>
                </c:pt>
                <c:pt idx="75">
                  <c:v>2022</c:v>
                </c:pt>
                <c:pt idx="76">
                  <c:v>2023</c:v>
                </c:pt>
                <c:pt idx="77">
                  <c:v>2023</c:v>
                </c:pt>
                <c:pt idx="78">
                  <c:v>2023</c:v>
                </c:pt>
                <c:pt idx="79">
                  <c:v>2023</c:v>
                </c:pt>
                <c:pt idx="80">
                  <c:v>2023</c:v>
                </c:pt>
                <c:pt idx="81">
                  <c:v>2023</c:v>
                </c:pt>
                <c:pt idx="82">
                  <c:v>2023</c:v>
                </c:pt>
                <c:pt idx="83">
                  <c:v>2023</c:v>
                </c:pt>
                <c:pt idx="84">
                  <c:v>2023</c:v>
                </c:pt>
                <c:pt idx="85">
                  <c:v>2023</c:v>
                </c:pt>
                <c:pt idx="86">
                  <c:v>2023</c:v>
                </c:pt>
                <c:pt idx="87">
                  <c:v>2023</c:v>
                </c:pt>
                <c:pt idx="88">
                  <c:v>2024</c:v>
                </c:pt>
                <c:pt idx="89">
                  <c:v>2024</c:v>
                </c:pt>
                <c:pt idx="90">
                  <c:v>2024</c:v>
                </c:pt>
                <c:pt idx="91">
                  <c:v>2024</c:v>
                </c:pt>
                <c:pt idx="92">
                  <c:v>2024</c:v>
                </c:pt>
                <c:pt idx="93">
                  <c:v>2024</c:v>
                </c:pt>
                <c:pt idx="94">
                  <c:v>2024</c:v>
                </c:pt>
                <c:pt idx="95">
                  <c:v>2024</c:v>
                </c:pt>
                <c:pt idx="96">
                  <c:v>2024</c:v>
                </c:pt>
                <c:pt idx="97">
                  <c:v>2024</c:v>
                </c:pt>
                <c:pt idx="98">
                  <c:v>2024</c:v>
                </c:pt>
                <c:pt idx="99">
                  <c:v>2024</c:v>
                </c:pt>
                <c:pt idx="100">
                  <c:v>2025</c:v>
                </c:pt>
                <c:pt idx="101">
                  <c:v>2025</c:v>
                </c:pt>
                <c:pt idx="102">
                  <c:v>2025</c:v>
                </c:pt>
                <c:pt idx="103">
                  <c:v>2025</c:v>
                </c:pt>
                <c:pt idx="104">
                  <c:v>2025</c:v>
                </c:pt>
                <c:pt idx="105">
                  <c:v>2025</c:v>
                </c:pt>
                <c:pt idx="106">
                  <c:v>2025</c:v>
                </c:pt>
                <c:pt idx="107">
                  <c:v>2025</c:v>
                </c:pt>
                <c:pt idx="108">
                  <c:v>2025</c:v>
                </c:pt>
                <c:pt idx="109">
                  <c:v>2025</c:v>
                </c:pt>
                <c:pt idx="110">
                  <c:v>2025</c:v>
                </c:pt>
                <c:pt idx="111">
                  <c:v>2025</c:v>
                </c:pt>
                <c:pt idx="112">
                  <c:v>2026</c:v>
                </c:pt>
                <c:pt idx="113">
                  <c:v>2026</c:v>
                </c:pt>
                <c:pt idx="114">
                  <c:v>2026</c:v>
                </c:pt>
                <c:pt idx="115">
                  <c:v>2026</c:v>
                </c:pt>
                <c:pt idx="116">
                  <c:v>2026</c:v>
                </c:pt>
              </c:strCache>
            </c:strRef>
          </c:cat>
          <c:val>
            <c:numRef>
              <c:f>Sheet1!$B$2:$B$118</c:f>
              <c:numCache>
                <c:formatCode>General</c:formatCode>
                <c:ptCount val="117"/>
                <c:pt idx="0">
                  <c:v>1.8252532955659655</c:v>
                </c:pt>
                <c:pt idx="1">
                  <c:v>1.8197770437654832</c:v>
                </c:pt>
                <c:pt idx="2">
                  <c:v>1.726579835986493</c:v>
                </c:pt>
                <c:pt idx="3">
                  <c:v>1.775163902815272</c:v>
                </c:pt>
                <c:pt idx="4">
                  <c:v>1.5884143348060875</c:v>
                </c:pt>
                <c:pt idx="5">
                  <c:v>1.556591580502216</c:v>
                </c:pt>
                <c:pt idx="6">
                  <c:v>1.5621185087801672</c:v>
                </c:pt>
                <c:pt idx="7">
                  <c:v>1.5005153190293263</c:v>
                </c:pt>
                <c:pt idx="8">
                  <c:v>1.4993253662297608</c:v>
                </c:pt>
                <c:pt idx="9">
                  <c:v>1.525010166734445</c:v>
                </c:pt>
                <c:pt idx="10">
                  <c:v>1.4050819189639947</c:v>
                </c:pt>
                <c:pt idx="11">
                  <c:v>1.4274823708785975</c:v>
                </c:pt>
                <c:pt idx="12">
                  <c:v>1.43398392652124</c:v>
                </c:pt>
                <c:pt idx="13">
                  <c:v>1.4777172817100221</c:v>
                </c:pt>
                <c:pt idx="14">
                  <c:v>1.4301250127045433</c:v>
                </c:pt>
                <c:pt idx="15">
                  <c:v>1.5681818181818181</c:v>
                </c:pt>
                <c:pt idx="16">
                  <c:v>1.5673174585261256</c:v>
                </c:pt>
                <c:pt idx="17">
                  <c:v>1.5278026905829596</c:v>
                </c:pt>
                <c:pt idx="18">
                  <c:v>1.5309734513274336</c:v>
                </c:pt>
                <c:pt idx="19">
                  <c:v>1.5212320235533914</c:v>
                </c:pt>
                <c:pt idx="20">
                  <c:v>1.5281721884155963</c:v>
                </c:pt>
                <c:pt idx="21">
                  <c:v>1.5572208667363776</c:v>
                </c:pt>
                <c:pt idx="22">
                  <c:v>1.5470267709073677</c:v>
                </c:pt>
                <c:pt idx="23">
                  <c:v>1.5507802823879118</c:v>
                </c:pt>
                <c:pt idx="24">
                  <c:v>1.5799217731421122</c:v>
                </c:pt>
                <c:pt idx="25">
                  <c:v>1.6097046413502112</c:v>
                </c:pt>
                <c:pt idx="26">
                  <c:v>1.6416427203065136</c:v>
                </c:pt>
                <c:pt idx="27">
                  <c:v>1.6386381222594788</c:v>
                </c:pt>
                <c:pt idx="28">
                  <c:v>1.6414322250639388</c:v>
                </c:pt>
                <c:pt idx="29">
                  <c:v>1.63318499682136</c:v>
                </c:pt>
                <c:pt idx="30">
                  <c:v>1.6097972972972974</c:v>
                </c:pt>
                <c:pt idx="31">
                  <c:v>1.6515151515151514</c:v>
                </c:pt>
                <c:pt idx="32">
                  <c:v>1.6950224971878514</c:v>
                </c:pt>
                <c:pt idx="33">
                  <c:v>1.7532098932288147</c:v>
                </c:pt>
                <c:pt idx="34">
                  <c:v>1.8324090355741915</c:v>
                </c:pt>
                <c:pt idx="35">
                  <c:v>1.7833639316480723</c:v>
                </c:pt>
                <c:pt idx="36">
                  <c:v>1.8246036240090597</c:v>
                </c:pt>
                <c:pt idx="37">
                  <c:v>1.851231239982515</c:v>
                </c:pt>
                <c:pt idx="38">
                  <c:v>1.9238537117903929</c:v>
                </c:pt>
                <c:pt idx="39">
                  <c:v>2.1283590233256033</c:v>
                </c:pt>
                <c:pt idx="40">
                  <c:v>2.025219608954378</c:v>
                </c:pt>
                <c:pt idx="41">
                  <c:v>1.9905979139121495</c:v>
                </c:pt>
                <c:pt idx="42">
                  <c:v>2.1987844648680706</c:v>
                </c:pt>
                <c:pt idx="43">
                  <c:v>2.41533895657607</c:v>
                </c:pt>
                <c:pt idx="44">
                  <c:v>2.3229005268050815</c:v>
                </c:pt>
                <c:pt idx="45">
                  <c:v>2.1900340451872484</c:v>
                </c:pt>
                <c:pt idx="46">
                  <c:v>2.1684148323238293</c:v>
                </c:pt>
                <c:pt idx="47">
                  <c:v>2.244906387665198</c:v>
                </c:pt>
                <c:pt idx="48">
                  <c:v>2.288855297512711</c:v>
                </c:pt>
                <c:pt idx="49">
                  <c:v>2.224400234055003</c:v>
                </c:pt>
                <c:pt idx="50">
                  <c:v>2.082481348438795</c:v>
                </c:pt>
                <c:pt idx="51">
                  <c:v>2.195274496177901</c:v>
                </c:pt>
                <c:pt idx="52">
                  <c:v>2.2711481429176668</c:v>
                </c:pt>
                <c:pt idx="53">
                  <c:v>2.2683658170914542</c:v>
                </c:pt>
                <c:pt idx="54">
                  <c:v>2.2617113457893314</c:v>
                </c:pt>
                <c:pt idx="55">
                  <c:v>2.2649744829438627</c:v>
                </c:pt>
                <c:pt idx="56">
                  <c:v>2.3401104417670684</c:v>
                </c:pt>
                <c:pt idx="57">
                  <c:v>2.2613917343694805</c:v>
                </c:pt>
                <c:pt idx="58">
                  <c:v>2.17345095121692</c:v>
                </c:pt>
                <c:pt idx="59">
                  <c:v>2.280851512277374</c:v>
                </c:pt>
                <c:pt idx="60">
                  <c:v>2.156420307868821</c:v>
                </c:pt>
                <c:pt idx="61">
                  <c:v>2.2893637226970562</c:v>
                </c:pt>
                <c:pt idx="62">
                  <c:v>2.3666270675317556</c:v>
                </c:pt>
                <c:pt idx="63">
                  <c:v>2.386003912502223</c:v>
                </c:pt>
                <c:pt idx="64">
                  <c:v>2.4708777686628385</c:v>
                </c:pt>
                <c:pt idx="65">
                  <c:v>2.557159828200676</c:v>
                </c:pt>
                <c:pt idx="66">
                  <c:v>2.4922055427251735</c:v>
                </c:pt>
                <c:pt idx="67">
                  <c:v>2.55290496344748</c:v>
                </c:pt>
                <c:pt idx="68">
                  <c:v>2.5249636451769266</c:v>
                </c:pt>
                <c:pt idx="69">
                  <c:v>2.636109773712085</c:v>
                </c:pt>
                <c:pt idx="70">
                  <c:v>2.547889287136599</c:v>
                </c:pt>
                <c:pt idx="71">
                  <c:v>2.4476251253532686</c:v>
                </c:pt>
                <c:pt idx="72">
                  <c:v>2.4020294540229887</c:v>
                </c:pt>
                <c:pt idx="73">
                  <c:v>2.33064750995049</c:v>
                </c:pt>
                <c:pt idx="74">
                  <c:v>2.307991360691145</c:v>
                </c:pt>
                <c:pt idx="75">
                  <c:v>2.275962786672436</c:v>
                </c:pt>
                <c:pt idx="76">
                  <c:v>2.154198791414878</c:v>
                </c:pt>
                <c:pt idx="77">
                  <c:v>2.207676029242016</c:v>
                </c:pt>
                <c:pt idx="78">
                  <c:v>2.090900554042633</c:v>
                </c:pt>
                <c:pt idx="79">
                  <c:v>1.989617580896349</c:v>
                </c:pt>
                <c:pt idx="80">
                  <c:v>1.7961648306813547</c:v>
                </c:pt>
                <c:pt idx="81">
                  <c:v>1.569590554756679</c:v>
                </c:pt>
                <c:pt idx="82">
                  <c:v>1.5166170246120083</c:v>
                </c:pt>
                <c:pt idx="83">
                  <c:v>1.498472177549051</c:v>
                </c:pt>
                <c:pt idx="84">
                  <c:v>1.4818790862862217</c:v>
                </c:pt>
                <c:pt idx="85">
                  <c:v>1.5478795018512284</c:v>
                </c:pt>
                <c:pt idx="86">
                  <c:v>1.6079980452842484</c:v>
                </c:pt>
                <c:pt idx="87">
                  <c:v>1.5533643548267968</c:v>
                </c:pt>
                <c:pt idx="88">
                  <c:v>1.3763586039289812</c:v>
                </c:pt>
                <c:pt idx="89">
                  <c:v>1.3625269203158652</c:v>
                </c:pt>
                <c:pt idx="90">
                  <c:v>1.259708152436083</c:v>
                </c:pt>
                <c:pt idx="91">
                  <c:v>1.2384861627426682</c:v>
                </c:pt>
                <c:pt idx="92">
                  <c:v>1.2460581357931997</c:v>
                </c:pt>
                <c:pt idx="93">
                  <c:v>1.215680516811041</c:v>
                </c:pt>
                <c:pt idx="94">
                  <c:v>1.1983779248624966</c:v>
                </c:pt>
                <c:pt idx="95">
                  <c:v>1.2176991150442478</c:v>
                </c:pt>
                <c:pt idx="96">
                  <c:v>1.149715416975996</c:v>
                </c:pt>
                <c:pt idx="97">
                  <c:v>1.2473186119873816</c:v>
                </c:pt>
                <c:pt idx="98">
                  <c:v>1.3485605625082917</c:v>
                </c:pt>
                <c:pt idx="99">
                  <c:v>1.4481945964144431</c:v>
                </c:pt>
                <c:pt idx="100">
                  <c:v>1.4449661141504042</c:v>
                </c:pt>
                <c:pt idx="101">
                  <c:v>1.5568734793187347</c:v>
                </c:pt>
                <c:pt idx="102">
                  <c:v>1.5686510400496738</c:v>
                </c:pt>
                <c:pt idx="103">
                  <c:v>1.5936321233015616</c:v>
                </c:pt>
                <c:pt idx="104">
                  <c:v>1.675474083438685</c:v>
                </c:pt>
                <c:pt idx="105">
                  <c:v>1.8508740635033893</c:v>
                </c:pt>
                <c:pt idx="106">
                  <c:v>1.8946581324400313</c:v>
                </c:pt>
                <c:pt idx="107">
                  <c:v>1.8389319118978174</c:v>
                </c:pt>
                <c:pt idx="108">
                  <c:v>1.8950388920508443</c:v>
                </c:pt>
                <c:pt idx="109">
                  <c:v>1.8775690504975358</c:v>
                </c:pt>
                <c:pt idx="110">
                  <c:v>1.909217812107394</c:v>
                </c:pt>
                <c:pt idx="111">
                  <c:v>2.0004198813835092</c:v>
                </c:pt>
                <c:pt idx="112">
                  <c:v>1.890400997298982</c:v>
                </c:pt>
                <c:pt idx="113">
                  <c:v>1.7879597173538087</c:v>
                </c:pt>
                <c:pt idx="114">
                  <c:v>2.0117832847424686</c:v>
                </c:pt>
                <c:pt idx="115">
                  <c:v>1.894300642604048</c:v>
                </c:pt>
                <c:pt idx="116">
                  <c:v>1.9409568135079553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1.8×</c:v>
                </c:pt>
              </c:strCache>
            </c:strRef>
          </c:tx>
          <c:spPr>
            <a:ln w="12700">
              <a:solidFill>
                <a:srgbClr val="E34948"/>
              </a:solidFill>
              <a:prstDash val="dash"/>
            </a:ln>
          </c:spPr>
          <c:marker>
            <c:symbol val="none"/>
          </c:marker>
          <c:cat>
            <c:strRef>
              <c:f>Sheet1!$A$2:$A$118</c:f>
              <c:strCache>
                <c:ptCount val="117"/>
                <c:pt idx="0">
                  <c:v>2016</c:v>
                </c:pt>
                <c:pt idx="1">
                  <c:v>2016</c:v>
                </c:pt>
                <c:pt idx="2">
                  <c:v>2016</c:v>
                </c:pt>
                <c:pt idx="3">
                  <c:v>2016</c:v>
                </c:pt>
                <c:pt idx="4">
                  <c:v>2016</c:v>
                </c:pt>
                <c:pt idx="5">
                  <c:v>2017</c:v>
                </c:pt>
                <c:pt idx="6">
                  <c:v>2017</c:v>
                </c:pt>
                <c:pt idx="7">
                  <c:v>2017</c:v>
                </c:pt>
                <c:pt idx="8">
                  <c:v>2017</c:v>
                </c:pt>
                <c:pt idx="9">
                  <c:v>2017</c:v>
                </c:pt>
                <c:pt idx="10">
                  <c:v>2017</c:v>
                </c:pt>
                <c:pt idx="11">
                  <c:v>2017</c:v>
                </c:pt>
                <c:pt idx="12">
                  <c:v>2017</c:v>
                </c:pt>
                <c:pt idx="13">
                  <c:v>2017</c:v>
                </c:pt>
                <c:pt idx="14">
                  <c:v>2017</c:v>
                </c:pt>
                <c:pt idx="15">
                  <c:v>2017</c:v>
                </c:pt>
                <c:pt idx="16">
                  <c:v>2018</c:v>
                </c:pt>
                <c:pt idx="17">
                  <c:v>2018</c:v>
                </c:pt>
                <c:pt idx="18">
                  <c:v>2018</c:v>
                </c:pt>
                <c:pt idx="19">
                  <c:v>2018</c:v>
                </c:pt>
                <c:pt idx="20">
                  <c:v>2018</c:v>
                </c:pt>
                <c:pt idx="21">
                  <c:v>2018</c:v>
                </c:pt>
                <c:pt idx="22">
                  <c:v>2018</c:v>
                </c:pt>
                <c:pt idx="23">
                  <c:v>2018</c:v>
                </c:pt>
                <c:pt idx="24">
                  <c:v>2018</c:v>
                </c:pt>
                <c:pt idx="25">
                  <c:v>2018</c:v>
                </c:pt>
                <c:pt idx="26">
                  <c:v>2018</c:v>
                </c:pt>
                <c:pt idx="27">
                  <c:v>2018</c:v>
                </c:pt>
                <c:pt idx="28">
                  <c:v>2019</c:v>
                </c:pt>
                <c:pt idx="29">
                  <c:v>2019</c:v>
                </c:pt>
                <c:pt idx="30">
                  <c:v>2019</c:v>
                </c:pt>
                <c:pt idx="31">
                  <c:v>2019</c:v>
                </c:pt>
                <c:pt idx="32">
                  <c:v>2019</c:v>
                </c:pt>
                <c:pt idx="33">
                  <c:v>2019</c:v>
                </c:pt>
                <c:pt idx="34">
                  <c:v>2019</c:v>
                </c:pt>
                <c:pt idx="35">
                  <c:v>2019</c:v>
                </c:pt>
                <c:pt idx="36">
                  <c:v>2019</c:v>
                </c:pt>
                <c:pt idx="37">
                  <c:v>2019</c:v>
                </c:pt>
                <c:pt idx="38">
                  <c:v>2019</c:v>
                </c:pt>
                <c:pt idx="39">
                  <c:v>2019</c:v>
                </c:pt>
                <c:pt idx="40">
                  <c:v>2020</c:v>
                </c:pt>
                <c:pt idx="41">
                  <c:v>2020</c:v>
                </c:pt>
                <c:pt idx="42">
                  <c:v>2020</c:v>
                </c:pt>
                <c:pt idx="43">
                  <c:v>2020</c:v>
                </c:pt>
                <c:pt idx="44">
                  <c:v>2020</c:v>
                </c:pt>
                <c:pt idx="45">
                  <c:v>2020</c:v>
                </c:pt>
                <c:pt idx="46">
                  <c:v>2020</c:v>
                </c:pt>
                <c:pt idx="47">
                  <c:v>2020</c:v>
                </c:pt>
                <c:pt idx="48">
                  <c:v>2020</c:v>
                </c:pt>
                <c:pt idx="49">
                  <c:v>2020</c:v>
                </c:pt>
                <c:pt idx="50">
                  <c:v>2020</c:v>
                </c:pt>
                <c:pt idx="51">
                  <c:v>2020</c:v>
                </c:pt>
                <c:pt idx="52">
                  <c:v>2021</c:v>
                </c:pt>
                <c:pt idx="53">
                  <c:v>2021</c:v>
                </c:pt>
                <c:pt idx="54">
                  <c:v>2021</c:v>
                </c:pt>
                <c:pt idx="55">
                  <c:v>2021</c:v>
                </c:pt>
                <c:pt idx="56">
                  <c:v>2021</c:v>
                </c:pt>
                <c:pt idx="57">
                  <c:v>2021</c:v>
                </c:pt>
                <c:pt idx="58">
                  <c:v>2021</c:v>
                </c:pt>
                <c:pt idx="59">
                  <c:v>2021</c:v>
                </c:pt>
                <c:pt idx="60">
                  <c:v>2021</c:v>
                </c:pt>
                <c:pt idx="61">
                  <c:v>2021</c:v>
                </c:pt>
                <c:pt idx="62">
                  <c:v>2021</c:v>
                </c:pt>
                <c:pt idx="63">
                  <c:v>2021</c:v>
                </c:pt>
                <c:pt idx="64">
                  <c:v>2022</c:v>
                </c:pt>
                <c:pt idx="65">
                  <c:v>2022</c:v>
                </c:pt>
                <c:pt idx="66">
                  <c:v>2022</c:v>
                </c:pt>
                <c:pt idx="67">
                  <c:v>2022</c:v>
                </c:pt>
                <c:pt idx="68">
                  <c:v>2022</c:v>
                </c:pt>
                <c:pt idx="69">
                  <c:v>2022</c:v>
                </c:pt>
                <c:pt idx="70">
                  <c:v>2022</c:v>
                </c:pt>
                <c:pt idx="71">
                  <c:v>2022</c:v>
                </c:pt>
                <c:pt idx="72">
                  <c:v>2022</c:v>
                </c:pt>
                <c:pt idx="73">
                  <c:v>2022</c:v>
                </c:pt>
                <c:pt idx="74">
                  <c:v>2022</c:v>
                </c:pt>
                <c:pt idx="75">
                  <c:v>2022</c:v>
                </c:pt>
                <c:pt idx="76">
                  <c:v>2023</c:v>
                </c:pt>
                <c:pt idx="77">
                  <c:v>2023</c:v>
                </c:pt>
                <c:pt idx="78">
                  <c:v>2023</c:v>
                </c:pt>
                <c:pt idx="79">
                  <c:v>2023</c:v>
                </c:pt>
                <c:pt idx="80">
                  <c:v>2023</c:v>
                </c:pt>
                <c:pt idx="81">
                  <c:v>2023</c:v>
                </c:pt>
                <c:pt idx="82">
                  <c:v>2023</c:v>
                </c:pt>
                <c:pt idx="83">
                  <c:v>2023</c:v>
                </c:pt>
                <c:pt idx="84">
                  <c:v>2023</c:v>
                </c:pt>
                <c:pt idx="85">
                  <c:v>2023</c:v>
                </c:pt>
                <c:pt idx="86">
                  <c:v>2023</c:v>
                </c:pt>
                <c:pt idx="87">
                  <c:v>2023</c:v>
                </c:pt>
                <c:pt idx="88">
                  <c:v>2024</c:v>
                </c:pt>
                <c:pt idx="89">
                  <c:v>2024</c:v>
                </c:pt>
                <c:pt idx="90">
                  <c:v>2024</c:v>
                </c:pt>
                <c:pt idx="91">
                  <c:v>2024</c:v>
                </c:pt>
                <c:pt idx="92">
                  <c:v>2024</c:v>
                </c:pt>
                <c:pt idx="93">
                  <c:v>2024</c:v>
                </c:pt>
                <c:pt idx="94">
                  <c:v>2024</c:v>
                </c:pt>
                <c:pt idx="95">
                  <c:v>2024</c:v>
                </c:pt>
                <c:pt idx="96">
                  <c:v>2024</c:v>
                </c:pt>
                <c:pt idx="97">
                  <c:v>2024</c:v>
                </c:pt>
                <c:pt idx="98">
                  <c:v>2024</c:v>
                </c:pt>
                <c:pt idx="99">
                  <c:v>2024</c:v>
                </c:pt>
                <c:pt idx="100">
                  <c:v>2025</c:v>
                </c:pt>
                <c:pt idx="101">
                  <c:v>2025</c:v>
                </c:pt>
                <c:pt idx="102">
                  <c:v>2025</c:v>
                </c:pt>
                <c:pt idx="103">
                  <c:v>2025</c:v>
                </c:pt>
                <c:pt idx="104">
                  <c:v>2025</c:v>
                </c:pt>
                <c:pt idx="105">
                  <c:v>2025</c:v>
                </c:pt>
                <c:pt idx="106">
                  <c:v>2025</c:v>
                </c:pt>
                <c:pt idx="107">
                  <c:v>2025</c:v>
                </c:pt>
                <c:pt idx="108">
                  <c:v>2025</c:v>
                </c:pt>
                <c:pt idx="109">
                  <c:v>2025</c:v>
                </c:pt>
                <c:pt idx="110">
                  <c:v>2025</c:v>
                </c:pt>
                <c:pt idx="111">
                  <c:v>2025</c:v>
                </c:pt>
                <c:pt idx="112">
                  <c:v>2026</c:v>
                </c:pt>
                <c:pt idx="113">
                  <c:v>2026</c:v>
                </c:pt>
                <c:pt idx="114">
                  <c:v>2026</c:v>
                </c:pt>
                <c:pt idx="115">
                  <c:v>2026</c:v>
                </c:pt>
                <c:pt idx="116">
                  <c:v>2026</c:v>
                </c:pt>
              </c:strCache>
            </c:strRef>
          </c:cat>
          <c:val>
            <c:numRef>
              <c:f>Sheet1!$C$2:$C$118</c:f>
              <c:numCache>
                <c:formatCode>General</c:formatCode>
                <c:ptCount val="117"/>
                <c:pt idx="0">
                  <c:v>1.8</c:v>
                </c:pt>
                <c:pt idx="1">
                  <c:v>1.8</c:v>
                </c:pt>
                <c:pt idx="2">
                  <c:v>1.8</c:v>
                </c:pt>
                <c:pt idx="3">
                  <c:v>1.8</c:v>
                </c:pt>
                <c:pt idx="4">
                  <c:v>1.8</c:v>
                </c:pt>
                <c:pt idx="5">
                  <c:v>1.8</c:v>
                </c:pt>
                <c:pt idx="6">
                  <c:v>1.8</c:v>
                </c:pt>
                <c:pt idx="7">
                  <c:v>1.8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1.8</c:v>
                </c:pt>
                <c:pt idx="12">
                  <c:v>1.8</c:v>
                </c:pt>
                <c:pt idx="13">
                  <c:v>1.8</c:v>
                </c:pt>
                <c:pt idx="14">
                  <c:v>1.8</c:v>
                </c:pt>
                <c:pt idx="15">
                  <c:v>1.8</c:v>
                </c:pt>
                <c:pt idx="16">
                  <c:v>1.8</c:v>
                </c:pt>
                <c:pt idx="17">
                  <c:v>1.8</c:v>
                </c:pt>
                <c:pt idx="18">
                  <c:v>1.8</c:v>
                </c:pt>
                <c:pt idx="19">
                  <c:v>1.8</c:v>
                </c:pt>
                <c:pt idx="20">
                  <c:v>1.8</c:v>
                </c:pt>
                <c:pt idx="21">
                  <c:v>1.8</c:v>
                </c:pt>
                <c:pt idx="22">
                  <c:v>1.8</c:v>
                </c:pt>
                <c:pt idx="23">
                  <c:v>1.8</c:v>
                </c:pt>
                <c:pt idx="24">
                  <c:v>1.8</c:v>
                </c:pt>
                <c:pt idx="25">
                  <c:v>1.8</c:v>
                </c:pt>
                <c:pt idx="26">
                  <c:v>1.8</c:v>
                </c:pt>
                <c:pt idx="27">
                  <c:v>1.8</c:v>
                </c:pt>
                <c:pt idx="28">
                  <c:v>1.8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1.8</c:v>
                </c:pt>
                <c:pt idx="55">
                  <c:v>1.8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1.8</c:v>
                </c:pt>
                <c:pt idx="81">
                  <c:v>1.8</c:v>
                </c:pt>
                <c:pt idx="82">
                  <c:v>1.8</c:v>
                </c:pt>
                <c:pt idx="83">
                  <c:v>1.8</c:v>
                </c:pt>
                <c:pt idx="84">
                  <c:v>1.8</c:v>
                </c:pt>
                <c:pt idx="85">
                  <c:v>1.8</c:v>
                </c:pt>
                <c:pt idx="86">
                  <c:v>1.8</c:v>
                </c:pt>
                <c:pt idx="87">
                  <c:v>1.8</c:v>
                </c:pt>
                <c:pt idx="88">
                  <c:v>1.8</c:v>
                </c:pt>
                <c:pt idx="89">
                  <c:v>1.8</c:v>
                </c:pt>
                <c:pt idx="90">
                  <c:v>1.8</c:v>
                </c:pt>
                <c:pt idx="91">
                  <c:v>1.8</c:v>
                </c:pt>
                <c:pt idx="92">
                  <c:v>1.8</c:v>
                </c:pt>
                <c:pt idx="93">
                  <c:v>1.8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1.8</c:v>
                </c:pt>
                <c:pt idx="101">
                  <c:v>1.8</c:v>
                </c:pt>
                <c:pt idx="102">
                  <c:v>1.8</c:v>
                </c:pt>
                <c:pt idx="103">
                  <c:v>1.8</c:v>
                </c:pt>
                <c:pt idx="104">
                  <c:v>1.8</c:v>
                </c:pt>
                <c:pt idx="105">
                  <c:v>1.8</c:v>
                </c:pt>
                <c:pt idx="106">
                  <c:v>1.8</c:v>
                </c:pt>
                <c:pt idx="107">
                  <c:v>1.8</c:v>
                </c:pt>
                <c:pt idx="108">
                  <c:v>1.8</c:v>
                </c:pt>
                <c:pt idx="109">
                  <c:v>1.8</c:v>
                </c:pt>
                <c:pt idx="110">
                  <c:v>1.8</c:v>
                </c:pt>
                <c:pt idx="111">
                  <c:v>1.8</c:v>
                </c:pt>
                <c:pt idx="112">
                  <c:v>1.8</c:v>
                </c:pt>
                <c:pt idx="113">
                  <c:v>1.8</c:v>
                </c:pt>
                <c:pt idx="114">
                  <c:v>1.8</c:v>
                </c:pt>
                <c:pt idx="115">
                  <c:v>1.8</c:v>
                </c:pt>
                <c:pt idx="116">
                  <c:v>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12"/>
        <c:noMultiLvlLbl val="0"/>
      </c:catAx>
      <c:valAx>
        <c:axId val="2140495176"/>
        <c:scaling>
          <c:max val="3.0"/>
          <c:min val="1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.0&quot;×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0.5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1"/>
          <c:h val="0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Robusta share of production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6"/>
            <c:spPr>
              <a:solidFill>
                <a:srgbClr val="EB683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40%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47%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44%F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39.87767532214145</c:v>
                </c:pt>
                <c:pt idx="1">
                  <c:v>37.22715404699739</c:v>
                </c:pt>
                <c:pt idx="2">
                  <c:v>39.85915040036016</c:v>
                </c:pt>
                <c:pt idx="3">
                  <c:v>37.357679285709075</c:v>
                </c:pt>
                <c:pt idx="4">
                  <c:v>40.06195385824589</c:v>
                </c:pt>
                <c:pt idx="5">
                  <c:v>37.809474644470995</c:v>
                </c:pt>
                <c:pt idx="6">
                  <c:v>41.62955598362297</c:v>
                </c:pt>
                <c:pt idx="7">
                  <c:v>41.22694882861448</c:v>
                </c:pt>
                <c:pt idx="8">
                  <c:v>42.228872755445046</c:v>
                </c:pt>
                <c:pt idx="9">
                  <c:v>43.634424822492136</c:v>
                </c:pt>
                <c:pt idx="10">
                  <c:v>43.491724015771275</c:v>
                </c:pt>
                <c:pt idx="11">
                  <c:v>37.21341701897828</c:v>
                </c:pt>
                <c:pt idx="12">
                  <c:v>40.41573328994957</c:v>
                </c:pt>
                <c:pt idx="13">
                  <c:v>40.33413702119917</c:v>
                </c:pt>
                <c:pt idx="14">
                  <c:v>43.84369638525704</c:v>
                </c:pt>
                <c:pt idx="15">
                  <c:v>42.163365411302244</c:v>
                </c:pt>
                <c:pt idx="16">
                  <c:v>47.232859116356856</c:v>
                </c:pt>
                <c:pt idx="17">
                  <c:v>46.600441635389224</c:v>
                </c:pt>
                <c:pt idx="18">
                  <c:v>42.57875933744722</c:v>
                </c:pt>
                <c:pt idx="19">
                  <c:v>42.844349631522505</c:v>
                </c:pt>
                <c:pt idx="20">
                  <c:v>46.59431472535337</c:v>
                </c:pt>
                <c:pt idx="21">
                  <c:v>44.18269915167109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Soluble share of consumption</c:v>
                </c:pt>
              </c:strCache>
            </c:strRef>
          </c:tx>
          <c:spPr>
            <a:ln w="28575">
              <a:solidFill>
                <a:srgbClr val="E87BA4"/>
              </a:solidFill>
            </a:ln>
          </c:spPr>
          <c:marker>
            <c:symbol val="circle"/>
            <c:size val="6"/>
            <c:spPr>
              <a:solidFill>
                <a:srgbClr val="E87BA4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11%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17%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11.287964139319698</c:v>
                </c:pt>
                <c:pt idx="1">
                  <c:v>12.210499227997937</c:v>
                </c:pt>
                <c:pt idx="2">
                  <c:v>13.214850901418068</c:v>
                </c:pt>
                <c:pt idx="3">
                  <c:v>12.648271588263801</c:v>
                </c:pt>
                <c:pt idx="4">
                  <c:v>12.355240093106126</c:v>
                </c:pt>
                <c:pt idx="5">
                  <c:v>13.507689582902854</c:v>
                </c:pt>
                <c:pt idx="6">
                  <c:v>13.00347963677353</c:v>
                </c:pt>
                <c:pt idx="7">
                  <c:v>13.887726638772666</c:v>
                </c:pt>
                <c:pt idx="8">
                  <c:v>13.478179278133403</c:v>
                </c:pt>
                <c:pt idx="9">
                  <c:v>13.647452144900555</c:v>
                </c:pt>
                <c:pt idx="10">
                  <c:v>15.006593291815182</c:v>
                </c:pt>
                <c:pt idx="11">
                  <c:v>16.007968846709307</c:v>
                </c:pt>
                <c:pt idx="12">
                  <c:v>14.838725743492686</c:v>
                </c:pt>
                <c:pt idx="13">
                  <c:v>14.522629109112483</c:v>
                </c:pt>
                <c:pt idx="14">
                  <c:v>15.450709864186507</c:v>
                </c:pt>
                <c:pt idx="15">
                  <c:v>15.03889742308428</c:v>
                </c:pt>
                <c:pt idx="16">
                  <c:v>15.921802684012082</c:v>
                </c:pt>
                <c:pt idx="17">
                  <c:v>15.376820697583469</c:v>
                </c:pt>
                <c:pt idx="18">
                  <c:v>16.371487119437937</c:v>
                </c:pt>
                <c:pt idx="19">
                  <c:v>16.566019259017462</c:v>
                </c:pt>
                <c:pt idx="20">
                  <c:v>16.72974714124658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2118791784"/>
        <c:crosses val="autoZero"/>
        <c:majorUnit val="1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Brazil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36.1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71.9F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36.1</c:v>
                </c:pt>
                <c:pt idx="1">
                  <c:v>46.7</c:v>
                </c:pt>
                <c:pt idx="2">
                  <c:v>39.1</c:v>
                </c:pt>
                <c:pt idx="3">
                  <c:v>53.3</c:v>
                </c:pt>
                <c:pt idx="4">
                  <c:v>44.8</c:v>
                </c:pt>
                <c:pt idx="5">
                  <c:v>54.5</c:v>
                </c:pt>
                <c:pt idx="6">
                  <c:v>49.2</c:v>
                </c:pt>
                <c:pt idx="7">
                  <c:v>57.6</c:v>
                </c:pt>
                <c:pt idx="8">
                  <c:v>57.2</c:v>
                </c:pt>
                <c:pt idx="9">
                  <c:v>54.3</c:v>
                </c:pt>
                <c:pt idx="10">
                  <c:v>49.4</c:v>
                </c:pt>
                <c:pt idx="11">
                  <c:v>56.1</c:v>
                </c:pt>
                <c:pt idx="12">
                  <c:v>52.1</c:v>
                </c:pt>
                <c:pt idx="13">
                  <c:v>66.5</c:v>
                </c:pt>
                <c:pt idx="14">
                  <c:v>60.5</c:v>
                </c:pt>
                <c:pt idx="15">
                  <c:v>69.9</c:v>
                </c:pt>
                <c:pt idx="16">
                  <c:v>58.1</c:v>
                </c:pt>
                <c:pt idx="17">
                  <c:v>62.6</c:v>
                </c:pt>
                <c:pt idx="18">
                  <c:v>66.3</c:v>
                </c:pt>
                <c:pt idx="19">
                  <c:v>65.0</c:v>
                </c:pt>
                <c:pt idx="20">
                  <c:v>63.0</c:v>
                </c:pt>
                <c:pt idx="21">
                  <c:v>71.9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9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Vietnam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16.3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32.5F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16.335</c:v>
                </c:pt>
                <c:pt idx="1">
                  <c:v>19.5</c:v>
                </c:pt>
                <c:pt idx="2">
                  <c:v>18.0</c:v>
                </c:pt>
                <c:pt idx="3">
                  <c:v>16.98</c:v>
                </c:pt>
                <c:pt idx="4">
                  <c:v>18.5</c:v>
                </c:pt>
                <c:pt idx="5">
                  <c:v>19.415</c:v>
                </c:pt>
                <c:pt idx="6">
                  <c:v>26.0</c:v>
                </c:pt>
                <c:pt idx="7">
                  <c:v>26.5</c:v>
                </c:pt>
                <c:pt idx="8">
                  <c:v>29.833</c:v>
                </c:pt>
                <c:pt idx="9">
                  <c:v>27.4</c:v>
                </c:pt>
                <c:pt idx="10">
                  <c:v>28.93</c:v>
                </c:pt>
                <c:pt idx="11">
                  <c:v>26.7</c:v>
                </c:pt>
                <c:pt idx="12">
                  <c:v>29.3</c:v>
                </c:pt>
                <c:pt idx="13">
                  <c:v>30.4</c:v>
                </c:pt>
                <c:pt idx="14">
                  <c:v>31.3</c:v>
                </c:pt>
                <c:pt idx="15">
                  <c:v>29.0</c:v>
                </c:pt>
                <c:pt idx="16">
                  <c:v>31.58</c:v>
                </c:pt>
                <c:pt idx="17">
                  <c:v>28.3</c:v>
                </c:pt>
                <c:pt idx="18">
                  <c:v>27.55</c:v>
                </c:pt>
                <c:pt idx="19">
                  <c:v>29.0</c:v>
                </c:pt>
                <c:pt idx="20">
                  <c:v>30.8</c:v>
                </c:pt>
                <c:pt idx="21">
                  <c:v>32.5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45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Colombia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12.0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13.8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11.953</c:v>
                </c:pt>
                <c:pt idx="1">
                  <c:v>12.164</c:v>
                </c:pt>
                <c:pt idx="2">
                  <c:v>12.515</c:v>
                </c:pt>
                <c:pt idx="3">
                  <c:v>8.664</c:v>
                </c:pt>
                <c:pt idx="4">
                  <c:v>8.1</c:v>
                </c:pt>
                <c:pt idx="5">
                  <c:v>8.525</c:v>
                </c:pt>
                <c:pt idx="6">
                  <c:v>7.655</c:v>
                </c:pt>
                <c:pt idx="7">
                  <c:v>9.927</c:v>
                </c:pt>
                <c:pt idx="8">
                  <c:v>12.075</c:v>
                </c:pt>
                <c:pt idx="9">
                  <c:v>13.3</c:v>
                </c:pt>
                <c:pt idx="10">
                  <c:v>14.0</c:v>
                </c:pt>
                <c:pt idx="11">
                  <c:v>14.6</c:v>
                </c:pt>
                <c:pt idx="12">
                  <c:v>13.825</c:v>
                </c:pt>
                <c:pt idx="13">
                  <c:v>13.87</c:v>
                </c:pt>
                <c:pt idx="14">
                  <c:v>14.1</c:v>
                </c:pt>
                <c:pt idx="15">
                  <c:v>13.4</c:v>
                </c:pt>
                <c:pt idx="16">
                  <c:v>11.8</c:v>
                </c:pt>
                <c:pt idx="17">
                  <c:v>10.7</c:v>
                </c:pt>
                <c:pt idx="18">
                  <c:v>12.76</c:v>
                </c:pt>
                <c:pt idx="19">
                  <c:v>14.8</c:v>
                </c:pt>
                <c:pt idx="20">
                  <c:v>13.8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Indonesia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9.4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12.4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9.45</c:v>
                </c:pt>
                <c:pt idx="1">
                  <c:v>7.5</c:v>
                </c:pt>
                <c:pt idx="2">
                  <c:v>8.0</c:v>
                </c:pt>
                <c:pt idx="3">
                  <c:v>10.0</c:v>
                </c:pt>
                <c:pt idx="4">
                  <c:v>10.5</c:v>
                </c:pt>
                <c:pt idx="5">
                  <c:v>9.325</c:v>
                </c:pt>
                <c:pt idx="6">
                  <c:v>7.97</c:v>
                </c:pt>
                <c:pt idx="7">
                  <c:v>11.9</c:v>
                </c:pt>
                <c:pt idx="8">
                  <c:v>11.9</c:v>
                </c:pt>
                <c:pt idx="9">
                  <c:v>10.47</c:v>
                </c:pt>
                <c:pt idx="10">
                  <c:v>12.1</c:v>
                </c:pt>
                <c:pt idx="11">
                  <c:v>10.6</c:v>
                </c:pt>
                <c:pt idx="12">
                  <c:v>10.4</c:v>
                </c:pt>
                <c:pt idx="13">
                  <c:v>10.6</c:v>
                </c:pt>
                <c:pt idx="14">
                  <c:v>10.7</c:v>
                </c:pt>
                <c:pt idx="15">
                  <c:v>10.7</c:v>
                </c:pt>
                <c:pt idx="16">
                  <c:v>10.58</c:v>
                </c:pt>
                <c:pt idx="17">
                  <c:v>10.7</c:v>
                </c:pt>
                <c:pt idx="18">
                  <c:v>8.15</c:v>
                </c:pt>
                <c:pt idx="19">
                  <c:v>10.7</c:v>
                </c:pt>
                <c:pt idx="20">
                  <c:v>12.45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Ethiopia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4.5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11.6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4.5</c:v>
                </c:pt>
                <c:pt idx="1">
                  <c:v>5.0</c:v>
                </c:pt>
                <c:pt idx="2">
                  <c:v>5.0</c:v>
                </c:pt>
                <c:pt idx="3">
                  <c:v>5.5</c:v>
                </c:pt>
                <c:pt idx="4">
                  <c:v>6.0</c:v>
                </c:pt>
                <c:pt idx="5">
                  <c:v>6.125</c:v>
                </c:pt>
                <c:pt idx="6">
                  <c:v>6.32</c:v>
                </c:pt>
                <c:pt idx="7">
                  <c:v>6.5</c:v>
                </c:pt>
                <c:pt idx="8">
                  <c:v>6.345</c:v>
                </c:pt>
                <c:pt idx="9">
                  <c:v>6.475</c:v>
                </c:pt>
                <c:pt idx="10">
                  <c:v>6.51</c:v>
                </c:pt>
                <c:pt idx="11">
                  <c:v>6.943</c:v>
                </c:pt>
                <c:pt idx="12">
                  <c:v>7.055</c:v>
                </c:pt>
                <c:pt idx="13">
                  <c:v>7.35</c:v>
                </c:pt>
                <c:pt idx="14">
                  <c:v>7.475</c:v>
                </c:pt>
                <c:pt idx="15">
                  <c:v>7.6</c:v>
                </c:pt>
                <c:pt idx="16">
                  <c:v>8.15</c:v>
                </c:pt>
                <c:pt idx="17">
                  <c:v>7.3</c:v>
                </c:pt>
                <c:pt idx="18">
                  <c:v>9.13</c:v>
                </c:pt>
                <c:pt idx="19">
                  <c:v>11.1</c:v>
                </c:pt>
                <c:pt idx="20">
                  <c:v>11.56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Uganda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2.2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6.9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2.175</c:v>
                </c:pt>
                <c:pt idx="1">
                  <c:v>2.905</c:v>
                </c:pt>
                <c:pt idx="2">
                  <c:v>3.49</c:v>
                </c:pt>
                <c:pt idx="3">
                  <c:v>3.26</c:v>
                </c:pt>
                <c:pt idx="4">
                  <c:v>2.87</c:v>
                </c:pt>
                <c:pt idx="5">
                  <c:v>3.212</c:v>
                </c:pt>
                <c:pt idx="6">
                  <c:v>3.075</c:v>
                </c:pt>
                <c:pt idx="7">
                  <c:v>3.6</c:v>
                </c:pt>
                <c:pt idx="8">
                  <c:v>3.85</c:v>
                </c:pt>
                <c:pt idx="9">
                  <c:v>3.5</c:v>
                </c:pt>
                <c:pt idx="10">
                  <c:v>3.55</c:v>
                </c:pt>
                <c:pt idx="11">
                  <c:v>4.875</c:v>
                </c:pt>
                <c:pt idx="12">
                  <c:v>4.6</c:v>
                </c:pt>
                <c:pt idx="13">
                  <c:v>4.65</c:v>
                </c:pt>
                <c:pt idx="14">
                  <c:v>5.475</c:v>
                </c:pt>
                <c:pt idx="15">
                  <c:v>6.63</c:v>
                </c:pt>
                <c:pt idx="16">
                  <c:v>6.05</c:v>
                </c:pt>
                <c:pt idx="17">
                  <c:v>6.565</c:v>
                </c:pt>
                <c:pt idx="18">
                  <c:v>6.4</c:v>
                </c:pt>
                <c:pt idx="19">
                  <c:v>6.7</c:v>
                </c:pt>
                <c:pt idx="20">
                  <c:v>6.875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9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Honduras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3.2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1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6.0F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3.204</c:v>
                </c:pt>
                <c:pt idx="1">
                  <c:v>3.46</c:v>
                </c:pt>
                <c:pt idx="2">
                  <c:v>3.642</c:v>
                </c:pt>
                <c:pt idx="3">
                  <c:v>3.225</c:v>
                </c:pt>
                <c:pt idx="4">
                  <c:v>3.55</c:v>
                </c:pt>
                <c:pt idx="5">
                  <c:v>3.975</c:v>
                </c:pt>
                <c:pt idx="6">
                  <c:v>5.6</c:v>
                </c:pt>
                <c:pt idx="7">
                  <c:v>4.725</c:v>
                </c:pt>
                <c:pt idx="8">
                  <c:v>4.4</c:v>
                </c:pt>
                <c:pt idx="9">
                  <c:v>5.1</c:v>
                </c:pt>
                <c:pt idx="10">
                  <c:v>5.3</c:v>
                </c:pt>
                <c:pt idx="11">
                  <c:v>7.51</c:v>
                </c:pt>
                <c:pt idx="12">
                  <c:v>7.6</c:v>
                </c:pt>
                <c:pt idx="13">
                  <c:v>7.1</c:v>
                </c:pt>
                <c:pt idx="14">
                  <c:v>5.2</c:v>
                </c:pt>
                <c:pt idx="15">
                  <c:v>6.5</c:v>
                </c:pt>
                <c:pt idx="16">
                  <c:v>4.8</c:v>
                </c:pt>
                <c:pt idx="17">
                  <c:v>5.7</c:v>
                </c:pt>
                <c:pt idx="18">
                  <c:v>5.05</c:v>
                </c:pt>
                <c:pt idx="19">
                  <c:v>5.0</c:v>
                </c:pt>
                <c:pt idx="20">
                  <c:v>5.8</c:v>
                </c:pt>
                <c:pt idx="21">
                  <c:v>6.0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1"/>
          <c:y val="0.12"/>
          <c:w val="0.8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Pt>
            <c:idx val="21"/>
            <c:invertIfNegative val="0"/>
            <c:spPr>
              <a:solidFill>
                <a:srgbClr val="8FD9B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4.6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0"/>
              <c:tx>
                <c:rich>
                  <a:bodyPr/>
                  <a:lstStyle/>
                  <a:p>
                    <a:r>
                      <a:rPr sz="800" b="0">
                        <a:solidFill>
                          <a:srgbClr val="1F1E1C"/>
                        </a:solidFill>
                        <a:latin typeface="Calibri"/>
                      </a:rPr>
                      <a:t>6.0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4.57</c:v>
                </c:pt>
                <c:pt idx="1">
                  <c:v>4.8</c:v>
                </c:pt>
                <c:pt idx="2">
                  <c:v>4.365</c:v>
                </c:pt>
                <c:pt idx="3">
                  <c:v>4.375</c:v>
                </c:pt>
                <c:pt idx="4">
                  <c:v>4.825</c:v>
                </c:pt>
                <c:pt idx="5">
                  <c:v>5.035</c:v>
                </c:pt>
                <c:pt idx="6">
                  <c:v>5.23</c:v>
                </c:pt>
                <c:pt idx="7">
                  <c:v>5.303</c:v>
                </c:pt>
                <c:pt idx="8">
                  <c:v>5.075</c:v>
                </c:pt>
                <c:pt idx="9">
                  <c:v>5.44</c:v>
                </c:pt>
                <c:pt idx="10">
                  <c:v>5.8</c:v>
                </c:pt>
                <c:pt idx="11">
                  <c:v>5.2</c:v>
                </c:pt>
                <c:pt idx="12">
                  <c:v>5.266</c:v>
                </c:pt>
                <c:pt idx="13">
                  <c:v>5.325</c:v>
                </c:pt>
                <c:pt idx="14">
                  <c:v>4.967</c:v>
                </c:pt>
                <c:pt idx="15">
                  <c:v>5.567</c:v>
                </c:pt>
                <c:pt idx="16">
                  <c:v>5.7</c:v>
                </c:pt>
                <c:pt idx="17">
                  <c:v>5.867</c:v>
                </c:pt>
                <c:pt idx="18">
                  <c:v>6.56</c:v>
                </c:pt>
                <c:pt idx="19">
                  <c:v>6.2</c:v>
                </c:pt>
                <c:pt idx="20">
                  <c:v>6.05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max val="9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08"/>
          <c:y val="0.1"/>
          <c:w val="0.88"/>
          <c:h val="0.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Produce regardless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4A3AA7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Brazil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China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Ethiopia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India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Indonesia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Laos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Mexico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Philippines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Tanzania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Uganda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Vietnam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Sheet1!$A$2:$A$12</c:f>
              <c:numCache>
                <c:formatCode>General</c:formatCode>
                <c:ptCount val="11"/>
                <c:pt idx="0">
                  <c:v>7.899255867200927</c:v>
                </c:pt>
                <c:pt idx="1">
                  <c:v>-0.8695652173912993</c:v>
                </c:pt>
                <c:pt idx="2">
                  <c:v>8.792392729998145</c:v>
                </c:pt>
                <c:pt idx="3">
                  <c:v>2.8053954784370783</c:v>
                </c:pt>
                <c:pt idx="4">
                  <c:v>1.2025316455696045</c:v>
                </c:pt>
                <c:pt idx="5">
                  <c:v>6.0728744939271495</c:v>
                </c:pt>
                <c:pt idx="6">
                  <c:v>1.105990783410138</c:v>
                </c:pt>
                <c:pt idx="7">
                  <c:v>-1.85185185185186</c:v>
                </c:pt>
                <c:pt idx="8">
                  <c:v>3.676470588235281</c:v>
                </c:pt>
                <c:pt idx="9">
                  <c:v>28.530973451327448</c:v>
                </c:pt>
                <c:pt idx="10">
                  <c:v>6.3425925925925775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2.2148541114058284</c:v>
                </c:pt>
                <c:pt idx="1">
                  <c:v>-2.631578947368418</c:v>
                </c:pt>
                <c:pt idx="2">
                  <c:v>26.232508073196993</c:v>
                </c:pt>
                <c:pt idx="3">
                  <c:v>14.006098312184312</c:v>
                </c:pt>
                <c:pt idx="4">
                  <c:v>-1.5009380863039268</c:v>
                </c:pt>
                <c:pt idx="5">
                  <c:v>-3.8167938931297773</c:v>
                </c:pt>
                <c:pt idx="6">
                  <c:v>3.742023701002739</c:v>
                </c:pt>
                <c:pt idx="7">
                  <c:v>3.301886792452824</c:v>
                </c:pt>
                <c:pt idx="8">
                  <c:v>13.829787234042534</c:v>
                </c:pt>
                <c:pt idx="9">
                  <c:v>9.639217846323312</c:v>
                </c:pt>
                <c:pt idx="10">
                  <c:v>-5.596974314323033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Sheet1!$B$14</c:f>
              <c:strCache>
                <c:ptCount val="1"/>
                <c:pt idx="0">
                  <c:v>Expand when high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1BAF7A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Kenya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PNG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Thailand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Sheet1!$A$15:$A$17</c:f>
              <c:numCache>
                <c:formatCode>General</c:formatCode>
                <c:ptCount val="3"/>
                <c:pt idx="0">
                  <c:v>-4.834710743801662</c:v>
                </c:pt>
                <c:pt idx="1">
                  <c:v>-20.41522491349482</c:v>
                </c:pt>
                <c:pt idx="2">
                  <c:v>-9.302325581395365</c:v>
                </c:pt>
              </c:numCache>
            </c:numRef>
          </c:xVal>
          <c:yVal>
            <c:numRef>
              <c:f>Sheet1!$B$15:$B$17</c:f>
              <c:numCache>
                <c:formatCode>General</c:formatCode>
                <c:ptCount val="3"/>
                <c:pt idx="0">
                  <c:v>11.539296569691725</c:v>
                </c:pt>
                <c:pt idx="1">
                  <c:v>18.858695652173907</c:v>
                </c:pt>
                <c:pt idx="2">
                  <c:v>25.00000000000002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Sheet1!$B$19</c:f>
              <c:strCache>
                <c:ptCount val="1"/>
                <c:pt idx="0">
                  <c:v>Cut when low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EDA100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Colombia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El Salvador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Honduras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Peru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Venezuela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Sheet1!$A$20:$A$24</c:f>
              <c:numCache>
                <c:formatCode>General</c:formatCode>
                <c:ptCount val="5"/>
                <c:pt idx="0">
                  <c:v>-7.081215273673003</c:v>
                </c:pt>
                <c:pt idx="1">
                  <c:v>-13.793103448275879</c:v>
                </c:pt>
                <c:pt idx="2">
                  <c:v>-25.709140027014854</c:v>
                </c:pt>
                <c:pt idx="3">
                  <c:v>-11.516551193225544</c:v>
                </c:pt>
                <c:pt idx="4">
                  <c:v>-9.467455621301779</c:v>
                </c:pt>
              </c:numCache>
            </c:numRef>
          </c:xVal>
          <c:yVal>
            <c:numRef>
              <c:f>Sheet1!$B$20:$B$24</c:f>
              <c:numCache>
                <c:formatCode>General</c:formatCode>
                <c:ptCount val="5"/>
                <c:pt idx="0">
                  <c:v>-0.6488549618320572</c:v>
                </c:pt>
                <c:pt idx="1">
                  <c:v>-4.363636363636347</c:v>
                </c:pt>
                <c:pt idx="2">
                  <c:v>-2.045454545454539</c:v>
                </c:pt>
                <c:pt idx="3">
                  <c:v>-0.25013050287107097</c:v>
                </c:pt>
                <c:pt idx="4">
                  <c:v>-1.9607843137254943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Sheet1!$B$26</c:f>
              <c:strCache>
                <c:ptCount val="1"/>
                <c:pt idx="0">
                  <c:v>Decline regardless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E34948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Costa Rica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Côte d'Ivoire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Guatemala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Malaysia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0">
                        <a:solidFill>
                          <a:srgbClr val="52514E"/>
                        </a:solidFill>
                        <a:latin typeface="Calibri"/>
                      </a:rPr>
                      <a:t>Nicaragua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Sheet1!$A$27:$A$31</c:f>
              <c:numCache>
                <c:formatCode>General</c:formatCode>
                <c:ptCount val="5"/>
                <c:pt idx="0">
                  <c:v>1.9141104294478462</c:v>
                </c:pt>
                <c:pt idx="1">
                  <c:v>-12.557603686635943</c:v>
                </c:pt>
                <c:pt idx="2">
                  <c:v>-0.04496402877697259</c:v>
                </c:pt>
                <c:pt idx="3">
                  <c:v>-6.349206349206349</c:v>
                </c:pt>
                <c:pt idx="4">
                  <c:v>-0.7465382299819523</c:v>
                </c:pt>
              </c:numCache>
            </c:numRef>
          </c:xVal>
          <c:yVal>
            <c:numRef>
              <c:f>Sheet1!$B$27:$B$31</c:f>
              <c:numCache>
                <c:formatCode>General</c:formatCode>
                <c:ptCount val="5"/>
                <c:pt idx="0">
                  <c:v>-14.652058752708875</c:v>
                </c:pt>
                <c:pt idx="1">
                  <c:v>-15.118577075098806</c:v>
                </c:pt>
                <c:pt idx="2">
                  <c:v>-9.0148448043185</c:v>
                </c:pt>
                <c:pt idx="3">
                  <c:v>-20.805084745762713</c:v>
                </c:pt>
                <c:pt idx="4">
                  <c:v>-8.313114157466917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0.0"/>
          <c:min val="-30.0"/>
        </c:scaling>
        <c:delete val="0"/>
        <c:axPos val="b"/>
        <c:numFmt formatCode="0&quot;%&quot;" sourceLinked="0"/>
        <c:majorTickMark val="none"/>
        <c:minorTickMark val="none"/>
        <c:tickLblPos val="low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9643912"/>
        <c:crosses val="autoZero"/>
        <c:crossBetween val="midCat"/>
        <c:majorUnit val="10.0"/>
      </c:valAx>
      <c:valAx>
        <c:axId val="-2129643912"/>
        <c:scaling>
          <c:orientation val="minMax"/>
          <c:max val="30.0"/>
          <c:min val="-30.0"/>
        </c:scaling>
        <c:delete val="0"/>
        <c:axPos val="l"/>
        <c:majorGridlines>
          <c:spPr>
            <a:ln>
              <a:solidFill>
                <a:srgbClr val="E1E0D9"/>
              </a:solidFill>
            </a:ln>
          </c:spPr>
        </c:majorGridlines>
        <c:numFmt formatCode="0&quot;%&quot;" sourceLinked="0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28940872"/>
        <c:crosses val="autoZero"/>
        <c:crossBetween val="midCat"/>
        <c:majorUnit val="10.0"/>
      </c:valAx>
      <c:spPr>
        <a:noFill/>
        <a:ln>
          <a:noFill/>
        </a:ln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52514E"/>
              </a:solidFill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12"/>
          <c:w val="0.91"/>
          <c:h val="0.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2025/26</c:v>
                </c:pt>
              </c:strCache>
            </c:strRef>
          </c:tx>
          <c:spPr>
            <a:solidFill>
              <a:srgbClr val="9FDCC6"/>
            </a:solidFill>
            <a:ln w="9525">
              <a:solidFill>
                <a:srgbClr val="FFFFFF"/>
              </a:solidFill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Brazil</c:v>
                </c:pt>
                <c:pt idx="1">
                  <c:v>Vietnam</c:v>
                </c:pt>
                <c:pt idx="2">
                  <c:v>Colombia*</c:v>
                </c:pt>
                <c:pt idx="3">
                  <c:v>Indonesia*</c:v>
                </c:pt>
                <c:pt idx="4">
                  <c:v>Ethiopia*</c:v>
                </c:pt>
                <c:pt idx="5">
                  <c:v>Uganda*</c:v>
                </c:pt>
                <c:pt idx="6">
                  <c:v>Honduras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63.0</c:v>
                </c:pt>
                <c:pt idx="1">
                  <c:v>31.7</c:v>
                </c:pt>
                <c:pt idx="2">
                  <c:v>12.5</c:v>
                </c:pt>
                <c:pt idx="3">
                  <c:v>12.37</c:v>
                </c:pt>
                <c:pt idx="4">
                  <c:v>11.56</c:v>
                </c:pt>
                <c:pt idx="5">
                  <c:v>7.1</c:v>
                </c:pt>
                <c:pt idx="6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2026/27F</c:v>
                </c:pt>
              </c:strCache>
            </c:strRef>
          </c:tx>
          <c:spPr>
            <a:solidFill>
              <a:srgbClr val="1BAF7A"/>
            </a:solidFill>
            <a:ln w="9525"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71.9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32.5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13.4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11.4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12.1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7.2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1F1E1C"/>
                        </a:solidFill>
                        <a:latin typeface="Calibri"/>
                      </a:rPr>
                      <a:t>6.0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Brazil</c:v>
                </c:pt>
                <c:pt idx="1">
                  <c:v>Vietnam</c:v>
                </c:pt>
                <c:pt idx="2">
                  <c:v>Colombia*</c:v>
                </c:pt>
                <c:pt idx="3">
                  <c:v>Indonesia*</c:v>
                </c:pt>
                <c:pt idx="4">
                  <c:v>Ethiopia*</c:v>
                </c:pt>
                <c:pt idx="5">
                  <c:v>Uganda*</c:v>
                </c:pt>
                <c:pt idx="6">
                  <c:v>Honduras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71.9</c:v>
                </c:pt>
                <c:pt idx="1">
                  <c:v>32.5</c:v>
                </c:pt>
                <c:pt idx="2">
                  <c:v>13.4</c:v>
                </c:pt>
                <c:pt idx="3">
                  <c:v>11.38</c:v>
                </c:pt>
                <c:pt idx="4">
                  <c:v>12.1</c:v>
                </c:pt>
                <c:pt idx="5">
                  <c:v>7.2</c:v>
                </c:pt>
                <c:pt idx="6">
                  <c:v>6.0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C3C2B7"/>
            </a:solidFill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898781"/>
                </a:solidFill>
                <a:latin typeface="Calibri"/>
              </a:defRPr>
            </a:pPr>
          </a:p>
        </c:txPr>
        <c:crossAx val="-2068027336"/>
        <c:crosses val="autoZero"/>
        <c:majorUnit val="20.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52514E"/>
              </a:solidFill>
              <a:latin typeface="Calibri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00">
          <a:solidFill>
            <a:srgbClr val="52514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pack built only from official statistics (USDA, ICO, IMF, World Bank, ABIC, IBGE, BLS). Every number is computed from the files in research/coffee-demand/data; see the last two slides for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answers to the brief. Each box is expanded in the section of the same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USDA for the long history: it is the only official source with a consistent country-by-country balance for every year since 2005. ICO numbers are shown where they add information (coffee-year balance, regions, exports by type).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USDA world consumption is the sum of 90+ country balances. The +10.6% in 2009/10 and the dips in 2010/11 and 2023/24 are largely inventory movements in importing countries (USDA measures disappearance), so read the trend, not single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USDA's July-2026 report did not state its revised 2025/26 stocks; the +1.9m stock build is USDA's own figure versus that revised base, so the bottom chart stops at 2025/26 (Dec-2025 vintage).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USDA reports the EU as one balance. Within Europe the ICO's 2019 data rank Germany (8.7m), France (6.2m), Italy (5.5m), Spain (3.3m), UK (3.8m).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kg per person = USDA consumption × 60 kg / World Bank population (2024). Green-bean equivalent, including instant.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Starbucks store counts from 10-K filings (FY2007, FY2009, FY2011–13 not captured, so the left chart shows points, not a line). Luckin's 22,340 stores is its FY2024 20-F figure as quoted in a secondary source (not re-checked against the filing).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rates are compound annual rates 2005→2024. China's 2005/06 base is tiny (0.2m bags), so its rate is extreme; Egypt, Turkey and Vietnam also start from low bases.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Arabica = ICO 'Other Milds' indicator (Central American/Peruvian washed arabica, NY ex-dock), robusta = ICO 'Robustas'. IMF series to Sep-2025, ICO Coffee Market Report tables for Oct-2025 to Aug-2026.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Rule: Keep growing = 3-yr average consumption up more than 10%; Inelastic = between −5% and +10% with no structural break; Cut back = down more than 5% or a break in trend at the price peak (Brazil: ABIC −2.3% in 2025). Japan's decline started before the spike (structural + price).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price = 60% ICO Other Milds + 40% ICO Robustas, coffee-year (Oct–Sep) average. 'Reading' separates price-driven drops from inventory swings (importers' USDA consumption includes stock changes) and structural declines (Japan).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Correlation between the 12-month change in the robusta export share and the 12-month change in the price ratio (3–6 months earlier) is about +0.35: positive but modest, because export shares also move with Brazil's arabica on/off-year cycle and robusta crops in Vietnam/Brazil.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Relationship Id="rId3" Type="http://schemas.openxmlformats.org/officeDocument/2006/relationships/chart" Target="../charts/chart15.xml"/><Relationship Id="rId4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Relationship Id="rId4" Type="http://schemas.openxmlformats.org/officeDocument/2006/relationships/chart" Target="../charts/chart21.xml"/><Relationship Id="rId5" Type="http://schemas.openxmlformats.org/officeDocument/2006/relationships/chart" Target="../charts/chart22.xml"/><Relationship Id="rId6" Type="http://schemas.openxmlformats.org/officeDocument/2006/relationships/chart" Target="../charts/chart23.xml"/><Relationship Id="rId7" Type="http://schemas.openxmlformats.org/officeDocument/2006/relationships/chart" Target="../charts/chart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Relationship Id="rId6" Type="http://schemas.openxmlformats.org/officeDocument/2006/relationships/chart" Target="../charts/chart29.xml"/><Relationship Id="rId7" Type="http://schemas.openxmlformats.org/officeDocument/2006/relationships/chart" Target="../charts/chart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Relationship Id="rId3" Type="http://schemas.openxmlformats.org/officeDocument/2006/relationships/chart" Target="../charts/chart32.xml"/><Relationship Id="rId4" Type="http://schemas.openxmlformats.org/officeDocument/2006/relationships/chart" Target="../charts/chart33.xml"/><Relationship Id="rId5" Type="http://schemas.openxmlformats.org/officeDocument/2006/relationships/chart" Target="../charts/chart34.xml"/><Relationship Id="rId6" Type="http://schemas.openxmlformats.org/officeDocument/2006/relationships/chart" Target="../charts/chart35.xml"/><Relationship Id="rId7" Type="http://schemas.openxmlformats.org/officeDocument/2006/relationships/chart" Target="../charts/chart3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Relationship Id="rId3" Type="http://schemas.openxmlformats.org/officeDocument/2006/relationships/chart" Target="../charts/chart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Relationship Id="rId3" Type="http://schemas.openxmlformats.org/officeDocument/2006/relationships/chart" Target="../charts/chart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Relationship Id="rId3" Type="http://schemas.openxmlformats.org/officeDocument/2006/relationships/chart" Target="../charts/chart43.xml"/><Relationship Id="rId4" Type="http://schemas.openxmlformats.org/officeDocument/2006/relationships/notesSlide" Target="../notesSlides/notesSlide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Relationship Id="rId3" Type="http://schemas.openxmlformats.org/officeDocument/2006/relationships/chart" Target="../charts/chart46.xml"/><Relationship Id="rId4" Type="http://schemas.openxmlformats.org/officeDocument/2006/relationships/chart" Target="../charts/chart47.xml"/><Relationship Id="rId5" Type="http://schemas.openxmlformats.org/officeDocument/2006/relationships/chart" Target="../charts/chart48.xml"/><Relationship Id="rId6" Type="http://schemas.openxmlformats.org/officeDocument/2006/relationships/chart" Target="../charts/chart49.xml"/><Relationship Id="rId7" Type="http://schemas.openxmlformats.org/officeDocument/2006/relationships/chart" Target="../charts/chart50.xml"/><Relationship Id="rId8" Type="http://schemas.openxmlformats.org/officeDocument/2006/relationships/chart" Target="../charts/chart51.xml"/><Relationship Id="rId9" Type="http://schemas.openxmlformats.org/officeDocument/2006/relationships/chart" Target="../charts/chart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D9A441"/>
                </a:solidFill>
                <a:latin typeface="Calibri"/>
              </a:rPr>
              <a:t>COFFEE MARKET RESEARCH · DEMAND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Who drinks the coffee, who flinches at the price, who keeps producing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77639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9DFD3"/>
                </a:solidFill>
                <a:latin typeface="Calibri"/>
              </a:rPr>
              <a:t>World coffee demand 2005–2026: growth vs supply, who consumes and why, the marginal buyer (elastic vs inelastic, bean switching) and the marginal producer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B2A3"/>
                </a:solidFill>
                <a:latin typeface="Calibri"/>
              </a:rPr>
              <a:t>September 2026 · volumes: USDA PSD &amp; ICO · prices: IMF/ICO to Aug-2026 · national data: ABIC (Brazil), IBGE, BLS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Demand is a slow, steady engine; supply and a few price-sensitive buyers set the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ICO Coffee Market Reports (monthly tables) · IMF Primary Commodity Prices (ICO New York cash quotes, US c/lb) · ABIC · World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593592" cy="2103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282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A44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78308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Demand grows steadily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58568"/>
            <a:ext cx="3264408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1E1C"/>
                </a:solidFill>
                <a:latin typeface="Calibri"/>
              </a:rPr>
              <a:t>World use 125.2m → 173.9m bags (2005/06→2025/26): +2.4m bags or 1.7% a year; down in only 6 of 20 years. 2026/27F: record 179.7m.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00200"/>
            <a:ext cx="3593592" cy="2103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7282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A441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78308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Supply sets the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258568"/>
            <a:ext cx="3264408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1E1C"/>
                </a:solidFill>
                <a:latin typeface="Calibri"/>
              </a:rPr>
              <a:t>Output swings twice as much (σ of y/y 6.0% vs 3.3%). In 2020/21→2025/26 supply grew 0.3%/yr vs demand 1.4%/yr: stocks −17.3m to 20.1m, stocks-to-use 12% → price spike.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600200"/>
            <a:ext cx="3593592" cy="2103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17282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A441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783080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Who drinks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258568"/>
            <a:ext cx="3264408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1E1C"/>
                </a:solidFill>
                <a:latin typeface="Calibri"/>
              </a:rPr>
              <a:t>Europe (EU-27+UK 46.2m) and the US (26.6m) are biggest but flat. 47% of the growth since 2005 came from producing countries, 31% from new importers (China ×30).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04487"/>
            <a:ext cx="3593592" cy="2103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0325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A441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087368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Why it grows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562855"/>
            <a:ext cx="3264408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1E1C"/>
                </a:solidFill>
                <a:latin typeface="Calibri"/>
              </a:rPr>
              <a:t>~68% of growth is more people, ~32% more coffee per head — driven by income and cities in Asia/MENA, café chains (Starbucks stores ×4 since FY05) and instant (soluble 11% → 17% of use).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904487"/>
            <a:ext cx="3593592" cy="2103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40325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A441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087368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Marginal buyers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562855"/>
            <a:ext cx="3264408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1E1C"/>
                </a:solidFill>
                <a:latin typeface="Calibri"/>
              </a:rPr>
              <a:t>Green prices +136% (3-yr avg). Inelastic: EU 0%, US −3%. Still growing: China +90%. Cut back: Japan −15%, Algeria −9%, Brazil (ABIC −2.3% in 2025 after retail +80% y/y).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2440" y="3904487"/>
            <a:ext cx="3593592" cy="2103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4032503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A441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368" y="4087368"/>
            <a:ext cx="2862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Switching &amp; producers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4562855"/>
            <a:ext cx="3264408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1E1C"/>
                </a:solidFill>
                <a:latin typeface="Calibri"/>
              </a:rPr>
              <a:t>Roasters add robusta when arabica trades ≥1.8× robusta (export share 39% in 22/23, ~45% in 25/26 YTD). Brazil, Vietnam, Ethiopia, Uganda produce through lows; Central America cut after the 2018–19 low and never recovered; high prices now deliver a record 189.7m crop (2026/27F).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40103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HOW TO READ THIS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Sources, definitions and the three numbers you need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See appendix for URLs and data vintages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83112" cy="32918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103120"/>
                <a:gridCol w="5760720"/>
                <a:gridCol w="331927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Unit / note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1E1C"/>
                          </a:solidFill>
                          <a:latin typeface="Calibri"/>
                        </a:rPr>
                        <a:t>Volumes (supply &amp; demand)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USDA FAS PSD (Production, Supply &amp; Distribution), all countries, 2005/06–2025/26; USDA Jul-2026 report for 2026/27 forecasts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Million 60-kg bags of green-bean equivalent; marketing years (e.g. 2024/25)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1E1C"/>
                          </a:solidFill>
                          <a:latin typeface="Calibri"/>
                        </a:rPr>
                        <a:t>Consumption definition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USDA 'domestic consumption' = use/disappearance (imports − re-exports ± stock change in importing countries). ICO uses coffee years (Oct–Sep) and 'apparent consumption'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Year-to-year moves in importers include inventory swings: read trends on 3-year averages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1E1C"/>
                          </a:solidFill>
                          <a:latin typeface="Calibri"/>
                        </a:rPr>
                        <a:t>Prices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IMF PCPS / ICO indicator prices: 'Arabica' = ICO Other Milds, 'Robusta' = ICO Robustas, New York cash, monthly to Aug-2026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US cents per lb; coffee-year averages Oct–Sep; 'green price' = 60% arabica + 40% robusta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1E1C"/>
                          </a:solidFill>
                          <a:latin typeface="Calibri"/>
                        </a:rPr>
                        <a:t>Bean mix / switching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ICO monthly exports by group (Colombian Milds, Other Milds, Brazilian Naturals, Robustas), Sep-2015–Jul-2026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Robusta share of world exports, all forms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1E1C"/>
                          </a:solidFill>
                          <a:latin typeface="Calibri"/>
                        </a:rPr>
                        <a:t>National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ABIC (Brazil roasters' association) consumption; IBGE IPCA ground-coffee price index; BLS US CPI coffee; World Bank population &amp; GDP per capita; company reports (Starbucks)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Brazil period = Nov–Oct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2578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B1A12"/>
                </a:solidFill>
                <a:latin typeface="Calibri"/>
              </a:rPr>
              <a:t>1 bag = 60 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11367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green coffee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59" y="52578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B1A12"/>
                </a:solidFill>
                <a:latin typeface="Calibri"/>
              </a:rPr>
              <a:t>1m bags ≈ 60,000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5611367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≈ 0.6% of world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25780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B1A12"/>
                </a:solidFill>
                <a:latin typeface="Calibri"/>
              </a:rPr>
              <a:t>100 US c/lb ≈ $2.20/kg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5611367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≈ $2,205 per tonne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D9A441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global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9DFD3"/>
                </a:solidFill>
                <a:latin typeface="Calibri"/>
              </a:rPr>
              <a:t>How fast does world demand grow, year by year — and is it growing faster than supply?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12417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GLOBAL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World demand grew in 14 of the last 20 years: +48.7m bags since 2005/06, about +2.4m (+1.7%) a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World coffee consumption, million 60-kg bags (top) and year-on-year change, % (bottom); 2026/27 = USDA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4663440"/>
          <a:ext cx="7772400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58200" y="187451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1A12"/>
                </a:solidFill>
                <a:latin typeface="Calibri"/>
              </a:rPr>
              <a:t>+1.7% / 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35000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CAGR 2005/06→2025/26 (125.2m → 173.9m bags)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92607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1A12"/>
                </a:solidFill>
                <a:latin typeface="Calibri"/>
              </a:rPr>
              <a:t>+2.4m bags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401568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average extra demand every year ≈ one Honduras crop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977639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1A12"/>
                </a:solidFill>
                <a:latin typeface="Calibri"/>
              </a:rPr>
              <a:t>6 down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453127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2006/07, 2008/09, 2010/11, 2019/20, 2020/21, 2023/24 — mostly stock swings in importers or COVID (2019/20–2020/21)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120640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B1A12"/>
                </a:solidFill>
                <a:latin typeface="Calibri"/>
              </a:rPr>
              <a:t>179.7m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5596127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2026/27 USDA forecast, record (+3.4% vs Dec-25 estimate)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40103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DEMAND VS 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Supply grew faster over 20 years (2.1% vs 1.7% a year), but stalled in 2020–25 while demand kept rising — stocks were cut almost in half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World production vs consumption, million bags (top); change in world ending stocks, million bags (bottom)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4572000"/>
          <a:ext cx="7772400" cy="1783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1A12"/>
                </a:solidFill>
                <a:latin typeface="Calibri"/>
              </a:rPr>
              <a:t>Is demand outgrowing supply?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20 years: no.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Production +2.1%/yr vs consumption +1.7%/yr (2005/06 was a small Brazil crop).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2020/21→2025/26: yes.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Demand +1.4%/yr, supply +0.3%/yr; five straight stock draws, 37.5m → 20.1m bags.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2026/27F: supply back.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Output +6.0% to a record 189.7m; USDA sees stocks rebuilding +1.9m to 26.3m (first rise in six years).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ICO agrees: four deficit years 2021/22–2024/25, then a 3.0m surplus in 2025/26.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15998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GROWTH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Demand grows 1–2.5% a year in every 5-year block; supply lurches between +0.3% and +3.7%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Compound annual growth by period, %: world consumption vs world production (USDA); labels under the chart = change in ending stocks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16698" y="5806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34948"/>
                </a:solidFill>
                <a:latin typeface="Calibri"/>
              </a:rPr>
              <a:t>stocks −3.9m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4919" y="5806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2514E"/>
                </a:solidFill>
                <a:latin typeface="Calibri"/>
              </a:rPr>
              <a:t>stocks +6.3m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140" y="5806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52514E"/>
                </a:solidFill>
                <a:latin typeface="Calibri"/>
              </a:rPr>
              <a:t>stocks +2.5m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1361" y="5806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E34948"/>
                </a:solidFill>
                <a:latin typeface="Calibri"/>
              </a:rPr>
              <a:t>stocks −17.3m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1A12"/>
                </a:solidFill>
                <a:latin typeface="Calibri"/>
              </a:rPr>
              <a:t>Reading it like a trader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Demand growth is narrow-band: 1.1–2.5%/yr. It is the anchor, not the driver, of the price cycle.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Supply growth is lumpy — Brazil's biennial cycle, frosts (2021), droughts (2023–24) and slow tree renewal.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Only in 2020–25 did demand beat supply: the 17.3m stock draw is what produced record prices.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Rule of thumb: world demand needs ~+2.5m bags of new supply each year just to stand still.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8831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STOCKS &amp;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Stocks-to-use fell from 31% to 12% — and green prices doubled: tight stocks, not demand booms, drive price spikes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World ending stocks as % of consumption (top, USDA); average price by coffee year Oct–Sep, US c/lb (bottom, IMF/ICO)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ICO Coffee Market Reports (monthly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4069079"/>
          <a:ext cx="77724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1A12"/>
                </a:solidFill>
                <a:latin typeface="Calibri"/>
              </a:rPr>
              <a:t>So what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Stocks peaked at 43.1m bags in 2014/15 (≈31% of a year's use).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By 2025/26 they were 20.1m — 12% of use, the lowest since at least 2005.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Arabica averaged 361 c/lb in 2024/25 vs 129 in 2018/19; robusta 226 vs 76.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Below ~16% stocks-to-use (red bars) the market has no buffer against a weather shock.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USDA's 2026/27 rebuild (14.6%F) is the first step back — watch whether it 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WHO CONSUMES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Europe and the US still drink 42% of the world's coffee — but the next ten are mostly producing and emerging countries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Coffee consumption by country, million bags, 2025/26 (USDA forecast, Dec-2025) vs 2005/06; label = 2025/26 volume and share of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EU-27 + UK combined because USDA's EU series excludes the UK from 2016/17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799"/>
          <a:ext cx="77724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1A12"/>
                </a:solidFill>
                <a:latin typeface="Calibri"/>
              </a:rPr>
              <a:t>Who, and how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Largest bloc: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EU-27+UK 46.2m (Germany, France, Italy lead — ICO).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Largest country: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US 26.6m, then Brazil 22.3m — a producer that drinks ~a third of its crop.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Fastest risers: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China 0.2→5.8m, Vietnam, Philippines, Turkey, Korea.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How they drink differs: Europe/US/Brazil &gt;90% roast &amp; ground (home + cafés); instant is 91% in the Philippines and ~⅓ in China, Indonesia, Vietnam (USDA).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Top 15 = 86% of world 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195474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WHERE GROWTH CAME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78% of the extra 48.7m bags since 2005/06 came from producing countries and new importers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Change in consumption 2005/06 → 2025/26, million bags, largest contributors and decliners; colour = buyer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799"/>
          <a:ext cx="77724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03920" y="1947672"/>
            <a:ext cx="182880" cy="182880"/>
          </a:xfrm>
          <a:prstGeom prst="rect">
            <a:avLst/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6528" y="1856231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Producing countries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14883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+22.9m bags · 47% of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2816352"/>
            <a:ext cx="182880" cy="182880"/>
          </a:xfrm>
          <a:prstGeom prst="rect">
            <a:avLst/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272491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Emerging importers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017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+15.1m bags · 31% of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685032"/>
            <a:ext cx="182880" cy="18288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359359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Traditional importers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3886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+10.7m bags · 22% of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572000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52514E"/>
                </a:solidFill>
                <a:latin typeface="Calibri"/>
              </a:rPr>
              <a:t>Producing countries </a:t>
            </a:r>
            <a:r>
              <a:rPr sz="1050" b="0" i="0">
                <a:solidFill>
                  <a:srgbClr val="52514E"/>
                </a:solidFill>
                <a:latin typeface="Calibri"/>
              </a:rPr>
              <a:t>= countries that also grow coffee (Brazil, Vietnam, Philippines, Indonesia, Ethiopia, Mexico…). </a:t>
            </a:r>
          </a:p>
          <a:p>
            <a:pPr algn="l"/>
            <a:r>
              <a:rPr sz="1050" b="1" i="0">
                <a:solidFill>
                  <a:srgbClr val="52514E"/>
                </a:solidFill>
                <a:latin typeface="Calibri"/>
              </a:rPr>
              <a:t>Emerging importers </a:t>
            </a:r>
            <a:r>
              <a:rPr sz="1050" b="0" i="0">
                <a:solidFill>
                  <a:srgbClr val="52514E"/>
                </a:solidFill>
                <a:latin typeface="Calibri"/>
              </a:rPr>
              <a:t>= China, Korea, Russia, Turkey, Middle East &amp; North Africa…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BUYER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Traditional importers fell from 63% to 52% of world demand in 20 years — the centre of gravity is moving to origin countries and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World consumption by buyer group, million bags (USDA); labels = share of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1A12"/>
                </a:solidFill>
                <a:latin typeface="Calibri"/>
              </a:rPr>
              <a:t>So what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Traditional importers (EU+UK, US, Japan, Canada, Switzerland, Norway, Australia) grew only 0.6%/yr.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Producing countries grew 2.7%/yr — they now drink 55m bags, ~31% of world output, before exporting.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Emerging importers grew 3.8%/yr (China, Korea, Turkey, Gulf, North Africa).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Implication: the export surplus of Brazil, Vietnam, Indonesia, Ethiopia shrinks as their own populations drink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132941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HEADROOM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Coffee per person rises with income — China (0.26 kg) and India (0.05 kg) sit far below Europe (5.3 kg): that is the growth runway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Consumption per person, kg of green coffee per year (2024/25), vs GDP per capita, current US$ (2024, log scale); countries using ≥0.7m bags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World Bank WDI (population, GDP per capita)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943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Calibri"/>
              </a:rPr>
              <a:t>GDP per capita, US$ (log scale)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1A12"/>
                </a:solidFill>
                <a:latin typeface="Calibri"/>
              </a:rPr>
              <a:t>Headroom maths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If China reached Korea's 3.9 kg, it would need ~92m bags — 15× today.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Indonesia (1.0 kg), Vietnam (2.9 kg), Turkey (1.3 kg) are mid-way.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Saturation sits around 4–9 kg: Nordics, Switzerland, Canada, Brazil, Europe, the US.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Japan is the exception: rich, but per-capita use is falling (ageing, RTD/tea competition).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 · WHY IT GROWS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About two thirds of demand growth is simply more people; one third is more coffee per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Decomposition of world consumption growth 2005/06 → 2024/25, million bags (USDA volumes, World Bank population)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World Bank population (SP.POP.TOTL)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B1A12"/>
                </a:solidFill>
                <a:latin typeface="Calibri"/>
              </a:rPr>
              <a:t>The two engines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Population +23.8%: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6.58bn → 8.14bn people (~68% of growth, log basis).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1F1E1C"/>
                </a:solidFill>
                <a:latin typeface="Calibri"/>
              </a:rPr>
              <a:t>Per person +10.7%: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1.14 → 1.26 kg a year (~32% of growth).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Per-capita gains come from Asia, the Middle East and producing countries; in Europe, the US and Japan per-capita use is flat or falling.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1F1E1C"/>
                </a:solidFill>
                <a:latin typeface="Calibri"/>
              </a:rPr>
              <a:t>So demand growth is structurally ~1.2% from demography + ~0.5% from habits and income.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D9A441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Demand segments &amp;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9DFD3"/>
                </a:solidFill>
                <a:latin typeface="Calibri"/>
              </a:rPr>
              <a:t>Which kind of demand grew — homes, cafés, instant, roasters — and what drove it year by year?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057046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·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Instant coffee is the fastest-growing format: soluble rose from 11% to 17% of world consumption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World consumption by format, million bags: roast &amp; ground vs soluble (instant), USDA; labels = soluble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B1A12"/>
                </a:solidFill>
                <a:latin typeface="Calibri"/>
              </a:rPr>
              <a:t>Segments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1" i="0">
                <a:solidFill>
                  <a:srgbClr val="1F1E1C"/>
                </a:solidFill>
                <a:latin typeface="Calibri"/>
              </a:rPr>
              <a:t>Soluble: </a:t>
            </a:r>
            <a:r>
              <a:rPr sz="1050" b="0" i="0">
                <a:solidFill>
                  <a:srgbClr val="1F1E1C"/>
                </a:solidFill>
                <a:latin typeface="Calibri"/>
              </a:rPr>
              <a:t>14.1m → 29.1m bags, +3.7%/yr — dominant in the Philippines (91%), Thailand, India, Mexico; ~⅓ of use in China, Indonesia, Vietnam; mostly robusta.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1" i="0">
                <a:solidFill>
                  <a:srgbClr val="1F1E1C"/>
                </a:solidFill>
                <a:latin typeface="Calibri"/>
              </a:rPr>
              <a:t>Roast &amp; ground: </a:t>
            </a:r>
            <a:r>
              <a:rPr sz="1050" b="0" i="0">
                <a:solidFill>
                  <a:srgbClr val="1F1E1C"/>
                </a:solidFill>
                <a:latin typeface="Calibri"/>
              </a:rPr>
              <a:t>+1.3%/yr — home brewing, capsules and cafés in mature markets.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Capsules/pods show up as roasted-coffee trade: world roast &amp; ground exports 1.6m → 6.7m bags; Switzerland (Nespresso's base) alone 1.9m.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Channel split is not in official data: in Brazil, retail (at-home) is 73–78% of volume, cafés/out-of-home the rest (ABIC, 2025).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· COFFEE SHOPS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Coffee-shop chains quadrupled their footprint — Starbucks alone went from 10,241 to 40,990 stores, and the growth has moved to China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Starbucks stores worldwide at fiscal year-end (left; FY07, FY09, FY11–13 not captured); Starbucks China vs US stores, FY2020–FY2025 (right; FY22 not captured)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Starbucks Form 10-K / annual reports (fiscal years to late Sep/early Oct) · Luckin Coffee Form 20-F (FY2024), as quoted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5394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080760" y="1874519"/>
          <a:ext cx="3749039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12680" y="1874519"/>
            <a:ext cx="1691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B1A12"/>
                </a:solidFill>
                <a:latin typeface="Calibri"/>
              </a:rPr>
              <a:t>×4.0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52514E"/>
                </a:solidFill>
                <a:latin typeface="Calibri"/>
              </a:rPr>
              <a:t>Starbucks stores FY05→FY25</a:t>
            </a:r>
          </a:p>
          <a:p>
            <a:pPr algn="l"/>
            <a:r>
              <a:rPr sz="2400" b="1" i="0">
                <a:solidFill>
                  <a:srgbClr val="2B1A12"/>
                </a:solidFill>
                <a:latin typeface="Calibri"/>
              </a:rPr>
              <a:t>+70%</a:t>
            </a:r>
          </a:p>
          <a:p>
            <a:pPr algn="l">
              <a:spcAft>
                <a:spcPts val="1000"/>
              </a:spcAft>
            </a:pPr>
            <a:r>
              <a:rPr sz="1000" b="0" i="0">
                <a:solidFill>
                  <a:srgbClr val="52514E"/>
                </a:solidFill>
                <a:latin typeface="Calibri"/>
              </a:rPr>
              <a:t>Starbucks China FY20→FY25 vs US +10%</a:t>
            </a:r>
          </a:p>
          <a:p>
            <a:pPr algn="l"/>
            <a:r>
              <a:rPr sz="2400" b="1" i="0">
                <a:solidFill>
                  <a:srgbClr val="2B1A12"/>
                </a:solidFill>
                <a:latin typeface="Calibri"/>
              </a:rPr>
              <a:t>22,340</a:t>
            </a:r>
          </a:p>
          <a:p>
            <a:pPr algn="l"/>
            <a:r>
              <a:rPr sz="1000" b="0" i="0">
                <a:solidFill>
                  <a:srgbClr val="52514E"/>
                </a:solidFill>
                <a:latin typeface="Calibri"/>
              </a:rPr>
              <a:t>Luckin stores end-2024 (20-F) — ~2.9× Starbucks China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· INCOME &amp;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Where incomes multiplied, coffee demand multiplied faster — the income effect is strongest in Asia and the Middle East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Growth 2005→2024, % per year: GDP per capita in current US$ (x, World Bank) vs coffee consumption (y, USDA); countries with ≥0.7m bags in 2024/25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World Bank WDI NY.GDP.PCAP.CD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B1A12"/>
                </a:solidFill>
                <a:latin typeface="Calibri"/>
              </a:rPr>
              <a:t>Drivers, with numbers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1" i="0">
                <a:solidFill>
                  <a:srgbClr val="1F1E1C"/>
                </a:solidFill>
                <a:latin typeface="Calibri"/>
              </a:rPr>
              <a:t>Income: </a:t>
            </a:r>
            <a:r>
              <a:rPr sz="1050" b="0" i="0">
                <a:solidFill>
                  <a:srgbClr val="1F1E1C"/>
                </a:solidFill>
                <a:latin typeface="Calibri"/>
              </a:rPr>
              <a:t>China GDP/head ×7.5 (2005→24), Vietnam ×6.6, Indonesia ×4.0.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1" i="0">
                <a:solidFill>
                  <a:srgbClr val="1F1E1C"/>
                </a:solidFill>
                <a:latin typeface="Calibri"/>
              </a:rPr>
              <a:t>Cities: </a:t>
            </a:r>
            <a:r>
              <a:rPr sz="1050" b="0" i="0">
                <a:solidFill>
                  <a:srgbClr val="1F1E1C"/>
                </a:solidFill>
                <a:latin typeface="Calibri"/>
              </a:rPr>
              <a:t>China's urban share rose from 42.5% to 65.5% (World Bank) — cafés and office demand follow.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1" i="0">
                <a:solidFill>
                  <a:srgbClr val="1F1E1C"/>
                </a:solidFill>
                <a:latin typeface="Calibri"/>
              </a:rPr>
              <a:t>Habit: </a:t>
            </a:r>
            <a:r>
              <a:rPr sz="1050" b="0" i="0">
                <a:solidFill>
                  <a:srgbClr val="1F1E1C"/>
                </a:solidFill>
                <a:latin typeface="Calibri"/>
              </a:rPr>
              <a:t>demand grows faster than income where coffee is new: China 20%/yr, Turkey 12%, Vietnam 11% a year (2005→24).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1" i="0">
                <a:solidFill>
                  <a:srgbClr val="1F1E1C"/>
                </a:solidFill>
                <a:latin typeface="Calibri"/>
              </a:rPr>
              <a:t>Mature: </a:t>
            </a:r>
            <a:r>
              <a:rPr sz="1050" b="0" i="0">
                <a:solidFill>
                  <a:srgbClr val="1F1E1C"/>
                </a:solidFill>
                <a:latin typeface="Calibri"/>
              </a:rPr>
              <a:t>EU, US, Japan sit near zero — income no longer adds volume, only value (premium, cafés).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360627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 · SEGMENT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Demand map: three buyer groups with very different growth and price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Size and growth by segment (USDA volumes); price response measured over the 2021–25 spike (see section 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ABIC · Starbucks 10-K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2" cy="42062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17520"/>
                <a:gridCol w="1645920"/>
                <a:gridCol w="1325880"/>
                <a:gridCol w="3063240"/>
                <a:gridCol w="2130552"/>
              </a:tblGrid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2025/26 volume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CAGR 05→25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they drink / who buys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Price behaviour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E1C"/>
                          </a:solidFill>
                          <a:latin typeface="Calibri"/>
                        </a:rPr>
                        <a:t>Traditional importers
EU+UK, US, Japan, Canada, CH, NO, AU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89.9m (52%)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+0.6%/yr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Home R&amp;G, capsules, cafés; premiumisation adds value not volume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Inelastic (Japan the exception)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E1C"/>
                          </a:solidFill>
                          <a:latin typeface="Calibri"/>
                        </a:rPr>
                        <a:t>Emerging importers
China, Korea, Russia, Turkey, Gulf, N. Africa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28.9m (17%)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+3.8%/yr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Café chains (Luckin, Starbucks), instant, RTD; young urban buyers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Grow through price spikes; robusta-heavy N. Africa cuts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E1C"/>
                          </a:solidFill>
                          <a:latin typeface="Calibri"/>
                        </a:rPr>
                        <a:t>Producing countries
Brazil, Philippines, Indonesia, Vietnam, Ethiopia, Mexico…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55.0m (32%)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+2.7%/yr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Home brewing &amp; instant; local robusta/conilon blends; retail 73–78% in Brazil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Mixed: Brazil cuts at +80% retail; Asia keeps growing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E1C"/>
                          </a:solidFill>
                          <a:latin typeface="Calibri"/>
                        </a:rPr>
                        <a:t>Format: soluble (instant)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29.1m (17%)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+3.7%/yr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Cheapest cup; robusta-based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Buyers switch into it when prices rise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F1E1C"/>
                          </a:solidFill>
                          <a:latin typeface="Calibri"/>
                        </a:rPr>
                        <a:t>Format: roast &amp; ground (incl. capsules, cafés)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144.8m (83%)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+1.3%/yr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Blend decisions sit with roasters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Roasters switch arabica↔robusta inside blends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D9A441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Marginal buyers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9DFD3"/>
                </a:solidFill>
                <a:latin typeface="Calibri"/>
              </a:rPr>
              <a:t>When green prices more than doubled (2021–2025), who kept buying, who did not react, who cut back — at what price — and who switched beans?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THE PRICE SHOCK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Green coffee tripled from the 2019–20 lows to records in 2025; in Aug-2026 arabica still costs 2.0× robusta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Monthly average prices, US cents/lb: ICO Other Milds (arabica) and ICO Robustas (top); arabica ÷ robusta ratio (bottom). Jan-2010 → Aug-2026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IMF Primary Commodity Prices (ICO New York cash quotes, US c/lb) · ICO Coffee Market Reports (monthly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4800600"/>
          <a:ext cx="7772400" cy="1508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14E"/>
                </a:solidFill>
                <a:latin typeface="Calibri"/>
              </a:rPr>
              <a:t>Arabica ÷ robusta ratio</a:t>
            </a:r>
            <a:r>
              <a:rPr sz="900" b="0" i="0">
                <a:solidFill>
                  <a:srgbClr val="898781"/>
                </a:solidFill>
                <a:latin typeface="Calibri"/>
              </a:rPr>
              <a:t>   (dashed red line = 2.0×)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B1A12"/>
                </a:solidFill>
                <a:latin typeface="Calibri"/>
              </a:rPr>
              <a:t>Price regimes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2017–20: glut. Arabica bottomed at 121 c/lb (2019-05), robusta 64 (2020-04).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2021–22: Brazil frost + drought → arabica spike; ratio &gt; 2.4×.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2023–24: robusta shortfalls (Vietnam, Indonesia) → robusta record, ratio collapses to 1.15× (Sep-2024).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2025: both at records (robusta 263, arabica 410). 2026: easing on record crop outlook, ratio back to 2.0×.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043684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THREE KINDS OF BUYER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Three kinds of buyer: those who keep growing, those who don't react, and those who cut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Classification of the 30 largest consuming countries by the change in consumption (3-yr average 2023/24–2025/26 vs 2017/18–2019/20) while the green price rose 136%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ICO Coffee Market Reports (monthly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611880" cy="64008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↑  KEEP GROWING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775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  <a:latin typeface="Calibri"/>
              </a:rPr>
              <a:t>Demand up &gt;+10% through the spike · 22% of world use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063239"/>
          <a:ext cx="3611879" cy="32918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74519"/>
                <a:gridCol w="914400"/>
                <a:gridCol w="8229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54864" marR="54864" marT="27432" marB="27432" anchor="ctr">
                    <a:solidFill>
                      <a:srgbClr val="008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3-yr avg</a:t>
                      </a:r>
                    </a:p>
                  </a:txBody>
                  <a:tcPr marL="54864" marR="54864" marT="27432" marB="27432" anchor="ctr">
                    <a:solidFill>
                      <a:srgbClr val="0083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 bags</a:t>
                      </a:r>
                    </a:p>
                  </a:txBody>
                  <a:tcPr marL="54864" marR="54864" marT="27432" marB="27432" anchor="ctr">
                    <a:solidFill>
                      <a:srgbClr val="00830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+90%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Iran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+83%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Turkey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+56%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Vietnam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+52%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Saudi Arabia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Taiwan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Colombia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Mexico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Thailand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Morocco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88536" y="1874519"/>
            <a:ext cx="3611880" cy="64008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920239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→  INELASTIC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5696" y="258775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  <a:latin typeface="Calibri"/>
              </a:rPr>
              <a:t>Between −5% and +10%: price barely matters · 52% of world use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88536" y="3063239"/>
          <a:ext cx="3611879" cy="30175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74519"/>
                <a:gridCol w="914400"/>
                <a:gridCol w="8229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54864" marR="54864" marT="27432" marB="27432" anchor="ctr">
                    <a:solidFill>
                      <a:srgbClr val="8987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3-yr avg</a:t>
                      </a:r>
                    </a:p>
                  </a:txBody>
                  <a:tcPr marL="54864" marR="54864" marT="27432" marB="27432" anchor="ctr">
                    <a:solidFill>
                      <a:srgbClr val="8987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 bags</a:t>
                      </a:r>
                    </a:p>
                  </a:txBody>
                  <a:tcPr marL="54864" marR="54864" marT="27432" marB="27432" anchor="ctr">
                    <a:solidFill>
                      <a:srgbClr val="89878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EU-27 + 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46.2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−3%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26.6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Philippines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Canada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Switzerland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Ukraine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Jordan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Argentina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Norway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074152" y="1874519"/>
            <a:ext cx="3611880" cy="640080"/>
          </a:xfrm>
          <a:prstGeom prst="rect">
            <a:avLst/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920239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↓  CUT 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58775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2514E"/>
                </a:solidFill>
                <a:latin typeface="Calibri"/>
              </a:rPr>
              <a:t>Down &gt;5%, or a clear break when prices peaked · 21% of world use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074152" y="3063239"/>
          <a:ext cx="3611879" cy="164592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874519"/>
                <a:gridCol w="914400"/>
                <a:gridCol w="8229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54864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 3-yr avg</a:t>
                      </a:r>
                    </a:p>
                  </a:txBody>
                  <a:tcPr marL="54864" marR="54864" marT="27432" marB="27432" anchor="ctr">
                    <a:solidFill>
                      <a:srgbClr val="E3494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 bags</a:t>
                      </a:r>
                    </a:p>
                  </a:txBody>
                  <a:tcPr marL="54864" marR="54864" marT="27432" marB="27432" anchor="ctr">
                    <a:solidFill>
                      <a:srgbClr val="E3494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Algeria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Serbia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Russia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074152" y="4846320"/>
            <a:ext cx="3611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52514E"/>
                </a:solidFill>
                <a:latin typeface="Calibri"/>
              </a:rPr>
              <a:t>Brazil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is classed as cutting because ABIC measured −2.3% in 2025 (per capita −3.9%) when retail prices rose ~80% y/y; USDA's 3-yr average shows −3%.</a:t>
            </a:r>
          </a:p>
          <a:p>
            <a:pPr algn="l"/>
            <a:r>
              <a:rPr sz="950" b="1" i="0">
                <a:solidFill>
                  <a:srgbClr val="52514E"/>
                </a:solidFill>
                <a:latin typeface="Calibri"/>
              </a:rPr>
              <a:t>US (−3%)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stays inelastic: its dip was destocking and reversed (+11% in 2024/25).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43652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KEEP GROWING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Keep growing whatever the price: China, Vietnam and Turkey added 50–90% through the spike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Each card: arabica &amp; robusta coffee-year average price, US c/lb (top) · consumption, million bags, with y/y % (bottom). 2015/16 → 2025/26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ICO Coffee Market Reports (monthly tables) · red bars = y/y decline; elasticity = own estimate, see slide 'Elasticity'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China</a:t>
            </a:r>
            <a:r>
              <a:rPr sz="1100" b="1" i="0">
                <a:solidFill>
                  <a:srgbClr val="008300"/>
                </a:solidFill>
                <a:latin typeface="Calibri"/>
              </a:rPr>
              <a:t>   3-yr avg +90%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5.85m bags · elasticity −0.76 (±1.11)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Vietnam</a:t>
            </a:r>
            <a:r>
              <a:rPr sz="1100" b="1" i="0">
                <a:solidFill>
                  <a:srgbClr val="008300"/>
                </a:solidFill>
                <a:latin typeface="Calibri"/>
              </a:rPr>
              <a:t>   3-yr avg +52%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79392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79392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389120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4.90m bags · elasticity +0.09 (±0.30)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Turkey</a:t>
            </a:r>
            <a:r>
              <a:rPr sz="1100" b="1" i="0">
                <a:solidFill>
                  <a:srgbClr val="008300"/>
                </a:solidFill>
                <a:latin typeface="Calibri"/>
              </a:rPr>
              <a:t>   3-yr avg +56%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055864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055864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165592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1.75m bags · elasticity −0.16 (±0.43)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08192"/>
            <a:ext cx="11183112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08990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8300"/>
                </a:solidFill>
                <a:latin typeface="Calibri"/>
              </a:rPr>
              <a:t>Takeaway: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Growth markets are building the habit (cafés, instant, young urban buyers); a doubling of green prices slowed China only in 2025/26.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208836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INELASTIC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Inelastic: Europe, the US and Canada barely moved while green prices more than doubled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Each card: arabica &amp; robusta coffee-year average price, US c/lb (top) · consumption, million bags, with y/y % (bottom). 2015/16 → 2025/26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ICO Coffee Market Reports (monthly tables) · red bars = y/y decline; elasticity = own estimate, see slide 'Elasticity'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EU-27 + UK</a:t>
            </a:r>
            <a:r>
              <a:rPr sz="1100" b="1" i="0">
                <a:solidFill>
                  <a:srgbClr val="898781"/>
                </a:solidFill>
                <a:latin typeface="Calibri"/>
              </a:rPr>
              <a:t>   3-yr avg 0%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46.20m bags · elasticity 0.00 (±0.28)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United States</a:t>
            </a:r>
            <a:r>
              <a:rPr sz="1100" b="1" i="0">
                <a:solidFill>
                  <a:srgbClr val="898781"/>
                </a:solidFill>
                <a:latin typeface="Calibri"/>
              </a:rPr>
              <a:t>   3-yr avg −3%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79392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79392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389120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26.55m bags · elasticity +0.05 (±0.14)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Canada</a:t>
            </a:r>
            <a:r>
              <a:rPr sz="1100" b="1" i="0">
                <a:solidFill>
                  <a:srgbClr val="898781"/>
                </a:solidFill>
                <a:latin typeface="Calibri"/>
              </a:rPr>
              <a:t>   3-yr avg +6%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055864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055864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165592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5.20m bags · elasticity +0.05 (±0.13)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08192"/>
            <a:ext cx="11183112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08990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98781"/>
                </a:solidFill>
                <a:latin typeface="Calibri"/>
              </a:rPr>
              <a:t>Takeaway: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Year-to-year swings are inventory moves (destocking in 2022/23–2023/24, restocking in 2024/25), not drinkers quitting.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132941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CUT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Cut back: Japan, Algeria and Brazil are the marginal buyers — they lose volume when prices spike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Each card: arabica &amp; robusta coffee-year average price, US c/lb (top) · consumption, million bags, with y/y % (bottom). 2015/16 → 2025/26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ICO Coffee Market Reports (monthly tables) · red bars = y/y decline; elasticity = own estimate, see slide 'Elasticity'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Japan</a:t>
            </a:r>
            <a:r>
              <a:rPr sz="1100" b="1" i="0">
                <a:solidFill>
                  <a:srgbClr val="E34948"/>
                </a:solidFill>
                <a:latin typeface="Calibri"/>
              </a:rPr>
              <a:t>   3-yr avg −15%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6.72m bags · elasticity −0.11 (±0.10)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Brazil</a:t>
            </a:r>
            <a:r>
              <a:rPr sz="1100" b="1" i="0">
                <a:solidFill>
                  <a:srgbClr val="E34948"/>
                </a:solidFill>
                <a:latin typeface="Calibri"/>
              </a:rPr>
              <a:t>   3-yr avg −3%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79392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79392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389120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22.28m bags · elasticity −0.01 (±0.07)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783079"/>
            <a:ext cx="3630168" cy="431596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837943"/>
            <a:ext cx="34107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B1A12"/>
                </a:solidFill>
                <a:latin typeface="Calibri"/>
              </a:rPr>
              <a:t>Algeria</a:t>
            </a:r>
            <a:r>
              <a:rPr sz="1100" b="1" i="0">
                <a:solidFill>
                  <a:srgbClr val="E34948"/>
                </a:solidFill>
                <a:latin typeface="Calibri"/>
              </a:rPr>
              <a:t>   3-yr avg −9%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055864" y="2112263"/>
          <a:ext cx="3630168" cy="13258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8055864" y="3429000"/>
          <a:ext cx="3630168" cy="214884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165592" y="5715000"/>
            <a:ext cx="3410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2025/26: 2.05m bags · elasticity +0.03 (±0.34)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108192"/>
            <a:ext cx="11183112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089904"/>
            <a:ext cx="11183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34948"/>
                </a:solidFill>
                <a:latin typeface="Calibri"/>
              </a:rPr>
              <a:t>Takeaway: </a:t>
            </a:r>
            <a:r>
              <a:rPr sz="1100" b="0" i="0">
                <a:solidFill>
                  <a:srgbClr val="1F1E1C"/>
                </a:solidFill>
                <a:latin typeface="Calibri"/>
              </a:rPr>
              <a:t>Japan was already declining (ageing, tea/RTD); Algeria is a robusta market hit by the 2023–25 robusta surge; Brazil cut only at +80% retail inflation.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ELASTICITY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Measured short-run price elasticities are close to zero: a 10% rise in green prices moves volumes by ~0–1%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Estimated elasticity of consumption to the green price (same year + 1-year lag), 2006/07–2025/26; label = estimate (±95% range); red = significantly below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own regression: Δln(consumption) on Δln(0.6·arabica+0.4·robusta), t and t−1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28799"/>
          <a:ext cx="777240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B1A12"/>
                </a:solidFill>
                <a:latin typeface="Calibri"/>
              </a:rPr>
              <a:t>How to read it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Elasticity −0.1 = volumes fall 1% when the green price rises 10%.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Big consumers (EU, US, Brazil) sit at ~0: green coffee is a small part of the cup price and habits are sticky.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Significantly negative: Indonesia (−0.43), Japan (−0.11). China's estimate is large but too noisy to be conclusive.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Retail prices move less than green (next slide), so elasticities vs shelf prices are ~2–3× larger.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499055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WHY CONSUMERS BARELY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Consumers see only part of the shock: US shelf prices rose 22% (2019→2024) while green coffee rose 117%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Index 2019 = 100: US CPI 'coffee' (BLS) vs green price (0.6·arabica + 0.4·robusta, IMF/ICO), calendar years (left); Brazil IPCA ground coffee index, Dec-2020 = 100 (right)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BLS CPI (series: coffee, 1982-84=100) · IBGE IPCA 'café moído' · IMF Primary Commodity Prices (ICO New York cash quotes, US c/lb) · both retail series read from public copies of the official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172200" y="1874519"/>
          <a:ext cx="310896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856231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2514E"/>
                </a:solidFill>
                <a:latin typeface="Calibri"/>
              </a:rPr>
              <a:t>Brazil ground coffee, IPCA (Dec-2020 = 100)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1874519"/>
            <a:ext cx="222199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2011679"/>
            <a:ext cx="189280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B1A12"/>
                </a:solidFill>
                <a:latin typeface="Calibri"/>
              </a:rPr>
              <a:t>Pass-through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1F1E1C"/>
                </a:solidFill>
                <a:latin typeface="Calibri"/>
              </a:rPr>
              <a:t>US retail +13% y/y in Jun-25, +18% Jan-26, +10% Jul-26: the shock arrives ~1 year late.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1F1E1C"/>
                </a:solidFill>
                <a:latin typeface="Calibri"/>
              </a:rPr>
              <a:t>Brazil passes it faster: +50% (2021), +40% (2024), +36% (2025), then -15% in 2026 YTD.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1F1E1C"/>
                </a:solidFill>
                <a:latin typeface="Calibri"/>
              </a:rPr>
              <a:t>The larger and faster the retail hit, the more volume is lost.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574950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BRAZIL: WHERE DEMAND CRACKS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Brazil shows the threshold: volumes absorbed +40% retail inflation, fell only when it hit ~+80% y/y — and bounced back as prices fell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Retail ground-coffee inflation, % Dec/Dec (top, IBGE IPCA; 2026 = Dec-25→Aug-26) · domestic consumption, % y/y (bottom, ABIC; 2026 = Jan–Aug retail)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ABIC Indicadores da Indústria de Café · IBGE IPCA 'café moído' · ABIC consumption years run Nov–Oct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576072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51560" y="1828799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14E"/>
                </a:solidFill>
                <a:latin typeface="Calibri"/>
              </a:rPr>
              <a:t>Retail price, % (IPCA ground coffee)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4160520"/>
          <a:ext cx="576072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" y="4133087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14E"/>
                </a:solidFill>
                <a:latin typeface="Calibri"/>
              </a:rPr>
              <a:t>Volume, % y/y (ABIC)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874519"/>
          <a:ext cx="5239512" cy="23774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868680"/>
                <a:gridCol w="1463040"/>
                <a:gridCol w="1188720"/>
                <a:gridCol w="1719072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Retail price (IPCA)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Volume (ABIC)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E1C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+50%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Absorbed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E1C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−1.0%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First dip (inflation, lost income)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E1C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Absorbed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E1C"/>
                          </a:solidFill>
                          <a:latin typeface="Calibri"/>
                        </a:rPr>
                        <a:t>H1-2025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+78% to +82% (12-month)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−2.3% (2025)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Break: per capita −3.9%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F1E1C"/>
                          </a:solidFill>
                          <a:latin typeface="Calibri"/>
                        </a:rPr>
                        <a:t>2026 YTD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 (Dec→Aug)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+2.3% (Jan–Aug)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Recovery (+4.7% May–Aug)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46520" y="4434840"/>
            <a:ext cx="5239512" cy="182880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4572000"/>
            <a:ext cx="491032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B1A12"/>
                </a:solidFill>
                <a:latin typeface="Calibri"/>
              </a:rPr>
              <a:t>Threshold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Two years of +35–40% retail inflation were absorbed; volume only broke when 12-month inflation reached ~+80% (Mar–May 2025).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Elasticity vs retail ≈ −0.03 to −0.05; demand returned within 2–3 quarters once prices fell (−17% y/y by Jul-2026).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271369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AT WHAT PRICE INCREASE?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Demand cracks with a lag: the lasting declines came the year after a +44–48% jump in green prices; most other dips were inventory swings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Decline episodes 2015/16–2025/26 in the 30 largest markets: consumption y/y vs green-price change (coffee-year average, same and previous year)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ICO Coffee Market Reports (monthly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799"/>
          <a:ext cx="11183112" cy="422452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554480"/>
                <a:gridCol w="914400"/>
                <a:gridCol w="1325880"/>
                <a:gridCol w="1417320"/>
                <a:gridCol w="1417320"/>
                <a:gridCol w="1508760"/>
                <a:gridCol w="304495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Consumption y/y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Green price, same yr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Green price, prior yr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Green price level (c/lb)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Reading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Turkey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2025/26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−3.8%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Price-driven, 1-year 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2025/26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−4.5%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Price-driven, 1-year lag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2025/26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Price-driven, 1-year 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Egypt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2025/26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−14.9%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Price-driven, 1-year lag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Colombia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2024/25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−3.4%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Reversed next year (+5.6%): inventory swing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Philippines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2024/25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−6.1%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Reversed next year (+9.0%): inventory swing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2024/25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−6.7%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307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Structural decline, deepened by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2023/24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−4.4%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Reversed next year (+11.4%): inventory swing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Algeria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2023/24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−4.9%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Reversed next year (+5.1%): inventory swing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Switzerland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2023/24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−5.7%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Reversed next year (+11.1%): inventory swing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EU-27 + 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2023/24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−9.6%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Reversed next year (+4.3%): inventory swing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Egypt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2023/24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−27.8%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207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Reversed next year (+80.8%): inventory swing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Canada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2022/23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−4.1%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+44%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Price-driven, 1-year lag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88312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BEAN SWITCHING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Bean switching is real but second-order: robusta gains export share when arabica trades ≥1.8× robusta — supply decides the big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Robusta share of world coffee exports, 12-month rolling, % (top, ICO) · arabica ÷ robusta price ratio, monthly (bottom, IMF/ICO); Aug-2016 → Jul-2026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ICO Coffee Market Reports (monthly tables) · IMF Primary Commodity Prices (ICO New York cash quotes, US c/lb) · own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97280" y="1828799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14E"/>
                </a:solidFill>
                <a:latin typeface="Calibri"/>
              </a:rPr>
              <a:t>Robusta share of world exports, 12-month rolling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02920" y="4251960"/>
          <a:ext cx="7772400" cy="2057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97280" y="42062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2514E"/>
                </a:solidFill>
                <a:latin typeface="Calibri"/>
              </a:rPr>
              <a:t>Arabica ÷ robusta price ratio</a:t>
            </a:r>
            <a:r>
              <a:rPr sz="900" b="0" i="0">
                <a:solidFill>
                  <a:srgbClr val="898781"/>
                </a:solidFill>
                <a:latin typeface="Calibri"/>
              </a:rPr>
              <a:t>   (dashed = 1.8×)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28799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B1A12"/>
                </a:solidFill>
                <a:latin typeface="Calibri"/>
              </a:rPr>
              <a:t>Ratio at month t → change in robusta export share over the next 12 months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458200" y="2377439"/>
          <a:ext cx="3227832" cy="13716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234440"/>
                <a:gridCol w="1261872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Arabica ÷ robusta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Robusta share Δ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below 1.5×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0.0 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1.5–1.8×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+0.3 pp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1.8–2.2×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+1.0 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above 2.2×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+0.4 pp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1E1C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458200" y="3840479"/>
            <a:ext cx="322783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1E1C"/>
                </a:solidFill>
                <a:latin typeface="Calibri"/>
              </a:rPr>
              <a:t>2022/23: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ICO cites 'substitution towards the Robustas' after the 2021–22 arabica spike (ratio 2.5×).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1E1C"/>
                </a:solidFill>
                <a:latin typeface="Calibri"/>
              </a:rPr>
              <a:t>2023–24: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robusta demand + Asian shortfalls close the gap to 1.15× (Sep-2024) — switching reverses.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F1E1C"/>
                </a:solidFill>
                <a:latin typeface="Calibri"/>
              </a:rPr>
              <a:t>2025/26: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ratio ~1.9–2.0× and a record conilon crop push the share to 43%.</a:t>
            </a:r>
          </a:p>
          <a:p>
            <a:pPr algn="l"/>
            <a:r>
              <a:rPr sz="1000" b="1" i="0">
                <a:solidFill>
                  <a:srgbClr val="1F1E1C"/>
                </a:solidFill>
                <a:latin typeface="Calibri"/>
              </a:rPr>
              <a:t>Who: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blend roasters, soluble makers and Brazil's own industry — not the individual drinker.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15998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STRUCTURAL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Structurally the world is moving to robusta and instant: robusta 40% → 47% of output, soluble 11% → 17% of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Robusta share of world production, % (USDA) and soluble share of world consumption, % (USDA); 2026/27 =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B1A12"/>
                </a:solidFill>
                <a:latin typeface="Calibri"/>
              </a:rPr>
              <a:t>Why it matters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Robusta output 47.0m → 83.3m bags (+2.9%/yr) vs arabica 70.8m → 95.5m (+1.5%/yr).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Cheaper beans + instant + espresso blends = the way price-sensitive demand keeps growing.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Robusta's supply base (Vietnam, Brazil conilon, Uganda, Indonesia) is where demand growth lands.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The switch is not one-way: in 2023–24 robusta got too expensive and the share dipped.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195474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 · MARGINAL BUYER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The marginal buyer is small, price-exposed and robusta-heavy — not the European or American drinker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Summary of evidence, 2021–2026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ICO Coffee Market Reports (monthly tables) · ABIC · IBGE · BLS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2" cy="29260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71600"/>
                <a:gridCol w="3657600"/>
                <a:gridCol w="1371600"/>
                <a:gridCol w="3017520"/>
                <a:gridCol w="1764792"/>
              </a:tblGrid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3-yr change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Market role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8300"/>
                          </a:solidFill>
                          <a:latin typeface="Calibri"/>
                        </a:rPr>
                        <a:t>Keep growing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China, Vietnam, Turkey, Saudi Arabia, Korea, Mexico, Indonesia, Ethiopia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+13% to +90%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Price slows, doesn't stop, growth (China −4% in 25/26)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Demand floor: +1m bags/yr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52514E"/>
                          </a:solidFill>
                          <a:latin typeface="Calibri"/>
                        </a:rPr>
                        <a:t>Inelastic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EU-27+UK, US, Canada, Switzerland, Norway, Philippines, India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−3% to +10%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Inventory swings; retail pass-through small and late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Anchor: ~52% of use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34948"/>
                          </a:solidFill>
                          <a:latin typeface="Calibri"/>
                        </a:rPr>
                        <a:t>Cut 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Japan, Algeria, Russia, Serbia, Brazil (2025)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−3% to −15%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Brazil broke at +80% retail; Japan structural + price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Swing: −0.5 to −1m bags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B6834"/>
                          </a:solidFill>
                          <a:latin typeface="Calibri"/>
                        </a:rPr>
                        <a:t>Switchers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Blend roasters, instant makers, Brazil's industry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robusta share ±1–6 pp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Add robusta at ratio ≥1.8×, back when &lt;1.5×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1E1C"/>
                          </a:solidFill>
                          <a:latin typeface="Calibri"/>
                        </a:rPr>
                        <a:t>Moves the arbitrage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1E1C"/>
                </a:solidFill>
                <a:latin typeface="Calibri"/>
              </a:rPr>
              <a:t>Answer to the brief: </a:t>
            </a:r>
            <a:r>
              <a:rPr sz="1300" b="0" i="0">
                <a:solidFill>
                  <a:srgbClr val="1F1E1C"/>
                </a:solidFill>
                <a:latin typeface="Calibri"/>
              </a:rPr>
              <a:t>when prices rise, the volume that disappears is small (≈1–2m bags of 174m) and comes from Japan, North Africa, Eastern Europe/Russia and, at extreme retail inflation, Brazil. The bigger adjustment is the bean mix: roasters move toward robusta when arabica costs ≥1.8× robusta.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D9A441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Marginal producers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9DFD3"/>
                </a:solidFill>
                <a:latin typeface="Calibri"/>
              </a:rPr>
              <a:t>At the lowest prices, who keeps producing no matter what, who cuts, and who never comes back — even at high prices?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40103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 · SUPPLY BY ORIGIN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Four origins drive supply growth (Brazil, Vietnam, Ethiopia, Uganda); Colombia, Indonesia and Honduras have gone sideways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Production by origin, million bags, 2005/06 → 2025/26 (USDA), 2026/27 = USDA July-2026 forecast where published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Brazil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+2.2%/yr · 35% of world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2130552"/>
          <a:ext cx="269748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319272" y="187451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Vietnam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+2.8%/yr · 17% of world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319272" y="2130552"/>
          <a:ext cx="2697480" cy="187451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35624" y="187451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Colombia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+0.7%/yr · 8% of world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135624" y="2130552"/>
          <a:ext cx="2697480" cy="187451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951976" y="1874519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Indonesia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+1.0%/yr · 7% of world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8951976" y="2130552"/>
          <a:ext cx="2697480" cy="1874519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4114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Ethiopia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+4.3%/yr · 6% of world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02920" y="4370832"/>
          <a:ext cx="2697480" cy="1874519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319272" y="4114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Uganda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+4.8%/yr · 4% of world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319272" y="4370832"/>
          <a:ext cx="2697480" cy="1874519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135624" y="4114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Honduras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+2.7%/yr · 3% of world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135624" y="4370832"/>
          <a:ext cx="2697480" cy="1874519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951976" y="4114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1E1C"/>
                </a:solidFill>
                <a:latin typeface="Calibri"/>
              </a:rPr>
              <a:t>India  </a:t>
            </a:r>
            <a:r>
              <a:rPr sz="950" b="0" i="0">
                <a:solidFill>
                  <a:srgbClr val="52514E"/>
                </a:solidFill>
                <a:latin typeface="Calibri"/>
              </a:rPr>
              <a:t>+1.5%/yr · 3% of world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951976" y="4370832"/>
          <a:ext cx="2697480" cy="1874519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119579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 · PRODUCER RESPONSE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Producer response map: output after the 2018–19 price low vs output during the 2022–25 price boom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Change in production, %: average 2019/20–2021/22 vs 2016/17–2018/19 (x, low-price response) and average 2022/23–2025/26 vs 2019/20–2021/22 (y, high-price response); origins ≥0.4m bags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8" name="Connector 7"/>
          <p:cNvCxnSpPr/>
          <p:nvPr/>
        </p:nvCxnSpPr>
        <p:spPr>
          <a:xfrm>
            <a:off x="4544568" y="2313432"/>
            <a:ext cx="0" cy="3511295"/>
          </a:xfrm>
          <a:prstGeom prst="line">
            <a:avLst/>
          </a:prstGeom>
          <a:ln w="12700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2B1A12"/>
                </a:solidFill>
                <a:latin typeface="Calibri"/>
              </a:rPr>
              <a:t>Four types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00" b="1" i="0">
                <a:solidFill>
                  <a:srgbClr val="4A3AA7"/>
                </a:solidFill>
                <a:latin typeface="Calibri"/>
              </a:rPr>
              <a:t>Produce regardless: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Brazil, Vietnam, Indonesia, Ethiopia, Uganda, India — no cut after the low.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00" b="1" i="0">
                <a:solidFill>
                  <a:srgbClr val="B07800"/>
                </a:solidFill>
                <a:latin typeface="Calibri"/>
              </a:rPr>
              <a:t>Cut when low: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Colombia −7%, Honduras −26%, Peru −12%, El Salvador −14%, Venezuela −9% (after the low).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00" b="1" i="0">
                <a:solidFill>
                  <a:srgbClr val="E34948"/>
                </a:solidFill>
                <a:latin typeface="Calibri"/>
              </a:rPr>
              <a:t>Decline regardless: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Guatemala −9%, Nicaragua −8%, Malaysia −21%, Côte d'Ivoire −15%, Costa Rica −15% (during the boom).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00" b="1" i="0">
                <a:solidFill>
                  <a:srgbClr val="12805A"/>
                </a:solidFill>
                <a:latin typeface="Calibri"/>
              </a:rPr>
              <a:t>Expand when high: </a:t>
            </a:r>
            <a:r>
              <a:rPr sz="1000" b="0" i="0">
                <a:solidFill>
                  <a:srgbClr val="1F1E1C"/>
                </a:solidFill>
                <a:latin typeface="Calibri"/>
              </a:rPr>
              <a:t>PNG +19%, Thailand +25%, Kenya +12% — come back when prices pay.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40103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 · PRICE THRESHOLDS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Who produces no matter what — and who cuts when arabica stays near 137 c/lb for two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Producer types, evidence and the price levels at which behaviour changed (USDA production; ICO/IMF prices)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IMF Primary Commodity Prices (ICO New York cash quotes, US c/lb) · ICO Coffee Market Reports (monthly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83112" cy="38404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2834640"/>
                <a:gridCol w="3291840"/>
                <a:gridCol w="3044952"/>
              </a:tblGrid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Price trigger (evidence)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4A3AA7"/>
                          </a:solidFill>
                          <a:latin typeface="Calibri"/>
                        </a:rPr>
                        <a:t>Produce no matter what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Brazil, Vietnam, Ethiopia, Uganda, India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Kept growing through arabica ~137 c/lb and robusta ~77 c/lb (2017/18–2019/20)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Scale &amp; mechanisation (Brazil), high yields (Vietnam), low cash costs/smallholder (Ethiopia, Uganda)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B07800"/>
                          </a:solidFill>
                          <a:latin typeface="Calibri"/>
                        </a:rPr>
                        <a:t>Cut when prices are low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Honduras, Peru, El Salvador, Colombia (PNG too, then re-expanded)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Output fell 7–26% after arabica averaged 137 c/lb (−17% vs 2014–16) for 2+ years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High labour cost per bag, rust, fertiliser cuts, farm abandonment &amp; migration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E34948"/>
                          </a:solidFill>
                          <a:latin typeface="Calibri"/>
                        </a:rPr>
                        <a:t>Decline even at high prices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Côte d'Ivoire, Costa Rica, Cameroon, Guatemala, Nicaragua, Malaysia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Still falling in 2022–25 with arabica &gt; 200 c/lb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Land competes with cocoa, rubber, durian, housing; ageing trees and farmers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2805A"/>
                          </a:solidFill>
                          <a:latin typeface="Calibri"/>
                        </a:rPr>
                        <a:t>Expand when prices are high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Brazil (conilon), Vietnam, Uganda, Ethiopia, PNG, Thailand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Respond with a 2–4 year lag: record 2025/26 conilon, record 189.7m world crop 2026/27F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F1E1C"/>
                          </a:solidFill>
                          <a:latin typeface="Calibri"/>
                        </a:rPr>
                        <a:t>Fertiliser &amp; replanting pay again; new robusta area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52159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2514E"/>
                </a:solidFill>
                <a:latin typeface="Calibri"/>
              </a:rPr>
              <a:t>Supply elasticity is low in the short run (trees take 3–4 years) and asymmetric: low prices cut output at the high-cost margin within 1–2 years; high prices add output mainly where land and capital are cheap (Brazil, Vietnam, East Africa).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664208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 · SUPPLY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High prices are bringing supply back: USDA sees a record 189.7m bags in 2026/27 (+10.8m)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Production, million bags: 2025/26 (as implied by the July-2026 report or attaché estimate) vs 2026/27 forecast; *attaché (GAIN) figures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Coffee: World Markets and Trade (Jul-2026) · USDA GAIN attaché reports (Colombia, Indonesia, Ethiopia, Uganda)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58200" y="1874519"/>
            <a:ext cx="3227832" cy="438912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2011679"/>
            <a:ext cx="289864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2B1A12"/>
                </a:solidFill>
                <a:latin typeface="Calibri"/>
              </a:rPr>
              <a:t>2026/27 set-up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World output 189.7m (+6%), arabica record 105.9m; consumption 179.7m (+3.6%).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Stocks rebuild +1.9m to 26.3m — first rise after five draws.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Brazil +8.9m (arabica +9.5m to 47.5m); Vietnam record 32.5m; Ethiopia overtakes Indonesia.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Prices already eased: arabica 361 c/lb, robusta 181 (Aug-26) vs peaks 410/263.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050" b="0" i="0">
                <a:solidFill>
                  <a:srgbClr val="1F1E1C"/>
                </a:solidFill>
                <a:latin typeface="Calibri"/>
              </a:rPr>
              <a:t>*attaché forecasts; Indonesia down on excess rain.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D9A441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Tracker &amp; trading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9DFD3"/>
                </a:solidFill>
                <a:latin typeface="Calibri"/>
              </a:rPr>
              <a:t>Which countries are increasing, steady or decreasing — and what to watch next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967788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05 · CONSUMPTION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Consumption tracker: who is increasing, steady or decreasing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Top 22 consuming countries/blocs, USDA; CAGR by period, change in 3-yr average through the price spike, latest y/y (2025/26 vs 2024/25)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39"/>
          <a:ext cx="11183112" cy="42062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20240"/>
                <a:gridCol w="1143000"/>
                <a:gridCol w="822960"/>
                <a:gridCol w="1188720"/>
                <a:gridCol w="1188720"/>
                <a:gridCol w="1188720"/>
                <a:gridCol w="1371600"/>
                <a:gridCol w="1005840"/>
                <a:gridCol w="1353312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2025/26 m bags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05→15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15→20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CAGR 20→25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Spike Δ (3-yr avg)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y/y 25/26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EU-27 + UK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46.2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26.6%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+0.1%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+0.1%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+0.9%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2514E"/>
                          </a:solidFill>
                          <a:latin typeface="Calibri"/>
                        </a:rPr>
                        <a:t>→ steady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26.6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15.3%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−3%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2514E"/>
                          </a:solidFill>
                          <a:latin typeface="Calibri"/>
                        </a:rPr>
                        <a:t>→ steady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+2.7%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34948"/>
                          </a:solidFill>
                          <a:latin typeface="Calibri"/>
                        </a:rPr>
                        <a:t>↓ cutting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Philippines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+17.8%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+1.2%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+9.0%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2514E"/>
                          </a:solidFill>
                          <a:latin typeface="Calibri"/>
                        </a:rPr>
                        <a:t>→ steady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−1.8%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−1.8%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34948"/>
                          </a:solidFill>
                          <a:latin typeface="Calibri"/>
                        </a:rPr>
                        <a:t>↓ cutting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+28.8%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+12.5%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+5.5%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+90%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−4.5%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Canada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+3.6%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2514E"/>
                          </a:solidFill>
                          <a:latin typeface="Calibri"/>
                        </a:rPr>
                        <a:t>→ steady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Vietnam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+14.7%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+12.5%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+2.1%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Indonesia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+6.5%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+7.0%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+1.6%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Russia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+2.1%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−1.1%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34948"/>
                          </a:solidFill>
                          <a:latin typeface="Calibri"/>
                        </a:rPr>
                        <a:t>↓ cutting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Ethiopia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3.7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+5.5%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−0.7%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+4.3%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South Korea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+5.4%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+4.0%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Mexico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+2.0%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+4.7%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+2.9%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+4.8%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−5.1%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Colombia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+8.0%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Algeria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−0.7%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−1.8%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E34948"/>
                          </a:solidFill>
                          <a:latin typeface="Calibri"/>
                        </a:rPr>
                        <a:t>↓ cutting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Turkey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+13.5%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+10.4%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+8.5%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−3.8%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Saudi Arabia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+8.9%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+4.6%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−0.9%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−1.1%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+2.9%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2514E"/>
                          </a:solidFill>
                          <a:latin typeface="Calibri"/>
                        </a:rPr>
                        <a:t>→ steady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Switzerland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+2.0%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+2.0%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+7.0%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2514E"/>
                          </a:solidFill>
                          <a:latin typeface="Calibri"/>
                        </a:rPr>
                        <a:t>→ steady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Ukraine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−5.1%</a:t>
                      </a:r>
                    </a:p>
                  </a:txBody>
                  <a:tcPr marL="54864" marR="54864" marT="27432" marB="27432" anchor="ctr">
                    <a:solidFill>
                      <a:srgbClr val="F6C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+4.9%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−1.0%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−5%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+9.8%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52514E"/>
                          </a:solidFill>
                          <a:latin typeface="Calibri"/>
                        </a:rPr>
                        <a:t>→ steady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Morocco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1.1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+2.4%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+5.6%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+3.8%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+22%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1E1C"/>
                          </a:solidFill>
                          <a:latin typeface="Calibri"/>
                        </a:rPr>
                        <a:t>+5.5%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8300"/>
                          </a:solidFill>
                          <a:latin typeface="Calibri"/>
                        </a:rPr>
                        <a:t>↑ growing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891893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05 · PRODUCTION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Production tracker: who is expanding, who is stuck, who is shrinking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2514E"/>
                </a:solidFill>
                <a:latin typeface="Calibri"/>
              </a:rPr>
              <a:t>Top 20 producers, USDA; responses measured on 3-yr averages around the 2018–19 low and the 2022–25 boom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39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39"/>
          <a:ext cx="11183112" cy="422452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1188720"/>
                <a:gridCol w="868680"/>
                <a:gridCol w="960120"/>
                <a:gridCol w="1143000"/>
                <a:gridCol w="1005840"/>
                <a:gridCol w="1005840"/>
                <a:gridCol w="1005840"/>
                <a:gridCol w="1993392"/>
              </a:tblGrid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2025/26 m bags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Robusta %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CAGR 05→25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After low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 boom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2026/27F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63.0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35.2%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71.9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Vietnam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30.8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17.2%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+2.8%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32.5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Colombia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13.8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7.7%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B07800"/>
                          </a:solidFill>
                          <a:latin typeface="Calibri"/>
                        </a:rPr>
                        <a:t>Cut when 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Indonesia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12.4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Ethiopia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11.6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6.5%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+4.3%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Uganda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+4.8%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Honduras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5.8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+2.7%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−26%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B07800"/>
                          </a:solidFill>
                          <a:latin typeface="Calibri"/>
                        </a:rPr>
                        <a:t>Cut when low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Peru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 marL="54864" marR="54864" marT="27432" marB="27432" anchor="ctr">
                    <a:solidFill>
                      <a:srgbClr val="E3E0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−12%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B07800"/>
                          </a:solidFill>
                          <a:latin typeface="Calibri"/>
                        </a:rPr>
                        <a:t>Cut when 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Mexico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−0.4%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Guatemala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−0.6%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34948"/>
                          </a:solidFill>
                          <a:latin typeface="Calibri"/>
                        </a:rPr>
                        <a:t>Decline regardless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Nicaragua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2.6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+3.0%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−1%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34948"/>
                          </a:solidFill>
                          <a:latin typeface="Calibri"/>
                        </a:rPr>
                        <a:t>Decline regardless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+8.2%</a:t>
                      </a:r>
                    </a:p>
                  </a:txBody>
                  <a:tcPr marL="54864" marR="54864" marT="27432" marB="27432" anchor="ctr">
                    <a:solidFill>
                      <a:srgbClr val="B6A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Malaysia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−6%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−21%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34948"/>
                          </a:solidFill>
                          <a:latin typeface="Calibri"/>
                        </a:rPr>
                        <a:t>Decline regardless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Tanzania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+2.4%</a:t>
                      </a:r>
                    </a:p>
                  </a:txBody>
                  <a:tcPr marL="54864" marR="54864" marT="27432" marB="27432" anchor="ctr">
                    <a:solidFill>
                      <a:srgbClr val="CFC9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4A3AA7"/>
                          </a:solidFill>
                          <a:latin typeface="Calibri"/>
                        </a:rPr>
                        <a:t>Produce regardless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Cote d'Ivoire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1.3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−3.2%</a:t>
                      </a:r>
                    </a:p>
                  </a:txBody>
                  <a:tcPr marL="54864" marR="54864" marT="27432" marB="27432" anchor="ctr">
                    <a:solidFill>
                      <a:srgbClr val="F6C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−13%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34948"/>
                          </a:solidFill>
                          <a:latin typeface="Calibri"/>
                        </a:rPr>
                        <a:t>Decline regardless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Costa Rica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−2.0%</a:t>
                      </a:r>
                    </a:p>
                  </a:txBody>
                  <a:tcPr marL="54864" marR="54864" marT="27432" marB="27432" anchor="ctr">
                    <a:solidFill>
                      <a:srgbClr val="F6C9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34948"/>
                          </a:solidFill>
                          <a:latin typeface="Calibri"/>
                        </a:rPr>
                        <a:t>Decline regardless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Papua New Guinea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−0.5%</a:t>
                      </a:r>
                    </a:p>
                  </a:txBody>
                  <a:tcPr marL="54864" marR="54864" marT="27432" marB="27432" anchor="ctr">
                    <a:solidFill>
                      <a:srgbClr val="FBE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−20%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+19%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AF7A"/>
                          </a:solidFill>
                          <a:latin typeface="Calibri"/>
                        </a:rPr>
                        <a:t>Expand when high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Thailand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−0.3%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+25%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AF7A"/>
                          </a:solidFill>
                          <a:latin typeface="Calibri"/>
                        </a:rPr>
                        <a:t>Expand when 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Kenya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 marL="54864" marR="54864" marT="27432" marB="27432" anchor="ctr">
                    <a:solidFill>
                      <a:srgbClr val="F0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−5%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+12%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BAF7A"/>
                          </a:solidFill>
                          <a:latin typeface="Calibri"/>
                        </a:rPr>
                        <a:t>Expand when high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12417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05 · WHAT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Trading implications: demand is the anchor, supply and the arbitrage are the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USDA FAS PSD (Dec-2025 release; bulk file via public mirror, validated) and USDA Coffee: World Markets and Trade, Jul-2026 · ICO Coffee Market Reports (monthly tables) · IMF Primary Commodity Prices (ICO New York cash quotes, US c/lb) · 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5486400" cy="132588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Demand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E1C"/>
                </a:solidFill>
                <a:latin typeface="Calibri"/>
              </a:rPr>
              <a:t>Pencil in +2.4m bags/yr (+1.4–1.7%). USDA 2026/27F 179.7m; ICO 2025/26 180.6m (−0.8%, lower US).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00" cy="132588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556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Stocks-to-use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2140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E1C"/>
                </a:solidFill>
                <a:latin typeface="Calibri"/>
              </a:rPr>
              <a:t>The 2021–25 spike happened below ~16%. 2026/27F 14.6% — still tight; a second big crop is needed to normalise.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132588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1868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Arbitrage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E1C"/>
                </a:solidFill>
                <a:latin typeface="Calibri"/>
              </a:rPr>
              <a:t>Ratio 2.0× (Aug-26). Above ~1.8× roasters add robusta; below ~1.5× they go back to arabica.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108960"/>
            <a:ext cx="5486400" cy="132588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21868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Marginal buyers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58444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E1C"/>
                </a:solidFill>
                <a:latin typeface="Calibri"/>
              </a:rPr>
              <a:t>Watch Brazil retail (IPCA café moído), Japan (AJCA), North Africa/Russia imports: they give first signs of demand loss.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486400" cy="132588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817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Growth buyers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4748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E1C"/>
                </a:solidFill>
                <a:latin typeface="Calibri"/>
              </a:rPr>
              <a:t>China/SE Asia/Turkey/Gulf absorb ~1m extra bags a year even at high prices — a floor under demand.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572000"/>
            <a:ext cx="5486400" cy="132588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68172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B1A12"/>
                </a:solidFill>
                <a:latin typeface="Calibri"/>
              </a:rPr>
              <a:t>Producer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4748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F1E1C"/>
                </a:solidFill>
                <a:latin typeface="Calibri"/>
              </a:rPr>
              <a:t>Record 2026/27 crop = high-price response from Brazil, Vietnam, East Africa; Central America will not add much.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12417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APPENDIX ·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Sources, vintages and how each number was obtained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Full URLs and per-value provenance: research/coffee-demand/data (raw/*.csv, source_files/MANIFEST) and the Word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41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199"/>
          <a:ext cx="11183112" cy="4114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926080"/>
                <a:gridCol w="5852160"/>
                <a:gridCol w="2404872"/>
              </a:tblGrid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was used and how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Official home</a:t>
                      </a:r>
                    </a:p>
                  </a:txBody>
                  <a:tcPr marL="54864" marR="54864" marT="27432" marB="27432" anchor="ctr">
                    <a:solidFill>
                      <a:srgbClr val="2B1A12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E1C"/>
                          </a:solidFill>
                          <a:latin typeface="Calibri"/>
                        </a:rPr>
                        <a:t>USDA FAS PSD — coffee (all countries, 1960–2025/26)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Official bulk file psd_coffee_csv.zip (Dec-2025 release), read from a public mirror that downloaded it on 21-Jun-2026; 98% of values identical to a second mirror (Jun-2024 release); world totals match the Dec-2025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apps.fas.usda.gov/psdonline/downloads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E1C"/>
                          </a:solidFill>
                          <a:latin typeface="Calibri"/>
                        </a:rPr>
                        <a:t>USDA Coffee: World Markets and Trade, Jul-2026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2026/27 forecasts (world, Brazil, Vietnam, EU, US, China) — verified through web search of the report and trade press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fas.usda.gov/data/coffee-world-markets-and-trade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E1C"/>
                          </a:solidFill>
                          <a:latin typeface="Calibri"/>
                        </a:rPr>
                        <a:t>IMF Primary Commodity Prices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Monthly ICO Other Milds &amp; Robustas, 1990–Sep-2025, from the IMF source file (external-data.xls, Mar-2026)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imf.org/en/Research/commodity-prices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E1C"/>
                          </a:solidFill>
                          <a:latin typeface="Calibri"/>
                        </a:rPr>
                        <a:t>ICO Coffee Market Reports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Monthly indicator prices Oct-2025–Aug-2026 and exports by coffee group Sep-2015–Jul-2026 (report tables); balance &amp; regions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ico.org/documents/cy2025-26/cmr-0826-e.pdf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E1C"/>
                          </a:solidFill>
                          <a:latin typeface="Calibri"/>
                        </a:rPr>
                        <a:t>ABIC / IBGE / BLS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Brazil consumption (ABIC), ground-coffee IPCA index (IBGE), US CPI coffee (BLS)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abic.com.br · ibge.gov.br · bls.gov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E1C"/>
                          </a:solidFill>
                          <a:latin typeface="Calibri"/>
                        </a:rPr>
                        <a:t>World Bank WDI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Population (SP.POP.TOTL) and GDP per capita (NY.GDP.PCAP.CD)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data.worldbank.org</a:t>
                      </a:r>
                    </a:p>
                  </a:txBody>
                  <a:tcPr marL="54864" marR="54864" marT="27432" marB="27432" anchor="ctr">
                    <a:solidFill>
                      <a:srgbClr val="FAFAF8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1E1C"/>
                          </a:solidFill>
                          <a:latin typeface="Calibri"/>
                        </a:rPr>
                        <a:t>Company filings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Starbucks 10-K store counts; Luckin 20-F (as quoted)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1E1C"/>
                          </a:solidFill>
                          <a:latin typeface="Calibri"/>
                        </a:rPr>
                        <a:t>sec.gov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2195474" cy="274320"/>
          </a:xfrm>
          <a:prstGeom prst="roundRect">
            <a:avLst>
              <a:gd name="adj" fmla="val 50000"/>
            </a:avLst>
          </a:prstGeom>
          <a:solidFill>
            <a:srgbClr val="2B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APPENDIX · LIMITS &amp; REFRESH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2B1A12"/>
                </a:solidFill>
                <a:latin typeface="Calibri"/>
              </a:rPr>
              <a:t>What is not in this version, and how to refresh everything from the official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898781"/>
                </a:solidFill>
                <a:latin typeface="Calibri"/>
              </a:rPr>
              <a:t>Source: Script: research/coffee-demand/scripts/fetch_official_data.py → analysis.py → build_deck.py / build_doc.py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900" b="0" i="0">
                <a:solidFill>
                  <a:srgbClr val="898781"/>
                </a:solidFill>
                <a:latin typeface="Calibri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199"/>
            <a:ext cx="5486400" cy="448056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37359"/>
            <a:ext cx="5157216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1A12"/>
                </a:solidFill>
                <a:latin typeface="Calibri"/>
              </a:rPr>
              <a:t>Known limits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The sandbox blocked direct downloads from usda.gov, ico.org, worldbank.org, eurostat, census, comtrade; official files were read from public mirrors and cross-checked.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USDA consumption = disappearance: importers' y/y moves include stock changes.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No official channel split (home vs café) outside Brazil; café chains used as a proxy.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Import-origin data (Eurostat, US Census, Comtrade) not pulled — the script does it.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Cost-of-production surveys (CONAB, FNC, ICO) not included; producer thresholds are inferred from observed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600199"/>
            <a:ext cx="5486400" cy="4480560"/>
          </a:xfrm>
          <a:prstGeom prst="rect">
            <a:avLst/>
          </a:prstGeom>
          <a:solidFill>
            <a:srgbClr val="F4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737359"/>
            <a:ext cx="5157216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 i="0">
                <a:solidFill>
                  <a:srgbClr val="2B1A12"/>
                </a:solidFill>
                <a:latin typeface="Calibri"/>
              </a:rPr>
              <a:t>Refresh in 3 commands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python scripts/fetch_official_data.py  — USDA PSD, World Bank Pink Sheet, IMF, FRED, US Census, UN Comtrade, Eurostat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python scripts/analysis.py  — rebuilds every table in data/clean and output/metrics.json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python scripts/build_deck.py  and  python scripts/build_doc.py  — regenerate this deck and the Word guide</a:t>
            </a:r>
          </a:p>
          <a:p>
            <a:pPr algn="l" marL="164592" indent="-146304">
              <a:spcAft>
                <a:spcPts val="500"/>
              </a:spcAft>
              <a:buClr>
                <a:srgbClr val="52514E"/>
              </a:buClr>
              <a:buSzPct val="100000"/>
              <a:buFont typeface="Arial"/>
              <a:buChar char="•"/>
            </a:pPr>
            <a:r>
              <a:rPr sz="1250" b="0" i="0">
                <a:solidFill>
                  <a:srgbClr val="1F1E1C"/>
                </a:solidFill>
                <a:latin typeface="Calibri"/>
              </a:rPr>
              <a:t>Every downloaded file is logged with URL, time and SHA-256 in data/source_files/MANIFEST.csv.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