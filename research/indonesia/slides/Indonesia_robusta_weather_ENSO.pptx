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charts/chart1.xml" ContentType="application/vnd.openxmlformats-officedocument.drawingml.chart+xml"/>
  <Override PartName="/ppt/slides/slide3.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s/slide4.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s/slide5.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slides/slide6.xml" ContentType="application/vnd.openxmlformats-officedocument.presentationml.slide+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slides/slide7.xml" ContentType="application/vnd.openxmlformats-officedocument.presentationml.slide+xml"/>
  <Override PartName="/ppt/charts/chart18.xml" ContentType="application/vnd.openxmlformats-officedocument.drawingml.chart+xml"/>
  <Override PartName="/ppt/charts/chart19.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slides/slide8.xml" ContentType="application/vnd.openxmlformats-officedocument.presentationml.slide+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slides/slide9.xml" ContentType="application/vnd.openxmlformats-officedocument.presentationml.slide+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slides/slide10.xml" ContentType="application/vnd.openxmlformats-officedocument.presentationml.slide+xml"/>
  <Override PartName="/ppt/charts/chart36.xml" ContentType="application/vnd.openxmlformats-officedocument.drawingml.chart+xml"/>
  <Override PartName="/ppt/charts/chart37.xml" ContentType="application/vnd.openxmlformats-officedocument.drawingml.chart+xml"/>
  <Override PartName="/ppt/charts/chart38.xml" ContentType="application/vnd.openxmlformats-officedocument.drawingml.chart+xml"/>
  <Override PartName="/ppt/charts/chart39.xml" ContentType="application/vnd.openxmlformats-officedocument.drawingml.chart+xml"/>
  <Override PartName="/ppt/charts/chart40.xml" ContentType="application/vnd.openxmlformats-officedocument.drawingml.chart+xml"/>
  <Override PartName="/ppt/charts/chart41.xml" ContentType="application/vnd.openxmlformats-officedocument.drawingml.chart+xml"/>
  <Override PartName="/ppt/slides/slide11.xml" ContentType="application/vnd.openxmlformats-officedocument.presentationml.slide+xml"/>
  <Override PartName="/ppt/charts/chart42.xml" ContentType="application/vnd.openxmlformats-officedocument.drawingml.chart+xml"/>
  <Override PartName="/ppt/charts/chart43.xml" ContentType="application/vnd.openxmlformats-officedocument.drawingml.chart+xml"/>
  <Override PartName="/ppt/slides/slide12.xml" ContentType="application/vnd.openxmlformats-officedocument.presentationml.slide+xml"/>
  <Override PartName="/ppt/charts/chart44.xml" ContentType="application/vnd.openxmlformats-officedocument.drawingml.chart+xml"/>
  <Override PartName="/ppt/slides/slide13.xml" ContentType="application/vnd.openxmlformats-officedocument.presentationml.slide+xml"/>
  <Override PartName="/ppt/charts/chart45.xml" ContentType="application/vnd.openxmlformats-officedocument.drawingml.chart+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theme" Target="theme/theme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ableStyles" Target="tableStyles.xml"/></Relationships>
</file>

<file path=ppt/charts/chart1.xml><?xml version="1.0" encoding="utf-8"?>
<c:chartSpace xmlns:c="http://schemas.openxmlformats.org/drawingml/2006/chart" xmlns:a="http://schemas.openxmlformats.org/drawingml/2006/main" xmlns:r="http://schemas.openxmlformats.org/officeDocument/2006/relationships">
  <c:roundedCorners val="0"/>
  <c:chart>
    <c:autoTitleDeleted val="1"/>
    <c:plotArea>
      <c:layout/>
      <c:lineChart>
        <c:grouping val="standard"/>
        <c:varyColors val="0"/>
        <c:ser>
          <c:idx val="0"/>
          <c:order val="0"/>
          <c:tx>
            <c:strRef>
              <c:f>Sheet1!$B$1</c:f>
              <c:strCache>
                <c:ptCount val="1"/>
                <c:pt idx="0">
                  <c:v>ONI (3-month mean, NOAA CPC)</c:v>
                </c:pt>
              </c:strCache>
            </c:strRef>
          </c:tx>
          <c:spPr>
            <a:ln w="28575" cap="rnd">
              <a:solidFill>
                <a:srgbClr val="2E75B6"/>
              </a:solidFill>
              <a:round/>
            </a:ln>
          </c:spPr>
          <c:marker>
            <c:symbol val="none"/>
          </c:marker>
          <c:cat>
            <c:strRef>
              <c:f>Sheet1!$A$2:$A$200</c:f>
              <c:strCache>
                <c:ptCount val="199"/>
                <c:pt idx="0">
                  <c:v>2010</c:v>
                </c:pt>
                <c:pt idx="1">
                  <c:v>2010</c:v>
                </c:pt>
                <c:pt idx="2">
                  <c:v>2010</c:v>
                </c:pt>
                <c:pt idx="3">
                  <c:v>2010</c:v>
                </c:pt>
                <c:pt idx="4">
                  <c:v>2010</c:v>
                </c:pt>
                <c:pt idx="5">
                  <c:v>2010</c:v>
                </c:pt>
                <c:pt idx="6">
                  <c:v>2010</c:v>
                </c:pt>
                <c:pt idx="7">
                  <c:v>2010</c:v>
                </c:pt>
                <c:pt idx="8">
                  <c:v>2010</c:v>
                </c:pt>
                <c:pt idx="9">
                  <c:v>2010</c:v>
                </c:pt>
                <c:pt idx="10">
                  <c:v>2010</c:v>
                </c:pt>
                <c:pt idx="11">
                  <c:v>2010</c:v>
                </c:pt>
                <c:pt idx="12">
                  <c:v>2011</c:v>
                </c:pt>
                <c:pt idx="13">
                  <c:v>2011</c:v>
                </c:pt>
                <c:pt idx="14">
                  <c:v>2011</c:v>
                </c:pt>
                <c:pt idx="15">
                  <c:v>2011</c:v>
                </c:pt>
                <c:pt idx="16">
                  <c:v>2011</c:v>
                </c:pt>
                <c:pt idx="17">
                  <c:v>2011</c:v>
                </c:pt>
                <c:pt idx="18">
                  <c:v>2011</c:v>
                </c:pt>
                <c:pt idx="19">
                  <c:v>2011</c:v>
                </c:pt>
                <c:pt idx="20">
                  <c:v>2011</c:v>
                </c:pt>
                <c:pt idx="21">
                  <c:v>2011</c:v>
                </c:pt>
                <c:pt idx="22">
                  <c:v>2011</c:v>
                </c:pt>
                <c:pt idx="23">
                  <c:v>2011</c:v>
                </c:pt>
                <c:pt idx="24">
                  <c:v>2012</c:v>
                </c:pt>
                <c:pt idx="25">
                  <c:v>2012</c:v>
                </c:pt>
                <c:pt idx="26">
                  <c:v>2012</c:v>
                </c:pt>
                <c:pt idx="27">
                  <c:v>2012</c:v>
                </c:pt>
                <c:pt idx="28">
                  <c:v>2012</c:v>
                </c:pt>
                <c:pt idx="29">
                  <c:v>2012</c:v>
                </c:pt>
                <c:pt idx="30">
                  <c:v>2012</c:v>
                </c:pt>
                <c:pt idx="31">
                  <c:v>2012</c:v>
                </c:pt>
                <c:pt idx="32">
                  <c:v>2012</c:v>
                </c:pt>
                <c:pt idx="33">
                  <c:v>2012</c:v>
                </c:pt>
                <c:pt idx="34">
                  <c:v>2012</c:v>
                </c:pt>
                <c:pt idx="35">
                  <c:v>2012</c:v>
                </c:pt>
                <c:pt idx="36">
                  <c:v>2013</c:v>
                </c:pt>
                <c:pt idx="37">
                  <c:v>2013</c:v>
                </c:pt>
                <c:pt idx="38">
                  <c:v>2013</c:v>
                </c:pt>
                <c:pt idx="39">
                  <c:v>2013</c:v>
                </c:pt>
                <c:pt idx="40">
                  <c:v>2013</c:v>
                </c:pt>
                <c:pt idx="41">
                  <c:v>2013</c:v>
                </c:pt>
                <c:pt idx="42">
                  <c:v>2013</c:v>
                </c:pt>
                <c:pt idx="43">
                  <c:v>2013</c:v>
                </c:pt>
                <c:pt idx="44">
                  <c:v>2013</c:v>
                </c:pt>
                <c:pt idx="45">
                  <c:v>2013</c:v>
                </c:pt>
                <c:pt idx="46">
                  <c:v>2013</c:v>
                </c:pt>
                <c:pt idx="47">
                  <c:v>2013</c:v>
                </c:pt>
                <c:pt idx="48">
                  <c:v>2014</c:v>
                </c:pt>
                <c:pt idx="49">
                  <c:v>2014</c:v>
                </c:pt>
                <c:pt idx="50">
                  <c:v>2014</c:v>
                </c:pt>
                <c:pt idx="51">
                  <c:v>2014</c:v>
                </c:pt>
                <c:pt idx="52">
                  <c:v>2014</c:v>
                </c:pt>
                <c:pt idx="53">
                  <c:v>2014</c:v>
                </c:pt>
                <c:pt idx="54">
                  <c:v>2014</c:v>
                </c:pt>
                <c:pt idx="55">
                  <c:v>2014</c:v>
                </c:pt>
                <c:pt idx="56">
                  <c:v>2014</c:v>
                </c:pt>
                <c:pt idx="57">
                  <c:v>2014</c:v>
                </c:pt>
                <c:pt idx="58">
                  <c:v>2014</c:v>
                </c:pt>
                <c:pt idx="59">
                  <c:v>2014</c:v>
                </c:pt>
                <c:pt idx="60">
                  <c:v>2015</c:v>
                </c:pt>
                <c:pt idx="61">
                  <c:v>2015</c:v>
                </c:pt>
                <c:pt idx="62">
                  <c:v>2015</c:v>
                </c:pt>
                <c:pt idx="63">
                  <c:v>2015</c:v>
                </c:pt>
                <c:pt idx="64">
                  <c:v>2015</c:v>
                </c:pt>
                <c:pt idx="65">
                  <c:v>2015</c:v>
                </c:pt>
                <c:pt idx="66">
                  <c:v>2015</c:v>
                </c:pt>
                <c:pt idx="67">
                  <c:v>2015</c:v>
                </c:pt>
                <c:pt idx="68">
                  <c:v>2015</c:v>
                </c:pt>
                <c:pt idx="69">
                  <c:v>2015</c:v>
                </c:pt>
                <c:pt idx="70">
                  <c:v>2015</c:v>
                </c:pt>
                <c:pt idx="71">
                  <c:v>2015</c:v>
                </c:pt>
                <c:pt idx="72">
                  <c:v>2016</c:v>
                </c:pt>
                <c:pt idx="73">
                  <c:v>2016</c:v>
                </c:pt>
                <c:pt idx="74">
                  <c:v>2016</c:v>
                </c:pt>
                <c:pt idx="75">
                  <c:v>2016</c:v>
                </c:pt>
                <c:pt idx="76">
                  <c:v>2016</c:v>
                </c:pt>
                <c:pt idx="77">
                  <c:v>2016</c:v>
                </c:pt>
                <c:pt idx="78">
                  <c:v>2016</c:v>
                </c:pt>
                <c:pt idx="79">
                  <c:v>2016</c:v>
                </c:pt>
                <c:pt idx="80">
                  <c:v>2016</c:v>
                </c:pt>
                <c:pt idx="81">
                  <c:v>2016</c:v>
                </c:pt>
                <c:pt idx="82">
                  <c:v>2016</c:v>
                </c:pt>
                <c:pt idx="83">
                  <c:v>2016</c:v>
                </c:pt>
                <c:pt idx="84">
                  <c:v>2017</c:v>
                </c:pt>
                <c:pt idx="85">
                  <c:v>2017</c:v>
                </c:pt>
                <c:pt idx="86">
                  <c:v>2017</c:v>
                </c:pt>
                <c:pt idx="87">
                  <c:v>2017</c:v>
                </c:pt>
                <c:pt idx="88">
                  <c:v>2017</c:v>
                </c:pt>
                <c:pt idx="89">
                  <c:v>2017</c:v>
                </c:pt>
                <c:pt idx="90">
                  <c:v>2017</c:v>
                </c:pt>
                <c:pt idx="91">
                  <c:v>2017</c:v>
                </c:pt>
                <c:pt idx="92">
                  <c:v>2017</c:v>
                </c:pt>
                <c:pt idx="93">
                  <c:v>2017</c:v>
                </c:pt>
                <c:pt idx="94">
                  <c:v>2017</c:v>
                </c:pt>
                <c:pt idx="95">
                  <c:v>2017</c:v>
                </c:pt>
                <c:pt idx="96">
                  <c:v>2018</c:v>
                </c:pt>
                <c:pt idx="97">
                  <c:v>2018</c:v>
                </c:pt>
                <c:pt idx="98">
                  <c:v>2018</c:v>
                </c:pt>
                <c:pt idx="99">
                  <c:v>2018</c:v>
                </c:pt>
                <c:pt idx="100">
                  <c:v>2018</c:v>
                </c:pt>
                <c:pt idx="101">
                  <c:v>2018</c:v>
                </c:pt>
                <c:pt idx="102">
                  <c:v>2018</c:v>
                </c:pt>
                <c:pt idx="103">
                  <c:v>2018</c:v>
                </c:pt>
                <c:pt idx="104">
                  <c:v>2018</c:v>
                </c:pt>
                <c:pt idx="105">
                  <c:v>2018</c:v>
                </c:pt>
                <c:pt idx="106">
                  <c:v>2018</c:v>
                </c:pt>
                <c:pt idx="107">
                  <c:v>2018</c:v>
                </c:pt>
                <c:pt idx="108">
                  <c:v>2019</c:v>
                </c:pt>
                <c:pt idx="109">
                  <c:v>2019</c:v>
                </c:pt>
                <c:pt idx="110">
                  <c:v>2019</c:v>
                </c:pt>
                <c:pt idx="111">
                  <c:v>2019</c:v>
                </c:pt>
                <c:pt idx="112">
                  <c:v>2019</c:v>
                </c:pt>
                <c:pt idx="113">
                  <c:v>2019</c:v>
                </c:pt>
                <c:pt idx="114">
                  <c:v>2019</c:v>
                </c:pt>
                <c:pt idx="115">
                  <c:v>2019</c:v>
                </c:pt>
                <c:pt idx="116">
                  <c:v>2019</c:v>
                </c:pt>
                <c:pt idx="117">
                  <c:v>2019</c:v>
                </c:pt>
                <c:pt idx="118">
                  <c:v>2019</c:v>
                </c:pt>
                <c:pt idx="119">
                  <c:v>2019</c:v>
                </c:pt>
                <c:pt idx="120">
                  <c:v>2020</c:v>
                </c:pt>
                <c:pt idx="121">
                  <c:v>2020</c:v>
                </c:pt>
                <c:pt idx="122">
                  <c:v>2020</c:v>
                </c:pt>
                <c:pt idx="123">
                  <c:v>2020</c:v>
                </c:pt>
                <c:pt idx="124">
                  <c:v>2020</c:v>
                </c:pt>
                <c:pt idx="125">
                  <c:v>2020</c:v>
                </c:pt>
                <c:pt idx="126">
                  <c:v>2020</c:v>
                </c:pt>
                <c:pt idx="127">
                  <c:v>2020</c:v>
                </c:pt>
                <c:pt idx="128">
                  <c:v>2020</c:v>
                </c:pt>
                <c:pt idx="129">
                  <c:v>2020</c:v>
                </c:pt>
                <c:pt idx="130">
                  <c:v>2020</c:v>
                </c:pt>
                <c:pt idx="131">
                  <c:v>2020</c:v>
                </c:pt>
                <c:pt idx="132">
                  <c:v>2021</c:v>
                </c:pt>
                <c:pt idx="133">
                  <c:v>2021</c:v>
                </c:pt>
                <c:pt idx="134">
                  <c:v>2021</c:v>
                </c:pt>
                <c:pt idx="135">
                  <c:v>2021</c:v>
                </c:pt>
                <c:pt idx="136">
                  <c:v>2021</c:v>
                </c:pt>
                <c:pt idx="137">
                  <c:v>2021</c:v>
                </c:pt>
                <c:pt idx="138">
                  <c:v>2021</c:v>
                </c:pt>
                <c:pt idx="139">
                  <c:v>2021</c:v>
                </c:pt>
                <c:pt idx="140">
                  <c:v>2021</c:v>
                </c:pt>
                <c:pt idx="141">
                  <c:v>2021</c:v>
                </c:pt>
                <c:pt idx="142">
                  <c:v>2021</c:v>
                </c:pt>
                <c:pt idx="143">
                  <c:v>2021</c:v>
                </c:pt>
                <c:pt idx="144">
                  <c:v>2022</c:v>
                </c:pt>
                <c:pt idx="145">
                  <c:v>2022</c:v>
                </c:pt>
                <c:pt idx="146">
                  <c:v>2022</c:v>
                </c:pt>
                <c:pt idx="147">
                  <c:v>2022</c:v>
                </c:pt>
                <c:pt idx="148">
                  <c:v>2022</c:v>
                </c:pt>
                <c:pt idx="149">
                  <c:v>2022</c:v>
                </c:pt>
                <c:pt idx="150">
                  <c:v>2022</c:v>
                </c:pt>
                <c:pt idx="151">
                  <c:v>2022</c:v>
                </c:pt>
                <c:pt idx="152">
                  <c:v>2022</c:v>
                </c:pt>
                <c:pt idx="153">
                  <c:v>2022</c:v>
                </c:pt>
                <c:pt idx="154">
                  <c:v>2022</c:v>
                </c:pt>
                <c:pt idx="155">
                  <c:v>2022</c:v>
                </c:pt>
                <c:pt idx="156">
                  <c:v>2023</c:v>
                </c:pt>
                <c:pt idx="157">
                  <c:v>2023</c:v>
                </c:pt>
                <c:pt idx="158">
                  <c:v>2023</c:v>
                </c:pt>
                <c:pt idx="159">
                  <c:v>2023</c:v>
                </c:pt>
                <c:pt idx="160">
                  <c:v>2023</c:v>
                </c:pt>
                <c:pt idx="161">
                  <c:v>2023</c:v>
                </c:pt>
                <c:pt idx="162">
                  <c:v>2023</c:v>
                </c:pt>
                <c:pt idx="163">
                  <c:v>2023</c:v>
                </c:pt>
                <c:pt idx="164">
                  <c:v>2023</c:v>
                </c:pt>
                <c:pt idx="165">
                  <c:v>2023</c:v>
                </c:pt>
                <c:pt idx="166">
                  <c:v>2023</c:v>
                </c:pt>
                <c:pt idx="167">
                  <c:v>2023</c:v>
                </c:pt>
                <c:pt idx="168">
                  <c:v>2024</c:v>
                </c:pt>
                <c:pt idx="169">
                  <c:v>2024</c:v>
                </c:pt>
                <c:pt idx="170">
                  <c:v>2024</c:v>
                </c:pt>
                <c:pt idx="171">
                  <c:v>2024</c:v>
                </c:pt>
                <c:pt idx="172">
                  <c:v>2024</c:v>
                </c:pt>
                <c:pt idx="173">
                  <c:v>2024</c:v>
                </c:pt>
                <c:pt idx="174">
                  <c:v>2024</c:v>
                </c:pt>
                <c:pt idx="175">
                  <c:v>2024</c:v>
                </c:pt>
                <c:pt idx="176">
                  <c:v>2024</c:v>
                </c:pt>
                <c:pt idx="177">
                  <c:v>2024</c:v>
                </c:pt>
                <c:pt idx="178">
                  <c:v>2024</c:v>
                </c:pt>
                <c:pt idx="179">
                  <c:v>2024</c:v>
                </c:pt>
                <c:pt idx="180">
                  <c:v>2025</c:v>
                </c:pt>
                <c:pt idx="181">
                  <c:v>2025</c:v>
                </c:pt>
                <c:pt idx="182">
                  <c:v>2025</c:v>
                </c:pt>
                <c:pt idx="183">
                  <c:v>2025</c:v>
                </c:pt>
                <c:pt idx="184">
                  <c:v>2025</c:v>
                </c:pt>
                <c:pt idx="185">
                  <c:v>2025</c:v>
                </c:pt>
                <c:pt idx="186">
                  <c:v>2025</c:v>
                </c:pt>
                <c:pt idx="187">
                  <c:v>2025</c:v>
                </c:pt>
                <c:pt idx="188">
                  <c:v>2025</c:v>
                </c:pt>
                <c:pt idx="189">
                  <c:v>2025</c:v>
                </c:pt>
                <c:pt idx="190">
                  <c:v>2025</c:v>
                </c:pt>
                <c:pt idx="191">
                  <c:v>2025</c:v>
                </c:pt>
                <c:pt idx="192">
                  <c:v>2026</c:v>
                </c:pt>
                <c:pt idx="193">
                  <c:v>2026</c:v>
                </c:pt>
                <c:pt idx="194">
                  <c:v>2026</c:v>
                </c:pt>
                <c:pt idx="195">
                  <c:v>2026</c:v>
                </c:pt>
                <c:pt idx="196">
                  <c:v>2026</c:v>
                </c:pt>
                <c:pt idx="197">
                  <c:v>2026</c:v>
                </c:pt>
                <c:pt idx="198">
                  <c:v>2026</c:v>
                </c:pt>
              </c:strCache>
            </c:strRef>
          </c:cat>
          <c:val>
            <c:numRef>
              <c:f>Sheet1!$B$2:$B$200</c:f>
              <c:numCache>
                <c:formatCode>General</c:formatCode>
                <c:ptCount val="199"/>
                <c:pt idx="0">
                  <c:v>1.47</c:v>
                </c:pt>
                <c:pt idx="1">
                  <c:v>1.21</c:v>
                </c:pt>
                <c:pt idx="2">
                  <c:v>0.88</c:v>
                </c:pt>
                <c:pt idx="3">
                  <c:v>0.38</c:v>
                </c:pt>
                <c:pt idx="4">
                  <c:v>-0.16</c:v>
                </c:pt>
                <c:pt idx="5">
                  <c:v>-0.66</c:v>
                </c:pt>
                <c:pt idx="6">
                  <c:v>-0.98</c:v>
                </c:pt>
                <c:pt idx="7">
                  <c:v>-1.24</c:v>
                </c:pt>
                <c:pt idx="8">
                  <c:v>-1.43</c:v>
                </c:pt>
                <c:pt idx="9">
                  <c:v>-1.54</c:v>
                </c:pt>
                <c:pt idx="10">
                  <c:v>-1.57</c:v>
                </c:pt>
                <c:pt idx="11">
                  <c:v>-1.48</c:v>
                </c:pt>
                <c:pt idx="12">
                  <c:v>-1.29</c:v>
                </c:pt>
                <c:pt idx="13">
                  <c:v>-1.06</c:v>
                </c:pt>
                <c:pt idx="14">
                  <c:v>-0.85</c:v>
                </c:pt>
                <c:pt idx="15">
                  <c:v>-0.68</c:v>
                </c:pt>
                <c:pt idx="16">
                  <c:v>-0.5</c:v>
                </c:pt>
                <c:pt idx="17">
                  <c:v>-0.34</c:v>
                </c:pt>
                <c:pt idx="18">
                  <c:v>-0.37</c:v>
                </c:pt>
                <c:pt idx="19">
                  <c:v>-0.5</c:v>
                </c:pt>
                <c:pt idx="20">
                  <c:v>-0.76</c:v>
                </c:pt>
                <c:pt idx="21">
                  <c:v>-0.94</c:v>
                </c:pt>
                <c:pt idx="22">
                  <c:v>-1.02</c:v>
                </c:pt>
                <c:pt idx="23">
                  <c:v>-0.92</c:v>
                </c:pt>
                <c:pt idx="24">
                  <c:v>-0.71</c:v>
                </c:pt>
                <c:pt idx="25">
                  <c:v>-0.56</c:v>
                </c:pt>
                <c:pt idx="26">
                  <c:v>-0.44</c:v>
                </c:pt>
                <c:pt idx="27">
                  <c:v>-0.35</c:v>
                </c:pt>
                <c:pt idx="28">
                  <c:v>-0.18</c:v>
                </c:pt>
                <c:pt idx="29">
                  <c:v>0.03</c:v>
                </c:pt>
                <c:pt idx="30">
                  <c:v>0.28</c:v>
                </c:pt>
                <c:pt idx="31">
                  <c:v>0.39</c:v>
                </c:pt>
                <c:pt idx="32">
                  <c:v>0.37</c:v>
                </c:pt>
                <c:pt idx="33">
                  <c:v>0.28</c:v>
                </c:pt>
                <c:pt idx="34">
                  <c:v>0.13</c:v>
                </c:pt>
                <c:pt idx="35">
                  <c:v>-0.03</c:v>
                </c:pt>
                <c:pt idx="36">
                  <c:v>-0.24</c:v>
                </c:pt>
                <c:pt idx="37">
                  <c:v>-0.28</c:v>
                </c:pt>
                <c:pt idx="38">
                  <c:v>-0.23</c:v>
                </c:pt>
                <c:pt idx="39">
                  <c:v>-0.2</c:v>
                </c:pt>
                <c:pt idx="40">
                  <c:v>-0.3</c:v>
                </c:pt>
                <c:pt idx="41">
                  <c:v>-0.38</c:v>
                </c:pt>
                <c:pt idx="42">
                  <c:v>-0.45</c:v>
                </c:pt>
                <c:pt idx="43">
                  <c:v>-0.34</c:v>
                </c:pt>
                <c:pt idx="44">
                  <c:v>-0.32</c:v>
                </c:pt>
                <c:pt idx="45">
                  <c:v>-0.14</c:v>
                </c:pt>
                <c:pt idx="46">
                  <c:v>-0.12</c:v>
                </c:pt>
                <c:pt idx="47">
                  <c:v>-0.11</c:v>
                </c:pt>
                <c:pt idx="48">
                  <c:v>-0.24</c:v>
                </c:pt>
                <c:pt idx="49">
                  <c:v>-0.21</c:v>
                </c:pt>
                <c:pt idx="50">
                  <c:v>-0.02</c:v>
                </c:pt>
                <c:pt idx="51">
                  <c:v>0.25</c:v>
                </c:pt>
                <c:pt idx="52">
                  <c:v>0.35</c:v>
                </c:pt>
                <c:pt idx="53">
                  <c:v>0.22</c:v>
                </c:pt>
                <c:pt idx="54">
                  <c:v>0.07</c:v>
                </c:pt>
                <c:pt idx="55">
                  <c:v>0.07</c:v>
                </c:pt>
                <c:pt idx="56">
                  <c:v>0.24</c:v>
                </c:pt>
                <c:pt idx="57">
                  <c:v>0.51</c:v>
                </c:pt>
                <c:pt idx="58">
                  <c:v>0.7</c:v>
                </c:pt>
                <c:pt idx="59">
                  <c:v>0.8</c:v>
                </c:pt>
                <c:pt idx="60">
                  <c:v>0.73</c:v>
                </c:pt>
                <c:pt idx="61">
                  <c:v>0.65</c:v>
                </c:pt>
                <c:pt idx="62">
                  <c:v>0.72</c:v>
                </c:pt>
                <c:pt idx="63">
                  <c:v>0.86</c:v>
                </c:pt>
                <c:pt idx="64">
                  <c:v>1.04</c:v>
                </c:pt>
                <c:pt idx="65">
                  <c:v>1.19</c:v>
                </c:pt>
                <c:pt idx="66">
                  <c:v>1.44</c:v>
                </c:pt>
                <c:pt idx="67">
                  <c:v>1.73</c:v>
                </c:pt>
                <c:pt idx="68">
                  <c:v>2.02</c:v>
                </c:pt>
                <c:pt idx="69">
                  <c:v>2.28</c:v>
                </c:pt>
                <c:pt idx="70">
                  <c:v>2.45</c:v>
                </c:pt>
                <c:pt idx="71">
                  <c:v>2.59</c:v>
                </c:pt>
                <c:pt idx="72">
                  <c:v>2.5</c:v>
                </c:pt>
                <c:pt idx="73">
                  <c:v>2.21</c:v>
                </c:pt>
                <c:pt idx="74">
                  <c:v>1.69</c:v>
                </c:pt>
                <c:pt idx="75">
                  <c:v>1.11</c:v>
                </c:pt>
                <c:pt idx="76">
                  <c:v>0.57</c:v>
                </c:pt>
                <c:pt idx="77">
                  <c:v>0.09</c:v>
                </c:pt>
                <c:pt idx="78">
                  <c:v>-0.19</c:v>
                </c:pt>
                <c:pt idx="79">
                  <c:v>-0.34</c:v>
                </c:pt>
                <c:pt idx="80">
                  <c:v>-0.42</c:v>
                </c:pt>
                <c:pt idx="81">
                  <c:v>-0.51</c:v>
                </c:pt>
                <c:pt idx="82">
                  <c:v>-0.49</c:v>
                </c:pt>
                <c:pt idx="83">
                  <c:v>-0.37</c:v>
                </c:pt>
                <c:pt idx="84">
                  <c:v>-0.08</c:v>
                </c:pt>
                <c:pt idx="85">
                  <c:v>0.08</c:v>
                </c:pt>
                <c:pt idx="86">
                  <c:v>0.27</c:v>
                </c:pt>
                <c:pt idx="87">
                  <c:v>0.32</c:v>
                </c:pt>
                <c:pt idx="88">
                  <c:v>0.35</c:v>
                </c:pt>
                <c:pt idx="89">
                  <c:v>0.32</c:v>
                </c:pt>
                <c:pt idx="90">
                  <c:v>0.14</c:v>
                </c:pt>
                <c:pt idx="91">
                  <c:v>-0.07</c:v>
                </c:pt>
                <c:pt idx="92">
                  <c:v>-0.23</c:v>
                </c:pt>
                <c:pt idx="93">
                  <c:v>-0.44</c:v>
                </c:pt>
                <c:pt idx="94">
                  <c:v>-0.61</c:v>
                </c:pt>
                <c:pt idx="95">
                  <c:v>-0.76</c:v>
                </c:pt>
                <c:pt idx="96">
                  <c:v>-0.71</c:v>
                </c:pt>
                <c:pt idx="97">
                  <c:v>-0.67</c:v>
                </c:pt>
                <c:pt idx="98">
                  <c:v>-0.55</c:v>
                </c:pt>
                <c:pt idx="99">
                  <c:v>-0.35</c:v>
                </c:pt>
                <c:pt idx="100">
                  <c:v>-0.07</c:v>
                </c:pt>
                <c:pt idx="101">
                  <c:v>0.13</c:v>
                </c:pt>
                <c:pt idx="102">
                  <c:v>0.2</c:v>
                </c:pt>
                <c:pt idx="103">
                  <c:v>0.3</c:v>
                </c:pt>
                <c:pt idx="104">
                  <c:v>0.52</c:v>
                </c:pt>
                <c:pt idx="105">
                  <c:v>0.82</c:v>
                </c:pt>
                <c:pt idx="106">
                  <c:v>1.04</c:v>
                </c:pt>
                <c:pt idx="107">
                  <c:v>1.05</c:v>
                </c:pt>
                <c:pt idx="108">
                  <c:v>0.99</c:v>
                </c:pt>
                <c:pt idx="109">
                  <c:v>0.94</c:v>
                </c:pt>
                <c:pt idx="110">
                  <c:v>0.87</c:v>
                </c:pt>
                <c:pt idx="111">
                  <c:v>0.82</c:v>
                </c:pt>
                <c:pt idx="112">
                  <c:v>0.71</c:v>
                </c:pt>
                <c:pt idx="113">
                  <c:v>0.59</c:v>
                </c:pt>
                <c:pt idx="114">
                  <c:v>0.38</c:v>
                </c:pt>
                <c:pt idx="115">
                  <c:v>0.2</c:v>
                </c:pt>
                <c:pt idx="116">
                  <c:v>0.31</c:v>
                </c:pt>
                <c:pt idx="117">
                  <c:v>0.51</c:v>
                </c:pt>
                <c:pt idx="118">
                  <c:v>0.72</c:v>
                </c:pt>
                <c:pt idx="119">
                  <c:v>0.75</c:v>
                </c:pt>
                <c:pt idx="120">
                  <c:v>0.71</c:v>
                </c:pt>
                <c:pt idx="121">
                  <c:v>0.66</c:v>
                </c:pt>
                <c:pt idx="122">
                  <c:v>0.57</c:v>
                </c:pt>
                <c:pt idx="123">
                  <c:v>0.33</c:v>
                </c:pt>
                <c:pt idx="124">
                  <c:v>0.04</c:v>
                </c:pt>
                <c:pt idx="125">
                  <c:v>-0.18</c:v>
                </c:pt>
                <c:pt idx="126">
                  <c:v>-0.29</c:v>
                </c:pt>
                <c:pt idx="127">
                  <c:v>-0.43</c:v>
                </c:pt>
                <c:pt idx="128">
                  <c:v>-0.77</c:v>
                </c:pt>
                <c:pt idx="129">
                  <c:v>-1.0</c:v>
                </c:pt>
                <c:pt idx="130">
                  <c:v>-1.11</c:v>
                </c:pt>
                <c:pt idx="131">
                  <c:v>-1.06</c:v>
                </c:pt>
                <c:pt idx="132">
                  <c:v>-0.99</c:v>
                </c:pt>
                <c:pt idx="133">
                  <c:v>-0.85</c:v>
                </c:pt>
                <c:pt idx="134">
                  <c:v>-0.74</c:v>
                </c:pt>
                <c:pt idx="135">
                  <c:v>-0.56</c:v>
                </c:pt>
                <c:pt idx="136">
                  <c:v>-0.4</c:v>
                </c:pt>
                <c:pt idx="137">
                  <c:v>-0.31</c:v>
                </c:pt>
                <c:pt idx="138">
                  <c:v>-0.35</c:v>
                </c:pt>
                <c:pt idx="139">
                  <c:v>-0.46</c:v>
                </c:pt>
                <c:pt idx="140">
                  <c:v>-0.64</c:v>
                </c:pt>
                <c:pt idx="141">
                  <c:v>-0.77</c:v>
                </c:pt>
                <c:pt idx="142">
                  <c:v>-0.91</c:v>
                </c:pt>
                <c:pt idx="143">
                  <c:v>-0.83</c:v>
                </c:pt>
                <c:pt idx="144">
                  <c:v>-0.76</c:v>
                </c:pt>
                <c:pt idx="145">
                  <c:v>-0.68</c:v>
                </c:pt>
                <c:pt idx="146">
                  <c:v>-0.77</c:v>
                </c:pt>
                <c:pt idx="147">
                  <c:v>-0.86</c:v>
                </c:pt>
                <c:pt idx="148">
                  <c:v>-0.83</c:v>
                </c:pt>
                <c:pt idx="149">
                  <c:v>-0.73</c:v>
                </c:pt>
                <c:pt idx="150">
                  <c:v>-0.7</c:v>
                </c:pt>
                <c:pt idx="151">
                  <c:v>-0.78</c:v>
                </c:pt>
                <c:pt idx="152">
                  <c:v>-0.87</c:v>
                </c:pt>
                <c:pt idx="153">
                  <c:v>-0.89</c:v>
                </c:pt>
                <c:pt idx="154">
                  <c:v>-0.82</c:v>
                </c:pt>
                <c:pt idx="155">
                  <c:v>-0.7</c:v>
                </c:pt>
                <c:pt idx="156">
                  <c:v>-0.55</c:v>
                </c:pt>
                <c:pt idx="157">
                  <c:v>-0.33</c:v>
                </c:pt>
                <c:pt idx="158">
                  <c:v>-0.11</c:v>
                </c:pt>
                <c:pt idx="159">
                  <c:v>0.19</c:v>
                </c:pt>
                <c:pt idx="160">
                  <c:v>0.46</c:v>
                </c:pt>
                <c:pt idx="161">
                  <c:v>0.73</c:v>
                </c:pt>
                <c:pt idx="162">
                  <c:v>1.0</c:v>
                </c:pt>
                <c:pt idx="163">
                  <c:v>1.25</c:v>
                </c:pt>
                <c:pt idx="164">
                  <c:v>1.5</c:v>
                </c:pt>
                <c:pt idx="165">
                  <c:v>1.74</c:v>
                </c:pt>
                <c:pt idx="166">
                  <c:v>1.9</c:v>
                </c:pt>
                <c:pt idx="167">
                  <c:v>1.99</c:v>
                </c:pt>
                <c:pt idx="168">
                  <c:v>1.84</c:v>
                </c:pt>
                <c:pt idx="169">
                  <c:v>1.53</c:v>
                </c:pt>
                <c:pt idx="170">
                  <c:v>1.18</c:v>
                </c:pt>
                <c:pt idx="171">
                  <c:v>0.77</c:v>
                </c:pt>
                <c:pt idx="172">
                  <c:v>0.43</c:v>
                </c:pt>
                <c:pt idx="173">
                  <c:v>0.18</c:v>
                </c:pt>
                <c:pt idx="174">
                  <c:v>0.06</c:v>
                </c:pt>
                <c:pt idx="175">
                  <c:v>-0.04</c:v>
                </c:pt>
                <c:pt idx="176">
                  <c:v>-0.12</c:v>
                </c:pt>
                <c:pt idx="177">
                  <c:v>-0.19</c:v>
                </c:pt>
                <c:pt idx="178">
                  <c:v>-0.29</c:v>
                </c:pt>
                <c:pt idx="179">
                  <c:v>-0.43</c:v>
                </c:pt>
                <c:pt idx="180">
                  <c:v>-0.46</c:v>
                </c:pt>
                <c:pt idx="181">
                  <c:v>-0.22</c:v>
                </c:pt>
                <c:pt idx="182">
                  <c:v>-0.08</c:v>
                </c:pt>
                <c:pt idx="183">
                  <c:v>0.02</c:v>
                </c:pt>
                <c:pt idx="184">
                  <c:v>-0.04</c:v>
                </c:pt>
                <c:pt idx="185">
                  <c:v>-0.02</c:v>
                </c:pt>
                <c:pt idx="186">
                  <c:v>-0.11</c:v>
                </c:pt>
                <c:pt idx="187">
                  <c:v>-0.26</c:v>
                </c:pt>
                <c:pt idx="188">
                  <c:v>-0.43</c:v>
                </c:pt>
                <c:pt idx="189">
                  <c:v>-0.57</c:v>
                </c:pt>
                <c:pt idx="190">
                  <c:v>-0.61</c:v>
                </c:pt>
                <c:pt idx="191">
                  <c:v>-0.6</c:v>
                </c:pt>
                <c:pt idx="192">
                  <c:v>-0.39</c:v>
                </c:pt>
                <c:pt idx="193">
                  <c:v>-0.21</c:v>
                </c:pt>
                <c:pt idx="194">
                  <c:v>0.11</c:v>
                </c:pt>
                <c:pt idx="195">
                  <c:v>0.46</c:v>
                </c:pt>
                <c:pt idx="196">
                  <c:v>0.95</c:v>
                </c:pt>
                <c:pt idx="197">
                  <c:v>1.39</c:v>
                </c:pt>
                <c:pt idx="198">
                  <c:v>1.8</c:v>
                </c:pt>
              </c:numCache>
            </c:numRef>
          </c:val>
          <c:smooth val="0"/>
        </c:ser>
        <c:ser>
          <c:idx val="1"/>
          <c:order val="1"/>
          <c:tx>
            <c:strRef>
              <c:f>Sheet1!$C$1</c:f>
              <c:strCache>
                <c:ptCount val="1"/>
                <c:pt idx="0">
                  <c:v>+0.5</c:v>
                </c:pt>
              </c:strCache>
            </c:strRef>
          </c:tx>
          <c:spPr>
            <a:ln w="15875" cap="rnd">
              <a:solidFill>
                <a:srgbClr val="C00000"/>
              </a:solidFill>
              <a:round/>
            </a:ln>
          </c:spPr>
          <c:marker>
            <c:symbol val="none"/>
          </c:marker>
          <c:cat>
            <c:strRef>
              <c:f>Sheet1!$A$2:$A$200</c:f>
              <c:strCache>
                <c:ptCount val="199"/>
                <c:pt idx="0">
                  <c:v>2010</c:v>
                </c:pt>
                <c:pt idx="1">
                  <c:v>2010</c:v>
                </c:pt>
                <c:pt idx="2">
                  <c:v>2010</c:v>
                </c:pt>
                <c:pt idx="3">
                  <c:v>2010</c:v>
                </c:pt>
                <c:pt idx="4">
                  <c:v>2010</c:v>
                </c:pt>
                <c:pt idx="5">
                  <c:v>2010</c:v>
                </c:pt>
                <c:pt idx="6">
                  <c:v>2010</c:v>
                </c:pt>
                <c:pt idx="7">
                  <c:v>2010</c:v>
                </c:pt>
                <c:pt idx="8">
                  <c:v>2010</c:v>
                </c:pt>
                <c:pt idx="9">
                  <c:v>2010</c:v>
                </c:pt>
                <c:pt idx="10">
                  <c:v>2010</c:v>
                </c:pt>
                <c:pt idx="11">
                  <c:v>2010</c:v>
                </c:pt>
                <c:pt idx="12">
                  <c:v>2011</c:v>
                </c:pt>
                <c:pt idx="13">
                  <c:v>2011</c:v>
                </c:pt>
                <c:pt idx="14">
                  <c:v>2011</c:v>
                </c:pt>
                <c:pt idx="15">
                  <c:v>2011</c:v>
                </c:pt>
                <c:pt idx="16">
                  <c:v>2011</c:v>
                </c:pt>
                <c:pt idx="17">
                  <c:v>2011</c:v>
                </c:pt>
                <c:pt idx="18">
                  <c:v>2011</c:v>
                </c:pt>
                <c:pt idx="19">
                  <c:v>2011</c:v>
                </c:pt>
                <c:pt idx="20">
                  <c:v>2011</c:v>
                </c:pt>
                <c:pt idx="21">
                  <c:v>2011</c:v>
                </c:pt>
                <c:pt idx="22">
                  <c:v>2011</c:v>
                </c:pt>
                <c:pt idx="23">
                  <c:v>2011</c:v>
                </c:pt>
                <c:pt idx="24">
                  <c:v>2012</c:v>
                </c:pt>
                <c:pt idx="25">
                  <c:v>2012</c:v>
                </c:pt>
                <c:pt idx="26">
                  <c:v>2012</c:v>
                </c:pt>
                <c:pt idx="27">
                  <c:v>2012</c:v>
                </c:pt>
                <c:pt idx="28">
                  <c:v>2012</c:v>
                </c:pt>
                <c:pt idx="29">
                  <c:v>2012</c:v>
                </c:pt>
                <c:pt idx="30">
                  <c:v>2012</c:v>
                </c:pt>
                <c:pt idx="31">
                  <c:v>2012</c:v>
                </c:pt>
                <c:pt idx="32">
                  <c:v>2012</c:v>
                </c:pt>
                <c:pt idx="33">
                  <c:v>2012</c:v>
                </c:pt>
                <c:pt idx="34">
                  <c:v>2012</c:v>
                </c:pt>
                <c:pt idx="35">
                  <c:v>2012</c:v>
                </c:pt>
                <c:pt idx="36">
                  <c:v>2013</c:v>
                </c:pt>
                <c:pt idx="37">
                  <c:v>2013</c:v>
                </c:pt>
                <c:pt idx="38">
                  <c:v>2013</c:v>
                </c:pt>
                <c:pt idx="39">
                  <c:v>2013</c:v>
                </c:pt>
                <c:pt idx="40">
                  <c:v>2013</c:v>
                </c:pt>
                <c:pt idx="41">
                  <c:v>2013</c:v>
                </c:pt>
                <c:pt idx="42">
                  <c:v>2013</c:v>
                </c:pt>
                <c:pt idx="43">
                  <c:v>2013</c:v>
                </c:pt>
                <c:pt idx="44">
                  <c:v>2013</c:v>
                </c:pt>
                <c:pt idx="45">
                  <c:v>2013</c:v>
                </c:pt>
                <c:pt idx="46">
                  <c:v>2013</c:v>
                </c:pt>
                <c:pt idx="47">
                  <c:v>2013</c:v>
                </c:pt>
                <c:pt idx="48">
                  <c:v>2014</c:v>
                </c:pt>
                <c:pt idx="49">
                  <c:v>2014</c:v>
                </c:pt>
                <c:pt idx="50">
                  <c:v>2014</c:v>
                </c:pt>
                <c:pt idx="51">
                  <c:v>2014</c:v>
                </c:pt>
                <c:pt idx="52">
                  <c:v>2014</c:v>
                </c:pt>
                <c:pt idx="53">
                  <c:v>2014</c:v>
                </c:pt>
                <c:pt idx="54">
                  <c:v>2014</c:v>
                </c:pt>
                <c:pt idx="55">
                  <c:v>2014</c:v>
                </c:pt>
                <c:pt idx="56">
                  <c:v>2014</c:v>
                </c:pt>
                <c:pt idx="57">
                  <c:v>2014</c:v>
                </c:pt>
                <c:pt idx="58">
                  <c:v>2014</c:v>
                </c:pt>
                <c:pt idx="59">
                  <c:v>2014</c:v>
                </c:pt>
                <c:pt idx="60">
                  <c:v>2015</c:v>
                </c:pt>
                <c:pt idx="61">
                  <c:v>2015</c:v>
                </c:pt>
                <c:pt idx="62">
                  <c:v>2015</c:v>
                </c:pt>
                <c:pt idx="63">
                  <c:v>2015</c:v>
                </c:pt>
                <c:pt idx="64">
                  <c:v>2015</c:v>
                </c:pt>
                <c:pt idx="65">
                  <c:v>2015</c:v>
                </c:pt>
                <c:pt idx="66">
                  <c:v>2015</c:v>
                </c:pt>
                <c:pt idx="67">
                  <c:v>2015</c:v>
                </c:pt>
                <c:pt idx="68">
                  <c:v>2015</c:v>
                </c:pt>
                <c:pt idx="69">
                  <c:v>2015</c:v>
                </c:pt>
                <c:pt idx="70">
                  <c:v>2015</c:v>
                </c:pt>
                <c:pt idx="71">
                  <c:v>2015</c:v>
                </c:pt>
                <c:pt idx="72">
                  <c:v>2016</c:v>
                </c:pt>
                <c:pt idx="73">
                  <c:v>2016</c:v>
                </c:pt>
                <c:pt idx="74">
                  <c:v>2016</c:v>
                </c:pt>
                <c:pt idx="75">
                  <c:v>2016</c:v>
                </c:pt>
                <c:pt idx="76">
                  <c:v>2016</c:v>
                </c:pt>
                <c:pt idx="77">
                  <c:v>2016</c:v>
                </c:pt>
                <c:pt idx="78">
                  <c:v>2016</c:v>
                </c:pt>
                <c:pt idx="79">
                  <c:v>2016</c:v>
                </c:pt>
                <c:pt idx="80">
                  <c:v>2016</c:v>
                </c:pt>
                <c:pt idx="81">
                  <c:v>2016</c:v>
                </c:pt>
                <c:pt idx="82">
                  <c:v>2016</c:v>
                </c:pt>
                <c:pt idx="83">
                  <c:v>2016</c:v>
                </c:pt>
                <c:pt idx="84">
                  <c:v>2017</c:v>
                </c:pt>
                <c:pt idx="85">
                  <c:v>2017</c:v>
                </c:pt>
                <c:pt idx="86">
                  <c:v>2017</c:v>
                </c:pt>
                <c:pt idx="87">
                  <c:v>2017</c:v>
                </c:pt>
                <c:pt idx="88">
                  <c:v>2017</c:v>
                </c:pt>
                <c:pt idx="89">
                  <c:v>2017</c:v>
                </c:pt>
                <c:pt idx="90">
                  <c:v>2017</c:v>
                </c:pt>
                <c:pt idx="91">
                  <c:v>2017</c:v>
                </c:pt>
                <c:pt idx="92">
                  <c:v>2017</c:v>
                </c:pt>
                <c:pt idx="93">
                  <c:v>2017</c:v>
                </c:pt>
                <c:pt idx="94">
                  <c:v>2017</c:v>
                </c:pt>
                <c:pt idx="95">
                  <c:v>2017</c:v>
                </c:pt>
                <c:pt idx="96">
                  <c:v>2018</c:v>
                </c:pt>
                <c:pt idx="97">
                  <c:v>2018</c:v>
                </c:pt>
                <c:pt idx="98">
                  <c:v>2018</c:v>
                </c:pt>
                <c:pt idx="99">
                  <c:v>2018</c:v>
                </c:pt>
                <c:pt idx="100">
                  <c:v>2018</c:v>
                </c:pt>
                <c:pt idx="101">
                  <c:v>2018</c:v>
                </c:pt>
                <c:pt idx="102">
                  <c:v>2018</c:v>
                </c:pt>
                <c:pt idx="103">
                  <c:v>2018</c:v>
                </c:pt>
                <c:pt idx="104">
                  <c:v>2018</c:v>
                </c:pt>
                <c:pt idx="105">
                  <c:v>2018</c:v>
                </c:pt>
                <c:pt idx="106">
                  <c:v>2018</c:v>
                </c:pt>
                <c:pt idx="107">
                  <c:v>2018</c:v>
                </c:pt>
                <c:pt idx="108">
                  <c:v>2019</c:v>
                </c:pt>
                <c:pt idx="109">
                  <c:v>2019</c:v>
                </c:pt>
                <c:pt idx="110">
                  <c:v>2019</c:v>
                </c:pt>
                <c:pt idx="111">
                  <c:v>2019</c:v>
                </c:pt>
                <c:pt idx="112">
                  <c:v>2019</c:v>
                </c:pt>
                <c:pt idx="113">
                  <c:v>2019</c:v>
                </c:pt>
                <c:pt idx="114">
                  <c:v>2019</c:v>
                </c:pt>
                <c:pt idx="115">
                  <c:v>2019</c:v>
                </c:pt>
                <c:pt idx="116">
                  <c:v>2019</c:v>
                </c:pt>
                <c:pt idx="117">
                  <c:v>2019</c:v>
                </c:pt>
                <c:pt idx="118">
                  <c:v>2019</c:v>
                </c:pt>
                <c:pt idx="119">
                  <c:v>2019</c:v>
                </c:pt>
                <c:pt idx="120">
                  <c:v>2020</c:v>
                </c:pt>
                <c:pt idx="121">
                  <c:v>2020</c:v>
                </c:pt>
                <c:pt idx="122">
                  <c:v>2020</c:v>
                </c:pt>
                <c:pt idx="123">
                  <c:v>2020</c:v>
                </c:pt>
                <c:pt idx="124">
                  <c:v>2020</c:v>
                </c:pt>
                <c:pt idx="125">
                  <c:v>2020</c:v>
                </c:pt>
                <c:pt idx="126">
                  <c:v>2020</c:v>
                </c:pt>
                <c:pt idx="127">
                  <c:v>2020</c:v>
                </c:pt>
                <c:pt idx="128">
                  <c:v>2020</c:v>
                </c:pt>
                <c:pt idx="129">
                  <c:v>2020</c:v>
                </c:pt>
                <c:pt idx="130">
                  <c:v>2020</c:v>
                </c:pt>
                <c:pt idx="131">
                  <c:v>2020</c:v>
                </c:pt>
                <c:pt idx="132">
                  <c:v>2021</c:v>
                </c:pt>
                <c:pt idx="133">
                  <c:v>2021</c:v>
                </c:pt>
                <c:pt idx="134">
                  <c:v>2021</c:v>
                </c:pt>
                <c:pt idx="135">
                  <c:v>2021</c:v>
                </c:pt>
                <c:pt idx="136">
                  <c:v>2021</c:v>
                </c:pt>
                <c:pt idx="137">
                  <c:v>2021</c:v>
                </c:pt>
                <c:pt idx="138">
                  <c:v>2021</c:v>
                </c:pt>
                <c:pt idx="139">
                  <c:v>2021</c:v>
                </c:pt>
                <c:pt idx="140">
                  <c:v>2021</c:v>
                </c:pt>
                <c:pt idx="141">
                  <c:v>2021</c:v>
                </c:pt>
                <c:pt idx="142">
                  <c:v>2021</c:v>
                </c:pt>
                <c:pt idx="143">
                  <c:v>2021</c:v>
                </c:pt>
                <c:pt idx="144">
                  <c:v>2022</c:v>
                </c:pt>
                <c:pt idx="145">
                  <c:v>2022</c:v>
                </c:pt>
                <c:pt idx="146">
                  <c:v>2022</c:v>
                </c:pt>
                <c:pt idx="147">
                  <c:v>2022</c:v>
                </c:pt>
                <c:pt idx="148">
                  <c:v>2022</c:v>
                </c:pt>
                <c:pt idx="149">
                  <c:v>2022</c:v>
                </c:pt>
                <c:pt idx="150">
                  <c:v>2022</c:v>
                </c:pt>
                <c:pt idx="151">
                  <c:v>2022</c:v>
                </c:pt>
                <c:pt idx="152">
                  <c:v>2022</c:v>
                </c:pt>
                <c:pt idx="153">
                  <c:v>2022</c:v>
                </c:pt>
                <c:pt idx="154">
                  <c:v>2022</c:v>
                </c:pt>
                <c:pt idx="155">
                  <c:v>2022</c:v>
                </c:pt>
                <c:pt idx="156">
                  <c:v>2023</c:v>
                </c:pt>
                <c:pt idx="157">
                  <c:v>2023</c:v>
                </c:pt>
                <c:pt idx="158">
                  <c:v>2023</c:v>
                </c:pt>
                <c:pt idx="159">
                  <c:v>2023</c:v>
                </c:pt>
                <c:pt idx="160">
                  <c:v>2023</c:v>
                </c:pt>
                <c:pt idx="161">
                  <c:v>2023</c:v>
                </c:pt>
                <c:pt idx="162">
                  <c:v>2023</c:v>
                </c:pt>
                <c:pt idx="163">
                  <c:v>2023</c:v>
                </c:pt>
                <c:pt idx="164">
                  <c:v>2023</c:v>
                </c:pt>
                <c:pt idx="165">
                  <c:v>2023</c:v>
                </c:pt>
                <c:pt idx="166">
                  <c:v>2023</c:v>
                </c:pt>
                <c:pt idx="167">
                  <c:v>2023</c:v>
                </c:pt>
                <c:pt idx="168">
                  <c:v>2024</c:v>
                </c:pt>
                <c:pt idx="169">
                  <c:v>2024</c:v>
                </c:pt>
                <c:pt idx="170">
                  <c:v>2024</c:v>
                </c:pt>
                <c:pt idx="171">
                  <c:v>2024</c:v>
                </c:pt>
                <c:pt idx="172">
                  <c:v>2024</c:v>
                </c:pt>
                <c:pt idx="173">
                  <c:v>2024</c:v>
                </c:pt>
                <c:pt idx="174">
                  <c:v>2024</c:v>
                </c:pt>
                <c:pt idx="175">
                  <c:v>2024</c:v>
                </c:pt>
                <c:pt idx="176">
                  <c:v>2024</c:v>
                </c:pt>
                <c:pt idx="177">
                  <c:v>2024</c:v>
                </c:pt>
                <c:pt idx="178">
                  <c:v>2024</c:v>
                </c:pt>
                <c:pt idx="179">
                  <c:v>2024</c:v>
                </c:pt>
                <c:pt idx="180">
                  <c:v>2025</c:v>
                </c:pt>
                <c:pt idx="181">
                  <c:v>2025</c:v>
                </c:pt>
                <c:pt idx="182">
                  <c:v>2025</c:v>
                </c:pt>
                <c:pt idx="183">
                  <c:v>2025</c:v>
                </c:pt>
                <c:pt idx="184">
                  <c:v>2025</c:v>
                </c:pt>
                <c:pt idx="185">
                  <c:v>2025</c:v>
                </c:pt>
                <c:pt idx="186">
                  <c:v>2025</c:v>
                </c:pt>
                <c:pt idx="187">
                  <c:v>2025</c:v>
                </c:pt>
                <c:pt idx="188">
                  <c:v>2025</c:v>
                </c:pt>
                <c:pt idx="189">
                  <c:v>2025</c:v>
                </c:pt>
                <c:pt idx="190">
                  <c:v>2025</c:v>
                </c:pt>
                <c:pt idx="191">
                  <c:v>2025</c:v>
                </c:pt>
                <c:pt idx="192">
                  <c:v>2026</c:v>
                </c:pt>
                <c:pt idx="193">
                  <c:v>2026</c:v>
                </c:pt>
                <c:pt idx="194">
                  <c:v>2026</c:v>
                </c:pt>
                <c:pt idx="195">
                  <c:v>2026</c:v>
                </c:pt>
                <c:pt idx="196">
                  <c:v>2026</c:v>
                </c:pt>
                <c:pt idx="197">
                  <c:v>2026</c:v>
                </c:pt>
                <c:pt idx="198">
                  <c:v>2026</c:v>
                </c:pt>
              </c:strCache>
            </c:strRef>
          </c:cat>
          <c:val>
            <c:numRef>
              <c:f>Sheet1!$C$2:$C$200</c:f>
              <c:numCache>
                <c:formatCode>General</c:formatCode>
                <c:ptCount val="199"/>
                <c:pt idx="0">
                  <c:v>0.5</c:v>
                </c:pt>
                <c:pt idx="1">
                  <c:v>0.5</c:v>
                </c:pt>
                <c:pt idx="2">
                  <c:v>0.5</c:v>
                </c:pt>
                <c:pt idx="3">
                  <c:v>0.5</c:v>
                </c:pt>
                <c:pt idx="4">
                  <c:v>0.5</c:v>
                </c:pt>
                <c:pt idx="5">
                  <c:v>0.5</c:v>
                </c:pt>
                <c:pt idx="6">
                  <c:v>0.5</c:v>
                </c:pt>
                <c:pt idx="7">
                  <c:v>0.5</c:v>
                </c:pt>
                <c:pt idx="8">
                  <c:v>0.5</c:v>
                </c:pt>
                <c:pt idx="9">
                  <c:v>0.5</c:v>
                </c:pt>
                <c:pt idx="10">
                  <c:v>0.5</c:v>
                </c:pt>
                <c:pt idx="11">
                  <c:v>0.5</c:v>
                </c:pt>
                <c:pt idx="12">
                  <c:v>0.5</c:v>
                </c:pt>
                <c:pt idx="13">
                  <c:v>0.5</c:v>
                </c:pt>
                <c:pt idx="14">
                  <c:v>0.5</c:v>
                </c:pt>
                <c:pt idx="15">
                  <c:v>0.5</c:v>
                </c:pt>
                <c:pt idx="16">
                  <c:v>0.5</c:v>
                </c:pt>
                <c:pt idx="17">
                  <c:v>0.5</c:v>
                </c:pt>
                <c:pt idx="18">
                  <c:v>0.5</c:v>
                </c:pt>
                <c:pt idx="19">
                  <c:v>0.5</c:v>
                </c:pt>
                <c:pt idx="20">
                  <c:v>0.5</c:v>
                </c:pt>
                <c:pt idx="21">
                  <c:v>0.5</c:v>
                </c:pt>
                <c:pt idx="22">
                  <c:v>0.5</c:v>
                </c:pt>
                <c:pt idx="23">
                  <c:v>0.5</c:v>
                </c:pt>
                <c:pt idx="24">
                  <c:v>0.5</c:v>
                </c:pt>
                <c:pt idx="25">
                  <c:v>0.5</c:v>
                </c:pt>
                <c:pt idx="26">
                  <c:v>0.5</c:v>
                </c:pt>
                <c:pt idx="27">
                  <c:v>0.5</c:v>
                </c:pt>
                <c:pt idx="28">
                  <c:v>0.5</c:v>
                </c:pt>
                <c:pt idx="29">
                  <c:v>0.5</c:v>
                </c:pt>
                <c:pt idx="30">
                  <c:v>0.5</c:v>
                </c:pt>
                <c:pt idx="31">
                  <c:v>0.5</c:v>
                </c:pt>
                <c:pt idx="32">
                  <c:v>0.5</c:v>
                </c:pt>
                <c:pt idx="33">
                  <c:v>0.5</c:v>
                </c:pt>
                <c:pt idx="34">
                  <c:v>0.5</c:v>
                </c:pt>
                <c:pt idx="35">
                  <c:v>0.5</c:v>
                </c:pt>
                <c:pt idx="36">
                  <c:v>0.5</c:v>
                </c:pt>
                <c:pt idx="37">
                  <c:v>0.5</c:v>
                </c:pt>
                <c:pt idx="38">
                  <c:v>0.5</c:v>
                </c:pt>
                <c:pt idx="39">
                  <c:v>0.5</c:v>
                </c:pt>
                <c:pt idx="40">
                  <c:v>0.5</c:v>
                </c:pt>
                <c:pt idx="41">
                  <c:v>0.5</c:v>
                </c:pt>
                <c:pt idx="42">
                  <c:v>0.5</c:v>
                </c:pt>
                <c:pt idx="43">
                  <c:v>0.5</c:v>
                </c:pt>
                <c:pt idx="44">
                  <c:v>0.5</c:v>
                </c:pt>
                <c:pt idx="45">
                  <c:v>0.5</c:v>
                </c:pt>
                <c:pt idx="46">
                  <c:v>0.5</c:v>
                </c:pt>
                <c:pt idx="47">
                  <c:v>0.5</c:v>
                </c:pt>
                <c:pt idx="48">
                  <c:v>0.5</c:v>
                </c:pt>
                <c:pt idx="49">
                  <c:v>0.5</c:v>
                </c:pt>
                <c:pt idx="50">
                  <c:v>0.5</c:v>
                </c:pt>
                <c:pt idx="51">
                  <c:v>0.5</c:v>
                </c:pt>
                <c:pt idx="52">
                  <c:v>0.5</c:v>
                </c:pt>
                <c:pt idx="53">
                  <c:v>0.5</c:v>
                </c:pt>
                <c:pt idx="54">
                  <c:v>0.5</c:v>
                </c:pt>
                <c:pt idx="55">
                  <c:v>0.5</c:v>
                </c:pt>
                <c:pt idx="56">
                  <c:v>0.5</c:v>
                </c:pt>
                <c:pt idx="57">
                  <c:v>0.5</c:v>
                </c:pt>
                <c:pt idx="58">
                  <c:v>0.5</c:v>
                </c:pt>
                <c:pt idx="59">
                  <c:v>0.5</c:v>
                </c:pt>
                <c:pt idx="60">
                  <c:v>0.5</c:v>
                </c:pt>
                <c:pt idx="61">
                  <c:v>0.5</c:v>
                </c:pt>
                <c:pt idx="62">
                  <c:v>0.5</c:v>
                </c:pt>
                <c:pt idx="63">
                  <c:v>0.5</c:v>
                </c:pt>
                <c:pt idx="64">
                  <c:v>0.5</c:v>
                </c:pt>
                <c:pt idx="65">
                  <c:v>0.5</c:v>
                </c:pt>
                <c:pt idx="66">
                  <c:v>0.5</c:v>
                </c:pt>
                <c:pt idx="67">
                  <c:v>0.5</c:v>
                </c:pt>
                <c:pt idx="68">
                  <c:v>0.5</c:v>
                </c:pt>
                <c:pt idx="69">
                  <c:v>0.5</c:v>
                </c:pt>
                <c:pt idx="70">
                  <c:v>0.5</c:v>
                </c:pt>
                <c:pt idx="71">
                  <c:v>0.5</c:v>
                </c:pt>
                <c:pt idx="72">
                  <c:v>0.5</c:v>
                </c:pt>
                <c:pt idx="73">
                  <c:v>0.5</c:v>
                </c:pt>
                <c:pt idx="74">
                  <c:v>0.5</c:v>
                </c:pt>
                <c:pt idx="75">
                  <c:v>0.5</c:v>
                </c:pt>
                <c:pt idx="76">
                  <c:v>0.5</c:v>
                </c:pt>
                <c:pt idx="77">
                  <c:v>0.5</c:v>
                </c:pt>
                <c:pt idx="78">
                  <c:v>0.5</c:v>
                </c:pt>
                <c:pt idx="79">
                  <c:v>0.5</c:v>
                </c:pt>
                <c:pt idx="80">
                  <c:v>0.5</c:v>
                </c:pt>
                <c:pt idx="81">
                  <c:v>0.5</c:v>
                </c:pt>
                <c:pt idx="82">
                  <c:v>0.5</c:v>
                </c:pt>
                <c:pt idx="83">
                  <c:v>0.5</c:v>
                </c:pt>
                <c:pt idx="84">
                  <c:v>0.5</c:v>
                </c:pt>
                <c:pt idx="85">
                  <c:v>0.5</c:v>
                </c:pt>
                <c:pt idx="86">
                  <c:v>0.5</c:v>
                </c:pt>
                <c:pt idx="87">
                  <c:v>0.5</c:v>
                </c:pt>
                <c:pt idx="88">
                  <c:v>0.5</c:v>
                </c:pt>
                <c:pt idx="89">
                  <c:v>0.5</c:v>
                </c:pt>
                <c:pt idx="90">
                  <c:v>0.5</c:v>
                </c:pt>
                <c:pt idx="91">
                  <c:v>0.5</c:v>
                </c:pt>
                <c:pt idx="92">
                  <c:v>0.5</c:v>
                </c:pt>
                <c:pt idx="93">
                  <c:v>0.5</c:v>
                </c:pt>
                <c:pt idx="94">
                  <c:v>0.5</c:v>
                </c:pt>
                <c:pt idx="95">
                  <c:v>0.5</c:v>
                </c:pt>
                <c:pt idx="96">
                  <c:v>0.5</c:v>
                </c:pt>
                <c:pt idx="97">
                  <c:v>0.5</c:v>
                </c:pt>
                <c:pt idx="98">
                  <c:v>0.5</c:v>
                </c:pt>
                <c:pt idx="99">
                  <c:v>0.5</c:v>
                </c:pt>
                <c:pt idx="100">
                  <c:v>0.5</c:v>
                </c:pt>
                <c:pt idx="101">
                  <c:v>0.5</c:v>
                </c:pt>
                <c:pt idx="102">
                  <c:v>0.5</c:v>
                </c:pt>
                <c:pt idx="103">
                  <c:v>0.5</c:v>
                </c:pt>
                <c:pt idx="104">
                  <c:v>0.5</c:v>
                </c:pt>
                <c:pt idx="105">
                  <c:v>0.5</c:v>
                </c:pt>
                <c:pt idx="106">
                  <c:v>0.5</c:v>
                </c:pt>
                <c:pt idx="107">
                  <c:v>0.5</c:v>
                </c:pt>
                <c:pt idx="108">
                  <c:v>0.5</c:v>
                </c:pt>
                <c:pt idx="109">
                  <c:v>0.5</c:v>
                </c:pt>
                <c:pt idx="110">
                  <c:v>0.5</c:v>
                </c:pt>
                <c:pt idx="111">
                  <c:v>0.5</c:v>
                </c:pt>
                <c:pt idx="112">
                  <c:v>0.5</c:v>
                </c:pt>
                <c:pt idx="113">
                  <c:v>0.5</c:v>
                </c:pt>
                <c:pt idx="114">
                  <c:v>0.5</c:v>
                </c:pt>
                <c:pt idx="115">
                  <c:v>0.5</c:v>
                </c:pt>
                <c:pt idx="116">
                  <c:v>0.5</c:v>
                </c:pt>
                <c:pt idx="117">
                  <c:v>0.5</c:v>
                </c:pt>
                <c:pt idx="118">
                  <c:v>0.5</c:v>
                </c:pt>
                <c:pt idx="119">
                  <c:v>0.5</c:v>
                </c:pt>
                <c:pt idx="120">
                  <c:v>0.5</c:v>
                </c:pt>
                <c:pt idx="121">
                  <c:v>0.5</c:v>
                </c:pt>
                <c:pt idx="122">
                  <c:v>0.5</c:v>
                </c:pt>
                <c:pt idx="123">
                  <c:v>0.5</c:v>
                </c:pt>
                <c:pt idx="124">
                  <c:v>0.5</c:v>
                </c:pt>
                <c:pt idx="125">
                  <c:v>0.5</c:v>
                </c:pt>
                <c:pt idx="126">
                  <c:v>0.5</c:v>
                </c:pt>
                <c:pt idx="127">
                  <c:v>0.5</c:v>
                </c:pt>
                <c:pt idx="128">
                  <c:v>0.5</c:v>
                </c:pt>
                <c:pt idx="129">
                  <c:v>0.5</c:v>
                </c:pt>
                <c:pt idx="130">
                  <c:v>0.5</c:v>
                </c:pt>
                <c:pt idx="131">
                  <c:v>0.5</c:v>
                </c:pt>
                <c:pt idx="132">
                  <c:v>0.5</c:v>
                </c:pt>
                <c:pt idx="133">
                  <c:v>0.5</c:v>
                </c:pt>
                <c:pt idx="134">
                  <c:v>0.5</c:v>
                </c:pt>
                <c:pt idx="135">
                  <c:v>0.5</c:v>
                </c:pt>
                <c:pt idx="136">
                  <c:v>0.5</c:v>
                </c:pt>
                <c:pt idx="137">
                  <c:v>0.5</c:v>
                </c:pt>
                <c:pt idx="138">
                  <c:v>0.5</c:v>
                </c:pt>
                <c:pt idx="139">
                  <c:v>0.5</c:v>
                </c:pt>
                <c:pt idx="140">
                  <c:v>0.5</c:v>
                </c:pt>
                <c:pt idx="141">
                  <c:v>0.5</c:v>
                </c:pt>
                <c:pt idx="142">
                  <c:v>0.5</c:v>
                </c:pt>
                <c:pt idx="143">
                  <c:v>0.5</c:v>
                </c:pt>
                <c:pt idx="144">
                  <c:v>0.5</c:v>
                </c:pt>
                <c:pt idx="145">
                  <c:v>0.5</c:v>
                </c:pt>
                <c:pt idx="146">
                  <c:v>0.5</c:v>
                </c:pt>
                <c:pt idx="147">
                  <c:v>0.5</c:v>
                </c:pt>
                <c:pt idx="148">
                  <c:v>0.5</c:v>
                </c:pt>
                <c:pt idx="149">
                  <c:v>0.5</c:v>
                </c:pt>
                <c:pt idx="150">
                  <c:v>0.5</c:v>
                </c:pt>
                <c:pt idx="151">
                  <c:v>0.5</c:v>
                </c:pt>
                <c:pt idx="152">
                  <c:v>0.5</c:v>
                </c:pt>
                <c:pt idx="153">
                  <c:v>0.5</c:v>
                </c:pt>
                <c:pt idx="154">
                  <c:v>0.5</c:v>
                </c:pt>
                <c:pt idx="155">
                  <c:v>0.5</c:v>
                </c:pt>
                <c:pt idx="156">
                  <c:v>0.5</c:v>
                </c:pt>
                <c:pt idx="157">
                  <c:v>0.5</c:v>
                </c:pt>
                <c:pt idx="158">
                  <c:v>0.5</c:v>
                </c:pt>
                <c:pt idx="159">
                  <c:v>0.5</c:v>
                </c:pt>
                <c:pt idx="160">
                  <c:v>0.5</c:v>
                </c:pt>
                <c:pt idx="161">
                  <c:v>0.5</c:v>
                </c:pt>
                <c:pt idx="162">
                  <c:v>0.5</c:v>
                </c:pt>
                <c:pt idx="163">
                  <c:v>0.5</c:v>
                </c:pt>
                <c:pt idx="164">
                  <c:v>0.5</c:v>
                </c:pt>
                <c:pt idx="165">
                  <c:v>0.5</c:v>
                </c:pt>
                <c:pt idx="166">
                  <c:v>0.5</c:v>
                </c:pt>
                <c:pt idx="167">
                  <c:v>0.5</c:v>
                </c:pt>
                <c:pt idx="168">
                  <c:v>0.5</c:v>
                </c:pt>
                <c:pt idx="169">
                  <c:v>0.5</c:v>
                </c:pt>
                <c:pt idx="170">
                  <c:v>0.5</c:v>
                </c:pt>
                <c:pt idx="171">
                  <c:v>0.5</c:v>
                </c:pt>
                <c:pt idx="172">
                  <c:v>0.5</c:v>
                </c:pt>
                <c:pt idx="173">
                  <c:v>0.5</c:v>
                </c:pt>
                <c:pt idx="174">
                  <c:v>0.5</c:v>
                </c:pt>
                <c:pt idx="175">
                  <c:v>0.5</c:v>
                </c:pt>
                <c:pt idx="176">
                  <c:v>0.5</c:v>
                </c:pt>
                <c:pt idx="177">
                  <c:v>0.5</c:v>
                </c:pt>
                <c:pt idx="178">
                  <c:v>0.5</c:v>
                </c:pt>
                <c:pt idx="179">
                  <c:v>0.5</c:v>
                </c:pt>
                <c:pt idx="180">
                  <c:v>0.5</c:v>
                </c:pt>
                <c:pt idx="181">
                  <c:v>0.5</c:v>
                </c:pt>
                <c:pt idx="182">
                  <c:v>0.5</c:v>
                </c:pt>
                <c:pt idx="183">
                  <c:v>0.5</c:v>
                </c:pt>
                <c:pt idx="184">
                  <c:v>0.5</c:v>
                </c:pt>
                <c:pt idx="185">
                  <c:v>0.5</c:v>
                </c:pt>
                <c:pt idx="186">
                  <c:v>0.5</c:v>
                </c:pt>
                <c:pt idx="187">
                  <c:v>0.5</c:v>
                </c:pt>
                <c:pt idx="188">
                  <c:v>0.5</c:v>
                </c:pt>
                <c:pt idx="189">
                  <c:v>0.5</c:v>
                </c:pt>
                <c:pt idx="190">
                  <c:v>0.5</c:v>
                </c:pt>
                <c:pt idx="191">
                  <c:v>0.5</c:v>
                </c:pt>
                <c:pt idx="192">
                  <c:v>0.5</c:v>
                </c:pt>
                <c:pt idx="193">
                  <c:v>0.5</c:v>
                </c:pt>
                <c:pt idx="194">
                  <c:v>0.5</c:v>
                </c:pt>
                <c:pt idx="195">
                  <c:v>0.5</c:v>
                </c:pt>
                <c:pt idx="196">
                  <c:v>0.5</c:v>
                </c:pt>
                <c:pt idx="197">
                  <c:v>0.5</c:v>
                </c:pt>
                <c:pt idx="198">
                  <c:v>0.5</c:v>
                </c:pt>
              </c:numCache>
            </c:numRef>
          </c:val>
          <c:smooth val="0"/>
        </c:ser>
        <c:ser>
          <c:idx val="2"/>
          <c:order val="2"/>
          <c:tx>
            <c:strRef>
              <c:f>Sheet1!$D$1</c:f>
              <c:strCache>
                <c:ptCount val="1"/>
                <c:pt idx="0">
                  <c:v>−0.5</c:v>
                </c:pt>
              </c:strCache>
            </c:strRef>
          </c:tx>
          <c:spPr>
            <a:ln w="15875" cap="rnd">
              <a:solidFill>
                <a:srgbClr val="C00000"/>
              </a:solidFill>
              <a:prstDash val="dash"/>
              <a:round/>
            </a:ln>
          </c:spPr>
          <c:marker>
            <c:symbol val="none"/>
          </c:marker>
          <c:cat>
            <c:strRef>
              <c:f>Sheet1!$A$2:$A$200</c:f>
              <c:strCache>
                <c:ptCount val="199"/>
                <c:pt idx="0">
                  <c:v>2010</c:v>
                </c:pt>
                <c:pt idx="1">
                  <c:v>2010</c:v>
                </c:pt>
                <c:pt idx="2">
                  <c:v>2010</c:v>
                </c:pt>
                <c:pt idx="3">
                  <c:v>2010</c:v>
                </c:pt>
                <c:pt idx="4">
                  <c:v>2010</c:v>
                </c:pt>
                <c:pt idx="5">
                  <c:v>2010</c:v>
                </c:pt>
                <c:pt idx="6">
                  <c:v>2010</c:v>
                </c:pt>
                <c:pt idx="7">
                  <c:v>2010</c:v>
                </c:pt>
                <c:pt idx="8">
                  <c:v>2010</c:v>
                </c:pt>
                <c:pt idx="9">
                  <c:v>2010</c:v>
                </c:pt>
                <c:pt idx="10">
                  <c:v>2010</c:v>
                </c:pt>
                <c:pt idx="11">
                  <c:v>2010</c:v>
                </c:pt>
                <c:pt idx="12">
                  <c:v>2011</c:v>
                </c:pt>
                <c:pt idx="13">
                  <c:v>2011</c:v>
                </c:pt>
                <c:pt idx="14">
                  <c:v>2011</c:v>
                </c:pt>
                <c:pt idx="15">
                  <c:v>2011</c:v>
                </c:pt>
                <c:pt idx="16">
                  <c:v>2011</c:v>
                </c:pt>
                <c:pt idx="17">
                  <c:v>2011</c:v>
                </c:pt>
                <c:pt idx="18">
                  <c:v>2011</c:v>
                </c:pt>
                <c:pt idx="19">
                  <c:v>2011</c:v>
                </c:pt>
                <c:pt idx="20">
                  <c:v>2011</c:v>
                </c:pt>
                <c:pt idx="21">
                  <c:v>2011</c:v>
                </c:pt>
                <c:pt idx="22">
                  <c:v>2011</c:v>
                </c:pt>
                <c:pt idx="23">
                  <c:v>2011</c:v>
                </c:pt>
                <c:pt idx="24">
                  <c:v>2012</c:v>
                </c:pt>
                <c:pt idx="25">
                  <c:v>2012</c:v>
                </c:pt>
                <c:pt idx="26">
                  <c:v>2012</c:v>
                </c:pt>
                <c:pt idx="27">
                  <c:v>2012</c:v>
                </c:pt>
                <c:pt idx="28">
                  <c:v>2012</c:v>
                </c:pt>
                <c:pt idx="29">
                  <c:v>2012</c:v>
                </c:pt>
                <c:pt idx="30">
                  <c:v>2012</c:v>
                </c:pt>
                <c:pt idx="31">
                  <c:v>2012</c:v>
                </c:pt>
                <c:pt idx="32">
                  <c:v>2012</c:v>
                </c:pt>
                <c:pt idx="33">
                  <c:v>2012</c:v>
                </c:pt>
                <c:pt idx="34">
                  <c:v>2012</c:v>
                </c:pt>
                <c:pt idx="35">
                  <c:v>2012</c:v>
                </c:pt>
                <c:pt idx="36">
                  <c:v>2013</c:v>
                </c:pt>
                <c:pt idx="37">
                  <c:v>2013</c:v>
                </c:pt>
                <c:pt idx="38">
                  <c:v>2013</c:v>
                </c:pt>
                <c:pt idx="39">
                  <c:v>2013</c:v>
                </c:pt>
                <c:pt idx="40">
                  <c:v>2013</c:v>
                </c:pt>
                <c:pt idx="41">
                  <c:v>2013</c:v>
                </c:pt>
                <c:pt idx="42">
                  <c:v>2013</c:v>
                </c:pt>
                <c:pt idx="43">
                  <c:v>2013</c:v>
                </c:pt>
                <c:pt idx="44">
                  <c:v>2013</c:v>
                </c:pt>
                <c:pt idx="45">
                  <c:v>2013</c:v>
                </c:pt>
                <c:pt idx="46">
                  <c:v>2013</c:v>
                </c:pt>
                <c:pt idx="47">
                  <c:v>2013</c:v>
                </c:pt>
                <c:pt idx="48">
                  <c:v>2014</c:v>
                </c:pt>
                <c:pt idx="49">
                  <c:v>2014</c:v>
                </c:pt>
                <c:pt idx="50">
                  <c:v>2014</c:v>
                </c:pt>
                <c:pt idx="51">
                  <c:v>2014</c:v>
                </c:pt>
                <c:pt idx="52">
                  <c:v>2014</c:v>
                </c:pt>
                <c:pt idx="53">
                  <c:v>2014</c:v>
                </c:pt>
                <c:pt idx="54">
                  <c:v>2014</c:v>
                </c:pt>
                <c:pt idx="55">
                  <c:v>2014</c:v>
                </c:pt>
                <c:pt idx="56">
                  <c:v>2014</c:v>
                </c:pt>
                <c:pt idx="57">
                  <c:v>2014</c:v>
                </c:pt>
                <c:pt idx="58">
                  <c:v>2014</c:v>
                </c:pt>
                <c:pt idx="59">
                  <c:v>2014</c:v>
                </c:pt>
                <c:pt idx="60">
                  <c:v>2015</c:v>
                </c:pt>
                <c:pt idx="61">
                  <c:v>2015</c:v>
                </c:pt>
                <c:pt idx="62">
                  <c:v>2015</c:v>
                </c:pt>
                <c:pt idx="63">
                  <c:v>2015</c:v>
                </c:pt>
                <c:pt idx="64">
                  <c:v>2015</c:v>
                </c:pt>
                <c:pt idx="65">
                  <c:v>2015</c:v>
                </c:pt>
                <c:pt idx="66">
                  <c:v>2015</c:v>
                </c:pt>
                <c:pt idx="67">
                  <c:v>2015</c:v>
                </c:pt>
                <c:pt idx="68">
                  <c:v>2015</c:v>
                </c:pt>
                <c:pt idx="69">
                  <c:v>2015</c:v>
                </c:pt>
                <c:pt idx="70">
                  <c:v>2015</c:v>
                </c:pt>
                <c:pt idx="71">
                  <c:v>2015</c:v>
                </c:pt>
                <c:pt idx="72">
                  <c:v>2016</c:v>
                </c:pt>
                <c:pt idx="73">
                  <c:v>2016</c:v>
                </c:pt>
                <c:pt idx="74">
                  <c:v>2016</c:v>
                </c:pt>
                <c:pt idx="75">
                  <c:v>2016</c:v>
                </c:pt>
                <c:pt idx="76">
                  <c:v>2016</c:v>
                </c:pt>
                <c:pt idx="77">
                  <c:v>2016</c:v>
                </c:pt>
                <c:pt idx="78">
                  <c:v>2016</c:v>
                </c:pt>
                <c:pt idx="79">
                  <c:v>2016</c:v>
                </c:pt>
                <c:pt idx="80">
                  <c:v>2016</c:v>
                </c:pt>
                <c:pt idx="81">
                  <c:v>2016</c:v>
                </c:pt>
                <c:pt idx="82">
                  <c:v>2016</c:v>
                </c:pt>
                <c:pt idx="83">
                  <c:v>2016</c:v>
                </c:pt>
                <c:pt idx="84">
                  <c:v>2017</c:v>
                </c:pt>
                <c:pt idx="85">
                  <c:v>2017</c:v>
                </c:pt>
                <c:pt idx="86">
                  <c:v>2017</c:v>
                </c:pt>
                <c:pt idx="87">
                  <c:v>2017</c:v>
                </c:pt>
                <c:pt idx="88">
                  <c:v>2017</c:v>
                </c:pt>
                <c:pt idx="89">
                  <c:v>2017</c:v>
                </c:pt>
                <c:pt idx="90">
                  <c:v>2017</c:v>
                </c:pt>
                <c:pt idx="91">
                  <c:v>2017</c:v>
                </c:pt>
                <c:pt idx="92">
                  <c:v>2017</c:v>
                </c:pt>
                <c:pt idx="93">
                  <c:v>2017</c:v>
                </c:pt>
                <c:pt idx="94">
                  <c:v>2017</c:v>
                </c:pt>
                <c:pt idx="95">
                  <c:v>2017</c:v>
                </c:pt>
                <c:pt idx="96">
                  <c:v>2018</c:v>
                </c:pt>
                <c:pt idx="97">
                  <c:v>2018</c:v>
                </c:pt>
                <c:pt idx="98">
                  <c:v>2018</c:v>
                </c:pt>
                <c:pt idx="99">
                  <c:v>2018</c:v>
                </c:pt>
                <c:pt idx="100">
                  <c:v>2018</c:v>
                </c:pt>
                <c:pt idx="101">
                  <c:v>2018</c:v>
                </c:pt>
                <c:pt idx="102">
                  <c:v>2018</c:v>
                </c:pt>
                <c:pt idx="103">
                  <c:v>2018</c:v>
                </c:pt>
                <c:pt idx="104">
                  <c:v>2018</c:v>
                </c:pt>
                <c:pt idx="105">
                  <c:v>2018</c:v>
                </c:pt>
                <c:pt idx="106">
                  <c:v>2018</c:v>
                </c:pt>
                <c:pt idx="107">
                  <c:v>2018</c:v>
                </c:pt>
                <c:pt idx="108">
                  <c:v>2019</c:v>
                </c:pt>
                <c:pt idx="109">
                  <c:v>2019</c:v>
                </c:pt>
                <c:pt idx="110">
                  <c:v>2019</c:v>
                </c:pt>
                <c:pt idx="111">
                  <c:v>2019</c:v>
                </c:pt>
                <c:pt idx="112">
                  <c:v>2019</c:v>
                </c:pt>
                <c:pt idx="113">
                  <c:v>2019</c:v>
                </c:pt>
                <c:pt idx="114">
                  <c:v>2019</c:v>
                </c:pt>
                <c:pt idx="115">
                  <c:v>2019</c:v>
                </c:pt>
                <c:pt idx="116">
                  <c:v>2019</c:v>
                </c:pt>
                <c:pt idx="117">
                  <c:v>2019</c:v>
                </c:pt>
                <c:pt idx="118">
                  <c:v>2019</c:v>
                </c:pt>
                <c:pt idx="119">
                  <c:v>2019</c:v>
                </c:pt>
                <c:pt idx="120">
                  <c:v>2020</c:v>
                </c:pt>
                <c:pt idx="121">
                  <c:v>2020</c:v>
                </c:pt>
                <c:pt idx="122">
                  <c:v>2020</c:v>
                </c:pt>
                <c:pt idx="123">
                  <c:v>2020</c:v>
                </c:pt>
                <c:pt idx="124">
                  <c:v>2020</c:v>
                </c:pt>
                <c:pt idx="125">
                  <c:v>2020</c:v>
                </c:pt>
                <c:pt idx="126">
                  <c:v>2020</c:v>
                </c:pt>
                <c:pt idx="127">
                  <c:v>2020</c:v>
                </c:pt>
                <c:pt idx="128">
                  <c:v>2020</c:v>
                </c:pt>
                <c:pt idx="129">
                  <c:v>2020</c:v>
                </c:pt>
                <c:pt idx="130">
                  <c:v>2020</c:v>
                </c:pt>
                <c:pt idx="131">
                  <c:v>2020</c:v>
                </c:pt>
                <c:pt idx="132">
                  <c:v>2021</c:v>
                </c:pt>
                <c:pt idx="133">
                  <c:v>2021</c:v>
                </c:pt>
                <c:pt idx="134">
                  <c:v>2021</c:v>
                </c:pt>
                <c:pt idx="135">
                  <c:v>2021</c:v>
                </c:pt>
                <c:pt idx="136">
                  <c:v>2021</c:v>
                </c:pt>
                <c:pt idx="137">
                  <c:v>2021</c:v>
                </c:pt>
                <c:pt idx="138">
                  <c:v>2021</c:v>
                </c:pt>
                <c:pt idx="139">
                  <c:v>2021</c:v>
                </c:pt>
                <c:pt idx="140">
                  <c:v>2021</c:v>
                </c:pt>
                <c:pt idx="141">
                  <c:v>2021</c:v>
                </c:pt>
                <c:pt idx="142">
                  <c:v>2021</c:v>
                </c:pt>
                <c:pt idx="143">
                  <c:v>2021</c:v>
                </c:pt>
                <c:pt idx="144">
                  <c:v>2022</c:v>
                </c:pt>
                <c:pt idx="145">
                  <c:v>2022</c:v>
                </c:pt>
                <c:pt idx="146">
                  <c:v>2022</c:v>
                </c:pt>
                <c:pt idx="147">
                  <c:v>2022</c:v>
                </c:pt>
                <c:pt idx="148">
                  <c:v>2022</c:v>
                </c:pt>
                <c:pt idx="149">
                  <c:v>2022</c:v>
                </c:pt>
                <c:pt idx="150">
                  <c:v>2022</c:v>
                </c:pt>
                <c:pt idx="151">
                  <c:v>2022</c:v>
                </c:pt>
                <c:pt idx="152">
                  <c:v>2022</c:v>
                </c:pt>
                <c:pt idx="153">
                  <c:v>2022</c:v>
                </c:pt>
                <c:pt idx="154">
                  <c:v>2022</c:v>
                </c:pt>
                <c:pt idx="155">
                  <c:v>2022</c:v>
                </c:pt>
                <c:pt idx="156">
                  <c:v>2023</c:v>
                </c:pt>
                <c:pt idx="157">
                  <c:v>2023</c:v>
                </c:pt>
                <c:pt idx="158">
                  <c:v>2023</c:v>
                </c:pt>
                <c:pt idx="159">
                  <c:v>2023</c:v>
                </c:pt>
                <c:pt idx="160">
                  <c:v>2023</c:v>
                </c:pt>
                <c:pt idx="161">
                  <c:v>2023</c:v>
                </c:pt>
                <c:pt idx="162">
                  <c:v>2023</c:v>
                </c:pt>
                <c:pt idx="163">
                  <c:v>2023</c:v>
                </c:pt>
                <c:pt idx="164">
                  <c:v>2023</c:v>
                </c:pt>
                <c:pt idx="165">
                  <c:v>2023</c:v>
                </c:pt>
                <c:pt idx="166">
                  <c:v>2023</c:v>
                </c:pt>
                <c:pt idx="167">
                  <c:v>2023</c:v>
                </c:pt>
                <c:pt idx="168">
                  <c:v>2024</c:v>
                </c:pt>
                <c:pt idx="169">
                  <c:v>2024</c:v>
                </c:pt>
                <c:pt idx="170">
                  <c:v>2024</c:v>
                </c:pt>
                <c:pt idx="171">
                  <c:v>2024</c:v>
                </c:pt>
                <c:pt idx="172">
                  <c:v>2024</c:v>
                </c:pt>
                <c:pt idx="173">
                  <c:v>2024</c:v>
                </c:pt>
                <c:pt idx="174">
                  <c:v>2024</c:v>
                </c:pt>
                <c:pt idx="175">
                  <c:v>2024</c:v>
                </c:pt>
                <c:pt idx="176">
                  <c:v>2024</c:v>
                </c:pt>
                <c:pt idx="177">
                  <c:v>2024</c:v>
                </c:pt>
                <c:pt idx="178">
                  <c:v>2024</c:v>
                </c:pt>
                <c:pt idx="179">
                  <c:v>2024</c:v>
                </c:pt>
                <c:pt idx="180">
                  <c:v>2025</c:v>
                </c:pt>
                <c:pt idx="181">
                  <c:v>2025</c:v>
                </c:pt>
                <c:pt idx="182">
                  <c:v>2025</c:v>
                </c:pt>
                <c:pt idx="183">
                  <c:v>2025</c:v>
                </c:pt>
                <c:pt idx="184">
                  <c:v>2025</c:v>
                </c:pt>
                <c:pt idx="185">
                  <c:v>2025</c:v>
                </c:pt>
                <c:pt idx="186">
                  <c:v>2025</c:v>
                </c:pt>
                <c:pt idx="187">
                  <c:v>2025</c:v>
                </c:pt>
                <c:pt idx="188">
                  <c:v>2025</c:v>
                </c:pt>
                <c:pt idx="189">
                  <c:v>2025</c:v>
                </c:pt>
                <c:pt idx="190">
                  <c:v>2025</c:v>
                </c:pt>
                <c:pt idx="191">
                  <c:v>2025</c:v>
                </c:pt>
                <c:pt idx="192">
                  <c:v>2026</c:v>
                </c:pt>
                <c:pt idx="193">
                  <c:v>2026</c:v>
                </c:pt>
                <c:pt idx="194">
                  <c:v>2026</c:v>
                </c:pt>
                <c:pt idx="195">
                  <c:v>2026</c:v>
                </c:pt>
                <c:pt idx="196">
                  <c:v>2026</c:v>
                </c:pt>
                <c:pt idx="197">
                  <c:v>2026</c:v>
                </c:pt>
                <c:pt idx="198">
                  <c:v>2026</c:v>
                </c:pt>
              </c:strCache>
            </c:strRef>
          </c:cat>
          <c:val>
            <c:numRef>
              <c:f>Sheet1!$D$2:$D$200</c:f>
              <c:numCache>
                <c:formatCode>General</c:formatCode>
                <c:ptCount val="199"/>
                <c:pt idx="0">
                  <c:v>-0.5</c:v>
                </c:pt>
                <c:pt idx="1">
                  <c:v>-0.5</c:v>
                </c:pt>
                <c:pt idx="2">
                  <c:v>-0.5</c:v>
                </c:pt>
                <c:pt idx="3">
                  <c:v>-0.5</c:v>
                </c:pt>
                <c:pt idx="4">
                  <c:v>-0.5</c:v>
                </c:pt>
                <c:pt idx="5">
                  <c:v>-0.5</c:v>
                </c:pt>
                <c:pt idx="6">
                  <c:v>-0.5</c:v>
                </c:pt>
                <c:pt idx="7">
                  <c:v>-0.5</c:v>
                </c:pt>
                <c:pt idx="8">
                  <c:v>-0.5</c:v>
                </c:pt>
                <c:pt idx="9">
                  <c:v>-0.5</c:v>
                </c:pt>
                <c:pt idx="10">
                  <c:v>-0.5</c:v>
                </c:pt>
                <c:pt idx="11">
                  <c:v>-0.5</c:v>
                </c:pt>
                <c:pt idx="12">
                  <c:v>-0.5</c:v>
                </c:pt>
                <c:pt idx="13">
                  <c:v>-0.5</c:v>
                </c:pt>
                <c:pt idx="14">
                  <c:v>-0.5</c:v>
                </c:pt>
                <c:pt idx="15">
                  <c:v>-0.5</c:v>
                </c:pt>
                <c:pt idx="16">
                  <c:v>-0.5</c:v>
                </c:pt>
                <c:pt idx="17">
                  <c:v>-0.5</c:v>
                </c:pt>
                <c:pt idx="18">
                  <c:v>-0.5</c:v>
                </c:pt>
                <c:pt idx="19">
                  <c:v>-0.5</c:v>
                </c:pt>
                <c:pt idx="20">
                  <c:v>-0.5</c:v>
                </c:pt>
                <c:pt idx="21">
                  <c:v>-0.5</c:v>
                </c:pt>
                <c:pt idx="22">
                  <c:v>-0.5</c:v>
                </c:pt>
                <c:pt idx="23">
                  <c:v>-0.5</c:v>
                </c:pt>
                <c:pt idx="24">
                  <c:v>-0.5</c:v>
                </c:pt>
                <c:pt idx="25">
                  <c:v>-0.5</c:v>
                </c:pt>
                <c:pt idx="26">
                  <c:v>-0.5</c:v>
                </c:pt>
                <c:pt idx="27">
                  <c:v>-0.5</c:v>
                </c:pt>
                <c:pt idx="28">
                  <c:v>-0.5</c:v>
                </c:pt>
                <c:pt idx="29">
                  <c:v>-0.5</c:v>
                </c:pt>
                <c:pt idx="30">
                  <c:v>-0.5</c:v>
                </c:pt>
                <c:pt idx="31">
                  <c:v>-0.5</c:v>
                </c:pt>
                <c:pt idx="32">
                  <c:v>-0.5</c:v>
                </c:pt>
                <c:pt idx="33">
                  <c:v>-0.5</c:v>
                </c:pt>
                <c:pt idx="34">
                  <c:v>-0.5</c:v>
                </c:pt>
                <c:pt idx="35">
                  <c:v>-0.5</c:v>
                </c:pt>
                <c:pt idx="36">
                  <c:v>-0.5</c:v>
                </c:pt>
                <c:pt idx="37">
                  <c:v>-0.5</c:v>
                </c:pt>
                <c:pt idx="38">
                  <c:v>-0.5</c:v>
                </c:pt>
                <c:pt idx="39">
                  <c:v>-0.5</c:v>
                </c:pt>
                <c:pt idx="40">
                  <c:v>-0.5</c:v>
                </c:pt>
                <c:pt idx="41">
                  <c:v>-0.5</c:v>
                </c:pt>
                <c:pt idx="42">
                  <c:v>-0.5</c:v>
                </c:pt>
                <c:pt idx="43">
                  <c:v>-0.5</c:v>
                </c:pt>
                <c:pt idx="44">
                  <c:v>-0.5</c:v>
                </c:pt>
                <c:pt idx="45">
                  <c:v>-0.5</c:v>
                </c:pt>
                <c:pt idx="46">
                  <c:v>-0.5</c:v>
                </c:pt>
                <c:pt idx="47">
                  <c:v>-0.5</c:v>
                </c:pt>
                <c:pt idx="48">
                  <c:v>-0.5</c:v>
                </c:pt>
                <c:pt idx="49">
                  <c:v>-0.5</c:v>
                </c:pt>
                <c:pt idx="50">
                  <c:v>-0.5</c:v>
                </c:pt>
                <c:pt idx="51">
                  <c:v>-0.5</c:v>
                </c:pt>
                <c:pt idx="52">
                  <c:v>-0.5</c:v>
                </c:pt>
                <c:pt idx="53">
                  <c:v>-0.5</c:v>
                </c:pt>
                <c:pt idx="54">
                  <c:v>-0.5</c:v>
                </c:pt>
                <c:pt idx="55">
                  <c:v>-0.5</c:v>
                </c:pt>
                <c:pt idx="56">
                  <c:v>-0.5</c:v>
                </c:pt>
                <c:pt idx="57">
                  <c:v>-0.5</c:v>
                </c:pt>
                <c:pt idx="58">
                  <c:v>-0.5</c:v>
                </c:pt>
                <c:pt idx="59">
                  <c:v>-0.5</c:v>
                </c:pt>
                <c:pt idx="60">
                  <c:v>-0.5</c:v>
                </c:pt>
                <c:pt idx="61">
                  <c:v>-0.5</c:v>
                </c:pt>
                <c:pt idx="62">
                  <c:v>-0.5</c:v>
                </c:pt>
                <c:pt idx="63">
                  <c:v>-0.5</c:v>
                </c:pt>
                <c:pt idx="64">
                  <c:v>-0.5</c:v>
                </c:pt>
                <c:pt idx="65">
                  <c:v>-0.5</c:v>
                </c:pt>
                <c:pt idx="66">
                  <c:v>-0.5</c:v>
                </c:pt>
                <c:pt idx="67">
                  <c:v>-0.5</c:v>
                </c:pt>
                <c:pt idx="68">
                  <c:v>-0.5</c:v>
                </c:pt>
                <c:pt idx="69">
                  <c:v>-0.5</c:v>
                </c:pt>
                <c:pt idx="70">
                  <c:v>-0.5</c:v>
                </c:pt>
                <c:pt idx="71">
                  <c:v>-0.5</c:v>
                </c:pt>
                <c:pt idx="72">
                  <c:v>-0.5</c:v>
                </c:pt>
                <c:pt idx="73">
                  <c:v>-0.5</c:v>
                </c:pt>
                <c:pt idx="74">
                  <c:v>-0.5</c:v>
                </c:pt>
                <c:pt idx="75">
                  <c:v>-0.5</c:v>
                </c:pt>
                <c:pt idx="76">
                  <c:v>-0.5</c:v>
                </c:pt>
                <c:pt idx="77">
                  <c:v>-0.5</c:v>
                </c:pt>
                <c:pt idx="78">
                  <c:v>-0.5</c:v>
                </c:pt>
                <c:pt idx="79">
                  <c:v>-0.5</c:v>
                </c:pt>
                <c:pt idx="80">
                  <c:v>-0.5</c:v>
                </c:pt>
                <c:pt idx="81">
                  <c:v>-0.5</c:v>
                </c:pt>
                <c:pt idx="82">
                  <c:v>-0.5</c:v>
                </c:pt>
                <c:pt idx="83">
                  <c:v>-0.5</c:v>
                </c:pt>
                <c:pt idx="84">
                  <c:v>-0.5</c:v>
                </c:pt>
                <c:pt idx="85">
                  <c:v>-0.5</c:v>
                </c:pt>
                <c:pt idx="86">
                  <c:v>-0.5</c:v>
                </c:pt>
                <c:pt idx="87">
                  <c:v>-0.5</c:v>
                </c:pt>
                <c:pt idx="88">
                  <c:v>-0.5</c:v>
                </c:pt>
                <c:pt idx="89">
                  <c:v>-0.5</c:v>
                </c:pt>
                <c:pt idx="90">
                  <c:v>-0.5</c:v>
                </c:pt>
                <c:pt idx="91">
                  <c:v>-0.5</c:v>
                </c:pt>
                <c:pt idx="92">
                  <c:v>-0.5</c:v>
                </c:pt>
                <c:pt idx="93">
                  <c:v>-0.5</c:v>
                </c:pt>
                <c:pt idx="94">
                  <c:v>-0.5</c:v>
                </c:pt>
                <c:pt idx="95">
                  <c:v>-0.5</c:v>
                </c:pt>
                <c:pt idx="96">
                  <c:v>-0.5</c:v>
                </c:pt>
                <c:pt idx="97">
                  <c:v>-0.5</c:v>
                </c:pt>
                <c:pt idx="98">
                  <c:v>-0.5</c:v>
                </c:pt>
                <c:pt idx="99">
                  <c:v>-0.5</c:v>
                </c:pt>
                <c:pt idx="100">
                  <c:v>-0.5</c:v>
                </c:pt>
                <c:pt idx="101">
                  <c:v>-0.5</c:v>
                </c:pt>
                <c:pt idx="102">
                  <c:v>-0.5</c:v>
                </c:pt>
                <c:pt idx="103">
                  <c:v>-0.5</c:v>
                </c:pt>
                <c:pt idx="104">
                  <c:v>-0.5</c:v>
                </c:pt>
                <c:pt idx="105">
                  <c:v>-0.5</c:v>
                </c:pt>
                <c:pt idx="106">
                  <c:v>-0.5</c:v>
                </c:pt>
                <c:pt idx="107">
                  <c:v>-0.5</c:v>
                </c:pt>
                <c:pt idx="108">
                  <c:v>-0.5</c:v>
                </c:pt>
                <c:pt idx="109">
                  <c:v>-0.5</c:v>
                </c:pt>
                <c:pt idx="110">
                  <c:v>-0.5</c:v>
                </c:pt>
                <c:pt idx="111">
                  <c:v>-0.5</c:v>
                </c:pt>
                <c:pt idx="112">
                  <c:v>-0.5</c:v>
                </c:pt>
                <c:pt idx="113">
                  <c:v>-0.5</c:v>
                </c:pt>
                <c:pt idx="114">
                  <c:v>-0.5</c:v>
                </c:pt>
                <c:pt idx="115">
                  <c:v>-0.5</c:v>
                </c:pt>
                <c:pt idx="116">
                  <c:v>-0.5</c:v>
                </c:pt>
                <c:pt idx="117">
                  <c:v>-0.5</c:v>
                </c:pt>
                <c:pt idx="118">
                  <c:v>-0.5</c:v>
                </c:pt>
                <c:pt idx="119">
                  <c:v>-0.5</c:v>
                </c:pt>
                <c:pt idx="120">
                  <c:v>-0.5</c:v>
                </c:pt>
                <c:pt idx="121">
                  <c:v>-0.5</c:v>
                </c:pt>
                <c:pt idx="122">
                  <c:v>-0.5</c:v>
                </c:pt>
                <c:pt idx="123">
                  <c:v>-0.5</c:v>
                </c:pt>
                <c:pt idx="124">
                  <c:v>-0.5</c:v>
                </c:pt>
                <c:pt idx="125">
                  <c:v>-0.5</c:v>
                </c:pt>
                <c:pt idx="126">
                  <c:v>-0.5</c:v>
                </c:pt>
                <c:pt idx="127">
                  <c:v>-0.5</c:v>
                </c:pt>
                <c:pt idx="128">
                  <c:v>-0.5</c:v>
                </c:pt>
                <c:pt idx="129">
                  <c:v>-0.5</c:v>
                </c:pt>
                <c:pt idx="130">
                  <c:v>-0.5</c:v>
                </c:pt>
                <c:pt idx="131">
                  <c:v>-0.5</c:v>
                </c:pt>
                <c:pt idx="132">
                  <c:v>-0.5</c:v>
                </c:pt>
                <c:pt idx="133">
                  <c:v>-0.5</c:v>
                </c:pt>
                <c:pt idx="134">
                  <c:v>-0.5</c:v>
                </c:pt>
                <c:pt idx="135">
                  <c:v>-0.5</c:v>
                </c:pt>
                <c:pt idx="136">
                  <c:v>-0.5</c:v>
                </c:pt>
                <c:pt idx="137">
                  <c:v>-0.5</c:v>
                </c:pt>
                <c:pt idx="138">
                  <c:v>-0.5</c:v>
                </c:pt>
                <c:pt idx="139">
                  <c:v>-0.5</c:v>
                </c:pt>
                <c:pt idx="140">
                  <c:v>-0.5</c:v>
                </c:pt>
                <c:pt idx="141">
                  <c:v>-0.5</c:v>
                </c:pt>
                <c:pt idx="142">
                  <c:v>-0.5</c:v>
                </c:pt>
                <c:pt idx="143">
                  <c:v>-0.5</c:v>
                </c:pt>
                <c:pt idx="144">
                  <c:v>-0.5</c:v>
                </c:pt>
                <c:pt idx="145">
                  <c:v>-0.5</c:v>
                </c:pt>
                <c:pt idx="146">
                  <c:v>-0.5</c:v>
                </c:pt>
                <c:pt idx="147">
                  <c:v>-0.5</c:v>
                </c:pt>
                <c:pt idx="148">
                  <c:v>-0.5</c:v>
                </c:pt>
                <c:pt idx="149">
                  <c:v>-0.5</c:v>
                </c:pt>
                <c:pt idx="150">
                  <c:v>-0.5</c:v>
                </c:pt>
                <c:pt idx="151">
                  <c:v>-0.5</c:v>
                </c:pt>
                <c:pt idx="152">
                  <c:v>-0.5</c:v>
                </c:pt>
                <c:pt idx="153">
                  <c:v>-0.5</c:v>
                </c:pt>
                <c:pt idx="154">
                  <c:v>-0.5</c:v>
                </c:pt>
                <c:pt idx="155">
                  <c:v>-0.5</c:v>
                </c:pt>
                <c:pt idx="156">
                  <c:v>-0.5</c:v>
                </c:pt>
                <c:pt idx="157">
                  <c:v>-0.5</c:v>
                </c:pt>
                <c:pt idx="158">
                  <c:v>-0.5</c:v>
                </c:pt>
                <c:pt idx="159">
                  <c:v>-0.5</c:v>
                </c:pt>
                <c:pt idx="160">
                  <c:v>-0.5</c:v>
                </c:pt>
                <c:pt idx="161">
                  <c:v>-0.5</c:v>
                </c:pt>
                <c:pt idx="162">
                  <c:v>-0.5</c:v>
                </c:pt>
                <c:pt idx="163">
                  <c:v>-0.5</c:v>
                </c:pt>
                <c:pt idx="164">
                  <c:v>-0.5</c:v>
                </c:pt>
                <c:pt idx="165">
                  <c:v>-0.5</c:v>
                </c:pt>
                <c:pt idx="166">
                  <c:v>-0.5</c:v>
                </c:pt>
                <c:pt idx="167">
                  <c:v>-0.5</c:v>
                </c:pt>
                <c:pt idx="168">
                  <c:v>-0.5</c:v>
                </c:pt>
                <c:pt idx="169">
                  <c:v>-0.5</c:v>
                </c:pt>
                <c:pt idx="170">
                  <c:v>-0.5</c:v>
                </c:pt>
                <c:pt idx="171">
                  <c:v>-0.5</c:v>
                </c:pt>
                <c:pt idx="172">
                  <c:v>-0.5</c:v>
                </c:pt>
                <c:pt idx="173">
                  <c:v>-0.5</c:v>
                </c:pt>
                <c:pt idx="174">
                  <c:v>-0.5</c:v>
                </c:pt>
                <c:pt idx="175">
                  <c:v>-0.5</c:v>
                </c:pt>
                <c:pt idx="176">
                  <c:v>-0.5</c:v>
                </c:pt>
                <c:pt idx="177">
                  <c:v>-0.5</c:v>
                </c:pt>
                <c:pt idx="178">
                  <c:v>-0.5</c:v>
                </c:pt>
                <c:pt idx="179">
                  <c:v>-0.5</c:v>
                </c:pt>
                <c:pt idx="180">
                  <c:v>-0.5</c:v>
                </c:pt>
                <c:pt idx="181">
                  <c:v>-0.5</c:v>
                </c:pt>
                <c:pt idx="182">
                  <c:v>-0.5</c:v>
                </c:pt>
                <c:pt idx="183">
                  <c:v>-0.5</c:v>
                </c:pt>
                <c:pt idx="184">
                  <c:v>-0.5</c:v>
                </c:pt>
                <c:pt idx="185">
                  <c:v>-0.5</c:v>
                </c:pt>
                <c:pt idx="186">
                  <c:v>-0.5</c:v>
                </c:pt>
                <c:pt idx="187">
                  <c:v>-0.5</c:v>
                </c:pt>
                <c:pt idx="188">
                  <c:v>-0.5</c:v>
                </c:pt>
                <c:pt idx="189">
                  <c:v>-0.5</c:v>
                </c:pt>
                <c:pt idx="190">
                  <c:v>-0.5</c:v>
                </c:pt>
                <c:pt idx="191">
                  <c:v>-0.5</c:v>
                </c:pt>
                <c:pt idx="192">
                  <c:v>-0.5</c:v>
                </c:pt>
                <c:pt idx="193">
                  <c:v>-0.5</c:v>
                </c:pt>
                <c:pt idx="194">
                  <c:v>-0.5</c:v>
                </c:pt>
                <c:pt idx="195">
                  <c:v>-0.5</c:v>
                </c:pt>
                <c:pt idx="196">
                  <c:v>-0.5</c:v>
                </c:pt>
                <c:pt idx="197">
                  <c:v>-0.5</c:v>
                </c:pt>
                <c:pt idx="198">
                  <c:v>-0.5</c:v>
                </c:pt>
              </c:numCache>
            </c:numRef>
          </c:val>
          <c:smooth val="0"/>
        </c:ser>
        <c:marker val="1"/>
        <c:axId val="60010"/>
        <c:axId val="60020"/>
      </c:lineChart>
      <c:catAx>
        <c:axId val="60010"/>
        <c:scaling>
          <c:orientation val="minMax"/>
        </c:scaling>
        <c:delete val="0"/>
        <c:axPos val="b"/>
        <c:numFmt formatCode="General" sourceLinked="0"/>
        <c:majorTickMark val="none"/>
        <c:minorTickMark val="none"/>
        <c:tickLblPos val="low"/>
        <c:spPr>
          <a:ln w="9525">
            <a:solidFill>
              <a:srgbClr val="B7C0C5"/>
            </a:solidFill>
          </a:ln>
        </c:spPr>
        <c:txPr>
          <a:bodyPr/>
          <a:lstStyle/>
          <a:p>
            <a:pPr>
              <a:defRPr sz="800" b="0">
                <a:solidFill>
                  <a:srgbClr val="5B6770"/>
                </a:solidFill>
                <a:latin typeface="Arial"/>
                <a:cs typeface="Arial"/>
              </a:defRPr>
            </a:pPr>
            <a:endParaRPr lang="fr-FR"/>
          </a:p>
        </c:txPr>
        <c:crossAx val="60020"/>
        <c:crosses val="autoZero"/>
        <c:auto val="1"/>
        <c:lblAlgn val="ctr"/>
        <c:lblOffset val="100"/>
        <c:tickLblSkip val="12"/>
        <c:noMultiLvlLbl val="0"/>
      </c:catAx>
      <c:valAx>
        <c:axId val="60020"/>
        <c:scaling>
          <c:orientation val="minMax"/>
          <c:max val="2.5"/>
          <c:min val="-2.0"/>
        </c:scaling>
        <c:delete val="0"/>
        <c:axPos val="l"/>
        <c:majorGridlines>
          <c:spPr>
            <a:ln w="6350">
              <a:solidFill>
                <a:srgbClr val="E3E8EB"/>
              </a:solidFill>
            </a:ln>
          </c:spPr>
        </c:majorGridlines>
        <c:numFmt formatCode="0.0" sourceLinked="0"/>
        <c:majorTickMark val="none"/>
        <c:minorTickMark val="none"/>
        <c:tickLblPos val="low"/>
        <c:spPr>
          <a:ln w="6350">
            <a:solidFill>
              <a:srgbClr val="FFFFFF"/>
            </a:solidFill>
          </a:ln>
        </c:spPr>
        <c:txPr>
          <a:bodyPr/>
          <a:lstStyle/>
          <a:p>
            <a:pPr>
              <a:defRPr sz="800" b="0">
                <a:solidFill>
                  <a:srgbClr val="5B6770"/>
                </a:solidFill>
                <a:latin typeface="Arial"/>
                <a:cs typeface="Arial"/>
              </a:defRPr>
            </a:pPr>
            <a:endParaRPr lang="fr-FR"/>
          </a:p>
        </c:txPr>
        <c:crossAx val="60010"/>
        <c:crosses val="autoZero"/>
        <c:crossBetween val="between"/>
        <c:majorUnit val="0.5"/>
      </c:valAx>
    </c:plotArea>
    <c:legend>
      <c:legendPos val="b"/>
      <c:overlay val="0"/>
      <c:txPr>
        <a:bodyPr/>
        <a:lstStyle/>
        <a:p>
          <a:pPr>
            <a:defRPr sz="800" b="0">
              <a:solidFill>
                <a:srgbClr val="1F2A30"/>
              </a:solidFill>
              <a:latin typeface="Arial"/>
              <a:cs typeface="Arial"/>
            </a:defRPr>
          </a:pPr>
          <a:endParaRPr lang="fr-FR"/>
        </a:p>
      </c:txPr>
    </c:legend>
    <c:plotVisOnly val="1"/>
    <c:dispBlanksAs val="gap"/>
  </c:chart>
  <c:spPr>
    <a:noFill/>
    <a:ln>
      <a:noFill/>
    </a:ln>
  </c:spPr>
  <c:txPr>
    <a:bodyPr/>
    <a:lstStyle/>
    <a:p>
      <a:pPr>
        <a:defRPr sz="1000" b="0">
          <a:solidFill>
            <a:srgbClr val="5B6770"/>
          </a:solidFill>
          <a:latin typeface="Arial"/>
          <a:cs typeface="Arial"/>
        </a:defRPr>
      </a:pPr>
      <a:endParaRPr lang="fr-FR"/>
    </a:p>
  </c:txPr>
</c:chartSpace>
</file>

<file path=ppt/charts/chart2.xml><?xml version="1.0" encoding="utf-8"?>
<c:chartSpace xmlns:c="http://schemas.openxmlformats.org/drawingml/2006/chart" xmlns:a="http://schemas.openxmlformats.org/drawingml/2006/main" xmlns:r="http://schemas.openxmlformats.org/officeDocument/2006/relationships">
  <c:roundedCorners val="0"/>
  <c:chart>
    <c:autoTitleDeleted val="1"/>
    <c:plotArea>
      <c:layout/>
      <c:barChart>
        <c:barDir val="col"/>
        <c:grouping val="clustered"/>
        <c:varyColors val="0"/>
        <c:ser>
          <c:idx val="0"/>
          <c:order val="0"/>
          <c:tx>
            <c:strRef>
              <c:f>Sheet1!$B$1</c:f>
              <c:strCache>
                <c:ptCount val="1"/>
                <c:pt idx="0">
                  <c:v>El Niño</c:v>
                </c:pt>
              </c:strCache>
            </c:strRef>
          </c:tx>
          <c:spPr>
            <a:solidFill>
              <a:srgbClr val="ED7D31"/>
            </a:solidFill>
          </c:spPr>
          <c:invertIfNegative val="0"/>
          <c:dLbls>
            <c:numFmt formatCode="+0;-0;0" sourceLinked="0"/>
            <c:spPr>
              <a:noFill/>
              <a:ln>
                <a:noFill/>
              </a:ln>
            </c:spPr>
            <c:txPr>
              <a:bodyPr/>
              <a:lstStyle/>
              <a:p>
                <a:pPr>
                  <a:defRPr sz="700" b="1">
                    <a:solidFill>
                      <a:srgbClr val="1F2A30"/>
                    </a:solidFill>
                    <a:latin typeface="Arial"/>
                    <a:cs typeface="Arial"/>
                  </a:defRPr>
                </a:pPr>
                <a:endParaRPr lang="fr-FR"/>
              </a:p>
            </c:txPr>
            <c:dLblPos val="outEnd"/>
            <c:showLegendKey val="0"/>
            <c:showVal val="1"/>
            <c:showCatName val="0"/>
            <c:showSerName val="0"/>
            <c:showPercent val="0"/>
            <c:showBubbleSize val="0"/>
          </c:dLbls>
          <c:cat>
            <c:strRef>
              <c:f>Sheet1!$A$2:$A$22</c:f>
              <c:strCache>
                <c:ptCount val="21"/>
                <c:pt idx="0">
                  <c:v>2006/07</c:v>
                </c:pt>
                <c:pt idx="1">
                  <c:v>2007/08</c:v>
                </c:pt>
                <c:pt idx="2">
                  <c:v>2008/09</c:v>
                </c:pt>
                <c:pt idx="3">
                  <c:v>2009/10</c:v>
                </c:pt>
                <c:pt idx="4">
                  <c:v>2010/11</c:v>
                </c:pt>
                <c:pt idx="5">
                  <c:v>2011/12</c:v>
                </c:pt>
                <c:pt idx="6">
                  <c:v>2012/13</c:v>
                </c:pt>
                <c:pt idx="7">
                  <c:v>2013/14</c:v>
                </c:pt>
                <c:pt idx="8">
                  <c:v>2014/15</c:v>
                </c:pt>
                <c:pt idx="9">
                  <c:v>2015/16</c:v>
                </c:pt>
                <c:pt idx="10">
                  <c:v>2016/17</c:v>
                </c:pt>
                <c:pt idx="11">
                  <c:v>2017/18</c:v>
                </c:pt>
                <c:pt idx="12">
                  <c:v>2018/19</c:v>
                </c:pt>
                <c:pt idx="13">
                  <c:v>2019/20</c:v>
                </c:pt>
                <c:pt idx="14">
                  <c:v>2020/21</c:v>
                </c:pt>
                <c:pt idx="15">
                  <c:v>2021/22</c:v>
                </c:pt>
                <c:pt idx="16">
                  <c:v>2022/23</c:v>
                </c:pt>
                <c:pt idx="17">
                  <c:v>2023/24</c:v>
                </c:pt>
                <c:pt idx="18">
                  <c:v>2024/25</c:v>
                </c:pt>
                <c:pt idx="19">
                  <c:v>2025/26</c:v>
                </c:pt>
                <c:pt idx="20">
                  <c:v>2026/27</c:v>
                </c:pt>
              </c:strCache>
            </c:strRef>
          </c:cat>
          <c:val>
            <c:numRef>
              <c:f>Sheet1!$B$2:$B$22</c:f>
              <c:numCache>
                <c:formatCode>General</c:formatCode>
                <c:ptCount val="21"/>
                <c:pt idx="1">
                  <c:v>-11.9</c:v>
                </c:pt>
                <c:pt idx="4">
                  <c:v>-10.2</c:v>
                </c:pt>
                <c:pt idx="10">
                  <c:v>-1.3</c:v>
                </c:pt>
                <c:pt idx="13">
                  <c:v>0.5</c:v>
                </c:pt>
                <c:pt idx="18">
                  <c:v>-2.1</c:v>
                </c:pt>
              </c:numCache>
            </c:numRef>
          </c:val>
        </c:ser>
        <c:ser>
          <c:idx val="1"/>
          <c:order val="1"/>
          <c:tx>
            <c:strRef>
              <c:f>Sheet1!$C$1</c:f>
              <c:strCache>
                <c:ptCount val="1"/>
                <c:pt idx="0">
                  <c:v>La Niña</c:v>
                </c:pt>
              </c:strCache>
            </c:strRef>
          </c:tx>
          <c:spPr>
            <a:solidFill>
              <a:srgbClr val="2E75B6"/>
            </a:solidFill>
          </c:spPr>
          <c:invertIfNegative val="0"/>
          <c:dLbls>
            <c:numFmt formatCode="+0;-0;0" sourceLinked="0"/>
            <c:spPr>
              <a:noFill/>
              <a:ln>
                <a:noFill/>
              </a:ln>
            </c:spPr>
            <c:txPr>
              <a:bodyPr/>
              <a:lstStyle/>
              <a:p>
                <a:pPr>
                  <a:defRPr sz="700" b="1">
                    <a:solidFill>
                      <a:srgbClr val="1F2A30"/>
                    </a:solidFill>
                    <a:latin typeface="Arial"/>
                    <a:cs typeface="Arial"/>
                  </a:defRPr>
                </a:pPr>
                <a:endParaRPr lang="fr-FR"/>
              </a:p>
            </c:txPr>
            <c:dLblPos val="outEnd"/>
            <c:showLegendKey val="0"/>
            <c:showVal val="1"/>
            <c:showCatName val="0"/>
            <c:showSerName val="0"/>
            <c:showPercent val="0"/>
            <c:showBubbleSize val="0"/>
          </c:dLbls>
          <c:cat>
            <c:strRef>
              <c:f>Sheet1!$A$2:$A$22</c:f>
              <c:strCache>
                <c:ptCount val="21"/>
                <c:pt idx="0">
                  <c:v>2006/07</c:v>
                </c:pt>
                <c:pt idx="1">
                  <c:v>2007/08</c:v>
                </c:pt>
                <c:pt idx="2">
                  <c:v>2008/09</c:v>
                </c:pt>
                <c:pt idx="3">
                  <c:v>2009/10</c:v>
                </c:pt>
                <c:pt idx="4">
                  <c:v>2010/11</c:v>
                </c:pt>
                <c:pt idx="5">
                  <c:v>2011/12</c:v>
                </c:pt>
                <c:pt idx="6">
                  <c:v>2012/13</c:v>
                </c:pt>
                <c:pt idx="7">
                  <c:v>2013/14</c:v>
                </c:pt>
                <c:pt idx="8">
                  <c:v>2014/15</c:v>
                </c:pt>
                <c:pt idx="9">
                  <c:v>2015/16</c:v>
                </c:pt>
                <c:pt idx="10">
                  <c:v>2016/17</c:v>
                </c:pt>
                <c:pt idx="11">
                  <c:v>2017/18</c:v>
                </c:pt>
                <c:pt idx="12">
                  <c:v>2018/19</c:v>
                </c:pt>
                <c:pt idx="13">
                  <c:v>2019/20</c:v>
                </c:pt>
                <c:pt idx="14">
                  <c:v>2020/21</c:v>
                </c:pt>
                <c:pt idx="15">
                  <c:v>2021/22</c:v>
                </c:pt>
                <c:pt idx="16">
                  <c:v>2022/23</c:v>
                </c:pt>
                <c:pt idx="17">
                  <c:v>2023/24</c:v>
                </c:pt>
                <c:pt idx="18">
                  <c:v>2024/25</c:v>
                </c:pt>
                <c:pt idx="19">
                  <c:v>2025/26</c:v>
                </c:pt>
                <c:pt idx="20">
                  <c:v>2026/27</c:v>
                </c:pt>
              </c:strCache>
            </c:strRef>
          </c:cat>
          <c:val>
            <c:numRef>
              <c:f>Sheet1!$C$2:$C$22</c:f>
              <c:numCache>
                <c:formatCode>General</c:formatCode>
                <c:ptCount val="21"/>
                <c:pt idx="2">
                  <c:v>14.9</c:v>
                </c:pt>
                <c:pt idx="5">
                  <c:v>-26.7</c:v>
                </c:pt>
                <c:pt idx="6">
                  <c:v>8.8</c:v>
                </c:pt>
                <c:pt idx="15">
                  <c:v>-1.1</c:v>
                </c:pt>
                <c:pt idx="16">
                  <c:v>1.6</c:v>
                </c:pt>
                <c:pt idx="17">
                  <c:v>-28.0</c:v>
                </c:pt>
              </c:numCache>
            </c:numRef>
          </c:val>
        </c:ser>
        <c:ser>
          <c:idx val="2"/>
          <c:order val="2"/>
          <c:tx>
            <c:strRef>
              <c:f>Sheet1!$D$1</c:f>
              <c:strCache>
                <c:ptCount val="1"/>
                <c:pt idx="0">
                  <c:v>Neutral</c:v>
                </c:pt>
              </c:strCache>
            </c:strRef>
          </c:tx>
          <c:spPr>
            <a:solidFill>
              <a:srgbClr val="7F7F7F"/>
            </a:solidFill>
          </c:spPr>
          <c:invertIfNegative val="0"/>
          <c:dLbls>
            <c:numFmt formatCode="+0;-0;0" sourceLinked="0"/>
            <c:spPr>
              <a:noFill/>
              <a:ln>
                <a:noFill/>
              </a:ln>
            </c:spPr>
            <c:txPr>
              <a:bodyPr/>
              <a:lstStyle/>
              <a:p>
                <a:pPr>
                  <a:defRPr sz="700" b="1">
                    <a:solidFill>
                      <a:srgbClr val="1F2A30"/>
                    </a:solidFill>
                    <a:latin typeface="Arial"/>
                    <a:cs typeface="Arial"/>
                  </a:defRPr>
                </a:pPr>
                <a:endParaRPr lang="fr-FR"/>
              </a:p>
            </c:txPr>
            <c:dLblPos val="outEnd"/>
            <c:showLegendKey val="0"/>
            <c:showVal val="1"/>
            <c:showCatName val="0"/>
            <c:showSerName val="0"/>
            <c:showPercent val="0"/>
            <c:showBubbleSize val="0"/>
          </c:dLbls>
          <c:cat>
            <c:strRef>
              <c:f>Sheet1!$A$2:$A$22</c:f>
              <c:strCache>
                <c:ptCount val="21"/>
                <c:pt idx="0">
                  <c:v>2006/07</c:v>
                </c:pt>
                <c:pt idx="1">
                  <c:v>2007/08</c:v>
                </c:pt>
                <c:pt idx="2">
                  <c:v>2008/09</c:v>
                </c:pt>
                <c:pt idx="3">
                  <c:v>2009/10</c:v>
                </c:pt>
                <c:pt idx="4">
                  <c:v>2010/11</c:v>
                </c:pt>
                <c:pt idx="5">
                  <c:v>2011/12</c:v>
                </c:pt>
                <c:pt idx="6">
                  <c:v>2012/13</c:v>
                </c:pt>
                <c:pt idx="7">
                  <c:v>2013/14</c:v>
                </c:pt>
                <c:pt idx="8">
                  <c:v>2014/15</c:v>
                </c:pt>
                <c:pt idx="9">
                  <c:v>2015/16</c:v>
                </c:pt>
                <c:pt idx="10">
                  <c:v>2016/17</c:v>
                </c:pt>
                <c:pt idx="11">
                  <c:v>2017/18</c:v>
                </c:pt>
                <c:pt idx="12">
                  <c:v>2018/19</c:v>
                </c:pt>
                <c:pt idx="13">
                  <c:v>2019/20</c:v>
                </c:pt>
                <c:pt idx="14">
                  <c:v>2020/21</c:v>
                </c:pt>
                <c:pt idx="15">
                  <c:v>2021/22</c:v>
                </c:pt>
                <c:pt idx="16">
                  <c:v>2022/23</c:v>
                </c:pt>
                <c:pt idx="17">
                  <c:v>2023/24</c:v>
                </c:pt>
                <c:pt idx="18">
                  <c:v>2024/25</c:v>
                </c:pt>
                <c:pt idx="19">
                  <c:v>2025/26</c:v>
                </c:pt>
                <c:pt idx="20">
                  <c:v>2026/27</c:v>
                </c:pt>
              </c:strCache>
            </c:strRef>
          </c:cat>
          <c:val>
            <c:numRef>
              <c:f>Sheet1!$D$2:$D$22</c:f>
              <c:numCache>
                <c:formatCode>General</c:formatCode>
                <c:ptCount val="21"/>
                <c:pt idx="0">
                  <c:v>-17.0</c:v>
                </c:pt>
                <c:pt idx="3">
                  <c:v>18.8</c:v>
                </c:pt>
                <c:pt idx="7">
                  <c:v>8.1</c:v>
                </c:pt>
                <c:pt idx="8">
                  <c:v>-4.7</c:v>
                </c:pt>
                <c:pt idx="9">
                  <c:v>12.8</c:v>
                </c:pt>
                <c:pt idx="11">
                  <c:v>0.0</c:v>
                </c:pt>
                <c:pt idx="12">
                  <c:v>0.0</c:v>
                </c:pt>
                <c:pt idx="14">
                  <c:v>0.0</c:v>
                </c:pt>
                <c:pt idx="19">
                  <c:v>17.0</c:v>
                </c:pt>
                <c:pt idx="20">
                  <c:v>7.5</c:v>
                </c:pt>
              </c:numCache>
            </c:numRef>
          </c:val>
        </c:ser>
        <c:gapWidth val="40"/>
        <c:overlap val="100"/>
        <c:axId val="50010"/>
        <c:axId val="50020"/>
      </c:barChart>
      <c:lineChart>
        <c:grouping val="standard"/>
        <c:varyColors val="0"/>
        <c:ser>
          <c:idx val="3"/>
          <c:order val="3"/>
          <c:tx>
            <c:strRef>
              <c:f>Sheet1!$E$1</c:f>
              <c:strCache>
                <c:ptCount val="1"/>
                <c:pt idx="0">
                  <c:v>Average El Niño: -1.1 %</c:v>
                </c:pt>
              </c:strCache>
            </c:strRef>
          </c:tx>
          <c:spPr>
            <a:ln w="19050" cap="rnd">
              <a:solidFill>
                <a:srgbClr val="ED7D31"/>
              </a:solidFill>
              <a:prstDash val="dash"/>
              <a:round/>
            </a:ln>
          </c:spPr>
          <c:marker>
            <c:symbol val="none"/>
          </c:marker>
          <c:cat>
            <c:strRef>
              <c:f>Sheet1!$A$2:$A$22</c:f>
              <c:strCache>
                <c:ptCount val="21"/>
                <c:pt idx="0">
                  <c:v>2006/07</c:v>
                </c:pt>
                <c:pt idx="1">
                  <c:v>2007/08</c:v>
                </c:pt>
                <c:pt idx="2">
                  <c:v>2008/09</c:v>
                </c:pt>
                <c:pt idx="3">
                  <c:v>2009/10</c:v>
                </c:pt>
                <c:pt idx="4">
                  <c:v>2010/11</c:v>
                </c:pt>
                <c:pt idx="5">
                  <c:v>2011/12</c:v>
                </c:pt>
                <c:pt idx="6">
                  <c:v>2012/13</c:v>
                </c:pt>
                <c:pt idx="7">
                  <c:v>2013/14</c:v>
                </c:pt>
                <c:pt idx="8">
                  <c:v>2014/15</c:v>
                </c:pt>
                <c:pt idx="9">
                  <c:v>2015/16</c:v>
                </c:pt>
                <c:pt idx="10">
                  <c:v>2016/17</c:v>
                </c:pt>
                <c:pt idx="11">
                  <c:v>2017/18</c:v>
                </c:pt>
                <c:pt idx="12">
                  <c:v>2018/19</c:v>
                </c:pt>
                <c:pt idx="13">
                  <c:v>2019/20</c:v>
                </c:pt>
                <c:pt idx="14">
                  <c:v>2020/21</c:v>
                </c:pt>
                <c:pt idx="15">
                  <c:v>2021/22</c:v>
                </c:pt>
                <c:pt idx="16">
                  <c:v>2022/23</c:v>
                </c:pt>
                <c:pt idx="17">
                  <c:v>2023/24</c:v>
                </c:pt>
                <c:pt idx="18">
                  <c:v>2024/25</c:v>
                </c:pt>
                <c:pt idx="19">
                  <c:v>2025/26</c:v>
                </c:pt>
                <c:pt idx="20">
                  <c:v>2026/27</c:v>
                </c:pt>
              </c:strCache>
            </c:strRef>
          </c:cat>
          <c:val>
            <c:numRef>
              <c:f>Sheet1!$E$2:$E$22</c:f>
              <c:numCache>
                <c:formatCode>General</c:formatCode>
                <c:ptCount val="21"/>
                <c:pt idx="0">
                  <c:v>-1.09</c:v>
                </c:pt>
                <c:pt idx="1">
                  <c:v>-1.09</c:v>
                </c:pt>
                <c:pt idx="2">
                  <c:v>-1.09</c:v>
                </c:pt>
                <c:pt idx="3">
                  <c:v>-1.09</c:v>
                </c:pt>
                <c:pt idx="4">
                  <c:v>-1.09</c:v>
                </c:pt>
                <c:pt idx="5">
                  <c:v>-1.09</c:v>
                </c:pt>
                <c:pt idx="6">
                  <c:v>-1.09</c:v>
                </c:pt>
                <c:pt idx="7">
                  <c:v>-1.09</c:v>
                </c:pt>
                <c:pt idx="8">
                  <c:v>-1.09</c:v>
                </c:pt>
                <c:pt idx="9">
                  <c:v>-1.09</c:v>
                </c:pt>
                <c:pt idx="10">
                  <c:v>-1.09</c:v>
                </c:pt>
                <c:pt idx="11">
                  <c:v>-1.09</c:v>
                </c:pt>
                <c:pt idx="12">
                  <c:v>-1.09</c:v>
                </c:pt>
                <c:pt idx="13">
                  <c:v>-1.09</c:v>
                </c:pt>
                <c:pt idx="14">
                  <c:v>-1.09</c:v>
                </c:pt>
                <c:pt idx="15">
                  <c:v>-1.09</c:v>
                </c:pt>
                <c:pt idx="16">
                  <c:v>-1.09</c:v>
                </c:pt>
                <c:pt idx="17">
                  <c:v>-1.09</c:v>
                </c:pt>
                <c:pt idx="18">
                  <c:v>-1.09</c:v>
                </c:pt>
                <c:pt idx="19">
                  <c:v>-1.09</c:v>
                </c:pt>
                <c:pt idx="20">
                  <c:v>-1.09</c:v>
                </c:pt>
              </c:numCache>
            </c:numRef>
          </c:val>
          <c:smooth val="0"/>
        </c:ser>
        <c:ser>
          <c:idx val="4"/>
          <c:order val="4"/>
          <c:tx>
            <c:strRef>
              <c:f>Sheet1!$F$1</c:f>
              <c:strCache>
                <c:ptCount val="1"/>
                <c:pt idx="0">
                  <c:v>Average La Niña: -3.3 %</c:v>
                </c:pt>
              </c:strCache>
            </c:strRef>
          </c:tx>
          <c:spPr>
            <a:ln w="19050" cap="rnd">
              <a:solidFill>
                <a:srgbClr val="2E75B6"/>
              </a:solidFill>
              <a:prstDash val="dash"/>
              <a:round/>
            </a:ln>
          </c:spPr>
          <c:marker>
            <c:symbol val="none"/>
          </c:marker>
          <c:cat>
            <c:strRef>
              <c:f>Sheet1!$A$2:$A$22</c:f>
              <c:strCache>
                <c:ptCount val="21"/>
                <c:pt idx="0">
                  <c:v>2006/07</c:v>
                </c:pt>
                <c:pt idx="1">
                  <c:v>2007/08</c:v>
                </c:pt>
                <c:pt idx="2">
                  <c:v>2008/09</c:v>
                </c:pt>
                <c:pt idx="3">
                  <c:v>2009/10</c:v>
                </c:pt>
                <c:pt idx="4">
                  <c:v>2010/11</c:v>
                </c:pt>
                <c:pt idx="5">
                  <c:v>2011/12</c:v>
                </c:pt>
                <c:pt idx="6">
                  <c:v>2012/13</c:v>
                </c:pt>
                <c:pt idx="7">
                  <c:v>2013/14</c:v>
                </c:pt>
                <c:pt idx="8">
                  <c:v>2014/15</c:v>
                </c:pt>
                <c:pt idx="9">
                  <c:v>2015/16</c:v>
                </c:pt>
                <c:pt idx="10">
                  <c:v>2016/17</c:v>
                </c:pt>
                <c:pt idx="11">
                  <c:v>2017/18</c:v>
                </c:pt>
                <c:pt idx="12">
                  <c:v>2018/19</c:v>
                </c:pt>
                <c:pt idx="13">
                  <c:v>2019/20</c:v>
                </c:pt>
                <c:pt idx="14">
                  <c:v>2020/21</c:v>
                </c:pt>
                <c:pt idx="15">
                  <c:v>2021/22</c:v>
                </c:pt>
                <c:pt idx="16">
                  <c:v>2022/23</c:v>
                </c:pt>
                <c:pt idx="17">
                  <c:v>2023/24</c:v>
                </c:pt>
                <c:pt idx="18">
                  <c:v>2024/25</c:v>
                </c:pt>
                <c:pt idx="19">
                  <c:v>2025/26</c:v>
                </c:pt>
                <c:pt idx="20">
                  <c:v>2026/27</c:v>
                </c:pt>
              </c:strCache>
            </c:strRef>
          </c:cat>
          <c:val>
            <c:numRef>
              <c:f>Sheet1!$F$2:$F$22</c:f>
              <c:numCache>
                <c:formatCode>General</c:formatCode>
                <c:ptCount val="21"/>
                <c:pt idx="0">
                  <c:v>-3.29</c:v>
                </c:pt>
                <c:pt idx="1">
                  <c:v>-3.29</c:v>
                </c:pt>
                <c:pt idx="2">
                  <c:v>-3.29</c:v>
                </c:pt>
                <c:pt idx="3">
                  <c:v>-3.29</c:v>
                </c:pt>
                <c:pt idx="4">
                  <c:v>-3.29</c:v>
                </c:pt>
                <c:pt idx="5">
                  <c:v>-3.29</c:v>
                </c:pt>
                <c:pt idx="6">
                  <c:v>-3.29</c:v>
                </c:pt>
                <c:pt idx="7">
                  <c:v>-3.29</c:v>
                </c:pt>
                <c:pt idx="8">
                  <c:v>-3.29</c:v>
                </c:pt>
                <c:pt idx="9">
                  <c:v>-3.29</c:v>
                </c:pt>
                <c:pt idx="10">
                  <c:v>-3.29</c:v>
                </c:pt>
                <c:pt idx="11">
                  <c:v>-3.29</c:v>
                </c:pt>
                <c:pt idx="12">
                  <c:v>-3.29</c:v>
                </c:pt>
                <c:pt idx="13">
                  <c:v>-3.29</c:v>
                </c:pt>
                <c:pt idx="14">
                  <c:v>-3.29</c:v>
                </c:pt>
                <c:pt idx="15">
                  <c:v>-3.29</c:v>
                </c:pt>
                <c:pt idx="16">
                  <c:v>-3.29</c:v>
                </c:pt>
                <c:pt idx="17">
                  <c:v>-3.29</c:v>
                </c:pt>
                <c:pt idx="18">
                  <c:v>-3.29</c:v>
                </c:pt>
                <c:pt idx="19">
                  <c:v>-3.29</c:v>
                </c:pt>
                <c:pt idx="20">
                  <c:v>-3.29</c:v>
                </c:pt>
              </c:numCache>
            </c:numRef>
          </c:val>
          <c:smooth val="0"/>
        </c:ser>
        <c:marker val="1"/>
        <c:axId val="50010"/>
        <c:axId val="50020"/>
      </c:lineChart>
      <c:catAx>
        <c:axId val="50010"/>
        <c:scaling>
          <c:orientation val="minMax"/>
        </c:scaling>
        <c:delete val="0"/>
        <c:axPos val="b"/>
        <c:numFmt formatCode="General" sourceLinked="0"/>
        <c:majorTickMark val="none"/>
        <c:minorTickMark val="none"/>
        <c:tickLblPos val="low"/>
        <c:spPr>
          <a:ln w="9525">
            <a:solidFill>
              <a:srgbClr val="B7C0C5"/>
            </a:solidFill>
          </a:ln>
        </c:spPr>
        <c:txPr>
          <a:bodyPr/>
          <a:lstStyle/>
          <a:p>
            <a:pPr>
              <a:defRPr sz="800" b="0">
                <a:solidFill>
                  <a:srgbClr val="5B6770"/>
                </a:solidFill>
                <a:latin typeface="Arial"/>
                <a:cs typeface="Arial"/>
              </a:defRPr>
            </a:pPr>
            <a:endParaRPr lang="fr-FR"/>
          </a:p>
        </c:txPr>
        <c:crossAx val="50020"/>
        <c:crosses val="autoZero"/>
        <c:auto val="1"/>
        <c:lblAlgn val="ctr"/>
        <c:lblOffset val="100"/>
        <c:tickLblSkip val="2"/>
        <c:noMultiLvlLbl val="0"/>
      </c:catAx>
      <c:valAx>
        <c:axId val="50020"/>
        <c:scaling>
          <c:orientation val="minMax"/>
          <c:max val="25"/>
          <c:min val="-30"/>
        </c:scaling>
        <c:delete val="0"/>
        <c:axPos val="l"/>
        <c:majorGridlines>
          <c:spPr>
            <a:ln w="6350">
              <a:solidFill>
                <a:srgbClr val="E3E8EB"/>
              </a:solidFill>
            </a:ln>
          </c:spPr>
        </c:majorGridlines>
        <c:numFmt formatCode="0" sourceLinked="0"/>
        <c:majorTickMark val="none"/>
        <c:minorTickMark val="none"/>
        <c:tickLblPos val="low"/>
        <c:spPr>
          <a:ln w="6350">
            <a:solidFill>
              <a:srgbClr val="FFFFFF"/>
            </a:solidFill>
          </a:ln>
        </c:spPr>
        <c:txPr>
          <a:bodyPr/>
          <a:lstStyle/>
          <a:p>
            <a:pPr>
              <a:defRPr sz="800" b="0">
                <a:solidFill>
                  <a:srgbClr val="5B6770"/>
                </a:solidFill>
                <a:latin typeface="Arial"/>
                <a:cs typeface="Arial"/>
              </a:defRPr>
            </a:pPr>
            <a:endParaRPr lang="fr-FR"/>
          </a:p>
        </c:txPr>
        <c:crossAx val="50010"/>
        <c:crosses val="autoZero"/>
        <c:crossBetween val="between"/>
        <c:majorUnit val="10"/>
      </c:valAx>
    </c:plotArea>
    <c:legend>
      <c:legendPos val="b"/>
      <c:overlay val="0"/>
      <c:txPr>
        <a:bodyPr/>
        <a:lstStyle/>
        <a:p>
          <a:pPr>
            <a:defRPr sz="800" b="0">
              <a:solidFill>
                <a:srgbClr val="1F2A30"/>
              </a:solidFill>
              <a:latin typeface="Arial"/>
              <a:cs typeface="Arial"/>
            </a:defRPr>
          </a:pPr>
          <a:endParaRPr lang="fr-FR"/>
        </a:p>
      </c:txPr>
    </c:legend>
    <c:plotVisOnly val="1"/>
    <c:dispBlanksAs val="gap"/>
  </c:chart>
  <c:spPr>
    <a:noFill/>
    <a:ln>
      <a:noFill/>
    </a:ln>
  </c:spPr>
  <c:txPr>
    <a:bodyPr/>
    <a:lstStyle/>
    <a:p>
      <a:pPr>
        <a:defRPr sz="1000" b="0">
          <a:solidFill>
            <a:srgbClr val="5B6770"/>
          </a:solidFill>
          <a:latin typeface="Arial"/>
          <a:cs typeface="Arial"/>
        </a:defRPr>
      </a:pPr>
      <a:endParaRPr lang="fr-FR"/>
    </a:p>
  </c:txPr>
</c:chartSpace>
</file>

<file path=ppt/charts/chart3.xml><?xml version="1.0" encoding="utf-8"?>
<c:chartSpace xmlns:c="http://schemas.openxmlformats.org/drawingml/2006/chart" xmlns:a="http://schemas.openxmlformats.org/drawingml/2006/main" xmlns:r="http://schemas.openxmlformats.org/officeDocument/2006/relationships">
  <c:roundedCorners val="0"/>
  <c:chart>
    <c:autoTitleDeleted val="1"/>
    <c:plotArea>
      <c:layout/>
      <c:barChart>
        <c:barDir val="col"/>
        <c:grouping val="clustered"/>
        <c:varyColors val="0"/>
        <c:ser>
          <c:idx val="0"/>
          <c:order val="0"/>
          <c:tx>
            <c:strRef>
              <c:f>Sheet1!$B$1</c:f>
              <c:strCache>
                <c:ptCount val="1"/>
                <c:pt idx="0">
                  <c:v>El Niño</c:v>
                </c:pt>
              </c:strCache>
            </c:strRef>
          </c:tx>
          <c:spPr>
            <a:solidFill>
              <a:srgbClr val="ED7D31"/>
            </a:solidFill>
          </c:spPr>
          <c:invertIfNegative val="0"/>
          <c:dLbls>
            <c:numFmt formatCode="+0;-0;0" sourceLinked="0"/>
            <c:spPr>
              <a:noFill/>
              <a:ln>
                <a:noFill/>
              </a:ln>
            </c:spPr>
            <c:txPr>
              <a:bodyPr/>
              <a:lstStyle/>
              <a:p>
                <a:pPr>
                  <a:defRPr sz="700" b="1">
                    <a:solidFill>
                      <a:srgbClr val="1F2A30"/>
                    </a:solidFill>
                    <a:latin typeface="Arial"/>
                    <a:cs typeface="Arial"/>
                  </a:defRPr>
                </a:pPr>
                <a:endParaRPr lang="fr-FR"/>
              </a:p>
            </c:txPr>
            <c:dLblPos val="outEnd"/>
            <c:showLegendKey val="0"/>
            <c:showVal val="1"/>
            <c:showCatName val="0"/>
            <c:showSerName val="0"/>
            <c:showPercent val="0"/>
            <c:showBubbleSize val="0"/>
          </c:dLbls>
          <c:cat>
            <c:strRef>
              <c:f>Sheet1!$A$2:$A$22</c:f>
              <c:strCache>
                <c:ptCount val="21"/>
                <c:pt idx="0">
                  <c:v>2006/07</c:v>
                </c:pt>
                <c:pt idx="1">
                  <c:v>2007/08</c:v>
                </c:pt>
                <c:pt idx="2">
                  <c:v>2008/09</c:v>
                </c:pt>
                <c:pt idx="3">
                  <c:v>2009/10</c:v>
                </c:pt>
                <c:pt idx="4">
                  <c:v>2010/11</c:v>
                </c:pt>
                <c:pt idx="5">
                  <c:v>2011/12</c:v>
                </c:pt>
                <c:pt idx="6">
                  <c:v>2012/13</c:v>
                </c:pt>
                <c:pt idx="7">
                  <c:v>2013/14</c:v>
                </c:pt>
                <c:pt idx="8">
                  <c:v>2014/15</c:v>
                </c:pt>
                <c:pt idx="9">
                  <c:v>2015/16</c:v>
                </c:pt>
                <c:pt idx="10">
                  <c:v>2016/17</c:v>
                </c:pt>
                <c:pt idx="11">
                  <c:v>2017/18</c:v>
                </c:pt>
                <c:pt idx="12">
                  <c:v>2018/19</c:v>
                </c:pt>
                <c:pt idx="13">
                  <c:v>2019/20</c:v>
                </c:pt>
                <c:pt idx="14">
                  <c:v>2020/21</c:v>
                </c:pt>
                <c:pt idx="15">
                  <c:v>2021/22</c:v>
                </c:pt>
                <c:pt idx="16">
                  <c:v>2022/23</c:v>
                </c:pt>
                <c:pt idx="17">
                  <c:v>2023/24</c:v>
                </c:pt>
                <c:pt idx="18">
                  <c:v>2024/25</c:v>
                </c:pt>
                <c:pt idx="19">
                  <c:v>2025/26</c:v>
                </c:pt>
                <c:pt idx="20">
                  <c:v>2026/27</c:v>
                </c:pt>
              </c:strCache>
            </c:strRef>
          </c:cat>
          <c:val>
            <c:numRef>
              <c:f>Sheet1!$B$2:$B$22</c:f>
              <c:numCache>
                <c:formatCode>General</c:formatCode>
                <c:ptCount val="21"/>
                <c:pt idx="1">
                  <c:v>9.1</c:v>
                </c:pt>
                <c:pt idx="4">
                  <c:v>-11.7</c:v>
                </c:pt>
                <c:pt idx="10">
                  <c:v>-12.3</c:v>
                </c:pt>
                <c:pt idx="13">
                  <c:v>0.5</c:v>
                </c:pt>
                <c:pt idx="18">
                  <c:v>36.8</c:v>
                </c:pt>
              </c:numCache>
            </c:numRef>
          </c:val>
        </c:ser>
        <c:ser>
          <c:idx val="1"/>
          <c:order val="1"/>
          <c:tx>
            <c:strRef>
              <c:f>Sheet1!$C$1</c:f>
              <c:strCache>
                <c:ptCount val="1"/>
                <c:pt idx="0">
                  <c:v>La Niña</c:v>
                </c:pt>
              </c:strCache>
            </c:strRef>
          </c:tx>
          <c:spPr>
            <a:solidFill>
              <a:srgbClr val="2E75B6"/>
            </a:solidFill>
          </c:spPr>
          <c:invertIfNegative val="0"/>
          <c:dLbls>
            <c:numFmt formatCode="+0;-0;0" sourceLinked="0"/>
            <c:spPr>
              <a:noFill/>
              <a:ln>
                <a:noFill/>
              </a:ln>
            </c:spPr>
            <c:txPr>
              <a:bodyPr/>
              <a:lstStyle/>
              <a:p>
                <a:pPr>
                  <a:defRPr sz="700" b="1">
                    <a:solidFill>
                      <a:srgbClr val="1F2A30"/>
                    </a:solidFill>
                    <a:latin typeface="Arial"/>
                    <a:cs typeface="Arial"/>
                  </a:defRPr>
                </a:pPr>
                <a:endParaRPr lang="fr-FR"/>
              </a:p>
            </c:txPr>
            <c:dLblPos val="outEnd"/>
            <c:showLegendKey val="0"/>
            <c:showVal val="1"/>
            <c:showCatName val="0"/>
            <c:showSerName val="0"/>
            <c:showPercent val="0"/>
            <c:showBubbleSize val="0"/>
          </c:dLbls>
          <c:cat>
            <c:strRef>
              <c:f>Sheet1!$A$2:$A$22</c:f>
              <c:strCache>
                <c:ptCount val="21"/>
                <c:pt idx="0">
                  <c:v>2006/07</c:v>
                </c:pt>
                <c:pt idx="1">
                  <c:v>2007/08</c:v>
                </c:pt>
                <c:pt idx="2">
                  <c:v>2008/09</c:v>
                </c:pt>
                <c:pt idx="3">
                  <c:v>2009/10</c:v>
                </c:pt>
                <c:pt idx="4">
                  <c:v>2010/11</c:v>
                </c:pt>
                <c:pt idx="5">
                  <c:v>2011/12</c:v>
                </c:pt>
                <c:pt idx="6">
                  <c:v>2012/13</c:v>
                </c:pt>
                <c:pt idx="7">
                  <c:v>2013/14</c:v>
                </c:pt>
                <c:pt idx="8">
                  <c:v>2014/15</c:v>
                </c:pt>
                <c:pt idx="9">
                  <c:v>2015/16</c:v>
                </c:pt>
                <c:pt idx="10">
                  <c:v>2016/17</c:v>
                </c:pt>
                <c:pt idx="11">
                  <c:v>2017/18</c:v>
                </c:pt>
                <c:pt idx="12">
                  <c:v>2018/19</c:v>
                </c:pt>
                <c:pt idx="13">
                  <c:v>2019/20</c:v>
                </c:pt>
                <c:pt idx="14">
                  <c:v>2020/21</c:v>
                </c:pt>
                <c:pt idx="15">
                  <c:v>2021/22</c:v>
                </c:pt>
                <c:pt idx="16">
                  <c:v>2022/23</c:v>
                </c:pt>
                <c:pt idx="17">
                  <c:v>2023/24</c:v>
                </c:pt>
                <c:pt idx="18">
                  <c:v>2024/25</c:v>
                </c:pt>
                <c:pt idx="19">
                  <c:v>2025/26</c:v>
                </c:pt>
                <c:pt idx="20">
                  <c:v>2026/27</c:v>
                </c:pt>
              </c:strCache>
            </c:strRef>
          </c:cat>
          <c:val>
            <c:numRef>
              <c:f>Sheet1!$C$2:$C$22</c:f>
              <c:numCache>
                <c:formatCode>General</c:formatCode>
                <c:ptCount val="21"/>
                <c:pt idx="2">
                  <c:v>20.8</c:v>
                </c:pt>
                <c:pt idx="5">
                  <c:v>-16.1</c:v>
                </c:pt>
                <c:pt idx="6">
                  <c:v>48.4</c:v>
                </c:pt>
                <c:pt idx="15">
                  <c:v>-1.1</c:v>
                </c:pt>
                <c:pt idx="16">
                  <c:v>2.2</c:v>
                </c:pt>
                <c:pt idx="17">
                  <c:v>-28.4</c:v>
                </c:pt>
              </c:numCache>
            </c:numRef>
          </c:val>
        </c:ser>
        <c:ser>
          <c:idx val="2"/>
          <c:order val="2"/>
          <c:tx>
            <c:strRef>
              <c:f>Sheet1!$D$1</c:f>
              <c:strCache>
                <c:ptCount val="1"/>
                <c:pt idx="0">
                  <c:v>Neutral</c:v>
                </c:pt>
              </c:strCache>
            </c:strRef>
          </c:tx>
          <c:spPr>
            <a:solidFill>
              <a:srgbClr val="7F7F7F"/>
            </a:solidFill>
          </c:spPr>
          <c:invertIfNegative val="0"/>
          <c:dLbls>
            <c:numFmt formatCode="+0;-0;0" sourceLinked="0"/>
            <c:spPr>
              <a:noFill/>
              <a:ln>
                <a:noFill/>
              </a:ln>
            </c:spPr>
            <c:txPr>
              <a:bodyPr/>
              <a:lstStyle/>
              <a:p>
                <a:pPr>
                  <a:defRPr sz="700" b="1">
                    <a:solidFill>
                      <a:srgbClr val="1F2A30"/>
                    </a:solidFill>
                    <a:latin typeface="Arial"/>
                    <a:cs typeface="Arial"/>
                  </a:defRPr>
                </a:pPr>
                <a:endParaRPr lang="fr-FR"/>
              </a:p>
            </c:txPr>
            <c:dLblPos val="outEnd"/>
            <c:showLegendKey val="0"/>
            <c:showVal val="1"/>
            <c:showCatName val="0"/>
            <c:showSerName val="0"/>
            <c:showPercent val="0"/>
            <c:showBubbleSize val="0"/>
          </c:dLbls>
          <c:cat>
            <c:strRef>
              <c:f>Sheet1!$A$2:$A$22</c:f>
              <c:strCache>
                <c:ptCount val="21"/>
                <c:pt idx="0">
                  <c:v>2006/07</c:v>
                </c:pt>
                <c:pt idx="1">
                  <c:v>2007/08</c:v>
                </c:pt>
                <c:pt idx="2">
                  <c:v>2008/09</c:v>
                </c:pt>
                <c:pt idx="3">
                  <c:v>2009/10</c:v>
                </c:pt>
                <c:pt idx="4">
                  <c:v>2010/11</c:v>
                </c:pt>
                <c:pt idx="5">
                  <c:v>2011/12</c:v>
                </c:pt>
                <c:pt idx="6">
                  <c:v>2012/13</c:v>
                </c:pt>
                <c:pt idx="7">
                  <c:v>2013/14</c:v>
                </c:pt>
                <c:pt idx="8">
                  <c:v>2014/15</c:v>
                </c:pt>
                <c:pt idx="9">
                  <c:v>2015/16</c:v>
                </c:pt>
                <c:pt idx="10">
                  <c:v>2016/17</c:v>
                </c:pt>
                <c:pt idx="11">
                  <c:v>2017/18</c:v>
                </c:pt>
                <c:pt idx="12">
                  <c:v>2018/19</c:v>
                </c:pt>
                <c:pt idx="13">
                  <c:v>2019/20</c:v>
                </c:pt>
                <c:pt idx="14">
                  <c:v>2020/21</c:v>
                </c:pt>
                <c:pt idx="15">
                  <c:v>2021/22</c:v>
                </c:pt>
                <c:pt idx="16">
                  <c:v>2022/23</c:v>
                </c:pt>
                <c:pt idx="17">
                  <c:v>2023/24</c:v>
                </c:pt>
                <c:pt idx="18">
                  <c:v>2024/25</c:v>
                </c:pt>
                <c:pt idx="19">
                  <c:v>2025/26</c:v>
                </c:pt>
                <c:pt idx="20">
                  <c:v>2026/27</c:v>
                </c:pt>
              </c:strCache>
            </c:strRef>
          </c:cat>
          <c:val>
            <c:numRef>
              <c:f>Sheet1!$D$2:$D$22</c:f>
              <c:numCache>
                <c:formatCode>General</c:formatCode>
                <c:ptCount val="21"/>
                <c:pt idx="0">
                  <c:v>-21.4</c:v>
                </c:pt>
                <c:pt idx="3">
                  <c:v>3.4</c:v>
                </c:pt>
                <c:pt idx="7">
                  <c:v>1.0</c:v>
                </c:pt>
                <c:pt idx="8">
                  <c:v>-8.0</c:v>
                </c:pt>
                <c:pt idx="9">
                  <c:v>15.2</c:v>
                </c:pt>
                <c:pt idx="11">
                  <c:v>1.1</c:v>
                </c:pt>
                <c:pt idx="12">
                  <c:v>0.0</c:v>
                </c:pt>
                <c:pt idx="14">
                  <c:v>-0.5</c:v>
                </c:pt>
                <c:pt idx="19">
                  <c:v>18.3</c:v>
                </c:pt>
                <c:pt idx="20">
                  <c:v>-9.1</c:v>
                </c:pt>
              </c:numCache>
            </c:numRef>
          </c:val>
        </c:ser>
        <c:gapWidth val="40"/>
        <c:overlap val="100"/>
        <c:axId val="50010"/>
        <c:axId val="50020"/>
      </c:barChart>
      <c:catAx>
        <c:axId val="50010"/>
        <c:scaling>
          <c:orientation val="minMax"/>
        </c:scaling>
        <c:delete val="0"/>
        <c:axPos val="b"/>
        <c:numFmt formatCode="General" sourceLinked="0"/>
        <c:majorTickMark val="none"/>
        <c:minorTickMark val="none"/>
        <c:tickLblPos val="low"/>
        <c:spPr>
          <a:ln w="9525">
            <a:solidFill>
              <a:srgbClr val="B7C0C5"/>
            </a:solidFill>
          </a:ln>
        </c:spPr>
        <c:txPr>
          <a:bodyPr/>
          <a:lstStyle/>
          <a:p>
            <a:pPr>
              <a:defRPr sz="800" b="0">
                <a:solidFill>
                  <a:srgbClr val="5B6770"/>
                </a:solidFill>
                <a:latin typeface="Arial"/>
                <a:cs typeface="Arial"/>
              </a:defRPr>
            </a:pPr>
            <a:endParaRPr lang="fr-FR"/>
          </a:p>
        </c:txPr>
        <c:crossAx val="50020"/>
        <c:crosses val="autoZero"/>
        <c:auto val="1"/>
        <c:lblAlgn val="ctr"/>
        <c:lblOffset val="100"/>
        <c:tickLblSkip val="2"/>
        <c:noMultiLvlLbl val="0"/>
      </c:catAx>
      <c:valAx>
        <c:axId val="50020"/>
        <c:scaling>
          <c:orientation val="minMax"/>
          <c:max val="50"/>
          <c:min val="-30"/>
        </c:scaling>
        <c:delete val="0"/>
        <c:axPos val="l"/>
        <c:majorGridlines>
          <c:spPr>
            <a:ln w="6350">
              <a:solidFill>
                <a:srgbClr val="E3E8EB"/>
              </a:solidFill>
            </a:ln>
          </c:spPr>
        </c:majorGridlines>
        <c:numFmt formatCode="0" sourceLinked="0"/>
        <c:majorTickMark val="none"/>
        <c:minorTickMark val="none"/>
        <c:tickLblPos val="low"/>
        <c:spPr>
          <a:ln w="6350">
            <a:solidFill>
              <a:srgbClr val="FFFFFF"/>
            </a:solidFill>
          </a:ln>
        </c:spPr>
        <c:txPr>
          <a:bodyPr/>
          <a:lstStyle/>
          <a:p>
            <a:pPr>
              <a:defRPr sz="800" b="0">
                <a:solidFill>
                  <a:srgbClr val="5B6770"/>
                </a:solidFill>
                <a:latin typeface="Arial"/>
                <a:cs typeface="Arial"/>
              </a:defRPr>
            </a:pPr>
            <a:endParaRPr lang="fr-FR"/>
          </a:p>
        </c:txPr>
        <c:crossAx val="50010"/>
        <c:crosses val="autoZero"/>
        <c:crossBetween val="between"/>
        <c:majorUnit val="10"/>
      </c:valAx>
    </c:plotArea>
    <c:legend>
      <c:legendPos val="b"/>
      <c:overlay val="0"/>
      <c:txPr>
        <a:bodyPr/>
        <a:lstStyle/>
        <a:p>
          <a:pPr>
            <a:defRPr sz="800" b="0">
              <a:solidFill>
                <a:srgbClr val="1F2A30"/>
              </a:solidFill>
              <a:latin typeface="Arial"/>
              <a:cs typeface="Arial"/>
            </a:defRPr>
          </a:pPr>
          <a:endParaRPr lang="fr-FR"/>
        </a:p>
      </c:txPr>
    </c:legend>
    <c:plotVisOnly val="1"/>
    <c:dispBlanksAs val="gap"/>
  </c:chart>
  <c:spPr>
    <a:noFill/>
    <a:ln>
      <a:noFill/>
    </a:ln>
  </c:spPr>
  <c:txPr>
    <a:bodyPr/>
    <a:lstStyle/>
    <a:p>
      <a:pPr>
        <a:defRPr sz="1000" b="0">
          <a:solidFill>
            <a:srgbClr val="5B6770"/>
          </a:solidFill>
          <a:latin typeface="Arial"/>
          <a:cs typeface="Arial"/>
        </a:defRPr>
      </a:pPr>
      <a:endParaRPr lang="fr-FR"/>
    </a:p>
  </c:txPr>
</c:chartSpace>
</file>

<file path=ppt/charts/chart4.xml><?xml version="1.0" encoding="utf-8"?>
<c:chartSpace xmlns:c="http://schemas.openxmlformats.org/drawingml/2006/chart" xmlns:a="http://schemas.openxmlformats.org/drawingml/2006/main" xmlns:r="http://schemas.openxmlformats.org/officeDocument/2006/relationships">
  <c:roundedCorners val="0"/>
  <c:chart>
    <c:autoTitleDeleted val="1"/>
    <c:plotArea>
      <c:layout/>
      <c:barChart>
        <c:barDir val="col"/>
        <c:grouping val="clustered"/>
        <c:varyColors val="0"/>
        <c:ser>
          <c:idx val="0"/>
          <c:order val="0"/>
          <c:tx>
            <c:strRef>
              <c:f>Sheet1!$B$1</c:f>
              <c:strCache>
                <c:ptCount val="1"/>
                <c:pt idx="0">
                  <c:v>El Niño (months with ONI ≥ +0.5)</c:v>
                </c:pt>
              </c:strCache>
            </c:strRef>
          </c:tx>
          <c:spPr>
            <a:solidFill>
              <a:srgbClr val="ED7D31"/>
            </a:solidFill>
          </c:spPr>
          <c:invertIfNegative val="0"/>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-0.0</c:v>
                </c:pt>
                <c:pt idx="1">
                  <c:v>10.0</c:v>
                </c:pt>
                <c:pt idx="2">
                  <c:v>42.0</c:v>
                </c:pt>
                <c:pt idx="3">
                  <c:v>21.0</c:v>
                </c:pt>
                <c:pt idx="4">
                  <c:v>-23.0</c:v>
                </c:pt>
                <c:pt idx="5">
                  <c:v>-20.0</c:v>
                </c:pt>
                <c:pt idx="6">
                  <c:v>4.0</c:v>
                </c:pt>
                <c:pt idx="7">
                  <c:v>-33.0</c:v>
                </c:pt>
                <c:pt idx="8">
                  <c:v>-48.0</c:v>
                </c:pt>
                <c:pt idx="9">
                  <c:v>-61.0</c:v>
                </c:pt>
                <c:pt idx="10">
                  <c:v>-19.0</c:v>
                </c:pt>
                <c:pt idx="11">
                  <c:v>-6.0</c:v>
                </c:pt>
              </c:numCache>
            </c:numRef>
          </c:val>
        </c:ser>
        <c:ser>
          <c:idx val="1"/>
          <c:order val="1"/>
          <c:tx>
            <c:strRef>
              <c:f>Sheet1!$C$1</c:f>
              <c:strCache>
                <c:ptCount val="1"/>
                <c:pt idx="0">
                  <c:v>La Niña (months with ONI ≤ −0.5)</c:v>
                </c:pt>
              </c:strCache>
            </c:strRef>
          </c:tx>
          <c:spPr>
            <a:solidFill>
              <a:srgbClr val="2E75B6"/>
            </a:solidFill>
          </c:spPr>
          <c:invertIfNegative val="0"/>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General</c:formatCode>
                <c:ptCount val="12"/>
                <c:pt idx="0">
                  <c:v>-5.0</c:v>
                </c:pt>
                <c:pt idx="1">
                  <c:v>-7.0</c:v>
                </c:pt>
                <c:pt idx="2">
                  <c:v>-10.0</c:v>
                </c:pt>
                <c:pt idx="3">
                  <c:v>7.0</c:v>
                </c:pt>
                <c:pt idx="4">
                  <c:v>-16.0</c:v>
                </c:pt>
                <c:pt idx="5">
                  <c:v>15.0</c:v>
                </c:pt>
                <c:pt idx="6">
                  <c:v>69.0</c:v>
                </c:pt>
                <c:pt idx="7">
                  <c:v>18.0</c:v>
                </c:pt>
                <c:pt idx="8">
                  <c:v>37.0</c:v>
                </c:pt>
                <c:pt idx="9">
                  <c:v>37.0</c:v>
                </c:pt>
                <c:pt idx="10">
                  <c:v>7.0</c:v>
                </c:pt>
                <c:pt idx="11">
                  <c:v>3.0</c:v>
                </c:pt>
              </c:numCache>
            </c:numRef>
          </c:val>
        </c:ser>
        <c:ser>
          <c:idx val="2"/>
          <c:order val="2"/>
          <c:tx>
            <c:strRef>
              <c:f>Sheet1!$D$1</c:f>
              <c:strCache>
                <c:ptCount val="1"/>
                <c:pt idx="0">
                  <c:v>Neutral (months with ONI between)</c:v>
                </c:pt>
              </c:strCache>
            </c:strRef>
          </c:tx>
          <c:spPr>
            <a:solidFill>
              <a:srgbClr val="7F7F7F"/>
            </a:solidFill>
          </c:spPr>
          <c:invertIfNegative val="0"/>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Sheet1!$D$2:$D$13</c:f>
              <c:numCache>
                <c:formatCode>General</c:formatCode>
                <c:ptCount val="12"/>
                <c:pt idx="0">
                  <c:v>10.0</c:v>
                </c:pt>
                <c:pt idx="1">
                  <c:v>-2.0</c:v>
                </c:pt>
                <c:pt idx="2">
                  <c:v>-15.0</c:v>
                </c:pt>
                <c:pt idx="3">
                  <c:v>-7.0</c:v>
                </c:pt>
                <c:pt idx="4">
                  <c:v>7.0</c:v>
                </c:pt>
                <c:pt idx="5">
                  <c:v>-0.0</c:v>
                </c:pt>
                <c:pt idx="6">
                  <c:v>-8.0</c:v>
                </c:pt>
                <c:pt idx="7">
                  <c:v>6.0</c:v>
                </c:pt>
                <c:pt idx="8">
                  <c:v>9.0</c:v>
                </c:pt>
                <c:pt idx="9">
                  <c:v>27.0</c:v>
                </c:pt>
                <c:pt idx="10">
                  <c:v>16.0</c:v>
                </c:pt>
                <c:pt idx="11">
                  <c:v>4.0</c:v>
                </c:pt>
              </c:numCache>
            </c:numRef>
          </c:val>
        </c:ser>
        <c:gapWidth val="50"/>
        <c:overlap val="0"/>
        <c:axId val="50010"/>
        <c:axId val="50020"/>
      </c:barChart>
      <c:catAx>
        <c:axId val="50010"/>
        <c:scaling>
          <c:orientation val="minMax"/>
        </c:scaling>
        <c:delete val="0"/>
        <c:axPos val="b"/>
        <c:numFmt formatCode="General" sourceLinked="0"/>
        <c:majorTickMark val="none"/>
        <c:minorTickMark val="none"/>
        <c:tickLblPos val="low"/>
        <c:spPr>
          <a:ln w="9525">
            <a:solidFill>
              <a:srgbClr val="B7C0C5"/>
            </a:solidFill>
          </a:ln>
        </c:spPr>
        <c:txPr>
          <a:bodyPr/>
          <a:lstStyle/>
          <a:p>
            <a:pPr>
              <a:defRPr sz="800" b="0">
                <a:solidFill>
                  <a:srgbClr val="5B6770"/>
                </a:solidFill>
                <a:latin typeface="Arial"/>
                <a:cs typeface="Arial"/>
              </a:defRPr>
            </a:pPr>
            <a:endParaRPr lang="fr-FR"/>
          </a:p>
        </c:txPr>
        <c:crossAx val="50020"/>
        <c:crosses val="autoZero"/>
        <c:auto val="1"/>
        <c:lblAlgn val="ctr"/>
        <c:lblOffset val="100"/>
        <c:noMultiLvlLbl val="0"/>
      </c:catAx>
      <c:valAx>
        <c:axId val="50020"/>
        <c:scaling>
          <c:orientation val="minMax"/>
          <c:max val="80"/>
          <c:min val="-80"/>
        </c:scaling>
        <c:delete val="0"/>
        <c:axPos val="l"/>
        <c:majorGridlines>
          <c:spPr>
            <a:ln w="6350">
              <a:solidFill>
                <a:srgbClr val="E3E8EB"/>
              </a:solidFill>
            </a:ln>
          </c:spPr>
        </c:majorGridlines>
        <c:numFmt formatCode="0" sourceLinked="0"/>
        <c:majorTickMark val="none"/>
        <c:minorTickMark val="none"/>
        <c:tickLblPos val="low"/>
        <c:spPr>
          <a:ln w="6350">
            <a:solidFill>
              <a:srgbClr val="FFFFFF"/>
            </a:solidFill>
          </a:ln>
        </c:spPr>
        <c:txPr>
          <a:bodyPr/>
          <a:lstStyle/>
          <a:p>
            <a:pPr>
              <a:defRPr sz="800" b="0">
                <a:solidFill>
                  <a:srgbClr val="5B6770"/>
                </a:solidFill>
                <a:latin typeface="Arial"/>
                <a:cs typeface="Arial"/>
              </a:defRPr>
            </a:pPr>
            <a:endParaRPr lang="fr-FR"/>
          </a:p>
        </c:txPr>
        <c:crossAx val="50010"/>
        <c:crosses val="autoZero"/>
        <c:crossBetween val="between"/>
        <c:majorUnit val="20"/>
      </c:valAx>
    </c:plotArea>
    <c:legend>
      <c:legendPos val="b"/>
      <c:overlay val="0"/>
      <c:txPr>
        <a:bodyPr/>
        <a:lstStyle/>
        <a:p>
          <a:pPr>
            <a:defRPr sz="800" b="0">
              <a:solidFill>
                <a:srgbClr val="1F2A30"/>
              </a:solidFill>
              <a:latin typeface="Arial"/>
              <a:cs typeface="Arial"/>
            </a:defRPr>
          </a:pPr>
          <a:endParaRPr lang="fr-FR"/>
        </a:p>
      </c:txPr>
    </c:legend>
    <c:plotVisOnly val="1"/>
    <c:dispBlanksAs val="gap"/>
  </c:chart>
  <c:spPr>
    <a:noFill/>
    <a:ln>
      <a:noFill/>
    </a:ln>
  </c:spPr>
  <c:txPr>
    <a:bodyPr/>
    <a:lstStyle/>
    <a:p>
      <a:pPr>
        <a:defRPr sz="1000" b="0">
          <a:solidFill>
            <a:srgbClr val="5B6770"/>
          </a:solidFill>
          <a:latin typeface="Arial"/>
          <a:cs typeface="Arial"/>
        </a:defRPr>
      </a:pPr>
      <a:endParaRPr lang="fr-FR"/>
    </a:p>
  </c:txPr>
</c:chartSpace>
</file>

<file path=ppt/charts/chart5.xml><?xml version="1.0" encoding="utf-8"?>
<c:chartSpace xmlns:c="http://schemas.openxmlformats.org/drawingml/2006/chart" xmlns:a="http://schemas.openxmlformats.org/drawingml/2006/main" xmlns:r="http://schemas.openxmlformats.org/officeDocument/2006/relationships">
  <c:roundedCorners val="0"/>
  <c:chart>
    <c:autoTitleDeleted val="1"/>
    <c:plotArea>
      <c:layout/>
      <c:barChart>
        <c:barDir val="col"/>
        <c:grouping val="clustered"/>
        <c:varyColors val="0"/>
        <c:ser>
          <c:idx val="0"/>
          <c:order val="0"/>
          <c:tx>
            <c:strRef>
              <c:f>Sheet1!$B$1</c:f>
              <c:strCache>
                <c:ptCount val="1"/>
                <c:pt idx="0">
                  <c:v>El Niño (months with ONI ≥ +0.5)</c:v>
                </c:pt>
              </c:strCache>
            </c:strRef>
          </c:tx>
          <c:spPr>
            <a:solidFill>
              <a:srgbClr val="ED7D31"/>
            </a:solidFill>
          </c:spPr>
          <c:invertIfNegative val="0"/>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0.37</c:v>
                </c:pt>
                <c:pt idx="1">
                  <c:v>0.45</c:v>
                </c:pt>
                <c:pt idx="2">
                  <c:v>0.41</c:v>
                </c:pt>
                <c:pt idx="3">
                  <c:v>0.45</c:v>
                </c:pt>
                <c:pt idx="4">
                  <c:v>0.09</c:v>
                </c:pt>
                <c:pt idx="5">
                  <c:v>0.3</c:v>
                </c:pt>
                <c:pt idx="6">
                  <c:v>0.12</c:v>
                </c:pt>
                <c:pt idx="7">
                  <c:v>0.19</c:v>
                </c:pt>
                <c:pt idx="8">
                  <c:v>0.14</c:v>
                </c:pt>
                <c:pt idx="9">
                  <c:v>0.74</c:v>
                </c:pt>
                <c:pt idx="10">
                  <c:v>0.76</c:v>
                </c:pt>
                <c:pt idx="11">
                  <c:v>0.47</c:v>
                </c:pt>
              </c:numCache>
            </c:numRef>
          </c:val>
        </c:ser>
        <c:ser>
          <c:idx val="1"/>
          <c:order val="1"/>
          <c:tx>
            <c:strRef>
              <c:f>Sheet1!$C$1</c:f>
              <c:strCache>
                <c:ptCount val="1"/>
                <c:pt idx="0">
                  <c:v>La Niña (months with ONI ≤ −0.5)</c:v>
                </c:pt>
              </c:strCache>
            </c:strRef>
          </c:tx>
          <c:spPr>
            <a:solidFill>
              <a:srgbClr val="2E75B6"/>
            </a:solidFill>
          </c:spPr>
          <c:invertIfNegative val="0"/>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General</c:formatCode>
                <c:ptCount val="12"/>
                <c:pt idx="0">
                  <c:v>-0.28</c:v>
                </c:pt>
                <c:pt idx="1">
                  <c:v>-0.22</c:v>
                </c:pt>
                <c:pt idx="2">
                  <c:v>-0.29</c:v>
                </c:pt>
                <c:pt idx="3">
                  <c:v>-0.31</c:v>
                </c:pt>
                <c:pt idx="4">
                  <c:v>-0.36</c:v>
                </c:pt>
                <c:pt idx="5">
                  <c:v>-0.34</c:v>
                </c:pt>
                <c:pt idx="6">
                  <c:v>0.07</c:v>
                </c:pt>
                <c:pt idx="7">
                  <c:v>-0.17</c:v>
                </c:pt>
                <c:pt idx="8">
                  <c:v>-0.25</c:v>
                </c:pt>
                <c:pt idx="9">
                  <c:v>-0.56</c:v>
                </c:pt>
                <c:pt idx="10">
                  <c:v>-0.46</c:v>
                </c:pt>
                <c:pt idx="11">
                  <c:v>-0.26</c:v>
                </c:pt>
              </c:numCache>
            </c:numRef>
          </c:val>
        </c:ser>
        <c:ser>
          <c:idx val="2"/>
          <c:order val="2"/>
          <c:tx>
            <c:strRef>
              <c:f>Sheet1!$D$1</c:f>
              <c:strCache>
                <c:ptCount val="1"/>
                <c:pt idx="0">
                  <c:v>Neutral (months with ONI between)</c:v>
                </c:pt>
              </c:strCache>
            </c:strRef>
          </c:tx>
          <c:spPr>
            <a:solidFill>
              <a:srgbClr val="7F7F7F"/>
            </a:solidFill>
          </c:spPr>
          <c:invertIfNegative val="0"/>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Sheet1!$D$2:$D$13</c:f>
              <c:numCache>
                <c:formatCode>General</c:formatCode>
                <c:ptCount val="12"/>
                <c:pt idx="0">
                  <c:v>-0.05</c:v>
                </c:pt>
                <c:pt idx="1">
                  <c:v>-0.17</c:v>
                </c:pt>
                <c:pt idx="2">
                  <c:v>-0.01</c:v>
                </c:pt>
                <c:pt idx="3">
                  <c:v>-0.02</c:v>
                </c:pt>
                <c:pt idx="4">
                  <c:v>0.06</c:v>
                </c:pt>
                <c:pt idx="5">
                  <c:v>0.02</c:v>
                </c:pt>
                <c:pt idx="6">
                  <c:v>-0.03</c:v>
                </c:pt>
                <c:pt idx="7">
                  <c:v>-0.02</c:v>
                </c:pt>
                <c:pt idx="8">
                  <c:v>0.04</c:v>
                </c:pt>
                <c:pt idx="9">
                  <c:v>-0.2</c:v>
                </c:pt>
                <c:pt idx="10">
                  <c:v>-0.29</c:v>
                </c:pt>
                <c:pt idx="11">
                  <c:v>-0.24</c:v>
                </c:pt>
              </c:numCache>
            </c:numRef>
          </c:val>
        </c:ser>
        <c:gapWidth val="50"/>
        <c:overlap val="0"/>
        <c:axId val="50010"/>
        <c:axId val="50020"/>
      </c:barChart>
      <c:catAx>
        <c:axId val="50010"/>
        <c:scaling>
          <c:orientation val="minMax"/>
        </c:scaling>
        <c:delete val="0"/>
        <c:axPos val="b"/>
        <c:numFmt formatCode="General" sourceLinked="0"/>
        <c:majorTickMark val="none"/>
        <c:minorTickMark val="none"/>
        <c:tickLblPos val="low"/>
        <c:spPr>
          <a:ln w="9525">
            <a:solidFill>
              <a:srgbClr val="B7C0C5"/>
            </a:solidFill>
          </a:ln>
        </c:spPr>
        <c:txPr>
          <a:bodyPr/>
          <a:lstStyle/>
          <a:p>
            <a:pPr>
              <a:defRPr sz="800" b="0">
                <a:solidFill>
                  <a:srgbClr val="5B6770"/>
                </a:solidFill>
                <a:latin typeface="Arial"/>
                <a:cs typeface="Arial"/>
              </a:defRPr>
            </a:pPr>
            <a:endParaRPr lang="fr-FR"/>
          </a:p>
        </c:txPr>
        <c:crossAx val="50020"/>
        <c:crosses val="autoZero"/>
        <c:auto val="1"/>
        <c:lblAlgn val="ctr"/>
        <c:lblOffset val="100"/>
        <c:noMultiLvlLbl val="0"/>
      </c:catAx>
      <c:valAx>
        <c:axId val="50020"/>
        <c:scaling>
          <c:orientation val="minMax"/>
          <c:max val="0.8"/>
          <c:min val="-0.8"/>
        </c:scaling>
        <c:delete val="0"/>
        <c:axPos val="l"/>
        <c:majorGridlines>
          <c:spPr>
            <a:ln w="6350">
              <a:solidFill>
                <a:srgbClr val="E3E8EB"/>
              </a:solidFill>
            </a:ln>
          </c:spPr>
        </c:majorGridlines>
        <c:numFmt formatCode="0.0" sourceLinked="0"/>
        <c:majorTickMark val="none"/>
        <c:minorTickMark val="none"/>
        <c:tickLblPos val="low"/>
        <c:spPr>
          <a:ln w="6350">
            <a:solidFill>
              <a:srgbClr val="FFFFFF"/>
            </a:solidFill>
          </a:ln>
        </c:spPr>
        <c:txPr>
          <a:bodyPr/>
          <a:lstStyle/>
          <a:p>
            <a:pPr>
              <a:defRPr sz="800" b="0">
                <a:solidFill>
                  <a:srgbClr val="5B6770"/>
                </a:solidFill>
                <a:latin typeface="Arial"/>
                <a:cs typeface="Arial"/>
              </a:defRPr>
            </a:pPr>
            <a:endParaRPr lang="fr-FR"/>
          </a:p>
        </c:txPr>
        <c:crossAx val="50010"/>
        <c:crosses val="autoZero"/>
        <c:crossBetween val="between"/>
        <c:majorUnit val="0.2"/>
      </c:valAx>
    </c:plotArea>
    <c:legend>
      <c:legendPos val="b"/>
      <c:overlay val="0"/>
      <c:txPr>
        <a:bodyPr/>
        <a:lstStyle/>
        <a:p>
          <a:pPr>
            <a:defRPr sz="800" b="0">
              <a:solidFill>
                <a:srgbClr val="1F2A30"/>
              </a:solidFill>
              <a:latin typeface="Arial"/>
              <a:cs typeface="Arial"/>
            </a:defRPr>
          </a:pPr>
          <a:endParaRPr lang="fr-FR"/>
        </a:p>
      </c:txPr>
    </c:legend>
    <c:plotVisOnly val="1"/>
    <c:dispBlanksAs val="gap"/>
  </c:chart>
  <c:spPr>
    <a:noFill/>
    <a:ln>
      <a:noFill/>
    </a:ln>
  </c:spPr>
  <c:txPr>
    <a:bodyPr/>
    <a:lstStyle/>
    <a:p>
      <a:pPr>
        <a:defRPr sz="1000" b="0">
          <a:solidFill>
            <a:srgbClr val="5B6770"/>
          </a:solidFill>
          <a:latin typeface="Arial"/>
          <a:cs typeface="Arial"/>
        </a:defRPr>
      </a:pPr>
      <a:endParaRPr lang="fr-FR"/>
    </a:p>
  </c:txPr>
</c:chartSpace>
</file>

<file path=ppt/charts/chart6.xml><?xml version="1.0" encoding="utf-8"?>
<c:chartSpace xmlns:c="http://schemas.openxmlformats.org/drawingml/2006/chart" xmlns:a="http://schemas.openxmlformats.org/drawingml/2006/main" xmlns:r="http://schemas.openxmlformats.org/officeDocument/2006/relationships">
  <c:roundedCorners val="0"/>
  <c:chart>
    <c:autoTitleDeleted val="1"/>
    <c:plotArea>
      <c:layout/>
      <c:lineChart>
        <c:grouping val="standard"/>
        <c:varyColors val="0"/>
        <c:ser>
          <c:idx val="0"/>
          <c:order val="0"/>
          <c:tx>
            <c:strRef>
              <c:f>Sheet1!$B$1</c:f>
              <c:strCache>
                <c:ptCount val="1"/>
                <c:pt idx="0">
                  <c:v>2006/07</c:v>
                </c:pt>
              </c:strCache>
            </c:strRef>
          </c:tx>
          <c:spPr>
            <a:ln w="13970" cap="rnd">
              <a:solidFill>
                <a:srgbClr val="1F77B4"/>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Sheet1!$B$2:$B$13</c:f>
              <c:numCache>
                <c:formatCode>General</c:formatCode>
                <c:ptCount val="12"/>
                <c:pt idx="0">
                  <c:v>23.85</c:v>
                </c:pt>
                <c:pt idx="1">
                  <c:v>23.2</c:v>
                </c:pt>
                <c:pt idx="2">
                  <c:v>24.16</c:v>
                </c:pt>
                <c:pt idx="3">
                  <c:v>25.89</c:v>
                </c:pt>
                <c:pt idx="4">
                  <c:v>25.84</c:v>
                </c:pt>
                <c:pt idx="5">
                  <c:v>24.72</c:v>
                </c:pt>
                <c:pt idx="6">
                  <c:v>24.13</c:v>
                </c:pt>
                <c:pt idx="7">
                  <c:v>23.94</c:v>
                </c:pt>
                <c:pt idx="8">
                  <c:v>23.87</c:v>
                </c:pt>
                <c:pt idx="9">
                  <c:v>24.51</c:v>
                </c:pt>
                <c:pt idx="10">
                  <c:v>24.57</c:v>
                </c:pt>
                <c:pt idx="11">
                  <c:v>24.23</c:v>
                </c:pt>
              </c:numCache>
            </c:numRef>
          </c:val>
          <c:smooth val="0"/>
        </c:ser>
        <c:ser>
          <c:idx val="1"/>
          <c:order val="1"/>
          <c:tx>
            <c:strRef>
              <c:f>Sheet1!$C$1</c:f>
              <c:strCache>
                <c:ptCount val="1"/>
                <c:pt idx="0">
                  <c:v>2009/10</c:v>
                </c:pt>
              </c:strCache>
            </c:strRef>
          </c:tx>
          <c:spPr>
            <a:ln w="13970" cap="rnd">
              <a:solidFill>
                <a:srgbClr val="FF7F0E"/>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Sheet1!$C$2:$C$13</c:f>
              <c:numCache>
                <c:formatCode>General</c:formatCode>
                <c:ptCount val="12"/>
                <c:pt idx="0">
                  <c:v>23.82</c:v>
                </c:pt>
                <c:pt idx="1">
                  <c:v>24.08</c:v>
                </c:pt>
                <c:pt idx="2">
                  <c:v>24.95</c:v>
                </c:pt>
                <c:pt idx="3">
                  <c:v>24.9</c:v>
                </c:pt>
                <c:pt idx="4">
                  <c:v>24.57</c:v>
                </c:pt>
                <c:pt idx="5">
                  <c:v>24.28</c:v>
                </c:pt>
                <c:pt idx="6">
                  <c:v>23.83</c:v>
                </c:pt>
                <c:pt idx="7">
                  <c:v>24.65</c:v>
                </c:pt>
                <c:pt idx="8">
                  <c:v>24.41</c:v>
                </c:pt>
                <c:pt idx="9">
                  <c:v>25.3</c:v>
                </c:pt>
                <c:pt idx="10">
                  <c:v>25.14</c:v>
                </c:pt>
                <c:pt idx="11">
                  <c:v>24.07</c:v>
                </c:pt>
              </c:numCache>
            </c:numRef>
          </c:val>
          <c:smooth val="0"/>
        </c:ser>
        <c:ser>
          <c:idx val="2"/>
          <c:order val="2"/>
          <c:tx>
            <c:strRef>
              <c:f>Sheet1!$D$1</c:f>
              <c:strCache>
                <c:ptCount val="1"/>
                <c:pt idx="0">
                  <c:v>2015/16</c:v>
                </c:pt>
              </c:strCache>
            </c:strRef>
          </c:tx>
          <c:spPr>
            <a:ln w="13970" cap="rnd">
              <a:solidFill>
                <a:srgbClr val="2CA02C"/>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Sheet1!$D$2:$D$13</c:f>
              <c:numCache>
                <c:formatCode>General</c:formatCode>
                <c:ptCount val="12"/>
                <c:pt idx="0">
                  <c:v>23.83</c:v>
                </c:pt>
                <c:pt idx="1">
                  <c:v>24.47</c:v>
                </c:pt>
                <c:pt idx="2">
                  <c:v>25.39</c:v>
                </c:pt>
                <c:pt idx="3">
                  <c:v>26.78</c:v>
                </c:pt>
                <c:pt idx="4">
                  <c:v>26.37</c:v>
                </c:pt>
                <c:pt idx="5">
                  <c:v>24.73</c:v>
                </c:pt>
                <c:pt idx="6">
                  <c:v>24.97</c:v>
                </c:pt>
                <c:pt idx="7">
                  <c:v>24.46</c:v>
                </c:pt>
                <c:pt idx="8">
                  <c:v>24.95</c:v>
                </c:pt>
                <c:pt idx="9">
                  <c:v>25.18</c:v>
                </c:pt>
                <c:pt idx="10">
                  <c:v>25.11</c:v>
                </c:pt>
                <c:pt idx="11">
                  <c:v>24.53</c:v>
                </c:pt>
              </c:numCache>
            </c:numRef>
          </c:val>
          <c:smooth val="0"/>
        </c:ser>
        <c:ser>
          <c:idx val="3"/>
          <c:order val="3"/>
          <c:tx>
            <c:strRef>
              <c:f>Sheet1!$E$1</c:f>
              <c:strCache>
                <c:ptCount val="1"/>
                <c:pt idx="0">
                  <c:v>2018/19</c:v>
                </c:pt>
              </c:strCache>
            </c:strRef>
          </c:tx>
          <c:spPr>
            <a:ln w="13970" cap="rnd">
              <a:solidFill>
                <a:srgbClr val="9467BD"/>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Sheet1!$E$2:$E$13</c:f>
              <c:numCache>
                <c:formatCode>General</c:formatCode>
                <c:ptCount val="12"/>
                <c:pt idx="0">
                  <c:v>23.85</c:v>
                </c:pt>
                <c:pt idx="1">
                  <c:v>23.97</c:v>
                </c:pt>
                <c:pt idx="2">
                  <c:v>24.4</c:v>
                </c:pt>
                <c:pt idx="3">
                  <c:v>25.19</c:v>
                </c:pt>
                <c:pt idx="4">
                  <c:v>24.69</c:v>
                </c:pt>
                <c:pt idx="5">
                  <c:v>24.34</c:v>
                </c:pt>
                <c:pt idx="6">
                  <c:v>24.39</c:v>
                </c:pt>
                <c:pt idx="7">
                  <c:v>24.52</c:v>
                </c:pt>
                <c:pt idx="8">
                  <c:v>24.64</c:v>
                </c:pt>
                <c:pt idx="9">
                  <c:v>25.1</c:v>
                </c:pt>
                <c:pt idx="10">
                  <c:v>24.97</c:v>
                </c:pt>
                <c:pt idx="11">
                  <c:v>24.49</c:v>
                </c:pt>
              </c:numCache>
            </c:numRef>
          </c:val>
          <c:smooth val="0"/>
        </c:ser>
        <c:ser>
          <c:idx val="4"/>
          <c:order val="4"/>
          <c:tx>
            <c:strRef>
              <c:f>Sheet1!$F$1</c:f>
              <c:strCache>
                <c:ptCount val="1"/>
                <c:pt idx="0">
                  <c:v>2023/24</c:v>
                </c:pt>
              </c:strCache>
            </c:strRef>
          </c:tx>
          <c:spPr>
            <a:ln w="13970" cap="rnd">
              <a:solidFill>
                <a:srgbClr val="8C564B"/>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Sheet1!$F$2:$F$13</c:f>
              <c:numCache>
                <c:formatCode>General</c:formatCode>
                <c:ptCount val="12"/>
                <c:pt idx="0">
                  <c:v>24.48</c:v>
                </c:pt>
                <c:pt idx="1">
                  <c:v>24.54</c:v>
                </c:pt>
                <c:pt idx="2">
                  <c:v>24.75</c:v>
                </c:pt>
                <c:pt idx="3">
                  <c:v>26.44</c:v>
                </c:pt>
                <c:pt idx="4">
                  <c:v>26.14</c:v>
                </c:pt>
                <c:pt idx="5">
                  <c:v>25.62</c:v>
                </c:pt>
                <c:pt idx="6">
                  <c:v>24.89</c:v>
                </c:pt>
                <c:pt idx="7">
                  <c:v>25.14</c:v>
                </c:pt>
                <c:pt idx="8">
                  <c:v>25.18</c:v>
                </c:pt>
                <c:pt idx="9">
                  <c:v>25.76</c:v>
                </c:pt>
                <c:pt idx="10">
                  <c:v>25.74</c:v>
                </c:pt>
                <c:pt idx="11">
                  <c:v>25.06</c:v>
                </c:pt>
              </c:numCache>
            </c:numRef>
          </c:val>
          <c:smooth val="0"/>
        </c:ser>
        <c:ser>
          <c:idx val="5"/>
          <c:order val="5"/>
          <c:tx>
            <c:strRef>
              <c:f>Sheet1!$G$1</c:f>
              <c:strCache>
                <c:ptCount val="1"/>
                <c:pt idx="0">
                  <c:v>2026/27</c:v>
                </c:pt>
              </c:strCache>
            </c:strRef>
          </c:tx>
          <c:spPr>
            <a:ln w="31750" cap="rnd">
              <a:solidFill>
                <a:srgbClr val="C00000"/>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Sheet1!$G$2:$G$13</c:f>
              <c:numCache>
                <c:formatCode>General</c:formatCode>
                <c:ptCount val="12"/>
                <c:pt idx="0">
                  <c:v>24.18</c:v>
                </c:pt>
                <c:pt idx="1">
                  <c:v>25.32</c:v>
                </c:pt>
              </c:numCache>
            </c:numRef>
          </c:val>
          <c:smooth val="0"/>
        </c:ser>
        <c:ser>
          <c:idx val="6"/>
          <c:order val="6"/>
          <c:tx>
            <c:strRef>
              <c:f>Sheet1!$H$1</c:f>
              <c:strCache>
                <c:ptCount val="1"/>
                <c:pt idx="0">
                  <c:v>Average</c:v>
                </c:pt>
              </c:strCache>
            </c:strRef>
          </c:tx>
          <c:spPr>
            <a:ln w="28575" cap="rnd">
              <a:solidFill>
                <a:srgbClr val="000000"/>
              </a:solidFill>
              <a:prstDash val="dash"/>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Sheet1!$H$2:$H$13</c:f>
              <c:numCache>
                <c:formatCode>General</c:formatCode>
                <c:ptCount val="12"/>
                <c:pt idx="0">
                  <c:v>23.97</c:v>
                </c:pt>
                <c:pt idx="1">
                  <c:v>24.05</c:v>
                </c:pt>
                <c:pt idx="2">
                  <c:v>24.73</c:v>
                </c:pt>
                <c:pt idx="3">
                  <c:v>25.84</c:v>
                </c:pt>
                <c:pt idx="4">
                  <c:v>25.52</c:v>
                </c:pt>
                <c:pt idx="5">
                  <c:v>24.74</c:v>
                </c:pt>
                <c:pt idx="6">
                  <c:v>24.44</c:v>
                </c:pt>
                <c:pt idx="7">
                  <c:v>24.54</c:v>
                </c:pt>
                <c:pt idx="8">
                  <c:v>24.61</c:v>
                </c:pt>
                <c:pt idx="9">
                  <c:v>25.17</c:v>
                </c:pt>
                <c:pt idx="10">
                  <c:v>25.11</c:v>
                </c:pt>
                <c:pt idx="11">
                  <c:v>24.48</c:v>
                </c:pt>
              </c:numCache>
            </c:numRef>
          </c:val>
          <c:smooth val="0"/>
        </c:ser>
        <c:marker val="1"/>
        <c:axId val="60010"/>
        <c:axId val="60020"/>
      </c:lineChart>
      <c:catAx>
        <c:axId val="60010"/>
        <c:scaling>
          <c:orientation val="minMax"/>
        </c:scaling>
        <c:delete val="0"/>
        <c:axPos val="b"/>
        <c:numFmt formatCode="General" sourceLinked="0"/>
        <c:majorTickMark val="none"/>
        <c:minorTickMark val="none"/>
        <c:tickLblPos val="low"/>
        <c:spPr>
          <a:ln w="9525">
            <a:solidFill>
              <a:srgbClr val="B7C0C5"/>
            </a:solidFill>
          </a:ln>
        </c:spPr>
        <c:txPr>
          <a:bodyPr/>
          <a:lstStyle/>
          <a:p>
            <a:pPr>
              <a:defRPr sz="800" b="0">
                <a:solidFill>
                  <a:srgbClr val="5B6770"/>
                </a:solidFill>
                <a:latin typeface="Arial"/>
                <a:cs typeface="Arial"/>
              </a:defRPr>
            </a:pPr>
            <a:endParaRPr lang="fr-FR"/>
          </a:p>
        </c:txPr>
        <c:crossAx val="60020"/>
        <c:crosses val="autoZero"/>
        <c:auto val="1"/>
        <c:lblAlgn val="ctr"/>
        <c:lblOffset val="100"/>
        <c:noMultiLvlLbl val="0"/>
      </c:catAx>
      <c:valAx>
        <c:axId val="60020"/>
        <c:scaling>
          <c:orientation val="minMax"/>
          <c:max val="27.0"/>
          <c:min val="23.0"/>
        </c:scaling>
        <c:delete val="0"/>
        <c:axPos val="l"/>
        <c:majorGridlines>
          <c:spPr>
            <a:ln w="6350">
              <a:solidFill>
                <a:srgbClr val="E3E8EB"/>
              </a:solidFill>
            </a:ln>
          </c:spPr>
        </c:majorGridlines>
        <c:numFmt formatCode="0.0" sourceLinked="0"/>
        <c:majorTickMark val="none"/>
        <c:minorTickMark val="none"/>
        <c:tickLblPos val="low"/>
        <c:spPr>
          <a:ln w="6350">
            <a:solidFill>
              <a:srgbClr val="FFFFFF"/>
            </a:solidFill>
          </a:ln>
        </c:spPr>
        <c:txPr>
          <a:bodyPr/>
          <a:lstStyle/>
          <a:p>
            <a:pPr>
              <a:defRPr sz="800" b="0">
                <a:solidFill>
                  <a:srgbClr val="5B6770"/>
                </a:solidFill>
                <a:latin typeface="Arial"/>
                <a:cs typeface="Arial"/>
              </a:defRPr>
            </a:pPr>
            <a:endParaRPr lang="fr-FR"/>
          </a:p>
        </c:txPr>
        <c:crossAx val="60010"/>
        <c:crosses val="autoZero"/>
        <c:crossBetween val="between"/>
        <c:majorUnit val="0.5"/>
      </c:valAx>
    </c:plotArea>
    <c:plotVisOnly val="1"/>
    <c:dispBlanksAs val="gap"/>
  </c:chart>
  <c:spPr>
    <a:noFill/>
    <a:ln>
      <a:noFill/>
    </a:ln>
  </c:spPr>
  <c:txPr>
    <a:bodyPr/>
    <a:lstStyle/>
    <a:p>
      <a:pPr>
        <a:defRPr sz="1000" b="0">
          <a:solidFill>
            <a:srgbClr val="5B6770"/>
          </a:solidFill>
          <a:latin typeface="Arial"/>
          <a:cs typeface="Arial"/>
        </a:defRPr>
      </a:pPr>
      <a:endParaRPr lang="fr-FR"/>
    </a:p>
  </c:txPr>
</c:chartSpace>
</file>

<file path=ppt/charts/chart7.xml><?xml version="1.0" encoding="utf-8"?>
<c:chartSpace xmlns:c="http://schemas.openxmlformats.org/drawingml/2006/chart" xmlns:a="http://schemas.openxmlformats.org/drawingml/2006/main" xmlns:r="http://schemas.openxmlformats.org/officeDocument/2006/relationships">
  <c:roundedCorners val="0"/>
  <c:chart>
    <c:autoTitleDeleted val="1"/>
    <c:plotArea>
      <c:layout/>
      <c:lineChart>
        <c:grouping val="standard"/>
        <c:varyColors val="0"/>
        <c:ser>
          <c:idx val="0"/>
          <c:order val="0"/>
          <c:tx>
            <c:strRef>
              <c:f>Sheet1!$B$1</c:f>
              <c:strCache>
                <c:ptCount val="1"/>
                <c:pt idx="0">
                  <c:v>2006/07</c:v>
                </c:pt>
              </c:strCache>
            </c:strRef>
          </c:tx>
          <c:spPr>
            <a:ln w="13970" cap="rnd">
              <a:solidFill>
                <a:srgbClr val="1F77B4"/>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Sheet1!$B$2:$B$13</c:f>
              <c:numCache>
                <c:formatCode>General</c:formatCode>
                <c:ptCount val="12"/>
                <c:pt idx="0">
                  <c:v>110.0</c:v>
                </c:pt>
                <c:pt idx="1">
                  <c:v>11.0</c:v>
                </c:pt>
                <c:pt idx="2">
                  <c:v>12.0</c:v>
                </c:pt>
                <c:pt idx="3">
                  <c:v>13.0</c:v>
                </c:pt>
                <c:pt idx="4">
                  <c:v>108.0</c:v>
                </c:pt>
                <c:pt idx="5">
                  <c:v>374.0</c:v>
                </c:pt>
                <c:pt idx="6">
                  <c:v>459.0</c:v>
                </c:pt>
                <c:pt idx="7">
                  <c:v>211.0</c:v>
                </c:pt>
                <c:pt idx="8">
                  <c:v>237.0</c:v>
                </c:pt>
                <c:pt idx="9">
                  <c:v>314.0</c:v>
                </c:pt>
                <c:pt idx="10">
                  <c:v>204.0</c:v>
                </c:pt>
                <c:pt idx="11">
                  <c:v>158.0</c:v>
                </c:pt>
              </c:numCache>
            </c:numRef>
          </c:val>
          <c:smooth val="0"/>
        </c:ser>
        <c:ser>
          <c:idx val="1"/>
          <c:order val="1"/>
          <c:tx>
            <c:strRef>
              <c:f>Sheet1!$C$1</c:f>
              <c:strCache>
                <c:ptCount val="1"/>
                <c:pt idx="0">
                  <c:v>2009/10</c:v>
                </c:pt>
              </c:strCache>
            </c:strRef>
          </c:tx>
          <c:spPr>
            <a:ln w="13970" cap="rnd">
              <a:solidFill>
                <a:srgbClr val="FF7F0E"/>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Sheet1!$C$2:$C$13</c:f>
              <c:numCache>
                <c:formatCode>General</c:formatCode>
                <c:ptCount val="12"/>
                <c:pt idx="0">
                  <c:v>85.0</c:v>
                </c:pt>
                <c:pt idx="1">
                  <c:v>81.0</c:v>
                </c:pt>
                <c:pt idx="2">
                  <c:v>122.0</c:v>
                </c:pt>
                <c:pt idx="3">
                  <c:v>205.0</c:v>
                </c:pt>
                <c:pt idx="4">
                  <c:v>261.0</c:v>
                </c:pt>
                <c:pt idx="5">
                  <c:v>352.0</c:v>
                </c:pt>
                <c:pt idx="6">
                  <c:v>209.0</c:v>
                </c:pt>
                <c:pt idx="7">
                  <c:v>337.0</c:v>
                </c:pt>
                <c:pt idx="8">
                  <c:v>363.0</c:v>
                </c:pt>
                <c:pt idx="9">
                  <c:v>235.0</c:v>
                </c:pt>
                <c:pt idx="10">
                  <c:v>213.0</c:v>
                </c:pt>
                <c:pt idx="11">
                  <c:v>201.0</c:v>
                </c:pt>
              </c:numCache>
            </c:numRef>
          </c:val>
          <c:smooth val="0"/>
        </c:ser>
        <c:ser>
          <c:idx val="2"/>
          <c:order val="2"/>
          <c:tx>
            <c:strRef>
              <c:f>Sheet1!$D$1</c:f>
              <c:strCache>
                <c:ptCount val="1"/>
                <c:pt idx="0">
                  <c:v>2015/16</c:v>
                </c:pt>
              </c:strCache>
            </c:strRef>
          </c:tx>
          <c:spPr>
            <a:ln w="13970" cap="rnd">
              <a:solidFill>
                <a:srgbClr val="2CA02C"/>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Sheet1!$D$2:$D$13</c:f>
              <c:numCache>
                <c:formatCode>General</c:formatCode>
                <c:ptCount val="12"/>
                <c:pt idx="0">
                  <c:v>56.0</c:v>
                </c:pt>
                <c:pt idx="1">
                  <c:v>68.0</c:v>
                </c:pt>
                <c:pt idx="2">
                  <c:v>38.0</c:v>
                </c:pt>
                <c:pt idx="3">
                  <c:v>5.0</c:v>
                </c:pt>
                <c:pt idx="4">
                  <c:v>212.0</c:v>
                </c:pt>
                <c:pt idx="5">
                  <c:v>380.0</c:v>
                </c:pt>
                <c:pt idx="6">
                  <c:v>295.0</c:v>
                </c:pt>
                <c:pt idx="7">
                  <c:v>354.0</c:v>
                </c:pt>
                <c:pt idx="8">
                  <c:v>398.0</c:v>
                </c:pt>
                <c:pt idx="9">
                  <c:v>257.0</c:v>
                </c:pt>
                <c:pt idx="10">
                  <c:v>220.0</c:v>
                </c:pt>
                <c:pt idx="11">
                  <c:v>122.0</c:v>
                </c:pt>
              </c:numCache>
            </c:numRef>
          </c:val>
          <c:smooth val="0"/>
        </c:ser>
        <c:ser>
          <c:idx val="3"/>
          <c:order val="3"/>
          <c:tx>
            <c:strRef>
              <c:f>Sheet1!$E$1</c:f>
              <c:strCache>
                <c:ptCount val="1"/>
                <c:pt idx="0">
                  <c:v>2018/19</c:v>
                </c:pt>
              </c:strCache>
            </c:strRef>
          </c:tx>
          <c:spPr>
            <a:ln w="13970" cap="rnd">
              <a:solidFill>
                <a:srgbClr val="9467BD"/>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Sheet1!$E$2:$E$13</c:f>
              <c:numCache>
                <c:formatCode>General</c:formatCode>
                <c:ptCount val="12"/>
                <c:pt idx="0">
                  <c:v>53.0</c:v>
                </c:pt>
                <c:pt idx="1">
                  <c:v>163.0</c:v>
                </c:pt>
                <c:pt idx="2">
                  <c:v>108.0</c:v>
                </c:pt>
                <c:pt idx="3">
                  <c:v>194.0</c:v>
                </c:pt>
                <c:pt idx="4">
                  <c:v>347.0</c:v>
                </c:pt>
                <c:pt idx="5">
                  <c:v>326.0</c:v>
                </c:pt>
                <c:pt idx="6">
                  <c:v>334.0</c:v>
                </c:pt>
                <c:pt idx="7">
                  <c:v>254.0</c:v>
                </c:pt>
                <c:pt idx="8">
                  <c:v>316.0</c:v>
                </c:pt>
                <c:pt idx="9">
                  <c:v>320.0</c:v>
                </c:pt>
                <c:pt idx="10">
                  <c:v>103.0</c:v>
                </c:pt>
                <c:pt idx="11">
                  <c:v>113.0</c:v>
                </c:pt>
              </c:numCache>
            </c:numRef>
          </c:val>
          <c:smooth val="0"/>
        </c:ser>
        <c:ser>
          <c:idx val="4"/>
          <c:order val="4"/>
          <c:tx>
            <c:strRef>
              <c:f>Sheet1!$F$1</c:f>
              <c:strCache>
                <c:ptCount val="1"/>
                <c:pt idx="0">
                  <c:v>2023/24</c:v>
                </c:pt>
              </c:strCache>
            </c:strRef>
          </c:tx>
          <c:spPr>
            <a:ln w="13970" cap="rnd">
              <a:solidFill>
                <a:srgbClr val="8C564B"/>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Sheet1!$F$2:$F$13</c:f>
              <c:numCache>
                <c:formatCode>General</c:formatCode>
                <c:ptCount val="12"/>
                <c:pt idx="0">
                  <c:v>217.0</c:v>
                </c:pt>
                <c:pt idx="1">
                  <c:v>57.0</c:v>
                </c:pt>
                <c:pt idx="2">
                  <c:v>9.0</c:v>
                </c:pt>
                <c:pt idx="3">
                  <c:v>41.0</c:v>
                </c:pt>
                <c:pt idx="4">
                  <c:v>152.0</c:v>
                </c:pt>
                <c:pt idx="5">
                  <c:v>193.0</c:v>
                </c:pt>
                <c:pt idx="6">
                  <c:v>296.0</c:v>
                </c:pt>
                <c:pt idx="7">
                  <c:v>368.0</c:v>
                </c:pt>
                <c:pt idx="8">
                  <c:v>581.0</c:v>
                </c:pt>
                <c:pt idx="9">
                  <c:v>356.0</c:v>
                </c:pt>
                <c:pt idx="10">
                  <c:v>292.0</c:v>
                </c:pt>
                <c:pt idx="11">
                  <c:v>206.0</c:v>
                </c:pt>
              </c:numCache>
            </c:numRef>
          </c:val>
          <c:smooth val="0"/>
        </c:ser>
        <c:ser>
          <c:idx val="5"/>
          <c:order val="5"/>
          <c:tx>
            <c:strRef>
              <c:f>Sheet1!$G$1</c:f>
              <c:strCache>
                <c:ptCount val="1"/>
                <c:pt idx="0">
                  <c:v>2026/27</c:v>
                </c:pt>
              </c:strCache>
            </c:strRef>
          </c:tx>
          <c:spPr>
            <a:ln w="31750" cap="rnd">
              <a:solidFill>
                <a:srgbClr val="C00000"/>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Sheet1!$G$2:$G$13</c:f>
              <c:numCache>
                <c:formatCode>General</c:formatCode>
                <c:ptCount val="12"/>
                <c:pt idx="0">
                  <c:v>66.0</c:v>
                </c:pt>
                <c:pt idx="1">
                  <c:v>57.0</c:v>
                </c:pt>
              </c:numCache>
            </c:numRef>
          </c:val>
          <c:smooth val="0"/>
        </c:ser>
        <c:ser>
          <c:idx val="6"/>
          <c:order val="6"/>
          <c:tx>
            <c:strRef>
              <c:f>Sheet1!$H$1</c:f>
              <c:strCache>
                <c:ptCount val="1"/>
                <c:pt idx="0">
                  <c:v>Average</c:v>
                </c:pt>
              </c:strCache>
            </c:strRef>
          </c:tx>
          <c:spPr>
            <a:ln w="28575" cap="rnd">
              <a:solidFill>
                <a:srgbClr val="000000"/>
              </a:solidFill>
              <a:prstDash val="dash"/>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Sheet1!$H$2:$H$13</c:f>
              <c:numCache>
                <c:formatCode>General</c:formatCode>
                <c:ptCount val="12"/>
                <c:pt idx="0">
                  <c:v>104.0</c:v>
                </c:pt>
                <c:pt idx="1">
                  <c:v>76.0</c:v>
                </c:pt>
                <c:pt idx="2">
                  <c:v>58.0</c:v>
                </c:pt>
                <c:pt idx="3">
                  <c:v>92.0</c:v>
                </c:pt>
                <c:pt idx="4">
                  <c:v>216.0</c:v>
                </c:pt>
                <c:pt idx="5">
                  <c:v>325.0</c:v>
                </c:pt>
                <c:pt idx="6">
                  <c:v>319.0</c:v>
                </c:pt>
                <c:pt idx="7">
                  <c:v>305.0</c:v>
                </c:pt>
                <c:pt idx="8">
                  <c:v>379.0</c:v>
                </c:pt>
                <c:pt idx="9">
                  <c:v>296.0</c:v>
                </c:pt>
                <c:pt idx="10">
                  <c:v>206.0</c:v>
                </c:pt>
                <c:pt idx="11">
                  <c:v>160.0</c:v>
                </c:pt>
              </c:numCache>
            </c:numRef>
          </c:val>
          <c:smooth val="0"/>
        </c:ser>
        <c:marker val="1"/>
        <c:axId val="60010"/>
        <c:axId val="60020"/>
      </c:lineChart>
      <c:catAx>
        <c:axId val="60010"/>
        <c:scaling>
          <c:orientation val="minMax"/>
        </c:scaling>
        <c:delete val="0"/>
        <c:axPos val="b"/>
        <c:numFmt formatCode="General" sourceLinked="0"/>
        <c:majorTickMark val="none"/>
        <c:minorTickMark val="none"/>
        <c:tickLblPos val="low"/>
        <c:spPr>
          <a:ln w="9525">
            <a:solidFill>
              <a:srgbClr val="B7C0C5"/>
            </a:solidFill>
          </a:ln>
        </c:spPr>
        <c:txPr>
          <a:bodyPr/>
          <a:lstStyle/>
          <a:p>
            <a:pPr>
              <a:defRPr sz="800" b="0">
                <a:solidFill>
                  <a:srgbClr val="5B6770"/>
                </a:solidFill>
                <a:latin typeface="Arial"/>
                <a:cs typeface="Arial"/>
              </a:defRPr>
            </a:pPr>
            <a:endParaRPr lang="fr-FR"/>
          </a:p>
        </c:txPr>
        <c:crossAx val="60020"/>
        <c:crosses val="autoZero"/>
        <c:auto val="1"/>
        <c:lblAlgn val="ctr"/>
        <c:lblOffset val="100"/>
        <c:noMultiLvlLbl val="0"/>
      </c:catAx>
      <c:valAx>
        <c:axId val="60020"/>
        <c:scaling>
          <c:orientation val="minMax"/>
          <c:max val="600"/>
          <c:min val="0"/>
        </c:scaling>
        <c:delete val="0"/>
        <c:axPos val="l"/>
        <c:majorGridlines>
          <c:spPr>
            <a:ln w="6350">
              <a:solidFill>
                <a:srgbClr val="E3E8EB"/>
              </a:solidFill>
            </a:ln>
          </c:spPr>
        </c:majorGridlines>
        <c:numFmt formatCode="0" sourceLinked="0"/>
        <c:majorTickMark val="none"/>
        <c:minorTickMark val="none"/>
        <c:tickLblPos val="low"/>
        <c:spPr>
          <a:ln w="6350">
            <a:solidFill>
              <a:srgbClr val="FFFFFF"/>
            </a:solidFill>
          </a:ln>
        </c:spPr>
        <c:txPr>
          <a:bodyPr/>
          <a:lstStyle/>
          <a:p>
            <a:pPr>
              <a:defRPr sz="800" b="0">
                <a:solidFill>
                  <a:srgbClr val="5B6770"/>
                </a:solidFill>
                <a:latin typeface="Arial"/>
                <a:cs typeface="Arial"/>
              </a:defRPr>
            </a:pPr>
            <a:endParaRPr lang="fr-FR"/>
          </a:p>
        </c:txPr>
        <c:crossAx val="60010"/>
        <c:crosses val="autoZero"/>
        <c:crossBetween val="between"/>
        <c:majorUnit val="100"/>
      </c:valAx>
    </c:plotArea>
    <c:legend>
      <c:legendPos val="b"/>
      <c:overlay val="0"/>
      <c:txPr>
        <a:bodyPr/>
        <a:lstStyle/>
        <a:p>
          <a:pPr>
            <a:defRPr sz="700" b="0">
              <a:solidFill>
                <a:srgbClr val="1F2A30"/>
              </a:solidFill>
              <a:latin typeface="Arial"/>
              <a:cs typeface="Arial"/>
            </a:defRPr>
          </a:pPr>
          <a:endParaRPr lang="fr-FR"/>
        </a:p>
      </c:txPr>
    </c:legend>
    <c:plotVisOnly val="1"/>
    <c:dispBlanksAs val="gap"/>
  </c:chart>
  <c:spPr>
    <a:noFill/>
    <a:ln>
      <a:noFill/>
    </a:ln>
  </c:spPr>
  <c:txPr>
    <a:bodyPr/>
    <a:lstStyle/>
    <a:p>
      <a:pPr>
        <a:defRPr sz="1000" b="0">
          <a:solidFill>
            <a:srgbClr val="5B6770"/>
          </a:solidFill>
          <a:latin typeface="Arial"/>
          <a:cs typeface="Arial"/>
        </a:defRPr>
      </a:pPr>
      <a:endParaRPr lang="fr-FR"/>
    </a:p>
  </c:txPr>
</c:chartSpace>
</file>

<file path=ppt/charts/chart8.xml><?xml version="1.0" encoding="utf-8"?>
<c:chartSpace xmlns:c="http://schemas.openxmlformats.org/drawingml/2006/chart" xmlns:a="http://schemas.openxmlformats.org/drawingml/2006/main" xmlns:r="http://schemas.openxmlformats.org/officeDocument/2006/relationships">
  <c:roundedCorners val="0"/>
  <c:chart>
    <c:autoTitleDeleted val="1"/>
    <c:plotArea>
      <c:layout/>
      <c:lineChart>
        <c:grouping val="standard"/>
        <c:varyColors val="0"/>
        <c:ser>
          <c:idx val="0"/>
          <c:order val="0"/>
          <c:tx>
            <c:strRef>
              <c:f>Sheet1!$B$1</c:f>
              <c:strCache>
                <c:ptCount val="1"/>
                <c:pt idx="0">
                  <c:v>2007/08</c:v>
                </c:pt>
              </c:strCache>
            </c:strRef>
          </c:tx>
          <c:spPr>
            <a:ln w="13970" cap="rnd">
              <a:solidFill>
                <a:srgbClr val="1F77B4"/>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Sheet1!$B$2:$B$13</c:f>
              <c:numCache>
                <c:formatCode>General</c:formatCode>
                <c:ptCount val="12"/>
                <c:pt idx="0">
                  <c:v>23.74</c:v>
                </c:pt>
                <c:pt idx="1">
                  <c:v>23.53</c:v>
                </c:pt>
                <c:pt idx="2">
                  <c:v>24.2</c:v>
                </c:pt>
                <c:pt idx="3">
                  <c:v>24.99</c:v>
                </c:pt>
                <c:pt idx="4">
                  <c:v>24.59</c:v>
                </c:pt>
                <c:pt idx="5">
                  <c:v>24.01</c:v>
                </c:pt>
                <c:pt idx="6">
                  <c:v>24.1</c:v>
                </c:pt>
                <c:pt idx="7">
                  <c:v>23.36</c:v>
                </c:pt>
                <c:pt idx="8">
                  <c:v>23.87</c:v>
                </c:pt>
                <c:pt idx="9">
                  <c:v>24.24</c:v>
                </c:pt>
                <c:pt idx="10">
                  <c:v>24.06</c:v>
                </c:pt>
                <c:pt idx="11">
                  <c:v>23.74</c:v>
                </c:pt>
              </c:numCache>
            </c:numRef>
          </c:val>
          <c:smooth val="0"/>
        </c:ser>
        <c:ser>
          <c:idx val="1"/>
          <c:order val="1"/>
          <c:tx>
            <c:strRef>
              <c:f>Sheet1!$C$1</c:f>
              <c:strCache>
                <c:ptCount val="1"/>
                <c:pt idx="0">
                  <c:v>2010/11</c:v>
                </c:pt>
              </c:strCache>
            </c:strRef>
          </c:tx>
          <c:spPr>
            <a:ln w="13970" cap="rnd">
              <a:solidFill>
                <a:srgbClr val="FF7F0E"/>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Sheet1!$C$2:$C$13</c:f>
              <c:numCache>
                <c:formatCode>General</c:formatCode>
                <c:ptCount val="12"/>
                <c:pt idx="0">
                  <c:v>23.91</c:v>
                </c:pt>
                <c:pt idx="1">
                  <c:v>23.95</c:v>
                </c:pt>
                <c:pt idx="2">
                  <c:v>24.34</c:v>
                </c:pt>
                <c:pt idx="3">
                  <c:v>24.0</c:v>
                </c:pt>
                <c:pt idx="4">
                  <c:v>23.94</c:v>
                </c:pt>
                <c:pt idx="5">
                  <c:v>23.05</c:v>
                </c:pt>
                <c:pt idx="6">
                  <c:v>23.3</c:v>
                </c:pt>
                <c:pt idx="7">
                  <c:v>23.72</c:v>
                </c:pt>
                <c:pt idx="8">
                  <c:v>23.57</c:v>
                </c:pt>
                <c:pt idx="9">
                  <c:v>24.16</c:v>
                </c:pt>
                <c:pt idx="10">
                  <c:v>24.49</c:v>
                </c:pt>
                <c:pt idx="11">
                  <c:v>24.21</c:v>
                </c:pt>
              </c:numCache>
            </c:numRef>
          </c:val>
          <c:smooth val="0"/>
        </c:ser>
        <c:ser>
          <c:idx val="2"/>
          <c:order val="2"/>
          <c:tx>
            <c:strRef>
              <c:f>Sheet1!$D$1</c:f>
              <c:strCache>
                <c:ptCount val="1"/>
                <c:pt idx="0">
                  <c:v>2011/12</c:v>
                </c:pt>
              </c:strCache>
            </c:strRef>
          </c:tx>
          <c:spPr>
            <a:ln w="13970" cap="rnd">
              <a:solidFill>
                <a:srgbClr val="2CA02C"/>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Sheet1!$D$2:$D$13</c:f>
              <c:numCache>
                <c:formatCode>General</c:formatCode>
                <c:ptCount val="12"/>
                <c:pt idx="0">
                  <c:v>23.84</c:v>
                </c:pt>
                <c:pt idx="1">
                  <c:v>23.89</c:v>
                </c:pt>
                <c:pt idx="2">
                  <c:v>24.8</c:v>
                </c:pt>
                <c:pt idx="3">
                  <c:v>24.79</c:v>
                </c:pt>
                <c:pt idx="4">
                  <c:v>24.45</c:v>
                </c:pt>
                <c:pt idx="5">
                  <c:v>24.16</c:v>
                </c:pt>
                <c:pt idx="6">
                  <c:v>23.67</c:v>
                </c:pt>
                <c:pt idx="7">
                  <c:v>24.05</c:v>
                </c:pt>
                <c:pt idx="8">
                  <c:v>23.81</c:v>
                </c:pt>
                <c:pt idx="9">
                  <c:v>24.23</c:v>
                </c:pt>
                <c:pt idx="10">
                  <c:v>24.52</c:v>
                </c:pt>
                <c:pt idx="11">
                  <c:v>24.13</c:v>
                </c:pt>
              </c:numCache>
            </c:numRef>
          </c:val>
          <c:smooth val="0"/>
        </c:ser>
        <c:ser>
          <c:idx val="3"/>
          <c:order val="3"/>
          <c:tx>
            <c:strRef>
              <c:f>Sheet1!$E$1</c:f>
              <c:strCache>
                <c:ptCount val="1"/>
                <c:pt idx="0">
                  <c:v>2020/21</c:v>
                </c:pt>
              </c:strCache>
            </c:strRef>
          </c:tx>
          <c:spPr>
            <a:ln w="13970" cap="rnd">
              <a:solidFill>
                <a:srgbClr val="9467BD"/>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Sheet1!$E$2:$E$13</c:f>
              <c:numCache>
                <c:formatCode>General</c:formatCode>
                <c:ptCount val="12"/>
                <c:pt idx="0">
                  <c:v>23.91</c:v>
                </c:pt>
                <c:pt idx="1">
                  <c:v>24.18</c:v>
                </c:pt>
                <c:pt idx="2">
                  <c:v>24.4</c:v>
                </c:pt>
                <c:pt idx="3">
                  <c:v>24.45</c:v>
                </c:pt>
                <c:pt idx="4">
                  <c:v>24.48</c:v>
                </c:pt>
                <c:pt idx="5">
                  <c:v>23.86</c:v>
                </c:pt>
                <c:pt idx="6">
                  <c:v>23.73</c:v>
                </c:pt>
                <c:pt idx="7">
                  <c:v>24.05</c:v>
                </c:pt>
                <c:pt idx="8">
                  <c:v>24.1</c:v>
                </c:pt>
                <c:pt idx="9">
                  <c:v>24.41</c:v>
                </c:pt>
                <c:pt idx="10">
                  <c:v>24.97</c:v>
                </c:pt>
                <c:pt idx="11">
                  <c:v>24.37</c:v>
                </c:pt>
              </c:numCache>
            </c:numRef>
          </c:val>
          <c:smooth val="0"/>
        </c:ser>
        <c:ser>
          <c:idx val="4"/>
          <c:order val="4"/>
          <c:tx>
            <c:strRef>
              <c:f>Sheet1!$F$1</c:f>
              <c:strCache>
                <c:ptCount val="1"/>
                <c:pt idx="0">
                  <c:v>2021/22</c:v>
                </c:pt>
              </c:strCache>
            </c:strRef>
          </c:tx>
          <c:spPr>
            <a:ln w="13970" cap="rnd">
              <a:solidFill>
                <a:srgbClr val="8C564B"/>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Sheet1!$F$2:$F$13</c:f>
              <c:numCache>
                <c:formatCode>General</c:formatCode>
                <c:ptCount val="12"/>
                <c:pt idx="0">
                  <c:v>23.91</c:v>
                </c:pt>
                <c:pt idx="1">
                  <c:v>24.05</c:v>
                </c:pt>
                <c:pt idx="2">
                  <c:v>24.4</c:v>
                </c:pt>
                <c:pt idx="3">
                  <c:v>24.88</c:v>
                </c:pt>
                <c:pt idx="4">
                  <c:v>24.23</c:v>
                </c:pt>
                <c:pt idx="5">
                  <c:v>24.27</c:v>
                </c:pt>
                <c:pt idx="6">
                  <c:v>24.25</c:v>
                </c:pt>
                <c:pt idx="7">
                  <c:v>23.97</c:v>
                </c:pt>
                <c:pt idx="8">
                  <c:v>24.53</c:v>
                </c:pt>
                <c:pt idx="9">
                  <c:v>24.69</c:v>
                </c:pt>
                <c:pt idx="10">
                  <c:v>24.95</c:v>
                </c:pt>
                <c:pt idx="11">
                  <c:v>24.03</c:v>
                </c:pt>
              </c:numCache>
            </c:numRef>
          </c:val>
          <c:smooth val="0"/>
        </c:ser>
        <c:ser>
          <c:idx val="5"/>
          <c:order val="5"/>
          <c:tx>
            <c:strRef>
              <c:f>Sheet1!$G$1</c:f>
              <c:strCache>
                <c:ptCount val="1"/>
                <c:pt idx="0">
                  <c:v>2022/23</c:v>
                </c:pt>
              </c:strCache>
            </c:strRef>
          </c:tx>
          <c:spPr>
            <a:ln w="13970" cap="rnd">
              <a:solidFill>
                <a:srgbClr val="E377C2"/>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Sheet1!$G$2:$G$13</c:f>
              <c:numCache>
                <c:formatCode>General</c:formatCode>
                <c:ptCount val="12"/>
                <c:pt idx="0">
                  <c:v>24.12</c:v>
                </c:pt>
                <c:pt idx="1">
                  <c:v>24.28</c:v>
                </c:pt>
                <c:pt idx="2">
                  <c:v>24.17</c:v>
                </c:pt>
                <c:pt idx="3">
                  <c:v>24.23</c:v>
                </c:pt>
                <c:pt idx="4">
                  <c:v>24.32</c:v>
                </c:pt>
                <c:pt idx="5">
                  <c:v>23.97</c:v>
                </c:pt>
                <c:pt idx="6">
                  <c:v>23.79</c:v>
                </c:pt>
                <c:pt idx="7">
                  <c:v>23.8</c:v>
                </c:pt>
                <c:pt idx="8">
                  <c:v>24.25</c:v>
                </c:pt>
                <c:pt idx="9">
                  <c:v>24.92</c:v>
                </c:pt>
                <c:pt idx="10">
                  <c:v>25.21</c:v>
                </c:pt>
                <c:pt idx="11">
                  <c:v>24.77</c:v>
                </c:pt>
              </c:numCache>
            </c:numRef>
          </c:val>
          <c:smooth val="0"/>
        </c:ser>
        <c:ser>
          <c:idx val="6"/>
          <c:order val="6"/>
          <c:tx>
            <c:strRef>
              <c:f>Sheet1!$H$1</c:f>
              <c:strCache>
                <c:ptCount val="1"/>
                <c:pt idx="0">
                  <c:v>Average</c:v>
                </c:pt>
              </c:strCache>
            </c:strRef>
          </c:tx>
          <c:spPr>
            <a:ln w="28575" cap="rnd">
              <a:solidFill>
                <a:srgbClr val="000000"/>
              </a:solidFill>
              <a:prstDash val="dash"/>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Sheet1!$H$2:$H$13</c:f>
              <c:numCache>
                <c:formatCode>General</c:formatCode>
                <c:ptCount val="12"/>
                <c:pt idx="0">
                  <c:v>23.91</c:v>
                </c:pt>
                <c:pt idx="1">
                  <c:v>23.98</c:v>
                </c:pt>
                <c:pt idx="2">
                  <c:v>24.38</c:v>
                </c:pt>
                <c:pt idx="3">
                  <c:v>24.56</c:v>
                </c:pt>
                <c:pt idx="4">
                  <c:v>24.34</c:v>
                </c:pt>
                <c:pt idx="5">
                  <c:v>23.89</c:v>
                </c:pt>
                <c:pt idx="6">
                  <c:v>23.81</c:v>
                </c:pt>
                <c:pt idx="7">
                  <c:v>23.82</c:v>
                </c:pt>
                <c:pt idx="8">
                  <c:v>24.02</c:v>
                </c:pt>
                <c:pt idx="9">
                  <c:v>24.44</c:v>
                </c:pt>
                <c:pt idx="10">
                  <c:v>24.7</c:v>
                </c:pt>
                <c:pt idx="11">
                  <c:v>24.21</c:v>
                </c:pt>
              </c:numCache>
            </c:numRef>
          </c:val>
          <c:smooth val="0"/>
        </c:ser>
        <c:marker val="1"/>
        <c:axId val="60010"/>
        <c:axId val="60020"/>
      </c:lineChart>
      <c:catAx>
        <c:axId val="60010"/>
        <c:scaling>
          <c:orientation val="minMax"/>
        </c:scaling>
        <c:delete val="0"/>
        <c:axPos val="b"/>
        <c:numFmt formatCode="General" sourceLinked="0"/>
        <c:majorTickMark val="none"/>
        <c:minorTickMark val="none"/>
        <c:tickLblPos val="low"/>
        <c:spPr>
          <a:ln w="9525">
            <a:solidFill>
              <a:srgbClr val="B7C0C5"/>
            </a:solidFill>
          </a:ln>
        </c:spPr>
        <c:txPr>
          <a:bodyPr/>
          <a:lstStyle/>
          <a:p>
            <a:pPr>
              <a:defRPr sz="800" b="0">
                <a:solidFill>
                  <a:srgbClr val="5B6770"/>
                </a:solidFill>
                <a:latin typeface="Arial"/>
                <a:cs typeface="Arial"/>
              </a:defRPr>
            </a:pPr>
            <a:endParaRPr lang="fr-FR"/>
          </a:p>
        </c:txPr>
        <c:crossAx val="60020"/>
        <c:crosses val="autoZero"/>
        <c:auto val="1"/>
        <c:lblAlgn val="ctr"/>
        <c:lblOffset val="100"/>
        <c:noMultiLvlLbl val="0"/>
      </c:catAx>
      <c:valAx>
        <c:axId val="60020"/>
        <c:scaling>
          <c:orientation val="minMax"/>
          <c:max val="27.0"/>
          <c:min val="23.0"/>
        </c:scaling>
        <c:delete val="0"/>
        <c:axPos val="l"/>
        <c:majorGridlines>
          <c:spPr>
            <a:ln w="6350">
              <a:solidFill>
                <a:srgbClr val="E3E8EB"/>
              </a:solidFill>
            </a:ln>
          </c:spPr>
        </c:majorGridlines>
        <c:numFmt formatCode="0.0" sourceLinked="0"/>
        <c:majorTickMark val="none"/>
        <c:minorTickMark val="none"/>
        <c:tickLblPos val="low"/>
        <c:spPr>
          <a:ln w="6350">
            <a:solidFill>
              <a:srgbClr val="FFFFFF"/>
            </a:solidFill>
          </a:ln>
        </c:spPr>
        <c:txPr>
          <a:bodyPr/>
          <a:lstStyle/>
          <a:p>
            <a:pPr>
              <a:defRPr sz="800" b="0">
                <a:solidFill>
                  <a:srgbClr val="5B6770"/>
                </a:solidFill>
                <a:latin typeface="Arial"/>
                <a:cs typeface="Arial"/>
              </a:defRPr>
            </a:pPr>
            <a:endParaRPr lang="fr-FR"/>
          </a:p>
        </c:txPr>
        <c:crossAx val="60010"/>
        <c:crosses val="autoZero"/>
        <c:crossBetween val="between"/>
        <c:majorUnit val="0.5"/>
      </c:valAx>
    </c:plotArea>
    <c:plotVisOnly val="1"/>
    <c:dispBlanksAs val="gap"/>
  </c:chart>
  <c:spPr>
    <a:noFill/>
    <a:ln>
      <a:noFill/>
    </a:ln>
  </c:spPr>
  <c:txPr>
    <a:bodyPr/>
    <a:lstStyle/>
    <a:p>
      <a:pPr>
        <a:defRPr sz="1000" b="0">
          <a:solidFill>
            <a:srgbClr val="5B6770"/>
          </a:solidFill>
          <a:latin typeface="Arial"/>
          <a:cs typeface="Arial"/>
        </a:defRPr>
      </a:pPr>
      <a:endParaRPr lang="fr-FR"/>
    </a:p>
  </c:txPr>
</c:chartSpace>
</file>

<file path=ppt/charts/chart9.xml><?xml version="1.0" encoding="utf-8"?>
<c:chartSpace xmlns:c="http://schemas.openxmlformats.org/drawingml/2006/chart" xmlns:a="http://schemas.openxmlformats.org/drawingml/2006/main" xmlns:r="http://schemas.openxmlformats.org/officeDocument/2006/relationships">
  <c:roundedCorners val="0"/>
  <c:chart>
    <c:autoTitleDeleted val="1"/>
    <c:plotArea>
      <c:layout/>
      <c:lineChart>
        <c:grouping val="standard"/>
        <c:varyColors val="0"/>
        <c:ser>
          <c:idx val="0"/>
          <c:order val="0"/>
          <c:tx>
            <c:strRef>
              <c:f>Sheet1!$B$1</c:f>
              <c:strCache>
                <c:ptCount val="1"/>
                <c:pt idx="0">
                  <c:v>2007/08</c:v>
                </c:pt>
              </c:strCache>
            </c:strRef>
          </c:tx>
          <c:spPr>
            <a:ln w="13970" cap="rnd">
              <a:solidFill>
                <a:srgbClr val="1F77B4"/>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Sheet1!$B$2:$B$13</c:f>
              <c:numCache>
                <c:formatCode>General</c:formatCode>
                <c:ptCount val="12"/>
                <c:pt idx="0">
                  <c:v>140.0</c:v>
                </c:pt>
                <c:pt idx="1">
                  <c:v>29.0</c:v>
                </c:pt>
                <c:pt idx="2">
                  <c:v>105.0</c:v>
                </c:pt>
                <c:pt idx="3">
                  <c:v>138.0</c:v>
                </c:pt>
                <c:pt idx="4">
                  <c:v>218.0</c:v>
                </c:pt>
                <c:pt idx="5">
                  <c:v>362.0</c:v>
                </c:pt>
                <c:pt idx="6">
                  <c:v>180.0</c:v>
                </c:pt>
                <c:pt idx="7">
                  <c:v>162.0</c:v>
                </c:pt>
                <c:pt idx="8">
                  <c:v>320.0</c:v>
                </c:pt>
                <c:pt idx="9">
                  <c:v>277.0</c:v>
                </c:pt>
                <c:pt idx="10">
                  <c:v>54.0</c:v>
                </c:pt>
                <c:pt idx="11">
                  <c:v>59.0</c:v>
                </c:pt>
              </c:numCache>
            </c:numRef>
          </c:val>
          <c:smooth val="0"/>
        </c:ser>
        <c:ser>
          <c:idx val="1"/>
          <c:order val="1"/>
          <c:tx>
            <c:strRef>
              <c:f>Sheet1!$C$1</c:f>
              <c:strCache>
                <c:ptCount val="1"/>
                <c:pt idx="0">
                  <c:v>2010/11</c:v>
                </c:pt>
              </c:strCache>
            </c:strRef>
          </c:tx>
          <c:spPr>
            <a:ln w="13970" cap="rnd">
              <a:solidFill>
                <a:srgbClr val="FF7F0E"/>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Sheet1!$C$2:$C$13</c:f>
              <c:numCache>
                <c:formatCode>General</c:formatCode>
                <c:ptCount val="12"/>
                <c:pt idx="0">
                  <c:v>240.0</c:v>
                </c:pt>
                <c:pt idx="1">
                  <c:v>200.0</c:v>
                </c:pt>
                <c:pt idx="2">
                  <c:v>361.0</c:v>
                </c:pt>
                <c:pt idx="3">
                  <c:v>384.0</c:v>
                </c:pt>
                <c:pt idx="4">
                  <c:v>372.0</c:v>
                </c:pt>
                <c:pt idx="5">
                  <c:v>286.0</c:v>
                </c:pt>
                <c:pt idx="6">
                  <c:v>310.0</c:v>
                </c:pt>
                <c:pt idx="7">
                  <c:v>140.0</c:v>
                </c:pt>
                <c:pt idx="8">
                  <c:v>243.0</c:v>
                </c:pt>
                <c:pt idx="9">
                  <c:v>319.0</c:v>
                </c:pt>
                <c:pt idx="10">
                  <c:v>152.0</c:v>
                </c:pt>
                <c:pt idx="11">
                  <c:v>218.0</c:v>
                </c:pt>
              </c:numCache>
            </c:numRef>
          </c:val>
          <c:smooth val="0"/>
        </c:ser>
        <c:ser>
          <c:idx val="2"/>
          <c:order val="2"/>
          <c:tx>
            <c:strRef>
              <c:f>Sheet1!$D$1</c:f>
              <c:strCache>
                <c:ptCount val="1"/>
                <c:pt idx="0">
                  <c:v>2011/12</c:v>
                </c:pt>
              </c:strCache>
            </c:strRef>
          </c:tx>
          <c:spPr>
            <a:ln w="13970" cap="rnd">
              <a:solidFill>
                <a:srgbClr val="2CA02C"/>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Sheet1!$D$2:$D$13</c:f>
              <c:numCache>
                <c:formatCode>General</c:formatCode>
                <c:ptCount val="12"/>
                <c:pt idx="0">
                  <c:v>94.0</c:v>
                </c:pt>
                <c:pt idx="1">
                  <c:v>59.0</c:v>
                </c:pt>
                <c:pt idx="2">
                  <c:v>21.0</c:v>
                </c:pt>
                <c:pt idx="3">
                  <c:v>164.0</c:v>
                </c:pt>
                <c:pt idx="4">
                  <c:v>235.0</c:v>
                </c:pt>
                <c:pt idx="5">
                  <c:v>243.0</c:v>
                </c:pt>
                <c:pt idx="6">
                  <c:v>249.0</c:v>
                </c:pt>
                <c:pt idx="7">
                  <c:v>216.0</c:v>
                </c:pt>
                <c:pt idx="8">
                  <c:v>161.0</c:v>
                </c:pt>
                <c:pt idx="9">
                  <c:v>306.0</c:v>
                </c:pt>
                <c:pt idx="10">
                  <c:v>198.0</c:v>
                </c:pt>
                <c:pt idx="11">
                  <c:v>90.0</c:v>
                </c:pt>
              </c:numCache>
            </c:numRef>
          </c:val>
          <c:smooth val="0"/>
        </c:ser>
        <c:ser>
          <c:idx val="3"/>
          <c:order val="3"/>
          <c:tx>
            <c:strRef>
              <c:f>Sheet1!$E$1</c:f>
              <c:strCache>
                <c:ptCount val="1"/>
                <c:pt idx="0">
                  <c:v>2020/21</c:v>
                </c:pt>
              </c:strCache>
            </c:strRef>
          </c:tx>
          <c:spPr>
            <a:ln w="13970" cap="rnd">
              <a:solidFill>
                <a:srgbClr val="9467BD"/>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Sheet1!$E$2:$E$13</c:f>
              <c:numCache>
                <c:formatCode>General</c:formatCode>
                <c:ptCount val="12"/>
                <c:pt idx="0">
                  <c:v>141.0</c:v>
                </c:pt>
                <c:pt idx="1">
                  <c:v>119.0</c:v>
                </c:pt>
                <c:pt idx="2">
                  <c:v>196.0</c:v>
                </c:pt>
                <c:pt idx="3">
                  <c:v>338.0</c:v>
                </c:pt>
                <c:pt idx="4">
                  <c:v>333.0</c:v>
                </c:pt>
                <c:pt idx="5">
                  <c:v>354.0</c:v>
                </c:pt>
                <c:pt idx="6">
                  <c:v>374.0</c:v>
                </c:pt>
                <c:pt idx="7">
                  <c:v>267.0</c:v>
                </c:pt>
                <c:pt idx="8">
                  <c:v>216.0</c:v>
                </c:pt>
                <c:pt idx="9">
                  <c:v>442.0</c:v>
                </c:pt>
                <c:pt idx="10">
                  <c:v>256.0</c:v>
                </c:pt>
                <c:pt idx="11">
                  <c:v>146.0</c:v>
                </c:pt>
              </c:numCache>
            </c:numRef>
          </c:val>
          <c:smooth val="0"/>
        </c:ser>
        <c:ser>
          <c:idx val="4"/>
          <c:order val="4"/>
          <c:tx>
            <c:strRef>
              <c:f>Sheet1!$F$1</c:f>
              <c:strCache>
                <c:ptCount val="1"/>
                <c:pt idx="0">
                  <c:v>2021/22</c:v>
                </c:pt>
              </c:strCache>
            </c:strRef>
          </c:tx>
          <c:spPr>
            <a:ln w="13970" cap="rnd">
              <a:solidFill>
                <a:srgbClr val="8C564B"/>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Sheet1!$F$2:$F$13</c:f>
              <c:numCache>
                <c:formatCode>General</c:formatCode>
                <c:ptCount val="12"/>
                <c:pt idx="0">
                  <c:v>116.0</c:v>
                </c:pt>
                <c:pt idx="1">
                  <c:v>187.0</c:v>
                </c:pt>
                <c:pt idx="2">
                  <c:v>248.0</c:v>
                </c:pt>
                <c:pt idx="3">
                  <c:v>276.0</c:v>
                </c:pt>
                <c:pt idx="4">
                  <c:v>307.0</c:v>
                </c:pt>
                <c:pt idx="5">
                  <c:v>291.0</c:v>
                </c:pt>
                <c:pt idx="6">
                  <c:v>293.0</c:v>
                </c:pt>
                <c:pt idx="7">
                  <c:v>210.0</c:v>
                </c:pt>
                <c:pt idx="8">
                  <c:v>172.0</c:v>
                </c:pt>
                <c:pt idx="9">
                  <c:v>270.0</c:v>
                </c:pt>
                <c:pt idx="10">
                  <c:v>253.0</c:v>
                </c:pt>
                <c:pt idx="11">
                  <c:v>307.0</c:v>
                </c:pt>
              </c:numCache>
            </c:numRef>
          </c:val>
          <c:smooth val="0"/>
        </c:ser>
        <c:ser>
          <c:idx val="5"/>
          <c:order val="5"/>
          <c:tx>
            <c:strRef>
              <c:f>Sheet1!$G$1</c:f>
              <c:strCache>
                <c:ptCount val="1"/>
                <c:pt idx="0">
                  <c:v>2022/23</c:v>
                </c:pt>
              </c:strCache>
            </c:strRef>
          </c:tx>
          <c:spPr>
            <a:ln w="13970" cap="rnd">
              <a:solidFill>
                <a:srgbClr val="E377C2"/>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Sheet1!$G$2:$G$13</c:f>
              <c:numCache>
                <c:formatCode>General</c:formatCode>
                <c:ptCount val="12"/>
                <c:pt idx="0">
                  <c:v>195.0</c:v>
                </c:pt>
                <c:pt idx="1">
                  <c:v>309.0</c:v>
                </c:pt>
                <c:pt idx="2">
                  <c:v>230.0</c:v>
                </c:pt>
                <c:pt idx="3">
                  <c:v>374.0</c:v>
                </c:pt>
                <c:pt idx="4">
                  <c:v>296.0</c:v>
                </c:pt>
                <c:pt idx="5">
                  <c:v>314.0</c:v>
                </c:pt>
                <c:pt idx="6">
                  <c:v>318.0</c:v>
                </c:pt>
                <c:pt idx="7">
                  <c:v>183.0</c:v>
                </c:pt>
                <c:pt idx="8">
                  <c:v>346.0</c:v>
                </c:pt>
                <c:pt idx="9">
                  <c:v>241.0</c:v>
                </c:pt>
                <c:pt idx="10">
                  <c:v>160.0</c:v>
                </c:pt>
                <c:pt idx="11">
                  <c:v>122.0</c:v>
                </c:pt>
              </c:numCache>
            </c:numRef>
          </c:val>
          <c:smooth val="0"/>
        </c:ser>
        <c:ser>
          <c:idx val="6"/>
          <c:order val="6"/>
          <c:tx>
            <c:strRef>
              <c:f>Sheet1!$H$1</c:f>
              <c:strCache>
                <c:ptCount val="1"/>
                <c:pt idx="0">
                  <c:v>Average</c:v>
                </c:pt>
              </c:strCache>
            </c:strRef>
          </c:tx>
          <c:spPr>
            <a:ln w="28575" cap="rnd">
              <a:solidFill>
                <a:srgbClr val="000000"/>
              </a:solidFill>
              <a:prstDash val="dash"/>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Sheet1!$H$2:$H$13</c:f>
              <c:numCache>
                <c:formatCode>General</c:formatCode>
                <c:ptCount val="12"/>
                <c:pt idx="0">
                  <c:v>154.0</c:v>
                </c:pt>
                <c:pt idx="1">
                  <c:v>150.0</c:v>
                </c:pt>
                <c:pt idx="2">
                  <c:v>194.0</c:v>
                </c:pt>
                <c:pt idx="3">
                  <c:v>279.0</c:v>
                </c:pt>
                <c:pt idx="4">
                  <c:v>294.0</c:v>
                </c:pt>
                <c:pt idx="5">
                  <c:v>308.0</c:v>
                </c:pt>
                <c:pt idx="6">
                  <c:v>287.0</c:v>
                </c:pt>
                <c:pt idx="7">
                  <c:v>196.0</c:v>
                </c:pt>
                <c:pt idx="8">
                  <c:v>243.0</c:v>
                </c:pt>
                <c:pt idx="9">
                  <c:v>309.0</c:v>
                </c:pt>
                <c:pt idx="10">
                  <c:v>179.0</c:v>
                </c:pt>
                <c:pt idx="11">
                  <c:v>157.0</c:v>
                </c:pt>
              </c:numCache>
            </c:numRef>
          </c:val>
          <c:smooth val="0"/>
        </c:ser>
        <c:marker val="1"/>
        <c:axId val="60010"/>
        <c:axId val="60020"/>
      </c:lineChart>
      <c:catAx>
        <c:axId val="60010"/>
        <c:scaling>
          <c:orientation val="minMax"/>
        </c:scaling>
        <c:delete val="0"/>
        <c:axPos val="b"/>
        <c:numFmt formatCode="General" sourceLinked="0"/>
        <c:majorTickMark val="none"/>
        <c:minorTickMark val="none"/>
        <c:tickLblPos val="low"/>
        <c:spPr>
          <a:ln w="9525">
            <a:solidFill>
              <a:srgbClr val="B7C0C5"/>
            </a:solidFill>
          </a:ln>
        </c:spPr>
        <c:txPr>
          <a:bodyPr/>
          <a:lstStyle/>
          <a:p>
            <a:pPr>
              <a:defRPr sz="800" b="0">
                <a:solidFill>
                  <a:srgbClr val="5B6770"/>
                </a:solidFill>
                <a:latin typeface="Arial"/>
                <a:cs typeface="Arial"/>
              </a:defRPr>
            </a:pPr>
            <a:endParaRPr lang="fr-FR"/>
          </a:p>
        </c:txPr>
        <c:crossAx val="60020"/>
        <c:crosses val="autoZero"/>
        <c:auto val="1"/>
        <c:lblAlgn val="ctr"/>
        <c:lblOffset val="100"/>
        <c:noMultiLvlLbl val="0"/>
      </c:catAx>
      <c:valAx>
        <c:axId val="60020"/>
        <c:scaling>
          <c:orientation val="minMax"/>
          <c:max val="600"/>
          <c:min val="0"/>
        </c:scaling>
        <c:delete val="0"/>
        <c:axPos val="l"/>
        <c:majorGridlines>
          <c:spPr>
            <a:ln w="6350">
              <a:solidFill>
                <a:srgbClr val="E3E8EB"/>
              </a:solidFill>
            </a:ln>
          </c:spPr>
        </c:majorGridlines>
        <c:numFmt formatCode="0" sourceLinked="0"/>
        <c:majorTickMark val="none"/>
        <c:minorTickMark val="none"/>
        <c:tickLblPos val="low"/>
        <c:spPr>
          <a:ln w="6350">
            <a:solidFill>
              <a:srgbClr val="FFFFFF"/>
            </a:solidFill>
          </a:ln>
        </c:spPr>
        <c:txPr>
          <a:bodyPr/>
          <a:lstStyle/>
          <a:p>
            <a:pPr>
              <a:defRPr sz="800" b="0">
                <a:solidFill>
                  <a:srgbClr val="5B6770"/>
                </a:solidFill>
                <a:latin typeface="Arial"/>
                <a:cs typeface="Arial"/>
              </a:defRPr>
            </a:pPr>
            <a:endParaRPr lang="fr-FR"/>
          </a:p>
        </c:txPr>
        <c:crossAx val="60010"/>
        <c:crosses val="autoZero"/>
        <c:crossBetween val="between"/>
        <c:majorUnit val="100"/>
      </c:valAx>
    </c:plotArea>
    <c:legend>
      <c:legendPos val="b"/>
      <c:overlay val="0"/>
      <c:txPr>
        <a:bodyPr/>
        <a:lstStyle/>
        <a:p>
          <a:pPr>
            <a:defRPr sz="700" b="0">
              <a:solidFill>
                <a:srgbClr val="1F2A30"/>
              </a:solidFill>
              <a:latin typeface="Arial"/>
              <a:cs typeface="Arial"/>
            </a:defRPr>
          </a:pPr>
          <a:endParaRPr lang="fr-FR"/>
        </a:p>
      </c:txPr>
    </c:legend>
    <c:plotVisOnly val="1"/>
    <c:dispBlanksAs val="gap"/>
  </c:chart>
  <c:spPr>
    <a:noFill/>
    <a:ln>
      <a:noFill/>
    </a:ln>
  </c:spPr>
  <c:txPr>
    <a:bodyPr/>
    <a:lstStyle/>
    <a:p>
      <a:pPr>
        <a:defRPr sz="1000" b="0">
          <a:solidFill>
            <a:srgbClr val="5B6770"/>
          </a:solidFill>
          <a:latin typeface="Arial"/>
          <a:cs typeface="Arial"/>
        </a:defRPr>
      </a:pPr>
      <a:endParaRPr lang="fr-FR"/>
    </a:p>
  </c:txPr>
</c:chartSpace>
</file>

<file path=ppt/charts/chart10.xml><?xml version="1.0" encoding="utf-8"?>
<c:chartSpace xmlns:c="http://schemas.openxmlformats.org/drawingml/2006/chart" xmlns:a="http://schemas.openxmlformats.org/drawingml/2006/main" xmlns:r="http://schemas.openxmlformats.org/officeDocument/2006/relationships">
  <c:roundedCorners val="0"/>
  <c:chart>
    <c:autoTitleDeleted val="1"/>
    <c:plotArea>
      <c:layout/>
      <c:lineChart>
        <c:grouping val="standard"/>
        <c:varyColors val="0"/>
        <c:ser>
          <c:idx val="0"/>
          <c:order val="0"/>
          <c:tx>
            <c:strRef>
              <c:f>Sheet1!$B$1</c:f>
              <c:strCache>
                <c:ptCount val="1"/>
                <c:pt idx="0">
                  <c:v>2008/09</c:v>
                </c:pt>
              </c:strCache>
            </c:strRef>
          </c:tx>
          <c:spPr>
            <a:ln w="13970" cap="rnd">
              <a:solidFill>
                <a:srgbClr val="1F77B4"/>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Sheet1!$B$2:$B$13</c:f>
              <c:numCache>
                <c:formatCode>General</c:formatCode>
                <c:ptCount val="12"/>
                <c:pt idx="0">
                  <c:v>23.52</c:v>
                </c:pt>
                <c:pt idx="1">
                  <c:v>23.97</c:v>
                </c:pt>
                <c:pt idx="2">
                  <c:v>24.33</c:v>
                </c:pt>
                <c:pt idx="3">
                  <c:v>24.57</c:v>
                </c:pt>
                <c:pt idx="4">
                  <c:v>24.34</c:v>
                </c:pt>
                <c:pt idx="5">
                  <c:v>23.6</c:v>
                </c:pt>
                <c:pt idx="6">
                  <c:v>23.5</c:v>
                </c:pt>
                <c:pt idx="7">
                  <c:v>23.54</c:v>
                </c:pt>
                <c:pt idx="8">
                  <c:v>24.17</c:v>
                </c:pt>
                <c:pt idx="9">
                  <c:v>24.64</c:v>
                </c:pt>
                <c:pt idx="10">
                  <c:v>24.49</c:v>
                </c:pt>
                <c:pt idx="11">
                  <c:v>24.14</c:v>
                </c:pt>
              </c:numCache>
            </c:numRef>
          </c:val>
          <c:smooth val="0"/>
        </c:ser>
        <c:ser>
          <c:idx val="1"/>
          <c:order val="1"/>
          <c:tx>
            <c:strRef>
              <c:f>Sheet1!$C$1</c:f>
              <c:strCache>
                <c:ptCount val="1"/>
                <c:pt idx="0">
                  <c:v>2012/13</c:v>
                </c:pt>
              </c:strCache>
            </c:strRef>
          </c:tx>
          <c:spPr>
            <a:ln w="13970" cap="rnd">
              <a:solidFill>
                <a:srgbClr val="FF7F0E"/>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Sheet1!$C$2:$C$13</c:f>
              <c:numCache>
                <c:formatCode>General</c:formatCode>
                <c:ptCount val="12"/>
                <c:pt idx="0">
                  <c:v>23.69</c:v>
                </c:pt>
                <c:pt idx="1">
                  <c:v>24.11</c:v>
                </c:pt>
                <c:pt idx="2">
                  <c:v>25.01</c:v>
                </c:pt>
                <c:pt idx="3">
                  <c:v>25.13</c:v>
                </c:pt>
                <c:pt idx="4">
                  <c:v>24.68</c:v>
                </c:pt>
                <c:pt idx="5">
                  <c:v>24.15</c:v>
                </c:pt>
                <c:pt idx="6">
                  <c:v>23.71</c:v>
                </c:pt>
                <c:pt idx="7">
                  <c:v>23.78</c:v>
                </c:pt>
                <c:pt idx="8">
                  <c:v>24.68</c:v>
                </c:pt>
                <c:pt idx="9">
                  <c:v>24.56</c:v>
                </c:pt>
                <c:pt idx="10">
                  <c:v>24.69</c:v>
                </c:pt>
                <c:pt idx="11">
                  <c:v>24.26</c:v>
                </c:pt>
              </c:numCache>
            </c:numRef>
          </c:val>
          <c:smooth val="0"/>
        </c:ser>
        <c:ser>
          <c:idx val="2"/>
          <c:order val="2"/>
          <c:tx>
            <c:strRef>
              <c:f>Sheet1!$D$1</c:f>
              <c:strCache>
                <c:ptCount val="1"/>
                <c:pt idx="0">
                  <c:v>2013/14</c:v>
                </c:pt>
              </c:strCache>
            </c:strRef>
          </c:tx>
          <c:spPr>
            <a:ln w="13970" cap="rnd">
              <a:solidFill>
                <a:srgbClr val="2CA02C"/>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Sheet1!$D$2:$D$13</c:f>
              <c:numCache>
                <c:formatCode>General</c:formatCode>
                <c:ptCount val="12"/>
                <c:pt idx="0">
                  <c:v>23.51</c:v>
                </c:pt>
                <c:pt idx="1">
                  <c:v>23.66</c:v>
                </c:pt>
                <c:pt idx="2">
                  <c:v>24.13</c:v>
                </c:pt>
                <c:pt idx="3">
                  <c:v>24.53</c:v>
                </c:pt>
                <c:pt idx="4">
                  <c:v>24.15</c:v>
                </c:pt>
                <c:pt idx="5">
                  <c:v>23.81</c:v>
                </c:pt>
                <c:pt idx="6">
                  <c:v>23.46</c:v>
                </c:pt>
                <c:pt idx="7">
                  <c:v>23.9</c:v>
                </c:pt>
                <c:pt idx="8">
                  <c:v>24.46</c:v>
                </c:pt>
                <c:pt idx="9">
                  <c:v>24.53</c:v>
                </c:pt>
                <c:pt idx="10">
                  <c:v>24.88</c:v>
                </c:pt>
                <c:pt idx="11">
                  <c:v>24.56</c:v>
                </c:pt>
              </c:numCache>
            </c:numRef>
          </c:val>
          <c:smooth val="0"/>
        </c:ser>
        <c:ser>
          <c:idx val="3"/>
          <c:order val="3"/>
          <c:tx>
            <c:strRef>
              <c:f>Sheet1!$E$1</c:f>
              <c:strCache>
                <c:ptCount val="1"/>
                <c:pt idx="0">
                  <c:v>2014/15</c:v>
                </c:pt>
              </c:strCache>
            </c:strRef>
          </c:tx>
          <c:spPr>
            <a:ln w="13970" cap="rnd">
              <a:solidFill>
                <a:srgbClr val="9467BD"/>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Sheet1!$E$2:$E$13</c:f>
              <c:numCache>
                <c:formatCode>General</c:formatCode>
                <c:ptCount val="12"/>
                <c:pt idx="0">
                  <c:v>24.17</c:v>
                </c:pt>
                <c:pt idx="1">
                  <c:v>24.01</c:v>
                </c:pt>
                <c:pt idx="2">
                  <c:v>24.32</c:v>
                </c:pt>
                <c:pt idx="3">
                  <c:v>25.24</c:v>
                </c:pt>
                <c:pt idx="4">
                  <c:v>24.8</c:v>
                </c:pt>
                <c:pt idx="5">
                  <c:v>23.91</c:v>
                </c:pt>
                <c:pt idx="6">
                  <c:v>23.63</c:v>
                </c:pt>
                <c:pt idx="7">
                  <c:v>23.74</c:v>
                </c:pt>
                <c:pt idx="8">
                  <c:v>24.19</c:v>
                </c:pt>
                <c:pt idx="9">
                  <c:v>24.4</c:v>
                </c:pt>
                <c:pt idx="10">
                  <c:v>24.62</c:v>
                </c:pt>
                <c:pt idx="11">
                  <c:v>24.25</c:v>
                </c:pt>
              </c:numCache>
            </c:numRef>
          </c:val>
          <c:smooth val="0"/>
        </c:ser>
        <c:ser>
          <c:idx val="4"/>
          <c:order val="4"/>
          <c:tx>
            <c:strRef>
              <c:f>Sheet1!$F$1</c:f>
              <c:strCache>
                <c:ptCount val="1"/>
                <c:pt idx="0">
                  <c:v>2016/17</c:v>
                </c:pt>
              </c:strCache>
            </c:strRef>
          </c:tx>
          <c:spPr>
            <a:ln w="13970" cap="rnd">
              <a:solidFill>
                <a:srgbClr val="8C564B"/>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Sheet1!$F$2:$F$13</c:f>
              <c:numCache>
                <c:formatCode>General</c:formatCode>
                <c:ptCount val="12"/>
                <c:pt idx="0">
                  <c:v>24.34</c:v>
                </c:pt>
                <c:pt idx="1">
                  <c:v>24.37</c:v>
                </c:pt>
                <c:pt idx="2">
                  <c:v>24.38</c:v>
                </c:pt>
                <c:pt idx="3">
                  <c:v>24.15</c:v>
                </c:pt>
                <c:pt idx="4">
                  <c:v>24.25</c:v>
                </c:pt>
                <c:pt idx="5">
                  <c:v>23.86</c:v>
                </c:pt>
                <c:pt idx="6">
                  <c:v>23.91</c:v>
                </c:pt>
                <c:pt idx="7">
                  <c:v>23.74</c:v>
                </c:pt>
                <c:pt idx="8">
                  <c:v>24.2</c:v>
                </c:pt>
                <c:pt idx="9">
                  <c:v>24.49</c:v>
                </c:pt>
                <c:pt idx="10">
                  <c:v>24.87</c:v>
                </c:pt>
                <c:pt idx="11">
                  <c:v>24.28</c:v>
                </c:pt>
              </c:numCache>
            </c:numRef>
          </c:val>
          <c:smooth val="0"/>
        </c:ser>
        <c:ser>
          <c:idx val="5"/>
          <c:order val="5"/>
          <c:tx>
            <c:strRef>
              <c:f>Sheet1!$G$1</c:f>
              <c:strCache>
                <c:ptCount val="1"/>
                <c:pt idx="0">
                  <c:v>2017/18</c:v>
                </c:pt>
              </c:strCache>
            </c:strRef>
          </c:tx>
          <c:spPr>
            <a:ln w="13970" cap="rnd">
              <a:solidFill>
                <a:srgbClr val="E377C2"/>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Sheet1!$G$2:$G$13</c:f>
              <c:numCache>
                <c:formatCode>General</c:formatCode>
                <c:ptCount val="12"/>
                <c:pt idx="0">
                  <c:v>24.04</c:v>
                </c:pt>
                <c:pt idx="1">
                  <c:v>24.06</c:v>
                </c:pt>
                <c:pt idx="2">
                  <c:v>24.72</c:v>
                </c:pt>
                <c:pt idx="3">
                  <c:v>24.78</c:v>
                </c:pt>
                <c:pt idx="4">
                  <c:v>24.54</c:v>
                </c:pt>
                <c:pt idx="5">
                  <c:v>24.2</c:v>
                </c:pt>
                <c:pt idx="6">
                  <c:v>23.6</c:v>
                </c:pt>
                <c:pt idx="7">
                  <c:v>23.99</c:v>
                </c:pt>
                <c:pt idx="8">
                  <c:v>24.14</c:v>
                </c:pt>
                <c:pt idx="9">
                  <c:v>24.73</c:v>
                </c:pt>
                <c:pt idx="10">
                  <c:v>24.64</c:v>
                </c:pt>
                <c:pt idx="11">
                  <c:v>24.21</c:v>
                </c:pt>
              </c:numCache>
            </c:numRef>
          </c:val>
          <c:smooth val="0"/>
        </c:ser>
        <c:ser>
          <c:idx val="6"/>
          <c:order val="6"/>
          <c:tx>
            <c:strRef>
              <c:f>Sheet1!$H$1</c:f>
              <c:strCache>
                <c:ptCount val="1"/>
                <c:pt idx="0">
                  <c:v>2019/20</c:v>
                </c:pt>
              </c:strCache>
            </c:strRef>
          </c:tx>
          <c:spPr>
            <a:ln w="13970" cap="rnd">
              <a:solidFill>
                <a:srgbClr val="17BECF"/>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Sheet1!$H$2:$H$13</c:f>
              <c:numCache>
                <c:formatCode>General</c:formatCode>
                <c:ptCount val="12"/>
                <c:pt idx="0">
                  <c:v>23.82</c:v>
                </c:pt>
                <c:pt idx="1">
                  <c:v>24.22</c:v>
                </c:pt>
                <c:pt idx="2">
                  <c:v>25.36</c:v>
                </c:pt>
                <c:pt idx="3">
                  <c:v>26.41</c:v>
                </c:pt>
                <c:pt idx="4">
                  <c:v>26.81</c:v>
                </c:pt>
                <c:pt idx="5">
                  <c:v>25.24</c:v>
                </c:pt>
                <c:pt idx="6">
                  <c:v>24.75</c:v>
                </c:pt>
                <c:pt idx="7">
                  <c:v>24.71</c:v>
                </c:pt>
                <c:pt idx="8">
                  <c:v>24.89</c:v>
                </c:pt>
                <c:pt idx="9">
                  <c:v>25.04</c:v>
                </c:pt>
                <c:pt idx="10">
                  <c:v>25.16</c:v>
                </c:pt>
                <c:pt idx="11">
                  <c:v>24.36</c:v>
                </c:pt>
              </c:numCache>
            </c:numRef>
          </c:val>
          <c:smooth val="0"/>
        </c:ser>
        <c:ser>
          <c:idx val="7"/>
          <c:order val="7"/>
          <c:tx>
            <c:strRef>
              <c:f>Sheet1!$I$1</c:f>
              <c:strCache>
                <c:ptCount val="1"/>
                <c:pt idx="0">
                  <c:v>2024/25</c:v>
                </c:pt>
              </c:strCache>
            </c:strRef>
          </c:tx>
          <c:spPr>
            <a:ln w="13970" cap="rnd">
              <a:solidFill>
                <a:srgbClr val="BCBD22"/>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Sheet1!$I$2:$I$13</c:f>
              <c:numCache>
                <c:formatCode>General</c:formatCode>
                <c:ptCount val="12"/>
                <c:pt idx="0">
                  <c:v>24.54</c:v>
                </c:pt>
                <c:pt idx="1">
                  <c:v>24.78</c:v>
                </c:pt>
                <c:pt idx="2">
                  <c:v>25.46</c:v>
                </c:pt>
                <c:pt idx="3">
                  <c:v>25.96</c:v>
                </c:pt>
                <c:pt idx="4">
                  <c:v>25.15</c:v>
                </c:pt>
                <c:pt idx="5">
                  <c:v>24.53</c:v>
                </c:pt>
                <c:pt idx="6">
                  <c:v>24.22</c:v>
                </c:pt>
                <c:pt idx="7">
                  <c:v>24.31</c:v>
                </c:pt>
                <c:pt idx="8">
                  <c:v>24.59</c:v>
                </c:pt>
                <c:pt idx="9">
                  <c:v>24.73</c:v>
                </c:pt>
                <c:pt idx="10">
                  <c:v>25.17</c:v>
                </c:pt>
                <c:pt idx="11">
                  <c:v>24.48</c:v>
                </c:pt>
              </c:numCache>
            </c:numRef>
          </c:val>
          <c:smooth val="0"/>
        </c:ser>
        <c:ser>
          <c:idx val="8"/>
          <c:order val="8"/>
          <c:tx>
            <c:strRef>
              <c:f>Sheet1!$J$1</c:f>
              <c:strCache>
                <c:ptCount val="1"/>
                <c:pt idx="0">
                  <c:v>2025/26</c:v>
                </c:pt>
              </c:strCache>
            </c:strRef>
          </c:tx>
          <c:spPr>
            <a:ln w="13970" cap="rnd">
              <a:solidFill>
                <a:srgbClr val="7F7F7F"/>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Sheet1!$J$2:$J$13</c:f>
              <c:numCache>
                <c:formatCode>General</c:formatCode>
                <c:ptCount val="12"/>
                <c:pt idx="0">
                  <c:v>24.33</c:v>
                </c:pt>
                <c:pt idx="1">
                  <c:v>24.22</c:v>
                </c:pt>
                <c:pt idx="2">
                  <c:v>24.53</c:v>
                </c:pt>
                <c:pt idx="3">
                  <c:v>24.63</c:v>
                </c:pt>
                <c:pt idx="4">
                  <c:v>24.37</c:v>
                </c:pt>
                <c:pt idx="5">
                  <c:v>24.22</c:v>
                </c:pt>
                <c:pt idx="6">
                  <c:v>23.78</c:v>
                </c:pt>
                <c:pt idx="7">
                  <c:v>23.93</c:v>
                </c:pt>
                <c:pt idx="8">
                  <c:v>24.55</c:v>
                </c:pt>
                <c:pt idx="9">
                  <c:v>25.09</c:v>
                </c:pt>
                <c:pt idx="10">
                  <c:v>25.04</c:v>
                </c:pt>
                <c:pt idx="11">
                  <c:v>24.63</c:v>
                </c:pt>
              </c:numCache>
            </c:numRef>
          </c:val>
          <c:smooth val="0"/>
        </c:ser>
        <c:ser>
          <c:idx val="9"/>
          <c:order val="9"/>
          <c:tx>
            <c:strRef>
              <c:f>Sheet1!$K$1</c:f>
              <c:strCache>
                <c:ptCount val="1"/>
                <c:pt idx="0">
                  <c:v>Average</c:v>
                </c:pt>
              </c:strCache>
            </c:strRef>
          </c:tx>
          <c:spPr>
            <a:ln w="28575" cap="rnd">
              <a:solidFill>
                <a:srgbClr val="000000"/>
              </a:solidFill>
              <a:prstDash val="dash"/>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Sheet1!$K$2:$K$13</c:f>
              <c:numCache>
                <c:formatCode>General</c:formatCode>
                <c:ptCount val="12"/>
                <c:pt idx="0">
                  <c:v>24.0</c:v>
                </c:pt>
                <c:pt idx="1">
                  <c:v>24.16</c:v>
                </c:pt>
                <c:pt idx="2">
                  <c:v>24.69</c:v>
                </c:pt>
                <c:pt idx="3">
                  <c:v>25.04</c:v>
                </c:pt>
                <c:pt idx="4">
                  <c:v>24.79</c:v>
                </c:pt>
                <c:pt idx="5">
                  <c:v>24.17</c:v>
                </c:pt>
                <c:pt idx="6">
                  <c:v>23.84</c:v>
                </c:pt>
                <c:pt idx="7">
                  <c:v>23.96</c:v>
                </c:pt>
                <c:pt idx="8">
                  <c:v>24.43</c:v>
                </c:pt>
                <c:pt idx="9">
                  <c:v>24.69</c:v>
                </c:pt>
                <c:pt idx="10">
                  <c:v>24.84</c:v>
                </c:pt>
                <c:pt idx="11">
                  <c:v>24.35</c:v>
                </c:pt>
              </c:numCache>
            </c:numRef>
          </c:val>
          <c:smooth val="0"/>
        </c:ser>
        <c:marker val="1"/>
        <c:axId val="60010"/>
        <c:axId val="60020"/>
      </c:lineChart>
      <c:catAx>
        <c:axId val="60010"/>
        <c:scaling>
          <c:orientation val="minMax"/>
        </c:scaling>
        <c:delete val="0"/>
        <c:axPos val="b"/>
        <c:numFmt formatCode="General" sourceLinked="0"/>
        <c:majorTickMark val="none"/>
        <c:minorTickMark val="none"/>
        <c:tickLblPos val="low"/>
        <c:spPr>
          <a:ln w="9525">
            <a:solidFill>
              <a:srgbClr val="B7C0C5"/>
            </a:solidFill>
          </a:ln>
        </c:spPr>
        <c:txPr>
          <a:bodyPr/>
          <a:lstStyle/>
          <a:p>
            <a:pPr>
              <a:defRPr sz="800" b="0">
                <a:solidFill>
                  <a:srgbClr val="5B6770"/>
                </a:solidFill>
                <a:latin typeface="Arial"/>
                <a:cs typeface="Arial"/>
              </a:defRPr>
            </a:pPr>
            <a:endParaRPr lang="fr-FR"/>
          </a:p>
        </c:txPr>
        <c:crossAx val="60020"/>
        <c:crosses val="autoZero"/>
        <c:auto val="1"/>
        <c:lblAlgn val="ctr"/>
        <c:lblOffset val="100"/>
        <c:noMultiLvlLbl val="0"/>
      </c:catAx>
      <c:valAx>
        <c:axId val="60020"/>
        <c:scaling>
          <c:orientation val="minMax"/>
          <c:max val="27.0"/>
          <c:min val="23.0"/>
        </c:scaling>
        <c:delete val="0"/>
        <c:axPos val="l"/>
        <c:majorGridlines>
          <c:spPr>
            <a:ln w="6350">
              <a:solidFill>
                <a:srgbClr val="E3E8EB"/>
              </a:solidFill>
            </a:ln>
          </c:spPr>
        </c:majorGridlines>
        <c:numFmt formatCode="0.0" sourceLinked="0"/>
        <c:majorTickMark val="none"/>
        <c:minorTickMark val="none"/>
        <c:tickLblPos val="low"/>
        <c:spPr>
          <a:ln w="6350">
            <a:solidFill>
              <a:srgbClr val="FFFFFF"/>
            </a:solidFill>
          </a:ln>
        </c:spPr>
        <c:txPr>
          <a:bodyPr/>
          <a:lstStyle/>
          <a:p>
            <a:pPr>
              <a:defRPr sz="800" b="0">
                <a:solidFill>
                  <a:srgbClr val="5B6770"/>
                </a:solidFill>
                <a:latin typeface="Arial"/>
                <a:cs typeface="Arial"/>
              </a:defRPr>
            </a:pPr>
            <a:endParaRPr lang="fr-FR"/>
          </a:p>
        </c:txPr>
        <c:crossAx val="60010"/>
        <c:crosses val="autoZero"/>
        <c:crossBetween val="between"/>
        <c:majorUnit val="0.5"/>
      </c:valAx>
    </c:plotArea>
    <c:plotVisOnly val="1"/>
    <c:dispBlanksAs val="gap"/>
  </c:chart>
  <c:spPr>
    <a:noFill/>
    <a:ln>
      <a:noFill/>
    </a:ln>
  </c:spPr>
  <c:txPr>
    <a:bodyPr/>
    <a:lstStyle/>
    <a:p>
      <a:pPr>
        <a:defRPr sz="1000" b="0">
          <a:solidFill>
            <a:srgbClr val="5B6770"/>
          </a:solidFill>
          <a:latin typeface="Arial"/>
          <a:cs typeface="Arial"/>
        </a:defRPr>
      </a:pPr>
      <a:endParaRPr lang="fr-FR"/>
    </a:p>
  </c:txPr>
</c:chartSpace>
</file>

<file path=ppt/charts/chart11.xml><?xml version="1.0" encoding="utf-8"?>
<c:chartSpace xmlns:c="http://schemas.openxmlformats.org/drawingml/2006/chart" xmlns:a="http://schemas.openxmlformats.org/drawingml/2006/main" xmlns:r="http://schemas.openxmlformats.org/officeDocument/2006/relationships">
  <c:roundedCorners val="0"/>
  <c:chart>
    <c:autoTitleDeleted val="1"/>
    <c:plotArea>
      <c:layout/>
      <c:lineChart>
        <c:grouping val="standard"/>
        <c:varyColors val="0"/>
        <c:ser>
          <c:idx val="0"/>
          <c:order val="0"/>
          <c:tx>
            <c:strRef>
              <c:f>Sheet1!$B$1</c:f>
              <c:strCache>
                <c:ptCount val="1"/>
                <c:pt idx="0">
                  <c:v>2008/09</c:v>
                </c:pt>
              </c:strCache>
            </c:strRef>
          </c:tx>
          <c:spPr>
            <a:ln w="13970" cap="rnd">
              <a:solidFill>
                <a:srgbClr val="1F77B4"/>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Sheet1!$B$2:$B$13</c:f>
              <c:numCache>
                <c:formatCode>General</c:formatCode>
                <c:ptCount val="12"/>
                <c:pt idx="0">
                  <c:v>54.0</c:v>
                </c:pt>
                <c:pt idx="1">
                  <c:v>171.0</c:v>
                </c:pt>
                <c:pt idx="2">
                  <c:v>133.0</c:v>
                </c:pt>
                <c:pt idx="3">
                  <c:v>202.0</c:v>
                </c:pt>
                <c:pt idx="4">
                  <c:v>512.0</c:v>
                </c:pt>
                <c:pt idx="5">
                  <c:v>550.0</c:v>
                </c:pt>
                <c:pt idx="6">
                  <c:v>294.0</c:v>
                </c:pt>
                <c:pt idx="7">
                  <c:v>206.0</c:v>
                </c:pt>
                <c:pt idx="8">
                  <c:v>280.0</c:v>
                </c:pt>
                <c:pt idx="9">
                  <c:v>319.0</c:v>
                </c:pt>
                <c:pt idx="10">
                  <c:v>111.0</c:v>
                </c:pt>
                <c:pt idx="11">
                  <c:v>192.0</c:v>
                </c:pt>
              </c:numCache>
            </c:numRef>
          </c:val>
          <c:smooth val="0"/>
        </c:ser>
        <c:ser>
          <c:idx val="1"/>
          <c:order val="1"/>
          <c:tx>
            <c:strRef>
              <c:f>Sheet1!$C$1</c:f>
              <c:strCache>
                <c:ptCount val="1"/>
                <c:pt idx="0">
                  <c:v>2012/13</c:v>
                </c:pt>
              </c:strCache>
            </c:strRef>
          </c:tx>
          <c:spPr>
            <a:ln w="13970" cap="rnd">
              <a:solidFill>
                <a:srgbClr val="FF7F0E"/>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Sheet1!$C$2:$C$13</c:f>
              <c:numCache>
                <c:formatCode>General</c:formatCode>
                <c:ptCount val="12"/>
                <c:pt idx="0">
                  <c:v>82.0</c:v>
                </c:pt>
                <c:pt idx="1">
                  <c:v>103.0</c:v>
                </c:pt>
                <c:pt idx="2">
                  <c:v>52.0</c:v>
                </c:pt>
                <c:pt idx="3">
                  <c:v>237.0</c:v>
                </c:pt>
                <c:pt idx="4">
                  <c:v>392.0</c:v>
                </c:pt>
                <c:pt idx="5">
                  <c:v>509.0</c:v>
                </c:pt>
                <c:pt idx="6">
                  <c:v>422.0</c:v>
                </c:pt>
                <c:pt idx="7">
                  <c:v>307.0</c:v>
                </c:pt>
                <c:pt idx="8">
                  <c:v>284.0</c:v>
                </c:pt>
                <c:pt idx="9">
                  <c:v>240.0</c:v>
                </c:pt>
                <c:pt idx="10">
                  <c:v>212.0</c:v>
                </c:pt>
                <c:pt idx="11">
                  <c:v>156.0</c:v>
                </c:pt>
              </c:numCache>
            </c:numRef>
          </c:val>
          <c:smooth val="0"/>
        </c:ser>
        <c:ser>
          <c:idx val="2"/>
          <c:order val="2"/>
          <c:tx>
            <c:strRef>
              <c:f>Sheet1!$D$1</c:f>
              <c:strCache>
                <c:ptCount val="1"/>
                <c:pt idx="0">
                  <c:v>2013/14</c:v>
                </c:pt>
              </c:strCache>
            </c:strRef>
          </c:tx>
          <c:spPr>
            <a:ln w="13970" cap="rnd">
              <a:solidFill>
                <a:srgbClr val="2CA02C"/>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Sheet1!$D$2:$D$13</c:f>
              <c:numCache>
                <c:formatCode>General</c:formatCode>
                <c:ptCount val="12"/>
                <c:pt idx="0">
                  <c:v>301.0</c:v>
                </c:pt>
                <c:pt idx="1">
                  <c:v>125.0</c:v>
                </c:pt>
                <c:pt idx="2">
                  <c:v>215.0</c:v>
                </c:pt>
                <c:pt idx="3">
                  <c:v>268.0</c:v>
                </c:pt>
                <c:pt idx="4">
                  <c:v>410.0</c:v>
                </c:pt>
                <c:pt idx="5">
                  <c:v>418.0</c:v>
                </c:pt>
                <c:pt idx="6">
                  <c:v>249.0</c:v>
                </c:pt>
                <c:pt idx="7">
                  <c:v>218.0</c:v>
                </c:pt>
                <c:pt idx="8">
                  <c:v>247.0</c:v>
                </c:pt>
                <c:pt idx="9">
                  <c:v>302.0</c:v>
                </c:pt>
                <c:pt idx="10">
                  <c:v>243.0</c:v>
                </c:pt>
                <c:pt idx="11">
                  <c:v>152.0</c:v>
                </c:pt>
              </c:numCache>
            </c:numRef>
          </c:val>
          <c:smooth val="0"/>
        </c:ser>
        <c:ser>
          <c:idx val="3"/>
          <c:order val="3"/>
          <c:tx>
            <c:strRef>
              <c:f>Sheet1!$E$1</c:f>
              <c:strCache>
                <c:ptCount val="1"/>
                <c:pt idx="0">
                  <c:v>2014/15</c:v>
                </c:pt>
              </c:strCache>
            </c:strRef>
          </c:tx>
          <c:spPr>
            <a:ln w="13970" cap="rnd">
              <a:solidFill>
                <a:srgbClr val="9467BD"/>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Sheet1!$E$2:$E$13</c:f>
              <c:numCache>
                <c:formatCode>General</c:formatCode>
                <c:ptCount val="12"/>
                <c:pt idx="0">
                  <c:v>96.0</c:v>
                </c:pt>
                <c:pt idx="1">
                  <c:v>208.0</c:v>
                </c:pt>
                <c:pt idx="2">
                  <c:v>41.0</c:v>
                </c:pt>
                <c:pt idx="3">
                  <c:v>94.0</c:v>
                </c:pt>
                <c:pt idx="4">
                  <c:v>427.0</c:v>
                </c:pt>
                <c:pt idx="5">
                  <c:v>314.0</c:v>
                </c:pt>
                <c:pt idx="6">
                  <c:v>310.0</c:v>
                </c:pt>
                <c:pt idx="7">
                  <c:v>279.0</c:v>
                </c:pt>
                <c:pt idx="8">
                  <c:v>262.0</c:v>
                </c:pt>
                <c:pt idx="9">
                  <c:v>388.0</c:v>
                </c:pt>
                <c:pt idx="10">
                  <c:v>82.0</c:v>
                </c:pt>
                <c:pt idx="11">
                  <c:v>118.0</c:v>
                </c:pt>
              </c:numCache>
            </c:numRef>
          </c:val>
          <c:smooth val="0"/>
        </c:ser>
        <c:ser>
          <c:idx val="4"/>
          <c:order val="4"/>
          <c:tx>
            <c:strRef>
              <c:f>Sheet1!$F$1</c:f>
              <c:strCache>
                <c:ptCount val="1"/>
                <c:pt idx="0">
                  <c:v>2016/17</c:v>
                </c:pt>
              </c:strCache>
            </c:strRef>
          </c:tx>
          <c:spPr>
            <a:ln w="13970" cap="rnd">
              <a:solidFill>
                <a:srgbClr val="8C564B"/>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Sheet1!$F$2:$F$13</c:f>
              <c:numCache>
                <c:formatCode>General</c:formatCode>
                <c:ptCount val="12"/>
                <c:pt idx="0">
                  <c:v>121.0</c:v>
                </c:pt>
                <c:pt idx="1">
                  <c:v>264.0</c:v>
                </c:pt>
                <c:pt idx="2">
                  <c:v>191.0</c:v>
                </c:pt>
                <c:pt idx="3">
                  <c:v>218.0</c:v>
                </c:pt>
                <c:pt idx="4">
                  <c:v>430.0</c:v>
                </c:pt>
                <c:pt idx="5">
                  <c:v>239.0</c:v>
                </c:pt>
                <c:pt idx="6">
                  <c:v>278.0</c:v>
                </c:pt>
                <c:pt idx="7">
                  <c:v>395.0</c:v>
                </c:pt>
                <c:pt idx="8">
                  <c:v>241.0</c:v>
                </c:pt>
                <c:pt idx="9">
                  <c:v>273.0</c:v>
                </c:pt>
                <c:pt idx="10">
                  <c:v>251.0</c:v>
                </c:pt>
                <c:pt idx="11">
                  <c:v>112.0</c:v>
                </c:pt>
              </c:numCache>
            </c:numRef>
          </c:val>
          <c:smooth val="0"/>
        </c:ser>
        <c:ser>
          <c:idx val="5"/>
          <c:order val="5"/>
          <c:tx>
            <c:strRef>
              <c:f>Sheet1!$G$1</c:f>
              <c:strCache>
                <c:ptCount val="1"/>
                <c:pt idx="0">
                  <c:v>2017/18</c:v>
                </c:pt>
              </c:strCache>
            </c:strRef>
          </c:tx>
          <c:spPr>
            <a:ln w="13970" cap="rnd">
              <a:solidFill>
                <a:srgbClr val="E377C2"/>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Sheet1!$G$2:$G$13</c:f>
              <c:numCache>
                <c:formatCode>General</c:formatCode>
                <c:ptCount val="12"/>
                <c:pt idx="0">
                  <c:v>94.0</c:v>
                </c:pt>
                <c:pt idx="1">
                  <c:v>159.0</c:v>
                </c:pt>
                <c:pt idx="2">
                  <c:v>221.0</c:v>
                </c:pt>
                <c:pt idx="3">
                  <c:v>233.0</c:v>
                </c:pt>
                <c:pt idx="4">
                  <c:v>281.0</c:v>
                </c:pt>
                <c:pt idx="5">
                  <c:v>310.0</c:v>
                </c:pt>
                <c:pt idx="6">
                  <c:v>196.0</c:v>
                </c:pt>
                <c:pt idx="7">
                  <c:v>274.0</c:v>
                </c:pt>
                <c:pt idx="8">
                  <c:v>349.0</c:v>
                </c:pt>
                <c:pt idx="9">
                  <c:v>220.0</c:v>
                </c:pt>
                <c:pt idx="10">
                  <c:v>192.0</c:v>
                </c:pt>
                <c:pt idx="11">
                  <c:v>159.0</c:v>
                </c:pt>
              </c:numCache>
            </c:numRef>
          </c:val>
          <c:smooth val="0"/>
        </c:ser>
        <c:ser>
          <c:idx val="6"/>
          <c:order val="6"/>
          <c:tx>
            <c:strRef>
              <c:f>Sheet1!$H$1</c:f>
              <c:strCache>
                <c:ptCount val="1"/>
                <c:pt idx="0">
                  <c:v>2019/20</c:v>
                </c:pt>
              </c:strCache>
            </c:strRef>
          </c:tx>
          <c:spPr>
            <a:ln w="13970" cap="rnd">
              <a:solidFill>
                <a:srgbClr val="17BECF"/>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Sheet1!$H$2:$H$13</c:f>
              <c:numCache>
                <c:formatCode>General</c:formatCode>
                <c:ptCount val="12"/>
                <c:pt idx="0">
                  <c:v>142.0</c:v>
                </c:pt>
                <c:pt idx="1">
                  <c:v>12.0</c:v>
                </c:pt>
                <c:pt idx="2">
                  <c:v>36.0</c:v>
                </c:pt>
                <c:pt idx="3">
                  <c:v>50.0</c:v>
                </c:pt>
                <c:pt idx="4">
                  <c:v>91.0</c:v>
                </c:pt>
                <c:pt idx="5">
                  <c:v>350.0</c:v>
                </c:pt>
                <c:pt idx="6">
                  <c:v>409.0</c:v>
                </c:pt>
                <c:pt idx="7">
                  <c:v>228.0</c:v>
                </c:pt>
                <c:pt idx="8">
                  <c:v>454.0</c:v>
                </c:pt>
                <c:pt idx="9">
                  <c:v>397.0</c:v>
                </c:pt>
                <c:pt idx="10">
                  <c:v>213.0</c:v>
                </c:pt>
                <c:pt idx="11">
                  <c:v>265.0</c:v>
                </c:pt>
              </c:numCache>
            </c:numRef>
          </c:val>
          <c:smooth val="0"/>
        </c:ser>
        <c:ser>
          <c:idx val="7"/>
          <c:order val="7"/>
          <c:tx>
            <c:strRef>
              <c:f>Sheet1!$I$1</c:f>
              <c:strCache>
                <c:ptCount val="1"/>
                <c:pt idx="0">
                  <c:v>2024/25</c:v>
                </c:pt>
              </c:strCache>
            </c:strRef>
          </c:tx>
          <c:spPr>
            <a:ln w="13970" cap="rnd">
              <a:solidFill>
                <a:srgbClr val="BCBD22"/>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Sheet1!$I$2:$I$13</c:f>
              <c:numCache>
                <c:formatCode>General</c:formatCode>
                <c:ptCount val="12"/>
                <c:pt idx="0">
                  <c:v>121.0</c:v>
                </c:pt>
                <c:pt idx="1">
                  <c:v>28.0</c:v>
                </c:pt>
                <c:pt idx="2">
                  <c:v>114.0</c:v>
                </c:pt>
                <c:pt idx="3">
                  <c:v>113.0</c:v>
                </c:pt>
                <c:pt idx="4">
                  <c:v>303.0</c:v>
                </c:pt>
                <c:pt idx="5">
                  <c:v>371.0</c:v>
                </c:pt>
                <c:pt idx="6">
                  <c:v>363.0</c:v>
                </c:pt>
                <c:pt idx="7">
                  <c:v>285.0</c:v>
                </c:pt>
                <c:pt idx="8">
                  <c:v>348.0</c:v>
                </c:pt>
                <c:pt idx="9">
                  <c:v>246.0</c:v>
                </c:pt>
                <c:pt idx="10">
                  <c:v>151.0</c:v>
                </c:pt>
                <c:pt idx="11">
                  <c:v>154.0</c:v>
                </c:pt>
              </c:numCache>
            </c:numRef>
          </c:val>
          <c:smooth val="0"/>
        </c:ser>
        <c:ser>
          <c:idx val="8"/>
          <c:order val="8"/>
          <c:tx>
            <c:strRef>
              <c:f>Sheet1!$J$1</c:f>
              <c:strCache>
                <c:ptCount val="1"/>
                <c:pt idx="0">
                  <c:v>2025/26</c:v>
                </c:pt>
              </c:strCache>
            </c:strRef>
          </c:tx>
          <c:spPr>
            <a:ln w="13970" cap="rnd">
              <a:solidFill>
                <a:srgbClr val="7F7F7F"/>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Sheet1!$J$2:$J$13</c:f>
              <c:numCache>
                <c:formatCode>General</c:formatCode>
                <c:ptCount val="12"/>
                <c:pt idx="0">
                  <c:v>126.0</c:v>
                </c:pt>
                <c:pt idx="1">
                  <c:v>281.0</c:v>
                </c:pt>
                <c:pt idx="2">
                  <c:v>320.0</c:v>
                </c:pt>
                <c:pt idx="3">
                  <c:v>280.0</c:v>
                </c:pt>
                <c:pt idx="4">
                  <c:v>381.0</c:v>
                </c:pt>
                <c:pt idx="5">
                  <c:v>417.0</c:v>
                </c:pt>
                <c:pt idx="6">
                  <c:v>284.0</c:v>
                </c:pt>
                <c:pt idx="7">
                  <c:v>268.0</c:v>
                </c:pt>
                <c:pt idx="8">
                  <c:v>228.0</c:v>
                </c:pt>
                <c:pt idx="9">
                  <c:v>332.0</c:v>
                </c:pt>
                <c:pt idx="10">
                  <c:v>241.0</c:v>
                </c:pt>
                <c:pt idx="11">
                  <c:v>99.0</c:v>
                </c:pt>
              </c:numCache>
            </c:numRef>
          </c:val>
          <c:smooth val="0"/>
        </c:ser>
        <c:ser>
          <c:idx val="9"/>
          <c:order val="9"/>
          <c:tx>
            <c:strRef>
              <c:f>Sheet1!$K$1</c:f>
              <c:strCache>
                <c:ptCount val="1"/>
                <c:pt idx="0">
                  <c:v>Average</c:v>
                </c:pt>
              </c:strCache>
            </c:strRef>
          </c:tx>
          <c:spPr>
            <a:ln w="28575" cap="rnd">
              <a:solidFill>
                <a:srgbClr val="000000"/>
              </a:solidFill>
              <a:prstDash val="dash"/>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Sheet1!$K$2:$K$13</c:f>
              <c:numCache>
                <c:formatCode>General</c:formatCode>
                <c:ptCount val="12"/>
                <c:pt idx="0">
                  <c:v>126.0</c:v>
                </c:pt>
                <c:pt idx="1">
                  <c:v>150.0</c:v>
                </c:pt>
                <c:pt idx="2">
                  <c:v>147.0</c:v>
                </c:pt>
                <c:pt idx="3">
                  <c:v>188.0</c:v>
                </c:pt>
                <c:pt idx="4">
                  <c:v>359.0</c:v>
                </c:pt>
                <c:pt idx="5">
                  <c:v>386.0</c:v>
                </c:pt>
                <c:pt idx="6">
                  <c:v>312.0</c:v>
                </c:pt>
                <c:pt idx="7">
                  <c:v>273.0</c:v>
                </c:pt>
                <c:pt idx="8">
                  <c:v>299.0</c:v>
                </c:pt>
                <c:pt idx="9">
                  <c:v>302.0</c:v>
                </c:pt>
                <c:pt idx="10">
                  <c:v>188.0</c:v>
                </c:pt>
                <c:pt idx="11">
                  <c:v>156.0</c:v>
                </c:pt>
              </c:numCache>
            </c:numRef>
          </c:val>
          <c:smooth val="0"/>
        </c:ser>
        <c:marker val="1"/>
        <c:axId val="60010"/>
        <c:axId val="60020"/>
      </c:lineChart>
      <c:catAx>
        <c:axId val="60010"/>
        <c:scaling>
          <c:orientation val="minMax"/>
        </c:scaling>
        <c:delete val="0"/>
        <c:axPos val="b"/>
        <c:numFmt formatCode="General" sourceLinked="0"/>
        <c:majorTickMark val="none"/>
        <c:minorTickMark val="none"/>
        <c:tickLblPos val="low"/>
        <c:spPr>
          <a:ln w="9525">
            <a:solidFill>
              <a:srgbClr val="B7C0C5"/>
            </a:solidFill>
          </a:ln>
        </c:spPr>
        <c:txPr>
          <a:bodyPr/>
          <a:lstStyle/>
          <a:p>
            <a:pPr>
              <a:defRPr sz="800" b="0">
                <a:solidFill>
                  <a:srgbClr val="5B6770"/>
                </a:solidFill>
                <a:latin typeface="Arial"/>
                <a:cs typeface="Arial"/>
              </a:defRPr>
            </a:pPr>
            <a:endParaRPr lang="fr-FR"/>
          </a:p>
        </c:txPr>
        <c:crossAx val="60020"/>
        <c:crosses val="autoZero"/>
        <c:auto val="1"/>
        <c:lblAlgn val="ctr"/>
        <c:lblOffset val="100"/>
        <c:noMultiLvlLbl val="0"/>
      </c:catAx>
      <c:valAx>
        <c:axId val="60020"/>
        <c:scaling>
          <c:orientation val="minMax"/>
          <c:max val="600"/>
          <c:min val="0"/>
        </c:scaling>
        <c:delete val="0"/>
        <c:axPos val="l"/>
        <c:majorGridlines>
          <c:spPr>
            <a:ln w="6350">
              <a:solidFill>
                <a:srgbClr val="E3E8EB"/>
              </a:solidFill>
            </a:ln>
          </c:spPr>
        </c:majorGridlines>
        <c:numFmt formatCode="0" sourceLinked="0"/>
        <c:majorTickMark val="none"/>
        <c:minorTickMark val="none"/>
        <c:tickLblPos val="low"/>
        <c:spPr>
          <a:ln w="6350">
            <a:solidFill>
              <a:srgbClr val="FFFFFF"/>
            </a:solidFill>
          </a:ln>
        </c:spPr>
        <c:txPr>
          <a:bodyPr/>
          <a:lstStyle/>
          <a:p>
            <a:pPr>
              <a:defRPr sz="800" b="0">
                <a:solidFill>
                  <a:srgbClr val="5B6770"/>
                </a:solidFill>
                <a:latin typeface="Arial"/>
                <a:cs typeface="Arial"/>
              </a:defRPr>
            </a:pPr>
            <a:endParaRPr lang="fr-FR"/>
          </a:p>
        </c:txPr>
        <c:crossAx val="60010"/>
        <c:crosses val="autoZero"/>
        <c:crossBetween val="between"/>
        <c:majorUnit val="100"/>
      </c:valAx>
    </c:plotArea>
    <c:legend>
      <c:legendPos val="b"/>
      <c:overlay val="0"/>
      <c:txPr>
        <a:bodyPr/>
        <a:lstStyle/>
        <a:p>
          <a:pPr>
            <a:defRPr sz="700" b="0">
              <a:solidFill>
                <a:srgbClr val="1F2A30"/>
              </a:solidFill>
              <a:latin typeface="Arial"/>
              <a:cs typeface="Arial"/>
            </a:defRPr>
          </a:pPr>
          <a:endParaRPr lang="fr-FR"/>
        </a:p>
      </c:txPr>
    </c:legend>
    <c:plotVisOnly val="1"/>
    <c:dispBlanksAs val="gap"/>
  </c:chart>
  <c:spPr>
    <a:noFill/>
    <a:ln>
      <a:noFill/>
    </a:ln>
  </c:spPr>
  <c:txPr>
    <a:bodyPr/>
    <a:lstStyle/>
    <a:p>
      <a:pPr>
        <a:defRPr sz="1000" b="0">
          <a:solidFill>
            <a:srgbClr val="5B6770"/>
          </a:solidFill>
          <a:latin typeface="Arial"/>
          <a:cs typeface="Arial"/>
        </a:defRPr>
      </a:pPr>
      <a:endParaRPr lang="fr-FR"/>
    </a:p>
  </c:txPr>
</c:chartSpace>
</file>

<file path=ppt/charts/chart12.xml><?xml version="1.0" encoding="utf-8"?>
<c:chartSpace xmlns:c="http://schemas.openxmlformats.org/drawingml/2006/chart" xmlns:a="http://schemas.openxmlformats.org/drawingml/2006/main" xmlns:r="http://schemas.openxmlformats.org/officeDocument/2006/relationships">
  <c:roundedCorners val="0"/>
  <c:chart>
    <c:autoTitleDeleted val="1"/>
    <c:plotArea>
      <c:layout/>
      <c:lineChart>
        <c:grouping val="standard"/>
        <c:varyColors val="0"/>
        <c:ser>
          <c:idx val="0"/>
          <c:order val="0"/>
          <c:tx>
            <c:strRef>
              <c:f>Sheet1!$B$1</c:f>
              <c:strCache>
                <c:ptCount val="1"/>
                <c:pt idx="0">
                  <c:v>2006/07</c:v>
                </c:pt>
              </c:strCache>
            </c:strRef>
          </c:tx>
          <c:spPr>
            <a:ln w="13970" cap="rnd">
              <a:solidFill>
                <a:srgbClr val="1F77B4"/>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Sheet1!$B$2:$B$13</c:f>
              <c:numCache>
                <c:formatCode>General</c:formatCode>
                <c:ptCount val="12"/>
                <c:pt idx="0">
                  <c:v>23.14</c:v>
                </c:pt>
                <c:pt idx="1">
                  <c:v>22.44</c:v>
                </c:pt>
                <c:pt idx="2">
                  <c:v>23.04</c:v>
                </c:pt>
                <c:pt idx="3">
                  <c:v>24.35</c:v>
                </c:pt>
                <c:pt idx="4">
                  <c:v>24.57</c:v>
                </c:pt>
                <c:pt idx="5">
                  <c:v>23.7</c:v>
                </c:pt>
                <c:pt idx="6">
                  <c:v>23.19</c:v>
                </c:pt>
                <c:pt idx="7">
                  <c:v>23.23</c:v>
                </c:pt>
                <c:pt idx="8">
                  <c:v>22.79</c:v>
                </c:pt>
                <c:pt idx="9">
                  <c:v>23.49</c:v>
                </c:pt>
                <c:pt idx="10">
                  <c:v>23.93</c:v>
                </c:pt>
                <c:pt idx="11">
                  <c:v>23.51</c:v>
                </c:pt>
              </c:numCache>
            </c:numRef>
          </c:val>
          <c:smooth val="0"/>
        </c:ser>
        <c:ser>
          <c:idx val="1"/>
          <c:order val="1"/>
          <c:tx>
            <c:strRef>
              <c:f>Sheet1!$C$1</c:f>
              <c:strCache>
                <c:ptCount val="1"/>
                <c:pt idx="0">
                  <c:v>2009/10</c:v>
                </c:pt>
              </c:strCache>
            </c:strRef>
          </c:tx>
          <c:spPr>
            <a:ln w="13970" cap="rnd">
              <a:solidFill>
                <a:srgbClr val="FF7F0E"/>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Sheet1!$C$2:$C$13</c:f>
              <c:numCache>
                <c:formatCode>General</c:formatCode>
                <c:ptCount val="12"/>
                <c:pt idx="0">
                  <c:v>23.12</c:v>
                </c:pt>
                <c:pt idx="1">
                  <c:v>23.33</c:v>
                </c:pt>
                <c:pt idx="2">
                  <c:v>23.7</c:v>
                </c:pt>
                <c:pt idx="3">
                  <c:v>23.64</c:v>
                </c:pt>
                <c:pt idx="4">
                  <c:v>23.33</c:v>
                </c:pt>
                <c:pt idx="5">
                  <c:v>23.23</c:v>
                </c:pt>
                <c:pt idx="6">
                  <c:v>22.89</c:v>
                </c:pt>
                <c:pt idx="7">
                  <c:v>23.76</c:v>
                </c:pt>
                <c:pt idx="8">
                  <c:v>23.35</c:v>
                </c:pt>
                <c:pt idx="9">
                  <c:v>24.27</c:v>
                </c:pt>
                <c:pt idx="10">
                  <c:v>24.45</c:v>
                </c:pt>
                <c:pt idx="11">
                  <c:v>23.42</c:v>
                </c:pt>
              </c:numCache>
            </c:numRef>
          </c:val>
          <c:smooth val="0"/>
        </c:ser>
        <c:ser>
          <c:idx val="2"/>
          <c:order val="2"/>
          <c:tx>
            <c:strRef>
              <c:f>Sheet1!$D$1</c:f>
              <c:strCache>
                <c:ptCount val="1"/>
                <c:pt idx="0">
                  <c:v>2015/16</c:v>
                </c:pt>
              </c:strCache>
            </c:strRef>
          </c:tx>
          <c:spPr>
            <a:ln w="13970" cap="rnd">
              <a:solidFill>
                <a:srgbClr val="2CA02C"/>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Sheet1!$D$2:$D$13</c:f>
              <c:numCache>
                <c:formatCode>General</c:formatCode>
                <c:ptCount val="12"/>
                <c:pt idx="0">
                  <c:v>23.16</c:v>
                </c:pt>
                <c:pt idx="1">
                  <c:v>23.59</c:v>
                </c:pt>
                <c:pt idx="2">
                  <c:v>23.92</c:v>
                </c:pt>
                <c:pt idx="3">
                  <c:v>25.59</c:v>
                </c:pt>
                <c:pt idx="4">
                  <c:v>24.47</c:v>
                </c:pt>
                <c:pt idx="5">
                  <c:v>23.49</c:v>
                </c:pt>
                <c:pt idx="6">
                  <c:v>24.14</c:v>
                </c:pt>
                <c:pt idx="7">
                  <c:v>23.59</c:v>
                </c:pt>
                <c:pt idx="8">
                  <c:v>24.02</c:v>
                </c:pt>
                <c:pt idx="9">
                  <c:v>24.39</c:v>
                </c:pt>
                <c:pt idx="10">
                  <c:v>24.28</c:v>
                </c:pt>
                <c:pt idx="11">
                  <c:v>23.65</c:v>
                </c:pt>
              </c:numCache>
            </c:numRef>
          </c:val>
          <c:smooth val="0"/>
        </c:ser>
        <c:ser>
          <c:idx val="3"/>
          <c:order val="3"/>
          <c:tx>
            <c:strRef>
              <c:f>Sheet1!$E$1</c:f>
              <c:strCache>
                <c:ptCount val="1"/>
                <c:pt idx="0">
                  <c:v>2018/19</c:v>
                </c:pt>
              </c:strCache>
            </c:strRef>
          </c:tx>
          <c:spPr>
            <a:ln w="13970" cap="rnd">
              <a:solidFill>
                <a:srgbClr val="9467BD"/>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Sheet1!$E$2:$E$13</c:f>
              <c:numCache>
                <c:formatCode>General</c:formatCode>
                <c:ptCount val="12"/>
                <c:pt idx="0">
                  <c:v>23.21</c:v>
                </c:pt>
                <c:pt idx="1">
                  <c:v>23.07</c:v>
                </c:pt>
                <c:pt idx="2">
                  <c:v>23.36</c:v>
                </c:pt>
                <c:pt idx="3">
                  <c:v>23.79</c:v>
                </c:pt>
                <c:pt idx="4">
                  <c:v>23.37</c:v>
                </c:pt>
                <c:pt idx="5">
                  <c:v>23.16</c:v>
                </c:pt>
                <c:pt idx="6">
                  <c:v>23.49</c:v>
                </c:pt>
                <c:pt idx="7">
                  <c:v>23.74</c:v>
                </c:pt>
                <c:pt idx="8">
                  <c:v>23.66</c:v>
                </c:pt>
                <c:pt idx="9">
                  <c:v>24.1</c:v>
                </c:pt>
                <c:pt idx="10">
                  <c:v>24.13</c:v>
                </c:pt>
                <c:pt idx="11">
                  <c:v>23.87</c:v>
                </c:pt>
              </c:numCache>
            </c:numRef>
          </c:val>
          <c:smooth val="0"/>
        </c:ser>
        <c:ser>
          <c:idx val="4"/>
          <c:order val="4"/>
          <c:tx>
            <c:strRef>
              <c:f>Sheet1!$F$1</c:f>
              <c:strCache>
                <c:ptCount val="1"/>
                <c:pt idx="0">
                  <c:v>2023/24</c:v>
                </c:pt>
              </c:strCache>
            </c:strRef>
          </c:tx>
          <c:spPr>
            <a:ln w="13970" cap="rnd">
              <a:solidFill>
                <a:srgbClr val="8C564B"/>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Sheet1!$F$2:$F$13</c:f>
              <c:numCache>
                <c:formatCode>General</c:formatCode>
                <c:ptCount val="12"/>
                <c:pt idx="0">
                  <c:v>23.67</c:v>
                </c:pt>
                <c:pt idx="1">
                  <c:v>23.88</c:v>
                </c:pt>
                <c:pt idx="2">
                  <c:v>23.8</c:v>
                </c:pt>
                <c:pt idx="3">
                  <c:v>25.22</c:v>
                </c:pt>
                <c:pt idx="4">
                  <c:v>24.59</c:v>
                </c:pt>
                <c:pt idx="5">
                  <c:v>24.49</c:v>
                </c:pt>
                <c:pt idx="6">
                  <c:v>23.96</c:v>
                </c:pt>
                <c:pt idx="7">
                  <c:v>24.28</c:v>
                </c:pt>
                <c:pt idx="8">
                  <c:v>24.19</c:v>
                </c:pt>
                <c:pt idx="9">
                  <c:v>24.89</c:v>
                </c:pt>
                <c:pt idx="10">
                  <c:v>24.99</c:v>
                </c:pt>
                <c:pt idx="11">
                  <c:v>24.33</c:v>
                </c:pt>
              </c:numCache>
            </c:numRef>
          </c:val>
          <c:smooth val="0"/>
        </c:ser>
        <c:ser>
          <c:idx val="5"/>
          <c:order val="5"/>
          <c:tx>
            <c:strRef>
              <c:f>Sheet1!$G$1</c:f>
              <c:strCache>
                <c:ptCount val="1"/>
                <c:pt idx="0">
                  <c:v>2026/27</c:v>
                </c:pt>
              </c:strCache>
            </c:strRef>
          </c:tx>
          <c:spPr>
            <a:ln w="31750" cap="rnd">
              <a:solidFill>
                <a:srgbClr val="C00000"/>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Sheet1!$G$2:$G$13</c:f>
              <c:numCache>
                <c:formatCode>General</c:formatCode>
                <c:ptCount val="12"/>
                <c:pt idx="0">
                  <c:v>23.51</c:v>
                </c:pt>
                <c:pt idx="1">
                  <c:v>24.14</c:v>
                </c:pt>
              </c:numCache>
            </c:numRef>
          </c:val>
          <c:smooth val="0"/>
        </c:ser>
        <c:ser>
          <c:idx val="6"/>
          <c:order val="6"/>
          <c:tx>
            <c:strRef>
              <c:f>Sheet1!$H$1</c:f>
              <c:strCache>
                <c:ptCount val="1"/>
                <c:pt idx="0">
                  <c:v>Average</c:v>
                </c:pt>
              </c:strCache>
            </c:strRef>
          </c:tx>
          <c:spPr>
            <a:ln w="28575" cap="rnd">
              <a:solidFill>
                <a:srgbClr val="000000"/>
              </a:solidFill>
              <a:prstDash val="dash"/>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Sheet1!$H$2:$H$13</c:f>
              <c:numCache>
                <c:formatCode>General</c:formatCode>
                <c:ptCount val="12"/>
                <c:pt idx="0">
                  <c:v>23.26</c:v>
                </c:pt>
                <c:pt idx="1">
                  <c:v>23.26</c:v>
                </c:pt>
                <c:pt idx="2">
                  <c:v>23.56</c:v>
                </c:pt>
                <c:pt idx="3">
                  <c:v>24.52</c:v>
                </c:pt>
                <c:pt idx="4">
                  <c:v>24.07</c:v>
                </c:pt>
                <c:pt idx="5">
                  <c:v>23.61</c:v>
                </c:pt>
                <c:pt idx="6">
                  <c:v>23.53</c:v>
                </c:pt>
                <c:pt idx="7">
                  <c:v>23.72</c:v>
                </c:pt>
                <c:pt idx="8">
                  <c:v>23.6</c:v>
                </c:pt>
                <c:pt idx="9">
                  <c:v>24.23</c:v>
                </c:pt>
                <c:pt idx="10">
                  <c:v>24.36</c:v>
                </c:pt>
                <c:pt idx="11">
                  <c:v>23.76</c:v>
                </c:pt>
              </c:numCache>
            </c:numRef>
          </c:val>
          <c:smooth val="0"/>
        </c:ser>
        <c:marker val="1"/>
        <c:axId val="60010"/>
        <c:axId val="60020"/>
      </c:lineChart>
      <c:catAx>
        <c:axId val="60010"/>
        <c:scaling>
          <c:orientation val="minMax"/>
        </c:scaling>
        <c:delete val="0"/>
        <c:axPos val="b"/>
        <c:numFmt formatCode="General" sourceLinked="0"/>
        <c:majorTickMark val="none"/>
        <c:minorTickMark val="none"/>
        <c:tickLblPos val="low"/>
        <c:spPr>
          <a:ln w="9525">
            <a:solidFill>
              <a:srgbClr val="B7C0C5"/>
            </a:solidFill>
          </a:ln>
        </c:spPr>
        <c:txPr>
          <a:bodyPr/>
          <a:lstStyle/>
          <a:p>
            <a:pPr>
              <a:defRPr sz="800" b="0">
                <a:solidFill>
                  <a:srgbClr val="5B6770"/>
                </a:solidFill>
                <a:latin typeface="Arial"/>
                <a:cs typeface="Arial"/>
              </a:defRPr>
            </a:pPr>
            <a:endParaRPr lang="fr-FR"/>
          </a:p>
        </c:txPr>
        <c:crossAx val="60020"/>
        <c:crosses val="autoZero"/>
        <c:auto val="1"/>
        <c:lblAlgn val="ctr"/>
        <c:lblOffset val="100"/>
        <c:noMultiLvlLbl val="0"/>
      </c:catAx>
      <c:valAx>
        <c:axId val="60020"/>
        <c:scaling>
          <c:orientation val="minMax"/>
          <c:max val="26.0"/>
          <c:min val="21.5"/>
        </c:scaling>
        <c:delete val="0"/>
        <c:axPos val="l"/>
        <c:majorGridlines>
          <c:spPr>
            <a:ln w="6350">
              <a:solidFill>
                <a:srgbClr val="E3E8EB"/>
              </a:solidFill>
            </a:ln>
          </c:spPr>
        </c:majorGridlines>
        <c:numFmt formatCode="0.0" sourceLinked="0"/>
        <c:majorTickMark val="none"/>
        <c:minorTickMark val="none"/>
        <c:tickLblPos val="low"/>
        <c:spPr>
          <a:ln w="6350">
            <a:solidFill>
              <a:srgbClr val="FFFFFF"/>
            </a:solidFill>
          </a:ln>
        </c:spPr>
        <c:txPr>
          <a:bodyPr/>
          <a:lstStyle/>
          <a:p>
            <a:pPr>
              <a:defRPr sz="800" b="0">
                <a:solidFill>
                  <a:srgbClr val="5B6770"/>
                </a:solidFill>
                <a:latin typeface="Arial"/>
                <a:cs typeface="Arial"/>
              </a:defRPr>
            </a:pPr>
            <a:endParaRPr lang="fr-FR"/>
          </a:p>
        </c:txPr>
        <c:crossAx val="60010"/>
        <c:crosses val="autoZero"/>
        <c:crossBetween val="between"/>
        <c:majorUnit val="0.5"/>
      </c:valAx>
    </c:plotArea>
    <c:plotVisOnly val="1"/>
    <c:dispBlanksAs val="gap"/>
  </c:chart>
  <c:spPr>
    <a:noFill/>
    <a:ln>
      <a:noFill/>
    </a:ln>
  </c:spPr>
  <c:txPr>
    <a:bodyPr/>
    <a:lstStyle/>
    <a:p>
      <a:pPr>
        <a:defRPr sz="1000" b="0">
          <a:solidFill>
            <a:srgbClr val="5B6770"/>
          </a:solidFill>
          <a:latin typeface="Arial"/>
          <a:cs typeface="Arial"/>
        </a:defRPr>
      </a:pPr>
      <a:endParaRPr lang="fr-FR"/>
    </a:p>
  </c:txPr>
</c:chartSpace>
</file>

<file path=ppt/charts/chart13.xml><?xml version="1.0" encoding="utf-8"?>
<c:chartSpace xmlns:c="http://schemas.openxmlformats.org/drawingml/2006/chart" xmlns:a="http://schemas.openxmlformats.org/drawingml/2006/main" xmlns:r="http://schemas.openxmlformats.org/officeDocument/2006/relationships">
  <c:roundedCorners val="0"/>
  <c:chart>
    <c:autoTitleDeleted val="1"/>
    <c:plotArea>
      <c:layout/>
      <c:lineChart>
        <c:grouping val="standard"/>
        <c:varyColors val="0"/>
        <c:ser>
          <c:idx val="0"/>
          <c:order val="0"/>
          <c:tx>
            <c:strRef>
              <c:f>Sheet1!$B$1</c:f>
              <c:strCache>
                <c:ptCount val="1"/>
                <c:pt idx="0">
                  <c:v>2006/07</c:v>
                </c:pt>
              </c:strCache>
            </c:strRef>
          </c:tx>
          <c:spPr>
            <a:ln w="13970" cap="rnd">
              <a:solidFill>
                <a:srgbClr val="1F77B4"/>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Sheet1!$B$2:$B$13</c:f>
              <c:numCache>
                <c:formatCode>General</c:formatCode>
                <c:ptCount val="12"/>
                <c:pt idx="0">
                  <c:v>112.0</c:v>
                </c:pt>
                <c:pt idx="1">
                  <c:v>9.0</c:v>
                </c:pt>
                <c:pt idx="2">
                  <c:v>18.0</c:v>
                </c:pt>
                <c:pt idx="3">
                  <c:v>14.0</c:v>
                </c:pt>
                <c:pt idx="4">
                  <c:v>113.0</c:v>
                </c:pt>
                <c:pt idx="5">
                  <c:v>437.0</c:v>
                </c:pt>
                <c:pt idx="6">
                  <c:v>495.0</c:v>
                </c:pt>
                <c:pt idx="7">
                  <c:v>252.0</c:v>
                </c:pt>
                <c:pt idx="8">
                  <c:v>282.0</c:v>
                </c:pt>
                <c:pt idx="9">
                  <c:v>247.0</c:v>
                </c:pt>
                <c:pt idx="10">
                  <c:v>253.0</c:v>
                </c:pt>
                <c:pt idx="11">
                  <c:v>175.0</c:v>
                </c:pt>
              </c:numCache>
            </c:numRef>
          </c:val>
          <c:smooth val="0"/>
        </c:ser>
        <c:ser>
          <c:idx val="1"/>
          <c:order val="1"/>
          <c:tx>
            <c:strRef>
              <c:f>Sheet1!$C$1</c:f>
              <c:strCache>
                <c:ptCount val="1"/>
                <c:pt idx="0">
                  <c:v>2009/10</c:v>
                </c:pt>
              </c:strCache>
            </c:strRef>
          </c:tx>
          <c:spPr>
            <a:ln w="13970" cap="rnd">
              <a:solidFill>
                <a:srgbClr val="FF7F0E"/>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Sheet1!$C$2:$C$13</c:f>
              <c:numCache>
                <c:formatCode>General</c:formatCode>
                <c:ptCount val="12"/>
                <c:pt idx="0">
                  <c:v>123.0</c:v>
                </c:pt>
                <c:pt idx="1">
                  <c:v>95.0</c:v>
                </c:pt>
                <c:pt idx="2">
                  <c:v>181.0</c:v>
                </c:pt>
                <c:pt idx="3">
                  <c:v>261.0</c:v>
                </c:pt>
                <c:pt idx="4">
                  <c:v>330.0</c:v>
                </c:pt>
                <c:pt idx="5">
                  <c:v>396.0</c:v>
                </c:pt>
                <c:pt idx="6">
                  <c:v>201.0</c:v>
                </c:pt>
                <c:pt idx="7">
                  <c:v>386.0</c:v>
                </c:pt>
                <c:pt idx="8">
                  <c:v>357.0</c:v>
                </c:pt>
                <c:pt idx="9">
                  <c:v>285.0</c:v>
                </c:pt>
                <c:pt idx="10">
                  <c:v>214.0</c:v>
                </c:pt>
                <c:pt idx="11">
                  <c:v>190.0</c:v>
                </c:pt>
              </c:numCache>
            </c:numRef>
          </c:val>
          <c:smooth val="0"/>
        </c:ser>
        <c:ser>
          <c:idx val="2"/>
          <c:order val="2"/>
          <c:tx>
            <c:strRef>
              <c:f>Sheet1!$D$1</c:f>
              <c:strCache>
                <c:ptCount val="1"/>
                <c:pt idx="0">
                  <c:v>2015/16</c:v>
                </c:pt>
              </c:strCache>
            </c:strRef>
          </c:tx>
          <c:spPr>
            <a:ln w="13970" cap="rnd">
              <a:solidFill>
                <a:srgbClr val="2CA02C"/>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Sheet1!$D$2:$D$13</c:f>
              <c:numCache>
                <c:formatCode>General</c:formatCode>
                <c:ptCount val="12"/>
                <c:pt idx="0">
                  <c:v>45.0</c:v>
                </c:pt>
                <c:pt idx="1">
                  <c:v>117.0</c:v>
                </c:pt>
                <c:pt idx="2">
                  <c:v>55.0</c:v>
                </c:pt>
                <c:pt idx="3">
                  <c:v>8.0</c:v>
                </c:pt>
                <c:pt idx="4">
                  <c:v>326.0</c:v>
                </c:pt>
                <c:pt idx="5">
                  <c:v>481.0</c:v>
                </c:pt>
                <c:pt idx="6">
                  <c:v>310.0</c:v>
                </c:pt>
                <c:pt idx="7">
                  <c:v>409.0</c:v>
                </c:pt>
                <c:pt idx="8">
                  <c:v>479.0</c:v>
                </c:pt>
                <c:pt idx="9">
                  <c:v>294.0</c:v>
                </c:pt>
                <c:pt idx="10">
                  <c:v>276.0</c:v>
                </c:pt>
                <c:pt idx="11">
                  <c:v>138.0</c:v>
                </c:pt>
              </c:numCache>
            </c:numRef>
          </c:val>
          <c:smooth val="0"/>
        </c:ser>
        <c:ser>
          <c:idx val="3"/>
          <c:order val="3"/>
          <c:tx>
            <c:strRef>
              <c:f>Sheet1!$E$1</c:f>
              <c:strCache>
                <c:ptCount val="1"/>
                <c:pt idx="0">
                  <c:v>2018/19</c:v>
                </c:pt>
              </c:strCache>
            </c:strRef>
          </c:tx>
          <c:spPr>
            <a:ln w="13970" cap="rnd">
              <a:solidFill>
                <a:srgbClr val="9467BD"/>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Sheet1!$E$2:$E$13</c:f>
              <c:numCache>
                <c:formatCode>General</c:formatCode>
                <c:ptCount val="12"/>
                <c:pt idx="0">
                  <c:v>90.0</c:v>
                </c:pt>
                <c:pt idx="1">
                  <c:v>267.0</c:v>
                </c:pt>
                <c:pt idx="2">
                  <c:v>154.0</c:v>
                </c:pt>
                <c:pt idx="3">
                  <c:v>289.0</c:v>
                </c:pt>
                <c:pt idx="4">
                  <c:v>478.0</c:v>
                </c:pt>
                <c:pt idx="5">
                  <c:v>491.0</c:v>
                </c:pt>
                <c:pt idx="6">
                  <c:v>377.0</c:v>
                </c:pt>
                <c:pt idx="7">
                  <c:v>220.0</c:v>
                </c:pt>
                <c:pt idx="8">
                  <c:v>290.0</c:v>
                </c:pt>
                <c:pt idx="9">
                  <c:v>319.0</c:v>
                </c:pt>
                <c:pt idx="10">
                  <c:v>139.0</c:v>
                </c:pt>
                <c:pt idx="11">
                  <c:v>148.0</c:v>
                </c:pt>
              </c:numCache>
            </c:numRef>
          </c:val>
          <c:smooth val="0"/>
        </c:ser>
        <c:ser>
          <c:idx val="4"/>
          <c:order val="4"/>
          <c:tx>
            <c:strRef>
              <c:f>Sheet1!$F$1</c:f>
              <c:strCache>
                <c:ptCount val="1"/>
                <c:pt idx="0">
                  <c:v>2023/24</c:v>
                </c:pt>
              </c:strCache>
            </c:strRef>
          </c:tx>
          <c:spPr>
            <a:ln w="13970" cap="rnd">
              <a:solidFill>
                <a:srgbClr val="8C564B"/>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Sheet1!$F$2:$F$13</c:f>
              <c:numCache>
                <c:formatCode>General</c:formatCode>
                <c:ptCount val="12"/>
                <c:pt idx="0">
                  <c:v>244.0</c:v>
                </c:pt>
                <c:pt idx="1">
                  <c:v>57.0</c:v>
                </c:pt>
                <c:pt idx="2">
                  <c:v>11.0</c:v>
                </c:pt>
                <c:pt idx="3">
                  <c:v>62.0</c:v>
                </c:pt>
                <c:pt idx="4">
                  <c:v>190.0</c:v>
                </c:pt>
                <c:pt idx="5">
                  <c:v>170.0</c:v>
                </c:pt>
                <c:pt idx="6">
                  <c:v>345.0</c:v>
                </c:pt>
                <c:pt idx="7">
                  <c:v>451.0</c:v>
                </c:pt>
                <c:pt idx="8">
                  <c:v>876.0</c:v>
                </c:pt>
                <c:pt idx="9">
                  <c:v>465.0</c:v>
                </c:pt>
                <c:pt idx="10">
                  <c:v>348.0</c:v>
                </c:pt>
                <c:pt idx="11">
                  <c:v>301.0</c:v>
                </c:pt>
              </c:numCache>
            </c:numRef>
          </c:val>
          <c:smooth val="0"/>
        </c:ser>
        <c:ser>
          <c:idx val="5"/>
          <c:order val="5"/>
          <c:tx>
            <c:strRef>
              <c:f>Sheet1!$G$1</c:f>
              <c:strCache>
                <c:ptCount val="1"/>
                <c:pt idx="0">
                  <c:v>2026/27</c:v>
                </c:pt>
              </c:strCache>
            </c:strRef>
          </c:tx>
          <c:spPr>
            <a:ln w="31750" cap="rnd">
              <a:solidFill>
                <a:srgbClr val="C00000"/>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Sheet1!$G$2:$G$13</c:f>
              <c:numCache>
                <c:formatCode>General</c:formatCode>
                <c:ptCount val="12"/>
                <c:pt idx="0">
                  <c:v>98.0</c:v>
                </c:pt>
                <c:pt idx="1">
                  <c:v>112.0</c:v>
                </c:pt>
              </c:numCache>
            </c:numRef>
          </c:val>
          <c:smooth val="0"/>
        </c:ser>
        <c:ser>
          <c:idx val="6"/>
          <c:order val="6"/>
          <c:tx>
            <c:strRef>
              <c:f>Sheet1!$H$1</c:f>
              <c:strCache>
                <c:ptCount val="1"/>
                <c:pt idx="0">
                  <c:v>Average</c:v>
                </c:pt>
              </c:strCache>
            </c:strRef>
          </c:tx>
          <c:spPr>
            <a:ln w="28575" cap="rnd">
              <a:solidFill>
                <a:srgbClr val="000000"/>
              </a:solidFill>
              <a:prstDash val="dash"/>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Sheet1!$H$2:$H$13</c:f>
              <c:numCache>
                <c:formatCode>General</c:formatCode>
                <c:ptCount val="12"/>
                <c:pt idx="0">
                  <c:v>123.0</c:v>
                </c:pt>
                <c:pt idx="1">
                  <c:v>109.0</c:v>
                </c:pt>
                <c:pt idx="2">
                  <c:v>84.0</c:v>
                </c:pt>
                <c:pt idx="3">
                  <c:v>127.0</c:v>
                </c:pt>
                <c:pt idx="4">
                  <c:v>287.0</c:v>
                </c:pt>
                <c:pt idx="5">
                  <c:v>395.0</c:v>
                </c:pt>
                <c:pt idx="6">
                  <c:v>346.0</c:v>
                </c:pt>
                <c:pt idx="7">
                  <c:v>344.0</c:v>
                </c:pt>
                <c:pt idx="8">
                  <c:v>457.0</c:v>
                </c:pt>
                <c:pt idx="9">
                  <c:v>322.0</c:v>
                </c:pt>
                <c:pt idx="10">
                  <c:v>246.0</c:v>
                </c:pt>
                <c:pt idx="11">
                  <c:v>190.0</c:v>
                </c:pt>
              </c:numCache>
            </c:numRef>
          </c:val>
          <c:smooth val="0"/>
        </c:ser>
        <c:marker val="1"/>
        <c:axId val="60010"/>
        <c:axId val="60020"/>
      </c:lineChart>
      <c:catAx>
        <c:axId val="60010"/>
        <c:scaling>
          <c:orientation val="minMax"/>
        </c:scaling>
        <c:delete val="0"/>
        <c:axPos val="b"/>
        <c:numFmt formatCode="General" sourceLinked="0"/>
        <c:majorTickMark val="none"/>
        <c:minorTickMark val="none"/>
        <c:tickLblPos val="low"/>
        <c:spPr>
          <a:ln w="9525">
            <a:solidFill>
              <a:srgbClr val="B7C0C5"/>
            </a:solidFill>
          </a:ln>
        </c:spPr>
        <c:txPr>
          <a:bodyPr/>
          <a:lstStyle/>
          <a:p>
            <a:pPr>
              <a:defRPr sz="800" b="0">
                <a:solidFill>
                  <a:srgbClr val="5B6770"/>
                </a:solidFill>
                <a:latin typeface="Arial"/>
                <a:cs typeface="Arial"/>
              </a:defRPr>
            </a:pPr>
            <a:endParaRPr lang="fr-FR"/>
          </a:p>
        </c:txPr>
        <c:crossAx val="60020"/>
        <c:crosses val="autoZero"/>
        <c:auto val="1"/>
        <c:lblAlgn val="ctr"/>
        <c:lblOffset val="100"/>
        <c:noMultiLvlLbl val="0"/>
      </c:catAx>
      <c:valAx>
        <c:axId val="60020"/>
        <c:scaling>
          <c:orientation val="minMax"/>
          <c:max val="900"/>
          <c:min val="0"/>
        </c:scaling>
        <c:delete val="0"/>
        <c:axPos val="l"/>
        <c:majorGridlines>
          <c:spPr>
            <a:ln w="6350">
              <a:solidFill>
                <a:srgbClr val="E3E8EB"/>
              </a:solidFill>
            </a:ln>
          </c:spPr>
        </c:majorGridlines>
        <c:numFmt formatCode="0" sourceLinked="0"/>
        <c:majorTickMark val="none"/>
        <c:minorTickMark val="none"/>
        <c:tickLblPos val="low"/>
        <c:spPr>
          <a:ln w="6350">
            <a:solidFill>
              <a:srgbClr val="FFFFFF"/>
            </a:solidFill>
          </a:ln>
        </c:spPr>
        <c:txPr>
          <a:bodyPr/>
          <a:lstStyle/>
          <a:p>
            <a:pPr>
              <a:defRPr sz="800" b="0">
                <a:solidFill>
                  <a:srgbClr val="5B6770"/>
                </a:solidFill>
                <a:latin typeface="Arial"/>
                <a:cs typeface="Arial"/>
              </a:defRPr>
            </a:pPr>
            <a:endParaRPr lang="fr-FR"/>
          </a:p>
        </c:txPr>
        <c:crossAx val="60010"/>
        <c:crosses val="autoZero"/>
        <c:crossBetween val="between"/>
        <c:majorUnit val="200"/>
      </c:valAx>
    </c:plotArea>
    <c:legend>
      <c:legendPos val="b"/>
      <c:overlay val="0"/>
      <c:txPr>
        <a:bodyPr/>
        <a:lstStyle/>
        <a:p>
          <a:pPr>
            <a:defRPr sz="700" b="0">
              <a:solidFill>
                <a:srgbClr val="1F2A30"/>
              </a:solidFill>
              <a:latin typeface="Arial"/>
              <a:cs typeface="Arial"/>
            </a:defRPr>
          </a:pPr>
          <a:endParaRPr lang="fr-FR"/>
        </a:p>
      </c:txPr>
    </c:legend>
    <c:plotVisOnly val="1"/>
    <c:dispBlanksAs val="gap"/>
  </c:chart>
  <c:spPr>
    <a:noFill/>
    <a:ln>
      <a:noFill/>
    </a:ln>
  </c:spPr>
  <c:txPr>
    <a:bodyPr/>
    <a:lstStyle/>
    <a:p>
      <a:pPr>
        <a:defRPr sz="1000" b="0">
          <a:solidFill>
            <a:srgbClr val="5B6770"/>
          </a:solidFill>
          <a:latin typeface="Arial"/>
          <a:cs typeface="Arial"/>
        </a:defRPr>
      </a:pPr>
      <a:endParaRPr lang="fr-FR"/>
    </a:p>
  </c:txPr>
</c:chartSpace>
</file>

<file path=ppt/charts/chart14.xml><?xml version="1.0" encoding="utf-8"?>
<c:chartSpace xmlns:c="http://schemas.openxmlformats.org/drawingml/2006/chart" xmlns:a="http://schemas.openxmlformats.org/drawingml/2006/main" xmlns:r="http://schemas.openxmlformats.org/officeDocument/2006/relationships">
  <c:roundedCorners val="0"/>
  <c:chart>
    <c:autoTitleDeleted val="1"/>
    <c:plotArea>
      <c:layout/>
      <c:lineChart>
        <c:grouping val="standard"/>
        <c:varyColors val="0"/>
        <c:ser>
          <c:idx val="0"/>
          <c:order val="0"/>
          <c:tx>
            <c:strRef>
              <c:f>Sheet1!$B$1</c:f>
              <c:strCache>
                <c:ptCount val="1"/>
                <c:pt idx="0">
                  <c:v>2007/08</c:v>
                </c:pt>
              </c:strCache>
            </c:strRef>
          </c:tx>
          <c:spPr>
            <a:ln w="13970" cap="rnd">
              <a:solidFill>
                <a:srgbClr val="1F77B4"/>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Sheet1!$B$2:$B$13</c:f>
              <c:numCache>
                <c:formatCode>General</c:formatCode>
                <c:ptCount val="12"/>
                <c:pt idx="0">
                  <c:v>23.16</c:v>
                </c:pt>
                <c:pt idx="1">
                  <c:v>22.9</c:v>
                </c:pt>
                <c:pt idx="2">
                  <c:v>23.19</c:v>
                </c:pt>
                <c:pt idx="3">
                  <c:v>23.69</c:v>
                </c:pt>
                <c:pt idx="4">
                  <c:v>23.24</c:v>
                </c:pt>
                <c:pt idx="5">
                  <c:v>23.07</c:v>
                </c:pt>
                <c:pt idx="6">
                  <c:v>23.12</c:v>
                </c:pt>
                <c:pt idx="7">
                  <c:v>22.42</c:v>
                </c:pt>
                <c:pt idx="8">
                  <c:v>22.83</c:v>
                </c:pt>
                <c:pt idx="9">
                  <c:v>23.38</c:v>
                </c:pt>
                <c:pt idx="10">
                  <c:v>23.35</c:v>
                </c:pt>
                <c:pt idx="11">
                  <c:v>23.1</c:v>
                </c:pt>
              </c:numCache>
            </c:numRef>
          </c:val>
          <c:smooth val="0"/>
        </c:ser>
        <c:ser>
          <c:idx val="1"/>
          <c:order val="1"/>
          <c:tx>
            <c:strRef>
              <c:f>Sheet1!$C$1</c:f>
              <c:strCache>
                <c:ptCount val="1"/>
                <c:pt idx="0">
                  <c:v>2010/11</c:v>
                </c:pt>
              </c:strCache>
            </c:strRef>
          </c:tx>
          <c:spPr>
            <a:ln w="13970" cap="rnd">
              <a:solidFill>
                <a:srgbClr val="FF7F0E"/>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Sheet1!$C$2:$C$13</c:f>
              <c:numCache>
                <c:formatCode>General</c:formatCode>
                <c:ptCount val="12"/>
                <c:pt idx="0">
                  <c:v>23.23</c:v>
                </c:pt>
                <c:pt idx="1">
                  <c:v>23.21</c:v>
                </c:pt>
                <c:pt idx="2">
                  <c:v>23.3</c:v>
                </c:pt>
                <c:pt idx="3">
                  <c:v>22.85</c:v>
                </c:pt>
                <c:pt idx="4">
                  <c:v>22.79</c:v>
                </c:pt>
                <c:pt idx="5">
                  <c:v>21.93</c:v>
                </c:pt>
                <c:pt idx="6">
                  <c:v>22.5</c:v>
                </c:pt>
                <c:pt idx="7">
                  <c:v>22.96</c:v>
                </c:pt>
                <c:pt idx="8">
                  <c:v>22.55</c:v>
                </c:pt>
                <c:pt idx="9">
                  <c:v>23.23</c:v>
                </c:pt>
                <c:pt idx="10">
                  <c:v>23.59</c:v>
                </c:pt>
                <c:pt idx="11">
                  <c:v>23.32</c:v>
                </c:pt>
              </c:numCache>
            </c:numRef>
          </c:val>
          <c:smooth val="0"/>
        </c:ser>
        <c:ser>
          <c:idx val="2"/>
          <c:order val="2"/>
          <c:tx>
            <c:strRef>
              <c:f>Sheet1!$D$1</c:f>
              <c:strCache>
                <c:ptCount val="1"/>
                <c:pt idx="0">
                  <c:v>2011/12</c:v>
                </c:pt>
              </c:strCache>
            </c:strRef>
          </c:tx>
          <c:spPr>
            <a:ln w="13970" cap="rnd">
              <a:solidFill>
                <a:srgbClr val="2CA02C"/>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Sheet1!$D$2:$D$13</c:f>
              <c:numCache>
                <c:formatCode>General</c:formatCode>
                <c:ptCount val="12"/>
                <c:pt idx="0">
                  <c:v>23.12</c:v>
                </c:pt>
                <c:pt idx="1">
                  <c:v>23.09</c:v>
                </c:pt>
                <c:pt idx="2">
                  <c:v>23.51</c:v>
                </c:pt>
                <c:pt idx="3">
                  <c:v>23.75</c:v>
                </c:pt>
                <c:pt idx="4">
                  <c:v>23.2</c:v>
                </c:pt>
                <c:pt idx="5">
                  <c:v>23.26</c:v>
                </c:pt>
                <c:pt idx="6">
                  <c:v>22.58</c:v>
                </c:pt>
                <c:pt idx="7">
                  <c:v>23.1</c:v>
                </c:pt>
                <c:pt idx="8">
                  <c:v>22.7</c:v>
                </c:pt>
                <c:pt idx="9">
                  <c:v>23.29</c:v>
                </c:pt>
                <c:pt idx="10">
                  <c:v>23.73</c:v>
                </c:pt>
                <c:pt idx="11">
                  <c:v>23.46</c:v>
                </c:pt>
              </c:numCache>
            </c:numRef>
          </c:val>
          <c:smooth val="0"/>
        </c:ser>
        <c:ser>
          <c:idx val="3"/>
          <c:order val="3"/>
          <c:tx>
            <c:strRef>
              <c:f>Sheet1!$E$1</c:f>
              <c:strCache>
                <c:ptCount val="1"/>
                <c:pt idx="0">
                  <c:v>2020/21</c:v>
                </c:pt>
              </c:strCache>
            </c:strRef>
          </c:tx>
          <c:spPr>
            <a:ln w="13970" cap="rnd">
              <a:solidFill>
                <a:srgbClr val="9467BD"/>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Sheet1!$E$2:$E$13</c:f>
              <c:numCache>
                <c:formatCode>General</c:formatCode>
                <c:ptCount val="12"/>
                <c:pt idx="0">
                  <c:v>23.37</c:v>
                </c:pt>
                <c:pt idx="1">
                  <c:v>23.53</c:v>
                </c:pt>
                <c:pt idx="2">
                  <c:v>23.64</c:v>
                </c:pt>
                <c:pt idx="3">
                  <c:v>23.38</c:v>
                </c:pt>
                <c:pt idx="4">
                  <c:v>23.42</c:v>
                </c:pt>
                <c:pt idx="5">
                  <c:v>22.67</c:v>
                </c:pt>
                <c:pt idx="6">
                  <c:v>22.93</c:v>
                </c:pt>
                <c:pt idx="7">
                  <c:v>23.3</c:v>
                </c:pt>
                <c:pt idx="8">
                  <c:v>23.25</c:v>
                </c:pt>
                <c:pt idx="9">
                  <c:v>23.54</c:v>
                </c:pt>
                <c:pt idx="10">
                  <c:v>24.21</c:v>
                </c:pt>
                <c:pt idx="11">
                  <c:v>23.53</c:v>
                </c:pt>
              </c:numCache>
            </c:numRef>
          </c:val>
          <c:smooth val="0"/>
        </c:ser>
        <c:ser>
          <c:idx val="4"/>
          <c:order val="4"/>
          <c:tx>
            <c:strRef>
              <c:f>Sheet1!$F$1</c:f>
              <c:strCache>
                <c:ptCount val="1"/>
                <c:pt idx="0">
                  <c:v>2021/22</c:v>
                </c:pt>
              </c:strCache>
            </c:strRef>
          </c:tx>
          <c:spPr>
            <a:ln w="13970" cap="rnd">
              <a:solidFill>
                <a:srgbClr val="8C564B"/>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Sheet1!$F$2:$F$13</c:f>
              <c:numCache>
                <c:formatCode>General</c:formatCode>
                <c:ptCount val="12"/>
                <c:pt idx="0">
                  <c:v>23.27</c:v>
                </c:pt>
                <c:pt idx="1">
                  <c:v>23.28</c:v>
                </c:pt>
                <c:pt idx="2">
                  <c:v>23.57</c:v>
                </c:pt>
                <c:pt idx="3">
                  <c:v>23.71</c:v>
                </c:pt>
                <c:pt idx="4">
                  <c:v>22.99</c:v>
                </c:pt>
                <c:pt idx="5">
                  <c:v>23.35</c:v>
                </c:pt>
                <c:pt idx="6">
                  <c:v>23.43</c:v>
                </c:pt>
                <c:pt idx="7">
                  <c:v>22.97</c:v>
                </c:pt>
                <c:pt idx="8">
                  <c:v>23.47</c:v>
                </c:pt>
                <c:pt idx="9">
                  <c:v>23.67</c:v>
                </c:pt>
                <c:pt idx="10">
                  <c:v>24.06</c:v>
                </c:pt>
                <c:pt idx="11">
                  <c:v>23.23</c:v>
                </c:pt>
              </c:numCache>
            </c:numRef>
          </c:val>
          <c:smooth val="0"/>
        </c:ser>
        <c:ser>
          <c:idx val="5"/>
          <c:order val="5"/>
          <c:tx>
            <c:strRef>
              <c:f>Sheet1!$G$1</c:f>
              <c:strCache>
                <c:ptCount val="1"/>
                <c:pt idx="0">
                  <c:v>2022/23</c:v>
                </c:pt>
              </c:strCache>
            </c:strRef>
          </c:tx>
          <c:spPr>
            <a:ln w="13970" cap="rnd">
              <a:solidFill>
                <a:srgbClr val="E377C2"/>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Sheet1!$G$2:$G$13</c:f>
              <c:numCache>
                <c:formatCode>General</c:formatCode>
                <c:ptCount val="12"/>
                <c:pt idx="0">
                  <c:v>23.39</c:v>
                </c:pt>
                <c:pt idx="1">
                  <c:v>23.52</c:v>
                </c:pt>
                <c:pt idx="2">
                  <c:v>23.18</c:v>
                </c:pt>
                <c:pt idx="3">
                  <c:v>23.1</c:v>
                </c:pt>
                <c:pt idx="4">
                  <c:v>23.0</c:v>
                </c:pt>
                <c:pt idx="5">
                  <c:v>22.79</c:v>
                </c:pt>
                <c:pt idx="6">
                  <c:v>22.77</c:v>
                </c:pt>
                <c:pt idx="7">
                  <c:v>22.83</c:v>
                </c:pt>
                <c:pt idx="8">
                  <c:v>23.43</c:v>
                </c:pt>
                <c:pt idx="9">
                  <c:v>23.87</c:v>
                </c:pt>
                <c:pt idx="10">
                  <c:v>24.39</c:v>
                </c:pt>
                <c:pt idx="11">
                  <c:v>24.11</c:v>
                </c:pt>
              </c:numCache>
            </c:numRef>
          </c:val>
          <c:smooth val="0"/>
        </c:ser>
        <c:ser>
          <c:idx val="6"/>
          <c:order val="6"/>
          <c:tx>
            <c:strRef>
              <c:f>Sheet1!$H$1</c:f>
              <c:strCache>
                <c:ptCount val="1"/>
                <c:pt idx="0">
                  <c:v>Average</c:v>
                </c:pt>
              </c:strCache>
            </c:strRef>
          </c:tx>
          <c:spPr>
            <a:ln w="28575" cap="rnd">
              <a:solidFill>
                <a:srgbClr val="000000"/>
              </a:solidFill>
              <a:prstDash val="dash"/>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Sheet1!$H$2:$H$13</c:f>
              <c:numCache>
                <c:formatCode>General</c:formatCode>
                <c:ptCount val="12"/>
                <c:pt idx="0">
                  <c:v>23.26</c:v>
                </c:pt>
                <c:pt idx="1">
                  <c:v>23.25</c:v>
                </c:pt>
                <c:pt idx="2">
                  <c:v>23.4</c:v>
                </c:pt>
                <c:pt idx="3">
                  <c:v>23.41</c:v>
                </c:pt>
                <c:pt idx="4">
                  <c:v>23.11</c:v>
                </c:pt>
                <c:pt idx="5">
                  <c:v>22.84</c:v>
                </c:pt>
                <c:pt idx="6">
                  <c:v>22.89</c:v>
                </c:pt>
                <c:pt idx="7">
                  <c:v>22.93</c:v>
                </c:pt>
                <c:pt idx="8">
                  <c:v>23.04</c:v>
                </c:pt>
                <c:pt idx="9">
                  <c:v>23.5</c:v>
                </c:pt>
                <c:pt idx="10">
                  <c:v>23.89</c:v>
                </c:pt>
                <c:pt idx="11">
                  <c:v>23.46</c:v>
                </c:pt>
              </c:numCache>
            </c:numRef>
          </c:val>
          <c:smooth val="0"/>
        </c:ser>
        <c:marker val="1"/>
        <c:axId val="60010"/>
        <c:axId val="60020"/>
      </c:lineChart>
      <c:catAx>
        <c:axId val="60010"/>
        <c:scaling>
          <c:orientation val="minMax"/>
        </c:scaling>
        <c:delete val="0"/>
        <c:axPos val="b"/>
        <c:numFmt formatCode="General" sourceLinked="0"/>
        <c:majorTickMark val="none"/>
        <c:minorTickMark val="none"/>
        <c:tickLblPos val="low"/>
        <c:spPr>
          <a:ln w="9525">
            <a:solidFill>
              <a:srgbClr val="B7C0C5"/>
            </a:solidFill>
          </a:ln>
        </c:spPr>
        <c:txPr>
          <a:bodyPr/>
          <a:lstStyle/>
          <a:p>
            <a:pPr>
              <a:defRPr sz="800" b="0">
                <a:solidFill>
                  <a:srgbClr val="5B6770"/>
                </a:solidFill>
                <a:latin typeface="Arial"/>
                <a:cs typeface="Arial"/>
              </a:defRPr>
            </a:pPr>
            <a:endParaRPr lang="fr-FR"/>
          </a:p>
        </c:txPr>
        <c:crossAx val="60020"/>
        <c:crosses val="autoZero"/>
        <c:auto val="1"/>
        <c:lblAlgn val="ctr"/>
        <c:lblOffset val="100"/>
        <c:noMultiLvlLbl val="0"/>
      </c:catAx>
      <c:valAx>
        <c:axId val="60020"/>
        <c:scaling>
          <c:orientation val="minMax"/>
          <c:max val="26.0"/>
          <c:min val="21.5"/>
        </c:scaling>
        <c:delete val="0"/>
        <c:axPos val="l"/>
        <c:majorGridlines>
          <c:spPr>
            <a:ln w="6350">
              <a:solidFill>
                <a:srgbClr val="E3E8EB"/>
              </a:solidFill>
            </a:ln>
          </c:spPr>
        </c:majorGridlines>
        <c:numFmt formatCode="0.0" sourceLinked="0"/>
        <c:majorTickMark val="none"/>
        <c:minorTickMark val="none"/>
        <c:tickLblPos val="low"/>
        <c:spPr>
          <a:ln w="6350">
            <a:solidFill>
              <a:srgbClr val="FFFFFF"/>
            </a:solidFill>
          </a:ln>
        </c:spPr>
        <c:txPr>
          <a:bodyPr/>
          <a:lstStyle/>
          <a:p>
            <a:pPr>
              <a:defRPr sz="800" b="0">
                <a:solidFill>
                  <a:srgbClr val="5B6770"/>
                </a:solidFill>
                <a:latin typeface="Arial"/>
                <a:cs typeface="Arial"/>
              </a:defRPr>
            </a:pPr>
            <a:endParaRPr lang="fr-FR"/>
          </a:p>
        </c:txPr>
        <c:crossAx val="60010"/>
        <c:crosses val="autoZero"/>
        <c:crossBetween val="between"/>
        <c:majorUnit val="0.5"/>
      </c:valAx>
    </c:plotArea>
    <c:plotVisOnly val="1"/>
    <c:dispBlanksAs val="gap"/>
  </c:chart>
  <c:spPr>
    <a:noFill/>
    <a:ln>
      <a:noFill/>
    </a:ln>
  </c:spPr>
  <c:txPr>
    <a:bodyPr/>
    <a:lstStyle/>
    <a:p>
      <a:pPr>
        <a:defRPr sz="1000" b="0">
          <a:solidFill>
            <a:srgbClr val="5B6770"/>
          </a:solidFill>
          <a:latin typeface="Arial"/>
          <a:cs typeface="Arial"/>
        </a:defRPr>
      </a:pPr>
      <a:endParaRPr lang="fr-FR"/>
    </a:p>
  </c:txPr>
</c:chartSpace>
</file>

<file path=ppt/charts/chart15.xml><?xml version="1.0" encoding="utf-8"?>
<c:chartSpace xmlns:c="http://schemas.openxmlformats.org/drawingml/2006/chart" xmlns:a="http://schemas.openxmlformats.org/drawingml/2006/main" xmlns:r="http://schemas.openxmlformats.org/officeDocument/2006/relationships">
  <c:roundedCorners val="0"/>
  <c:chart>
    <c:autoTitleDeleted val="1"/>
    <c:plotArea>
      <c:layout/>
      <c:lineChart>
        <c:grouping val="standard"/>
        <c:varyColors val="0"/>
        <c:ser>
          <c:idx val="0"/>
          <c:order val="0"/>
          <c:tx>
            <c:strRef>
              <c:f>Sheet1!$B$1</c:f>
              <c:strCache>
                <c:ptCount val="1"/>
                <c:pt idx="0">
                  <c:v>2007/08</c:v>
                </c:pt>
              </c:strCache>
            </c:strRef>
          </c:tx>
          <c:spPr>
            <a:ln w="13970" cap="rnd">
              <a:solidFill>
                <a:srgbClr val="1F77B4"/>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Sheet1!$B$2:$B$13</c:f>
              <c:numCache>
                <c:formatCode>General</c:formatCode>
                <c:ptCount val="12"/>
                <c:pt idx="0">
                  <c:v>171.0</c:v>
                </c:pt>
                <c:pt idx="1">
                  <c:v>38.0</c:v>
                </c:pt>
                <c:pt idx="2">
                  <c:v>151.0</c:v>
                </c:pt>
                <c:pt idx="3">
                  <c:v>167.0</c:v>
                </c:pt>
                <c:pt idx="4">
                  <c:v>258.0</c:v>
                </c:pt>
                <c:pt idx="5">
                  <c:v>367.0</c:v>
                </c:pt>
                <c:pt idx="6">
                  <c:v>187.0</c:v>
                </c:pt>
                <c:pt idx="7">
                  <c:v>155.0</c:v>
                </c:pt>
                <c:pt idx="8">
                  <c:v>372.0</c:v>
                </c:pt>
                <c:pt idx="9">
                  <c:v>309.0</c:v>
                </c:pt>
                <c:pt idx="10">
                  <c:v>62.0</c:v>
                </c:pt>
                <c:pt idx="11">
                  <c:v>70.0</c:v>
                </c:pt>
              </c:numCache>
            </c:numRef>
          </c:val>
          <c:smooth val="0"/>
        </c:ser>
        <c:ser>
          <c:idx val="1"/>
          <c:order val="1"/>
          <c:tx>
            <c:strRef>
              <c:f>Sheet1!$C$1</c:f>
              <c:strCache>
                <c:ptCount val="1"/>
                <c:pt idx="0">
                  <c:v>2010/11</c:v>
                </c:pt>
              </c:strCache>
            </c:strRef>
          </c:tx>
          <c:spPr>
            <a:ln w="13970" cap="rnd">
              <a:solidFill>
                <a:srgbClr val="FF7F0E"/>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Sheet1!$C$2:$C$13</c:f>
              <c:numCache>
                <c:formatCode>General</c:formatCode>
                <c:ptCount val="12"/>
                <c:pt idx="0">
                  <c:v>274.0</c:v>
                </c:pt>
                <c:pt idx="1">
                  <c:v>249.0</c:v>
                </c:pt>
                <c:pt idx="2">
                  <c:v>406.0</c:v>
                </c:pt>
                <c:pt idx="3">
                  <c:v>502.0</c:v>
                </c:pt>
                <c:pt idx="4">
                  <c:v>382.0</c:v>
                </c:pt>
                <c:pt idx="5">
                  <c:v>294.0</c:v>
                </c:pt>
                <c:pt idx="6">
                  <c:v>275.0</c:v>
                </c:pt>
                <c:pt idx="7">
                  <c:v>112.0</c:v>
                </c:pt>
                <c:pt idx="8">
                  <c:v>254.0</c:v>
                </c:pt>
                <c:pt idx="9">
                  <c:v>359.0</c:v>
                </c:pt>
                <c:pt idx="10">
                  <c:v>162.0</c:v>
                </c:pt>
                <c:pt idx="11">
                  <c:v>296.0</c:v>
                </c:pt>
              </c:numCache>
            </c:numRef>
          </c:val>
          <c:smooth val="0"/>
        </c:ser>
        <c:ser>
          <c:idx val="2"/>
          <c:order val="2"/>
          <c:tx>
            <c:strRef>
              <c:f>Sheet1!$D$1</c:f>
              <c:strCache>
                <c:ptCount val="1"/>
                <c:pt idx="0">
                  <c:v>2011/12</c:v>
                </c:pt>
              </c:strCache>
            </c:strRef>
          </c:tx>
          <c:spPr>
            <a:ln w="13970" cap="rnd">
              <a:solidFill>
                <a:srgbClr val="2CA02C"/>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Sheet1!$D$2:$D$13</c:f>
              <c:numCache>
                <c:formatCode>General</c:formatCode>
                <c:ptCount val="12"/>
                <c:pt idx="0">
                  <c:v>115.0</c:v>
                </c:pt>
                <c:pt idx="1">
                  <c:v>85.0</c:v>
                </c:pt>
                <c:pt idx="2">
                  <c:v>31.0</c:v>
                </c:pt>
                <c:pt idx="3">
                  <c:v>152.0</c:v>
                </c:pt>
                <c:pt idx="4">
                  <c:v>268.0</c:v>
                </c:pt>
                <c:pt idx="5">
                  <c:v>267.0</c:v>
                </c:pt>
                <c:pt idx="6">
                  <c:v>248.0</c:v>
                </c:pt>
                <c:pt idx="7">
                  <c:v>193.0</c:v>
                </c:pt>
                <c:pt idx="8">
                  <c:v>144.0</c:v>
                </c:pt>
                <c:pt idx="9">
                  <c:v>334.0</c:v>
                </c:pt>
                <c:pt idx="10">
                  <c:v>206.0</c:v>
                </c:pt>
                <c:pt idx="11">
                  <c:v>96.0</c:v>
                </c:pt>
              </c:numCache>
            </c:numRef>
          </c:val>
          <c:smooth val="0"/>
        </c:ser>
        <c:ser>
          <c:idx val="3"/>
          <c:order val="3"/>
          <c:tx>
            <c:strRef>
              <c:f>Sheet1!$E$1</c:f>
              <c:strCache>
                <c:ptCount val="1"/>
                <c:pt idx="0">
                  <c:v>2020/21</c:v>
                </c:pt>
              </c:strCache>
            </c:strRef>
          </c:tx>
          <c:spPr>
            <a:ln w="13970" cap="rnd">
              <a:solidFill>
                <a:srgbClr val="9467BD"/>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Sheet1!$E$2:$E$13</c:f>
              <c:numCache>
                <c:formatCode>General</c:formatCode>
                <c:ptCount val="12"/>
                <c:pt idx="0">
                  <c:v>141.0</c:v>
                </c:pt>
                <c:pt idx="1">
                  <c:v>144.0</c:v>
                </c:pt>
                <c:pt idx="2">
                  <c:v>295.0</c:v>
                </c:pt>
                <c:pt idx="3">
                  <c:v>483.0</c:v>
                </c:pt>
                <c:pt idx="4">
                  <c:v>479.0</c:v>
                </c:pt>
                <c:pt idx="5">
                  <c:v>425.0</c:v>
                </c:pt>
                <c:pt idx="6">
                  <c:v>455.0</c:v>
                </c:pt>
                <c:pt idx="7">
                  <c:v>277.0</c:v>
                </c:pt>
                <c:pt idx="8">
                  <c:v>245.0</c:v>
                </c:pt>
                <c:pt idx="9">
                  <c:v>369.0</c:v>
                </c:pt>
                <c:pt idx="10">
                  <c:v>426.0</c:v>
                </c:pt>
                <c:pt idx="11">
                  <c:v>214.0</c:v>
                </c:pt>
              </c:numCache>
            </c:numRef>
          </c:val>
          <c:smooth val="0"/>
        </c:ser>
        <c:ser>
          <c:idx val="4"/>
          <c:order val="4"/>
          <c:tx>
            <c:strRef>
              <c:f>Sheet1!$F$1</c:f>
              <c:strCache>
                <c:ptCount val="1"/>
                <c:pt idx="0">
                  <c:v>2021/22</c:v>
                </c:pt>
              </c:strCache>
            </c:strRef>
          </c:tx>
          <c:spPr>
            <a:ln w="13970" cap="rnd">
              <a:solidFill>
                <a:srgbClr val="8C564B"/>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Sheet1!$F$2:$F$13</c:f>
              <c:numCache>
                <c:formatCode>General</c:formatCode>
                <c:ptCount val="12"/>
                <c:pt idx="0">
                  <c:v>166.0</c:v>
                </c:pt>
                <c:pt idx="1">
                  <c:v>247.0</c:v>
                </c:pt>
                <c:pt idx="2">
                  <c:v>334.0</c:v>
                </c:pt>
                <c:pt idx="3">
                  <c:v>437.0</c:v>
                </c:pt>
                <c:pt idx="4">
                  <c:v>298.0</c:v>
                </c:pt>
                <c:pt idx="5">
                  <c:v>276.0</c:v>
                </c:pt>
                <c:pt idx="6">
                  <c:v>244.0</c:v>
                </c:pt>
                <c:pt idx="7">
                  <c:v>225.0</c:v>
                </c:pt>
                <c:pt idx="8">
                  <c:v>192.0</c:v>
                </c:pt>
                <c:pt idx="9">
                  <c:v>297.0</c:v>
                </c:pt>
                <c:pt idx="10">
                  <c:v>317.0</c:v>
                </c:pt>
                <c:pt idx="11">
                  <c:v>464.0</c:v>
                </c:pt>
              </c:numCache>
            </c:numRef>
          </c:val>
          <c:smooth val="0"/>
        </c:ser>
        <c:ser>
          <c:idx val="5"/>
          <c:order val="5"/>
          <c:tx>
            <c:strRef>
              <c:f>Sheet1!$G$1</c:f>
              <c:strCache>
                <c:ptCount val="1"/>
                <c:pt idx="0">
                  <c:v>2022/23</c:v>
                </c:pt>
              </c:strCache>
            </c:strRef>
          </c:tx>
          <c:spPr>
            <a:ln w="13970" cap="rnd">
              <a:solidFill>
                <a:srgbClr val="E377C2"/>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Sheet1!$G$2:$G$13</c:f>
              <c:numCache>
                <c:formatCode>General</c:formatCode>
                <c:ptCount val="12"/>
                <c:pt idx="0">
                  <c:v>320.0</c:v>
                </c:pt>
                <c:pt idx="1">
                  <c:v>486.0</c:v>
                </c:pt>
                <c:pt idx="2">
                  <c:v>345.0</c:v>
                </c:pt>
                <c:pt idx="3">
                  <c:v>512.0</c:v>
                </c:pt>
                <c:pt idx="4">
                  <c:v>444.0</c:v>
                </c:pt>
                <c:pt idx="5">
                  <c:v>364.0</c:v>
                </c:pt>
                <c:pt idx="6">
                  <c:v>316.0</c:v>
                </c:pt>
                <c:pt idx="7">
                  <c:v>174.0</c:v>
                </c:pt>
                <c:pt idx="8">
                  <c:v>392.0</c:v>
                </c:pt>
                <c:pt idx="9">
                  <c:v>317.0</c:v>
                </c:pt>
                <c:pt idx="10">
                  <c:v>123.0</c:v>
                </c:pt>
                <c:pt idx="11">
                  <c:v>106.0</c:v>
                </c:pt>
              </c:numCache>
            </c:numRef>
          </c:val>
          <c:smooth val="0"/>
        </c:ser>
        <c:ser>
          <c:idx val="6"/>
          <c:order val="6"/>
          <c:tx>
            <c:strRef>
              <c:f>Sheet1!$H$1</c:f>
              <c:strCache>
                <c:ptCount val="1"/>
                <c:pt idx="0">
                  <c:v>Average</c:v>
                </c:pt>
              </c:strCache>
            </c:strRef>
          </c:tx>
          <c:spPr>
            <a:ln w="28575" cap="rnd">
              <a:solidFill>
                <a:srgbClr val="000000"/>
              </a:solidFill>
              <a:prstDash val="dash"/>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Sheet1!$H$2:$H$13</c:f>
              <c:numCache>
                <c:formatCode>General</c:formatCode>
                <c:ptCount val="12"/>
                <c:pt idx="0">
                  <c:v>198.0</c:v>
                </c:pt>
                <c:pt idx="1">
                  <c:v>208.0</c:v>
                </c:pt>
                <c:pt idx="2">
                  <c:v>260.0</c:v>
                </c:pt>
                <c:pt idx="3">
                  <c:v>376.0</c:v>
                </c:pt>
                <c:pt idx="4">
                  <c:v>355.0</c:v>
                </c:pt>
                <c:pt idx="5">
                  <c:v>332.0</c:v>
                </c:pt>
                <c:pt idx="6">
                  <c:v>288.0</c:v>
                </c:pt>
                <c:pt idx="7">
                  <c:v>189.0</c:v>
                </c:pt>
                <c:pt idx="8">
                  <c:v>266.0</c:v>
                </c:pt>
                <c:pt idx="9">
                  <c:v>331.0</c:v>
                </c:pt>
                <c:pt idx="10">
                  <c:v>216.0</c:v>
                </c:pt>
                <c:pt idx="11">
                  <c:v>208.0</c:v>
                </c:pt>
              </c:numCache>
            </c:numRef>
          </c:val>
          <c:smooth val="0"/>
        </c:ser>
        <c:marker val="1"/>
        <c:axId val="60010"/>
        <c:axId val="60020"/>
      </c:lineChart>
      <c:catAx>
        <c:axId val="60010"/>
        <c:scaling>
          <c:orientation val="minMax"/>
        </c:scaling>
        <c:delete val="0"/>
        <c:axPos val="b"/>
        <c:numFmt formatCode="General" sourceLinked="0"/>
        <c:majorTickMark val="none"/>
        <c:minorTickMark val="none"/>
        <c:tickLblPos val="low"/>
        <c:spPr>
          <a:ln w="9525">
            <a:solidFill>
              <a:srgbClr val="B7C0C5"/>
            </a:solidFill>
          </a:ln>
        </c:spPr>
        <c:txPr>
          <a:bodyPr/>
          <a:lstStyle/>
          <a:p>
            <a:pPr>
              <a:defRPr sz="800" b="0">
                <a:solidFill>
                  <a:srgbClr val="5B6770"/>
                </a:solidFill>
                <a:latin typeface="Arial"/>
                <a:cs typeface="Arial"/>
              </a:defRPr>
            </a:pPr>
            <a:endParaRPr lang="fr-FR"/>
          </a:p>
        </c:txPr>
        <c:crossAx val="60020"/>
        <c:crosses val="autoZero"/>
        <c:auto val="1"/>
        <c:lblAlgn val="ctr"/>
        <c:lblOffset val="100"/>
        <c:noMultiLvlLbl val="0"/>
      </c:catAx>
      <c:valAx>
        <c:axId val="60020"/>
        <c:scaling>
          <c:orientation val="minMax"/>
          <c:max val="900"/>
          <c:min val="0"/>
        </c:scaling>
        <c:delete val="0"/>
        <c:axPos val="l"/>
        <c:majorGridlines>
          <c:spPr>
            <a:ln w="6350">
              <a:solidFill>
                <a:srgbClr val="E3E8EB"/>
              </a:solidFill>
            </a:ln>
          </c:spPr>
        </c:majorGridlines>
        <c:numFmt formatCode="0" sourceLinked="0"/>
        <c:majorTickMark val="none"/>
        <c:minorTickMark val="none"/>
        <c:tickLblPos val="low"/>
        <c:spPr>
          <a:ln w="6350">
            <a:solidFill>
              <a:srgbClr val="FFFFFF"/>
            </a:solidFill>
          </a:ln>
        </c:spPr>
        <c:txPr>
          <a:bodyPr/>
          <a:lstStyle/>
          <a:p>
            <a:pPr>
              <a:defRPr sz="800" b="0">
                <a:solidFill>
                  <a:srgbClr val="5B6770"/>
                </a:solidFill>
                <a:latin typeface="Arial"/>
                <a:cs typeface="Arial"/>
              </a:defRPr>
            </a:pPr>
            <a:endParaRPr lang="fr-FR"/>
          </a:p>
        </c:txPr>
        <c:crossAx val="60010"/>
        <c:crosses val="autoZero"/>
        <c:crossBetween val="between"/>
        <c:majorUnit val="200"/>
      </c:valAx>
    </c:plotArea>
    <c:legend>
      <c:legendPos val="b"/>
      <c:overlay val="0"/>
      <c:txPr>
        <a:bodyPr/>
        <a:lstStyle/>
        <a:p>
          <a:pPr>
            <a:defRPr sz="700" b="0">
              <a:solidFill>
                <a:srgbClr val="1F2A30"/>
              </a:solidFill>
              <a:latin typeface="Arial"/>
              <a:cs typeface="Arial"/>
            </a:defRPr>
          </a:pPr>
          <a:endParaRPr lang="fr-FR"/>
        </a:p>
      </c:txPr>
    </c:legend>
    <c:plotVisOnly val="1"/>
    <c:dispBlanksAs val="gap"/>
  </c:chart>
  <c:spPr>
    <a:noFill/>
    <a:ln>
      <a:noFill/>
    </a:ln>
  </c:spPr>
  <c:txPr>
    <a:bodyPr/>
    <a:lstStyle/>
    <a:p>
      <a:pPr>
        <a:defRPr sz="1000" b="0">
          <a:solidFill>
            <a:srgbClr val="5B6770"/>
          </a:solidFill>
          <a:latin typeface="Arial"/>
          <a:cs typeface="Arial"/>
        </a:defRPr>
      </a:pPr>
      <a:endParaRPr lang="fr-FR"/>
    </a:p>
  </c:txPr>
</c:chartSpace>
</file>

<file path=ppt/charts/chart16.xml><?xml version="1.0" encoding="utf-8"?>
<c:chartSpace xmlns:c="http://schemas.openxmlformats.org/drawingml/2006/chart" xmlns:a="http://schemas.openxmlformats.org/drawingml/2006/main" xmlns:r="http://schemas.openxmlformats.org/officeDocument/2006/relationships">
  <c:roundedCorners val="0"/>
  <c:chart>
    <c:autoTitleDeleted val="1"/>
    <c:plotArea>
      <c:layout/>
      <c:lineChart>
        <c:grouping val="standard"/>
        <c:varyColors val="0"/>
        <c:ser>
          <c:idx val="0"/>
          <c:order val="0"/>
          <c:tx>
            <c:strRef>
              <c:f>Sheet1!$B$1</c:f>
              <c:strCache>
                <c:ptCount val="1"/>
                <c:pt idx="0">
                  <c:v>2008/09</c:v>
                </c:pt>
              </c:strCache>
            </c:strRef>
          </c:tx>
          <c:spPr>
            <a:ln w="13970" cap="rnd">
              <a:solidFill>
                <a:srgbClr val="1F77B4"/>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Sheet1!$B$2:$B$13</c:f>
              <c:numCache>
                <c:formatCode>General</c:formatCode>
                <c:ptCount val="12"/>
                <c:pt idx="0">
                  <c:v>22.78</c:v>
                </c:pt>
                <c:pt idx="1">
                  <c:v>23.2</c:v>
                </c:pt>
                <c:pt idx="2">
                  <c:v>23.33</c:v>
                </c:pt>
                <c:pt idx="3">
                  <c:v>23.62</c:v>
                </c:pt>
                <c:pt idx="4">
                  <c:v>23.12</c:v>
                </c:pt>
                <c:pt idx="5">
                  <c:v>22.7</c:v>
                </c:pt>
                <c:pt idx="6">
                  <c:v>22.67</c:v>
                </c:pt>
                <c:pt idx="7">
                  <c:v>22.58</c:v>
                </c:pt>
                <c:pt idx="8">
                  <c:v>23.15</c:v>
                </c:pt>
                <c:pt idx="9">
                  <c:v>23.72</c:v>
                </c:pt>
                <c:pt idx="10">
                  <c:v>23.52</c:v>
                </c:pt>
                <c:pt idx="11">
                  <c:v>23.38</c:v>
                </c:pt>
              </c:numCache>
            </c:numRef>
          </c:val>
          <c:smooth val="0"/>
        </c:ser>
        <c:ser>
          <c:idx val="1"/>
          <c:order val="1"/>
          <c:tx>
            <c:strRef>
              <c:f>Sheet1!$C$1</c:f>
              <c:strCache>
                <c:ptCount val="1"/>
                <c:pt idx="0">
                  <c:v>2012/13</c:v>
                </c:pt>
              </c:strCache>
            </c:strRef>
          </c:tx>
          <c:spPr>
            <a:ln w="13970" cap="rnd">
              <a:solidFill>
                <a:srgbClr val="FF7F0E"/>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Sheet1!$C$2:$C$13</c:f>
              <c:numCache>
                <c:formatCode>General</c:formatCode>
                <c:ptCount val="12"/>
                <c:pt idx="0">
                  <c:v>23.03</c:v>
                </c:pt>
                <c:pt idx="1">
                  <c:v>23.22</c:v>
                </c:pt>
                <c:pt idx="2">
                  <c:v>23.52</c:v>
                </c:pt>
                <c:pt idx="3">
                  <c:v>23.92</c:v>
                </c:pt>
                <c:pt idx="4">
                  <c:v>23.63</c:v>
                </c:pt>
                <c:pt idx="5">
                  <c:v>23.03</c:v>
                </c:pt>
                <c:pt idx="6">
                  <c:v>22.73</c:v>
                </c:pt>
                <c:pt idx="7">
                  <c:v>22.82</c:v>
                </c:pt>
                <c:pt idx="8">
                  <c:v>23.86</c:v>
                </c:pt>
                <c:pt idx="9">
                  <c:v>23.6</c:v>
                </c:pt>
                <c:pt idx="10">
                  <c:v>23.85</c:v>
                </c:pt>
                <c:pt idx="11">
                  <c:v>23.12</c:v>
                </c:pt>
              </c:numCache>
            </c:numRef>
          </c:val>
          <c:smooth val="0"/>
        </c:ser>
        <c:ser>
          <c:idx val="2"/>
          <c:order val="2"/>
          <c:tx>
            <c:strRef>
              <c:f>Sheet1!$D$1</c:f>
              <c:strCache>
                <c:ptCount val="1"/>
                <c:pt idx="0">
                  <c:v>2013/14</c:v>
                </c:pt>
              </c:strCache>
            </c:strRef>
          </c:tx>
          <c:spPr>
            <a:ln w="13970" cap="rnd">
              <a:solidFill>
                <a:srgbClr val="2CA02C"/>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Sheet1!$D$2:$D$13</c:f>
              <c:numCache>
                <c:formatCode>General</c:formatCode>
                <c:ptCount val="12"/>
                <c:pt idx="0">
                  <c:v>22.71</c:v>
                </c:pt>
                <c:pt idx="1">
                  <c:v>22.86</c:v>
                </c:pt>
                <c:pt idx="2">
                  <c:v>23.14</c:v>
                </c:pt>
                <c:pt idx="3">
                  <c:v>23.49</c:v>
                </c:pt>
                <c:pt idx="4">
                  <c:v>23.05</c:v>
                </c:pt>
                <c:pt idx="5">
                  <c:v>22.86</c:v>
                </c:pt>
                <c:pt idx="6">
                  <c:v>22.65</c:v>
                </c:pt>
                <c:pt idx="7">
                  <c:v>23.13</c:v>
                </c:pt>
                <c:pt idx="8">
                  <c:v>23.73</c:v>
                </c:pt>
                <c:pt idx="9">
                  <c:v>23.46</c:v>
                </c:pt>
                <c:pt idx="10">
                  <c:v>24.24</c:v>
                </c:pt>
                <c:pt idx="11">
                  <c:v>23.67</c:v>
                </c:pt>
              </c:numCache>
            </c:numRef>
          </c:val>
          <c:smooth val="0"/>
        </c:ser>
        <c:ser>
          <c:idx val="3"/>
          <c:order val="3"/>
          <c:tx>
            <c:strRef>
              <c:f>Sheet1!$E$1</c:f>
              <c:strCache>
                <c:ptCount val="1"/>
                <c:pt idx="0">
                  <c:v>2014/15</c:v>
                </c:pt>
              </c:strCache>
            </c:strRef>
          </c:tx>
          <c:spPr>
            <a:ln w="13970" cap="rnd">
              <a:solidFill>
                <a:srgbClr val="9467BD"/>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Sheet1!$E$2:$E$13</c:f>
              <c:numCache>
                <c:formatCode>General</c:formatCode>
                <c:ptCount val="12"/>
                <c:pt idx="0">
                  <c:v>23.17</c:v>
                </c:pt>
                <c:pt idx="1">
                  <c:v>23.35</c:v>
                </c:pt>
                <c:pt idx="2">
                  <c:v>23.35</c:v>
                </c:pt>
                <c:pt idx="3">
                  <c:v>23.91</c:v>
                </c:pt>
                <c:pt idx="4">
                  <c:v>23.51</c:v>
                </c:pt>
                <c:pt idx="5">
                  <c:v>22.79</c:v>
                </c:pt>
                <c:pt idx="6">
                  <c:v>22.74</c:v>
                </c:pt>
                <c:pt idx="7">
                  <c:v>23.05</c:v>
                </c:pt>
                <c:pt idx="8">
                  <c:v>23.31</c:v>
                </c:pt>
                <c:pt idx="9">
                  <c:v>23.33</c:v>
                </c:pt>
                <c:pt idx="10">
                  <c:v>23.97</c:v>
                </c:pt>
                <c:pt idx="11">
                  <c:v>23.77</c:v>
                </c:pt>
              </c:numCache>
            </c:numRef>
          </c:val>
          <c:smooth val="0"/>
        </c:ser>
        <c:ser>
          <c:idx val="4"/>
          <c:order val="4"/>
          <c:tx>
            <c:strRef>
              <c:f>Sheet1!$F$1</c:f>
              <c:strCache>
                <c:ptCount val="1"/>
                <c:pt idx="0">
                  <c:v>2016/17</c:v>
                </c:pt>
              </c:strCache>
            </c:strRef>
          </c:tx>
          <c:spPr>
            <a:ln w="13970" cap="rnd">
              <a:solidFill>
                <a:srgbClr val="8C564B"/>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Sheet1!$F$2:$F$13</c:f>
              <c:numCache>
                <c:formatCode>General</c:formatCode>
                <c:ptCount val="12"/>
                <c:pt idx="0">
                  <c:v>23.55</c:v>
                </c:pt>
                <c:pt idx="1">
                  <c:v>23.3</c:v>
                </c:pt>
                <c:pt idx="2">
                  <c:v>23.24</c:v>
                </c:pt>
                <c:pt idx="3">
                  <c:v>22.92</c:v>
                </c:pt>
                <c:pt idx="4">
                  <c:v>23.1</c:v>
                </c:pt>
                <c:pt idx="5">
                  <c:v>22.69</c:v>
                </c:pt>
                <c:pt idx="6">
                  <c:v>22.78</c:v>
                </c:pt>
                <c:pt idx="7">
                  <c:v>22.8</c:v>
                </c:pt>
                <c:pt idx="8">
                  <c:v>23.3</c:v>
                </c:pt>
                <c:pt idx="9">
                  <c:v>23.36</c:v>
                </c:pt>
                <c:pt idx="10">
                  <c:v>24.16</c:v>
                </c:pt>
                <c:pt idx="11">
                  <c:v>23.59</c:v>
                </c:pt>
              </c:numCache>
            </c:numRef>
          </c:val>
          <c:smooth val="0"/>
        </c:ser>
        <c:ser>
          <c:idx val="5"/>
          <c:order val="5"/>
          <c:tx>
            <c:strRef>
              <c:f>Sheet1!$G$1</c:f>
              <c:strCache>
                <c:ptCount val="1"/>
                <c:pt idx="0">
                  <c:v>2017/18</c:v>
                </c:pt>
              </c:strCache>
            </c:strRef>
          </c:tx>
          <c:spPr>
            <a:ln w="13970" cap="rnd">
              <a:solidFill>
                <a:srgbClr val="E377C2"/>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Sheet1!$G$2:$G$13</c:f>
              <c:numCache>
                <c:formatCode>General</c:formatCode>
                <c:ptCount val="12"/>
                <c:pt idx="0">
                  <c:v>23.33</c:v>
                </c:pt>
                <c:pt idx="1">
                  <c:v>23.33</c:v>
                </c:pt>
                <c:pt idx="2">
                  <c:v>23.57</c:v>
                </c:pt>
                <c:pt idx="3">
                  <c:v>23.46</c:v>
                </c:pt>
                <c:pt idx="4">
                  <c:v>23.31</c:v>
                </c:pt>
                <c:pt idx="5">
                  <c:v>23.21</c:v>
                </c:pt>
                <c:pt idx="6">
                  <c:v>22.41</c:v>
                </c:pt>
                <c:pt idx="7">
                  <c:v>23.21</c:v>
                </c:pt>
                <c:pt idx="8">
                  <c:v>23.27</c:v>
                </c:pt>
                <c:pt idx="9">
                  <c:v>23.99</c:v>
                </c:pt>
                <c:pt idx="10">
                  <c:v>24.05</c:v>
                </c:pt>
                <c:pt idx="11">
                  <c:v>23.59</c:v>
                </c:pt>
              </c:numCache>
            </c:numRef>
          </c:val>
          <c:smooth val="0"/>
        </c:ser>
        <c:ser>
          <c:idx val="6"/>
          <c:order val="6"/>
          <c:tx>
            <c:strRef>
              <c:f>Sheet1!$H$1</c:f>
              <c:strCache>
                <c:ptCount val="1"/>
                <c:pt idx="0">
                  <c:v>2019/20</c:v>
                </c:pt>
              </c:strCache>
            </c:strRef>
          </c:tx>
          <c:spPr>
            <a:ln w="13970" cap="rnd">
              <a:solidFill>
                <a:srgbClr val="17BECF"/>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Sheet1!$H$2:$H$13</c:f>
              <c:numCache>
                <c:formatCode>General</c:formatCode>
                <c:ptCount val="12"/>
                <c:pt idx="0">
                  <c:v>23.21</c:v>
                </c:pt>
                <c:pt idx="1">
                  <c:v>23.21</c:v>
                </c:pt>
                <c:pt idx="2">
                  <c:v>23.94</c:v>
                </c:pt>
                <c:pt idx="3">
                  <c:v>24.74</c:v>
                </c:pt>
                <c:pt idx="4">
                  <c:v>25.09</c:v>
                </c:pt>
                <c:pt idx="5">
                  <c:v>23.94</c:v>
                </c:pt>
                <c:pt idx="6">
                  <c:v>23.94</c:v>
                </c:pt>
                <c:pt idx="7">
                  <c:v>23.96</c:v>
                </c:pt>
                <c:pt idx="8">
                  <c:v>23.96</c:v>
                </c:pt>
                <c:pt idx="9">
                  <c:v>24.13</c:v>
                </c:pt>
                <c:pt idx="10">
                  <c:v>24.28</c:v>
                </c:pt>
                <c:pt idx="11">
                  <c:v>23.75</c:v>
                </c:pt>
              </c:numCache>
            </c:numRef>
          </c:val>
          <c:smooth val="0"/>
        </c:ser>
        <c:ser>
          <c:idx val="7"/>
          <c:order val="7"/>
          <c:tx>
            <c:strRef>
              <c:f>Sheet1!$I$1</c:f>
              <c:strCache>
                <c:ptCount val="1"/>
                <c:pt idx="0">
                  <c:v>2024/25</c:v>
                </c:pt>
              </c:strCache>
            </c:strRef>
          </c:tx>
          <c:spPr>
            <a:ln w="13970" cap="rnd">
              <a:solidFill>
                <a:srgbClr val="BCBD22"/>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Sheet1!$I$2:$I$13</c:f>
              <c:numCache>
                <c:formatCode>General</c:formatCode>
                <c:ptCount val="12"/>
                <c:pt idx="0">
                  <c:v>23.96</c:v>
                </c:pt>
                <c:pt idx="1">
                  <c:v>23.96</c:v>
                </c:pt>
                <c:pt idx="2">
                  <c:v>24.21</c:v>
                </c:pt>
                <c:pt idx="3">
                  <c:v>24.44</c:v>
                </c:pt>
                <c:pt idx="4">
                  <c:v>23.78</c:v>
                </c:pt>
                <c:pt idx="5">
                  <c:v>23.33</c:v>
                </c:pt>
                <c:pt idx="6">
                  <c:v>23.3</c:v>
                </c:pt>
                <c:pt idx="7">
                  <c:v>23.48</c:v>
                </c:pt>
                <c:pt idx="8">
                  <c:v>23.66</c:v>
                </c:pt>
                <c:pt idx="9">
                  <c:v>23.81</c:v>
                </c:pt>
                <c:pt idx="10">
                  <c:v>24.16</c:v>
                </c:pt>
                <c:pt idx="11">
                  <c:v>23.55</c:v>
                </c:pt>
              </c:numCache>
            </c:numRef>
          </c:val>
          <c:smooth val="0"/>
        </c:ser>
        <c:ser>
          <c:idx val="8"/>
          <c:order val="8"/>
          <c:tx>
            <c:strRef>
              <c:f>Sheet1!$J$1</c:f>
              <c:strCache>
                <c:ptCount val="1"/>
                <c:pt idx="0">
                  <c:v>2025/26</c:v>
                </c:pt>
              </c:strCache>
            </c:strRef>
          </c:tx>
          <c:spPr>
            <a:ln w="13970" cap="rnd">
              <a:solidFill>
                <a:srgbClr val="7F7F7F"/>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Sheet1!$J$2:$J$13</c:f>
              <c:numCache>
                <c:formatCode>General</c:formatCode>
                <c:ptCount val="12"/>
                <c:pt idx="0">
                  <c:v>23.5</c:v>
                </c:pt>
                <c:pt idx="1">
                  <c:v>23.36</c:v>
                </c:pt>
                <c:pt idx="2">
                  <c:v>23.62</c:v>
                </c:pt>
                <c:pt idx="3">
                  <c:v>23.63</c:v>
                </c:pt>
                <c:pt idx="4">
                  <c:v>23.09</c:v>
                </c:pt>
                <c:pt idx="5">
                  <c:v>23.1</c:v>
                </c:pt>
                <c:pt idx="6">
                  <c:v>22.91</c:v>
                </c:pt>
                <c:pt idx="7">
                  <c:v>23.15</c:v>
                </c:pt>
                <c:pt idx="8">
                  <c:v>23.63</c:v>
                </c:pt>
                <c:pt idx="9">
                  <c:v>24.18</c:v>
                </c:pt>
                <c:pt idx="10">
                  <c:v>24.17</c:v>
                </c:pt>
                <c:pt idx="11">
                  <c:v>24.03</c:v>
                </c:pt>
              </c:numCache>
            </c:numRef>
          </c:val>
          <c:smooth val="0"/>
        </c:ser>
        <c:ser>
          <c:idx val="9"/>
          <c:order val="9"/>
          <c:tx>
            <c:strRef>
              <c:f>Sheet1!$K$1</c:f>
              <c:strCache>
                <c:ptCount val="1"/>
                <c:pt idx="0">
                  <c:v>Average</c:v>
                </c:pt>
              </c:strCache>
            </c:strRef>
          </c:tx>
          <c:spPr>
            <a:ln w="28575" cap="rnd">
              <a:solidFill>
                <a:srgbClr val="000000"/>
              </a:solidFill>
              <a:prstDash val="dash"/>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Sheet1!$K$2:$K$13</c:f>
              <c:numCache>
                <c:formatCode>General</c:formatCode>
                <c:ptCount val="12"/>
                <c:pt idx="0">
                  <c:v>23.25</c:v>
                </c:pt>
                <c:pt idx="1">
                  <c:v>23.31</c:v>
                </c:pt>
                <c:pt idx="2">
                  <c:v>23.55</c:v>
                </c:pt>
                <c:pt idx="3">
                  <c:v>23.79</c:v>
                </c:pt>
                <c:pt idx="4">
                  <c:v>23.52</c:v>
                </c:pt>
                <c:pt idx="5">
                  <c:v>23.07</c:v>
                </c:pt>
                <c:pt idx="6">
                  <c:v>22.9</c:v>
                </c:pt>
                <c:pt idx="7">
                  <c:v>23.13</c:v>
                </c:pt>
                <c:pt idx="8">
                  <c:v>23.54</c:v>
                </c:pt>
                <c:pt idx="9">
                  <c:v>23.73</c:v>
                </c:pt>
                <c:pt idx="10">
                  <c:v>24.04</c:v>
                </c:pt>
                <c:pt idx="11">
                  <c:v>23.61</c:v>
                </c:pt>
              </c:numCache>
            </c:numRef>
          </c:val>
          <c:smooth val="0"/>
        </c:ser>
        <c:marker val="1"/>
        <c:axId val="60010"/>
        <c:axId val="60020"/>
      </c:lineChart>
      <c:catAx>
        <c:axId val="60010"/>
        <c:scaling>
          <c:orientation val="minMax"/>
        </c:scaling>
        <c:delete val="0"/>
        <c:axPos val="b"/>
        <c:numFmt formatCode="General" sourceLinked="0"/>
        <c:majorTickMark val="none"/>
        <c:minorTickMark val="none"/>
        <c:tickLblPos val="low"/>
        <c:spPr>
          <a:ln w="9525">
            <a:solidFill>
              <a:srgbClr val="B7C0C5"/>
            </a:solidFill>
          </a:ln>
        </c:spPr>
        <c:txPr>
          <a:bodyPr/>
          <a:lstStyle/>
          <a:p>
            <a:pPr>
              <a:defRPr sz="800" b="0">
                <a:solidFill>
                  <a:srgbClr val="5B6770"/>
                </a:solidFill>
                <a:latin typeface="Arial"/>
                <a:cs typeface="Arial"/>
              </a:defRPr>
            </a:pPr>
            <a:endParaRPr lang="fr-FR"/>
          </a:p>
        </c:txPr>
        <c:crossAx val="60020"/>
        <c:crosses val="autoZero"/>
        <c:auto val="1"/>
        <c:lblAlgn val="ctr"/>
        <c:lblOffset val="100"/>
        <c:noMultiLvlLbl val="0"/>
      </c:catAx>
      <c:valAx>
        <c:axId val="60020"/>
        <c:scaling>
          <c:orientation val="minMax"/>
          <c:max val="26.0"/>
          <c:min val="21.5"/>
        </c:scaling>
        <c:delete val="0"/>
        <c:axPos val="l"/>
        <c:majorGridlines>
          <c:spPr>
            <a:ln w="6350">
              <a:solidFill>
                <a:srgbClr val="E3E8EB"/>
              </a:solidFill>
            </a:ln>
          </c:spPr>
        </c:majorGridlines>
        <c:numFmt formatCode="0.0" sourceLinked="0"/>
        <c:majorTickMark val="none"/>
        <c:minorTickMark val="none"/>
        <c:tickLblPos val="low"/>
        <c:spPr>
          <a:ln w="6350">
            <a:solidFill>
              <a:srgbClr val="FFFFFF"/>
            </a:solidFill>
          </a:ln>
        </c:spPr>
        <c:txPr>
          <a:bodyPr/>
          <a:lstStyle/>
          <a:p>
            <a:pPr>
              <a:defRPr sz="800" b="0">
                <a:solidFill>
                  <a:srgbClr val="5B6770"/>
                </a:solidFill>
                <a:latin typeface="Arial"/>
                <a:cs typeface="Arial"/>
              </a:defRPr>
            </a:pPr>
            <a:endParaRPr lang="fr-FR"/>
          </a:p>
        </c:txPr>
        <c:crossAx val="60010"/>
        <c:crosses val="autoZero"/>
        <c:crossBetween val="between"/>
        <c:majorUnit val="0.5"/>
      </c:valAx>
    </c:plotArea>
    <c:plotVisOnly val="1"/>
    <c:dispBlanksAs val="gap"/>
  </c:chart>
  <c:spPr>
    <a:noFill/>
    <a:ln>
      <a:noFill/>
    </a:ln>
  </c:spPr>
  <c:txPr>
    <a:bodyPr/>
    <a:lstStyle/>
    <a:p>
      <a:pPr>
        <a:defRPr sz="1000" b="0">
          <a:solidFill>
            <a:srgbClr val="5B6770"/>
          </a:solidFill>
          <a:latin typeface="Arial"/>
          <a:cs typeface="Arial"/>
        </a:defRPr>
      </a:pPr>
      <a:endParaRPr lang="fr-FR"/>
    </a:p>
  </c:txPr>
</c:chartSpace>
</file>

<file path=ppt/charts/chart17.xml><?xml version="1.0" encoding="utf-8"?>
<c:chartSpace xmlns:c="http://schemas.openxmlformats.org/drawingml/2006/chart" xmlns:a="http://schemas.openxmlformats.org/drawingml/2006/main" xmlns:r="http://schemas.openxmlformats.org/officeDocument/2006/relationships">
  <c:roundedCorners val="0"/>
  <c:chart>
    <c:autoTitleDeleted val="1"/>
    <c:plotArea>
      <c:layout/>
      <c:lineChart>
        <c:grouping val="standard"/>
        <c:varyColors val="0"/>
        <c:ser>
          <c:idx val="0"/>
          <c:order val="0"/>
          <c:tx>
            <c:strRef>
              <c:f>Sheet1!$B$1</c:f>
              <c:strCache>
                <c:ptCount val="1"/>
                <c:pt idx="0">
                  <c:v>2008/09</c:v>
                </c:pt>
              </c:strCache>
            </c:strRef>
          </c:tx>
          <c:spPr>
            <a:ln w="13970" cap="rnd">
              <a:solidFill>
                <a:srgbClr val="1F77B4"/>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Sheet1!$B$2:$B$13</c:f>
              <c:numCache>
                <c:formatCode>General</c:formatCode>
                <c:ptCount val="12"/>
                <c:pt idx="0">
                  <c:v>61.0</c:v>
                </c:pt>
                <c:pt idx="1">
                  <c:v>193.0</c:v>
                </c:pt>
                <c:pt idx="2">
                  <c:v>158.0</c:v>
                </c:pt>
                <c:pt idx="3">
                  <c:v>223.0</c:v>
                </c:pt>
                <c:pt idx="4">
                  <c:v>615.0</c:v>
                </c:pt>
                <c:pt idx="5">
                  <c:v>656.0</c:v>
                </c:pt>
                <c:pt idx="6">
                  <c:v>323.0</c:v>
                </c:pt>
                <c:pt idx="7">
                  <c:v>184.0</c:v>
                </c:pt>
                <c:pt idx="8">
                  <c:v>294.0</c:v>
                </c:pt>
                <c:pt idx="9">
                  <c:v>398.0</c:v>
                </c:pt>
                <c:pt idx="10">
                  <c:v>129.0</c:v>
                </c:pt>
                <c:pt idx="11">
                  <c:v>215.0</c:v>
                </c:pt>
              </c:numCache>
            </c:numRef>
          </c:val>
          <c:smooth val="0"/>
        </c:ser>
        <c:ser>
          <c:idx val="1"/>
          <c:order val="1"/>
          <c:tx>
            <c:strRef>
              <c:f>Sheet1!$C$1</c:f>
              <c:strCache>
                <c:ptCount val="1"/>
                <c:pt idx="0">
                  <c:v>2012/13</c:v>
                </c:pt>
              </c:strCache>
            </c:strRef>
          </c:tx>
          <c:spPr>
            <a:ln w="13970" cap="rnd">
              <a:solidFill>
                <a:srgbClr val="FF7F0E"/>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Sheet1!$C$2:$C$13</c:f>
              <c:numCache>
                <c:formatCode>General</c:formatCode>
                <c:ptCount val="12"/>
                <c:pt idx="0">
                  <c:v>115.0</c:v>
                </c:pt>
                <c:pt idx="1">
                  <c:v>147.0</c:v>
                </c:pt>
                <c:pt idx="2">
                  <c:v>55.0</c:v>
                </c:pt>
                <c:pt idx="3">
                  <c:v>284.0</c:v>
                </c:pt>
                <c:pt idx="4">
                  <c:v>460.0</c:v>
                </c:pt>
                <c:pt idx="5">
                  <c:v>471.0</c:v>
                </c:pt>
                <c:pt idx="6">
                  <c:v>410.0</c:v>
                </c:pt>
                <c:pt idx="7">
                  <c:v>310.0</c:v>
                </c:pt>
                <c:pt idx="8">
                  <c:v>278.0</c:v>
                </c:pt>
                <c:pt idx="9">
                  <c:v>233.0</c:v>
                </c:pt>
                <c:pt idx="10">
                  <c:v>257.0</c:v>
                </c:pt>
                <c:pt idx="11">
                  <c:v>188.0</c:v>
                </c:pt>
              </c:numCache>
            </c:numRef>
          </c:val>
          <c:smooth val="0"/>
        </c:ser>
        <c:ser>
          <c:idx val="2"/>
          <c:order val="2"/>
          <c:tx>
            <c:strRef>
              <c:f>Sheet1!$D$1</c:f>
              <c:strCache>
                <c:ptCount val="1"/>
                <c:pt idx="0">
                  <c:v>2013/14</c:v>
                </c:pt>
              </c:strCache>
            </c:strRef>
          </c:tx>
          <c:spPr>
            <a:ln w="13970" cap="rnd">
              <a:solidFill>
                <a:srgbClr val="2CA02C"/>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Sheet1!$D$2:$D$13</c:f>
              <c:numCache>
                <c:formatCode>General</c:formatCode>
                <c:ptCount val="12"/>
                <c:pt idx="0">
                  <c:v>372.0</c:v>
                </c:pt>
                <c:pt idx="1">
                  <c:v>159.0</c:v>
                </c:pt>
                <c:pt idx="2">
                  <c:v>288.0</c:v>
                </c:pt>
                <c:pt idx="3">
                  <c:v>258.0</c:v>
                </c:pt>
                <c:pt idx="4">
                  <c:v>480.0</c:v>
                </c:pt>
                <c:pt idx="5">
                  <c:v>384.0</c:v>
                </c:pt>
                <c:pt idx="6">
                  <c:v>294.0</c:v>
                </c:pt>
                <c:pt idx="7">
                  <c:v>186.0</c:v>
                </c:pt>
                <c:pt idx="8">
                  <c:v>213.0</c:v>
                </c:pt>
                <c:pt idx="9">
                  <c:v>378.0</c:v>
                </c:pt>
                <c:pt idx="10">
                  <c:v>299.0</c:v>
                </c:pt>
                <c:pt idx="11">
                  <c:v>168.0</c:v>
                </c:pt>
              </c:numCache>
            </c:numRef>
          </c:val>
          <c:smooth val="0"/>
        </c:ser>
        <c:ser>
          <c:idx val="3"/>
          <c:order val="3"/>
          <c:tx>
            <c:strRef>
              <c:f>Sheet1!$E$1</c:f>
              <c:strCache>
                <c:ptCount val="1"/>
                <c:pt idx="0">
                  <c:v>2014/15</c:v>
                </c:pt>
              </c:strCache>
            </c:strRef>
          </c:tx>
          <c:spPr>
            <a:ln w="13970" cap="rnd">
              <a:solidFill>
                <a:srgbClr val="9467BD"/>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Sheet1!$E$2:$E$13</c:f>
              <c:numCache>
                <c:formatCode>General</c:formatCode>
                <c:ptCount val="12"/>
                <c:pt idx="0">
                  <c:v>121.0</c:v>
                </c:pt>
                <c:pt idx="1">
                  <c:v>278.0</c:v>
                </c:pt>
                <c:pt idx="2">
                  <c:v>60.0</c:v>
                </c:pt>
                <c:pt idx="3">
                  <c:v>114.0</c:v>
                </c:pt>
                <c:pt idx="4">
                  <c:v>498.0</c:v>
                </c:pt>
                <c:pt idx="5">
                  <c:v>301.0</c:v>
                </c:pt>
                <c:pt idx="6">
                  <c:v>371.0</c:v>
                </c:pt>
                <c:pt idx="7">
                  <c:v>328.0</c:v>
                </c:pt>
                <c:pt idx="8">
                  <c:v>255.0</c:v>
                </c:pt>
                <c:pt idx="9">
                  <c:v>444.0</c:v>
                </c:pt>
                <c:pt idx="10">
                  <c:v>86.0</c:v>
                </c:pt>
                <c:pt idx="11">
                  <c:v>154.0</c:v>
                </c:pt>
              </c:numCache>
            </c:numRef>
          </c:val>
          <c:smooth val="0"/>
        </c:ser>
        <c:ser>
          <c:idx val="4"/>
          <c:order val="4"/>
          <c:tx>
            <c:strRef>
              <c:f>Sheet1!$F$1</c:f>
              <c:strCache>
                <c:ptCount val="1"/>
                <c:pt idx="0">
                  <c:v>2016/17</c:v>
                </c:pt>
              </c:strCache>
            </c:strRef>
          </c:tx>
          <c:spPr>
            <a:ln w="13970" cap="rnd">
              <a:solidFill>
                <a:srgbClr val="8C564B"/>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Sheet1!$F$2:$F$13</c:f>
              <c:numCache>
                <c:formatCode>General</c:formatCode>
                <c:ptCount val="12"/>
                <c:pt idx="0">
                  <c:v>138.0</c:v>
                </c:pt>
                <c:pt idx="1">
                  <c:v>384.0</c:v>
                </c:pt>
                <c:pt idx="2">
                  <c:v>184.0</c:v>
                </c:pt>
                <c:pt idx="3">
                  <c:v>281.0</c:v>
                </c:pt>
                <c:pt idx="4">
                  <c:v>592.0</c:v>
                </c:pt>
                <c:pt idx="5">
                  <c:v>281.0</c:v>
                </c:pt>
                <c:pt idx="6">
                  <c:v>321.0</c:v>
                </c:pt>
                <c:pt idx="7">
                  <c:v>461.0</c:v>
                </c:pt>
                <c:pt idx="8">
                  <c:v>280.0</c:v>
                </c:pt>
                <c:pt idx="9">
                  <c:v>313.0</c:v>
                </c:pt>
                <c:pt idx="10">
                  <c:v>288.0</c:v>
                </c:pt>
                <c:pt idx="11">
                  <c:v>162.0</c:v>
                </c:pt>
              </c:numCache>
            </c:numRef>
          </c:val>
          <c:smooth val="0"/>
        </c:ser>
        <c:ser>
          <c:idx val="5"/>
          <c:order val="5"/>
          <c:tx>
            <c:strRef>
              <c:f>Sheet1!$G$1</c:f>
              <c:strCache>
                <c:ptCount val="1"/>
                <c:pt idx="0">
                  <c:v>2017/18</c:v>
                </c:pt>
              </c:strCache>
            </c:strRef>
          </c:tx>
          <c:spPr>
            <a:ln w="13970" cap="rnd">
              <a:solidFill>
                <a:srgbClr val="E377C2"/>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Sheet1!$G$2:$G$13</c:f>
              <c:numCache>
                <c:formatCode>General</c:formatCode>
                <c:ptCount val="12"/>
                <c:pt idx="0">
                  <c:v>114.0</c:v>
                </c:pt>
                <c:pt idx="1">
                  <c:v>264.0</c:v>
                </c:pt>
                <c:pt idx="2">
                  <c:v>356.0</c:v>
                </c:pt>
                <c:pt idx="3">
                  <c:v>314.0</c:v>
                </c:pt>
                <c:pt idx="4">
                  <c:v>355.0</c:v>
                </c:pt>
                <c:pt idx="5">
                  <c:v>323.0</c:v>
                </c:pt>
                <c:pt idx="6">
                  <c:v>227.0</c:v>
                </c:pt>
                <c:pt idx="7">
                  <c:v>226.0</c:v>
                </c:pt>
                <c:pt idx="8">
                  <c:v>292.0</c:v>
                </c:pt>
                <c:pt idx="9">
                  <c:v>271.0</c:v>
                </c:pt>
                <c:pt idx="10">
                  <c:v>234.0</c:v>
                </c:pt>
                <c:pt idx="11">
                  <c:v>195.0</c:v>
                </c:pt>
              </c:numCache>
            </c:numRef>
          </c:val>
          <c:smooth val="0"/>
        </c:ser>
        <c:ser>
          <c:idx val="6"/>
          <c:order val="6"/>
          <c:tx>
            <c:strRef>
              <c:f>Sheet1!$H$1</c:f>
              <c:strCache>
                <c:ptCount val="1"/>
                <c:pt idx="0">
                  <c:v>2019/20</c:v>
                </c:pt>
              </c:strCache>
            </c:strRef>
          </c:tx>
          <c:spPr>
            <a:ln w="13970" cap="rnd">
              <a:solidFill>
                <a:srgbClr val="17BECF"/>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Sheet1!$H$2:$H$13</c:f>
              <c:numCache>
                <c:formatCode>General</c:formatCode>
                <c:ptCount val="12"/>
                <c:pt idx="0">
                  <c:v>204.0</c:v>
                </c:pt>
                <c:pt idx="1">
                  <c:v>22.0</c:v>
                </c:pt>
                <c:pt idx="2">
                  <c:v>56.0</c:v>
                </c:pt>
                <c:pt idx="3">
                  <c:v>50.0</c:v>
                </c:pt>
                <c:pt idx="4">
                  <c:v>112.0</c:v>
                </c:pt>
                <c:pt idx="5">
                  <c:v>388.0</c:v>
                </c:pt>
                <c:pt idx="6">
                  <c:v>461.0</c:v>
                </c:pt>
                <c:pt idx="7">
                  <c:v>277.0</c:v>
                </c:pt>
                <c:pt idx="8">
                  <c:v>562.0</c:v>
                </c:pt>
                <c:pt idx="9">
                  <c:v>504.0</c:v>
                </c:pt>
                <c:pt idx="10">
                  <c:v>232.0</c:v>
                </c:pt>
                <c:pt idx="11">
                  <c:v>237.0</c:v>
                </c:pt>
              </c:numCache>
            </c:numRef>
          </c:val>
          <c:smooth val="0"/>
        </c:ser>
        <c:ser>
          <c:idx val="7"/>
          <c:order val="7"/>
          <c:tx>
            <c:strRef>
              <c:f>Sheet1!$I$1</c:f>
              <c:strCache>
                <c:ptCount val="1"/>
                <c:pt idx="0">
                  <c:v>2024/25</c:v>
                </c:pt>
              </c:strCache>
            </c:strRef>
          </c:tx>
          <c:spPr>
            <a:ln w="13970" cap="rnd">
              <a:solidFill>
                <a:srgbClr val="BCBD22"/>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Sheet1!$I$2:$I$13</c:f>
              <c:numCache>
                <c:formatCode>General</c:formatCode>
                <c:ptCount val="12"/>
                <c:pt idx="0">
                  <c:v>192.0</c:v>
                </c:pt>
                <c:pt idx="1">
                  <c:v>31.0</c:v>
                </c:pt>
                <c:pt idx="2">
                  <c:v>134.0</c:v>
                </c:pt>
                <c:pt idx="3">
                  <c:v>135.0</c:v>
                </c:pt>
                <c:pt idx="4">
                  <c:v>361.0</c:v>
                </c:pt>
                <c:pt idx="5">
                  <c:v>472.0</c:v>
                </c:pt>
                <c:pt idx="6">
                  <c:v>337.0</c:v>
                </c:pt>
                <c:pt idx="7">
                  <c:v>287.0</c:v>
                </c:pt>
                <c:pt idx="8">
                  <c:v>401.0</c:v>
                </c:pt>
                <c:pt idx="9">
                  <c:v>277.0</c:v>
                </c:pt>
                <c:pt idx="10">
                  <c:v>162.0</c:v>
                </c:pt>
                <c:pt idx="11">
                  <c:v>155.0</c:v>
                </c:pt>
              </c:numCache>
            </c:numRef>
          </c:val>
          <c:smooth val="0"/>
        </c:ser>
        <c:ser>
          <c:idx val="8"/>
          <c:order val="8"/>
          <c:tx>
            <c:strRef>
              <c:f>Sheet1!$J$1</c:f>
              <c:strCache>
                <c:ptCount val="1"/>
                <c:pt idx="0">
                  <c:v>2025/26</c:v>
                </c:pt>
              </c:strCache>
            </c:strRef>
          </c:tx>
          <c:spPr>
            <a:ln w="13970" cap="rnd">
              <a:solidFill>
                <a:srgbClr val="7F7F7F"/>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Sheet1!$J$2:$J$13</c:f>
              <c:numCache>
                <c:formatCode>General</c:formatCode>
                <c:ptCount val="12"/>
                <c:pt idx="0">
                  <c:v>184.0</c:v>
                </c:pt>
                <c:pt idx="1">
                  <c:v>477.0</c:v>
                </c:pt>
                <c:pt idx="2">
                  <c:v>449.0</c:v>
                </c:pt>
                <c:pt idx="3">
                  <c:v>357.0</c:v>
                </c:pt>
                <c:pt idx="4">
                  <c:v>530.0</c:v>
                </c:pt>
                <c:pt idx="5">
                  <c:v>416.0</c:v>
                </c:pt>
                <c:pt idx="6">
                  <c:v>343.0</c:v>
                </c:pt>
                <c:pt idx="7">
                  <c:v>311.0</c:v>
                </c:pt>
                <c:pt idx="8">
                  <c:v>207.0</c:v>
                </c:pt>
                <c:pt idx="9">
                  <c:v>474.0</c:v>
                </c:pt>
                <c:pt idx="10">
                  <c:v>346.0</c:v>
                </c:pt>
                <c:pt idx="11">
                  <c:v>149.0</c:v>
                </c:pt>
              </c:numCache>
            </c:numRef>
          </c:val>
          <c:smooth val="0"/>
        </c:ser>
        <c:ser>
          <c:idx val="9"/>
          <c:order val="9"/>
          <c:tx>
            <c:strRef>
              <c:f>Sheet1!$K$1</c:f>
              <c:strCache>
                <c:ptCount val="1"/>
                <c:pt idx="0">
                  <c:v>Average</c:v>
                </c:pt>
              </c:strCache>
            </c:strRef>
          </c:tx>
          <c:spPr>
            <a:ln w="28575" cap="rnd">
              <a:solidFill>
                <a:srgbClr val="000000"/>
              </a:solidFill>
              <a:prstDash val="dash"/>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Sheet1!$K$2:$K$13</c:f>
              <c:numCache>
                <c:formatCode>General</c:formatCode>
                <c:ptCount val="12"/>
                <c:pt idx="0">
                  <c:v>167.0</c:v>
                </c:pt>
                <c:pt idx="1">
                  <c:v>217.0</c:v>
                </c:pt>
                <c:pt idx="2">
                  <c:v>193.0</c:v>
                </c:pt>
                <c:pt idx="3">
                  <c:v>224.0</c:v>
                </c:pt>
                <c:pt idx="4">
                  <c:v>445.0</c:v>
                </c:pt>
                <c:pt idx="5">
                  <c:v>410.0</c:v>
                </c:pt>
                <c:pt idx="6">
                  <c:v>343.0</c:v>
                </c:pt>
                <c:pt idx="7">
                  <c:v>286.0</c:v>
                </c:pt>
                <c:pt idx="8">
                  <c:v>309.0</c:v>
                </c:pt>
                <c:pt idx="9">
                  <c:v>366.0</c:v>
                </c:pt>
                <c:pt idx="10">
                  <c:v>226.0</c:v>
                </c:pt>
                <c:pt idx="11">
                  <c:v>180.0</c:v>
                </c:pt>
              </c:numCache>
            </c:numRef>
          </c:val>
          <c:smooth val="0"/>
        </c:ser>
        <c:marker val="1"/>
        <c:axId val="60010"/>
        <c:axId val="60020"/>
      </c:lineChart>
      <c:catAx>
        <c:axId val="60010"/>
        <c:scaling>
          <c:orientation val="minMax"/>
        </c:scaling>
        <c:delete val="0"/>
        <c:axPos val="b"/>
        <c:numFmt formatCode="General" sourceLinked="0"/>
        <c:majorTickMark val="none"/>
        <c:minorTickMark val="none"/>
        <c:tickLblPos val="low"/>
        <c:spPr>
          <a:ln w="9525">
            <a:solidFill>
              <a:srgbClr val="B7C0C5"/>
            </a:solidFill>
          </a:ln>
        </c:spPr>
        <c:txPr>
          <a:bodyPr/>
          <a:lstStyle/>
          <a:p>
            <a:pPr>
              <a:defRPr sz="800" b="0">
                <a:solidFill>
                  <a:srgbClr val="5B6770"/>
                </a:solidFill>
                <a:latin typeface="Arial"/>
                <a:cs typeface="Arial"/>
              </a:defRPr>
            </a:pPr>
            <a:endParaRPr lang="fr-FR"/>
          </a:p>
        </c:txPr>
        <c:crossAx val="60020"/>
        <c:crosses val="autoZero"/>
        <c:auto val="1"/>
        <c:lblAlgn val="ctr"/>
        <c:lblOffset val="100"/>
        <c:noMultiLvlLbl val="0"/>
      </c:catAx>
      <c:valAx>
        <c:axId val="60020"/>
        <c:scaling>
          <c:orientation val="minMax"/>
          <c:max val="900"/>
          <c:min val="0"/>
        </c:scaling>
        <c:delete val="0"/>
        <c:axPos val="l"/>
        <c:majorGridlines>
          <c:spPr>
            <a:ln w="6350">
              <a:solidFill>
                <a:srgbClr val="E3E8EB"/>
              </a:solidFill>
            </a:ln>
          </c:spPr>
        </c:majorGridlines>
        <c:numFmt formatCode="0" sourceLinked="0"/>
        <c:majorTickMark val="none"/>
        <c:minorTickMark val="none"/>
        <c:tickLblPos val="low"/>
        <c:spPr>
          <a:ln w="6350">
            <a:solidFill>
              <a:srgbClr val="FFFFFF"/>
            </a:solidFill>
          </a:ln>
        </c:spPr>
        <c:txPr>
          <a:bodyPr/>
          <a:lstStyle/>
          <a:p>
            <a:pPr>
              <a:defRPr sz="800" b="0">
                <a:solidFill>
                  <a:srgbClr val="5B6770"/>
                </a:solidFill>
                <a:latin typeface="Arial"/>
                <a:cs typeface="Arial"/>
              </a:defRPr>
            </a:pPr>
            <a:endParaRPr lang="fr-FR"/>
          </a:p>
        </c:txPr>
        <c:crossAx val="60010"/>
        <c:crosses val="autoZero"/>
        <c:crossBetween val="between"/>
        <c:majorUnit val="200"/>
      </c:valAx>
    </c:plotArea>
    <c:legend>
      <c:legendPos val="b"/>
      <c:overlay val="0"/>
      <c:txPr>
        <a:bodyPr/>
        <a:lstStyle/>
        <a:p>
          <a:pPr>
            <a:defRPr sz="700" b="0">
              <a:solidFill>
                <a:srgbClr val="1F2A30"/>
              </a:solidFill>
              <a:latin typeface="Arial"/>
              <a:cs typeface="Arial"/>
            </a:defRPr>
          </a:pPr>
          <a:endParaRPr lang="fr-FR"/>
        </a:p>
      </c:txPr>
    </c:legend>
    <c:plotVisOnly val="1"/>
    <c:dispBlanksAs val="gap"/>
  </c:chart>
  <c:spPr>
    <a:noFill/>
    <a:ln>
      <a:noFill/>
    </a:ln>
  </c:spPr>
  <c:txPr>
    <a:bodyPr/>
    <a:lstStyle/>
    <a:p>
      <a:pPr>
        <a:defRPr sz="1000" b="0">
          <a:solidFill>
            <a:srgbClr val="5B6770"/>
          </a:solidFill>
          <a:latin typeface="Arial"/>
          <a:cs typeface="Arial"/>
        </a:defRPr>
      </a:pPr>
      <a:endParaRPr lang="fr-FR"/>
    </a:p>
  </c:txPr>
</c:chartSpace>
</file>

<file path=ppt/charts/chart18.xml><?xml version="1.0" encoding="utf-8"?>
<c:chartSpace xmlns:c="http://schemas.openxmlformats.org/drawingml/2006/chart" xmlns:a="http://schemas.openxmlformats.org/drawingml/2006/main" xmlns:r="http://schemas.openxmlformats.org/officeDocument/2006/relationships">
  <c:roundedCorners val="0"/>
  <c:chart>
    <c:autoTitleDeleted val="1"/>
    <c:plotArea>
      <c:layout/>
      <c:lineChart>
        <c:grouping val="standard"/>
        <c:varyColors val="0"/>
        <c:ser>
          <c:idx val="0"/>
          <c:order val="0"/>
          <c:tx>
            <c:strRef>
              <c:f>Sheet1!$B$1</c:f>
              <c:strCache>
                <c:ptCount val="1"/>
                <c:pt idx="0">
                  <c:v>2006/07</c:v>
                </c:pt>
              </c:strCache>
            </c:strRef>
          </c:tx>
          <c:spPr>
            <a:ln w="13970" cap="rnd">
              <a:solidFill>
                <a:srgbClr val="1F77B4"/>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Sheet1!$B$2:$B$13</c:f>
              <c:numCache>
                <c:formatCode>General</c:formatCode>
                <c:ptCount val="12"/>
                <c:pt idx="0">
                  <c:v>24.05</c:v>
                </c:pt>
                <c:pt idx="1">
                  <c:v>23.32</c:v>
                </c:pt>
                <c:pt idx="2">
                  <c:v>24.08</c:v>
                </c:pt>
                <c:pt idx="3">
                  <c:v>25.64</c:v>
                </c:pt>
                <c:pt idx="4">
                  <c:v>25.52</c:v>
                </c:pt>
                <c:pt idx="5">
                  <c:v>24.77</c:v>
                </c:pt>
                <c:pt idx="6">
                  <c:v>24.25</c:v>
                </c:pt>
                <c:pt idx="7">
                  <c:v>23.98</c:v>
                </c:pt>
                <c:pt idx="8">
                  <c:v>24.06</c:v>
                </c:pt>
                <c:pt idx="9">
                  <c:v>24.75</c:v>
                </c:pt>
                <c:pt idx="10">
                  <c:v>24.61</c:v>
                </c:pt>
                <c:pt idx="11">
                  <c:v>24.36</c:v>
                </c:pt>
              </c:numCache>
            </c:numRef>
          </c:val>
          <c:smooth val="0"/>
        </c:ser>
        <c:ser>
          <c:idx val="1"/>
          <c:order val="1"/>
          <c:tx>
            <c:strRef>
              <c:f>Sheet1!$C$1</c:f>
              <c:strCache>
                <c:ptCount val="1"/>
                <c:pt idx="0">
                  <c:v>2009/10</c:v>
                </c:pt>
              </c:strCache>
            </c:strRef>
          </c:tx>
          <c:spPr>
            <a:ln w="13970" cap="rnd">
              <a:solidFill>
                <a:srgbClr val="FF7F0E"/>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Sheet1!$C$2:$C$13</c:f>
              <c:numCache>
                <c:formatCode>General</c:formatCode>
                <c:ptCount val="12"/>
                <c:pt idx="0">
                  <c:v>23.97</c:v>
                </c:pt>
                <c:pt idx="1">
                  <c:v>24.14</c:v>
                </c:pt>
                <c:pt idx="2">
                  <c:v>24.84</c:v>
                </c:pt>
                <c:pt idx="3">
                  <c:v>24.8</c:v>
                </c:pt>
                <c:pt idx="4">
                  <c:v>24.52</c:v>
                </c:pt>
                <c:pt idx="5">
                  <c:v>24.36</c:v>
                </c:pt>
                <c:pt idx="6">
                  <c:v>23.96</c:v>
                </c:pt>
                <c:pt idx="7">
                  <c:v>24.77</c:v>
                </c:pt>
                <c:pt idx="8">
                  <c:v>24.53</c:v>
                </c:pt>
                <c:pt idx="9">
                  <c:v>25.57</c:v>
                </c:pt>
                <c:pt idx="10">
                  <c:v>25.22</c:v>
                </c:pt>
                <c:pt idx="11">
                  <c:v>24.13</c:v>
                </c:pt>
              </c:numCache>
            </c:numRef>
          </c:val>
          <c:smooth val="0"/>
        </c:ser>
        <c:ser>
          <c:idx val="2"/>
          <c:order val="2"/>
          <c:tx>
            <c:strRef>
              <c:f>Sheet1!$D$1</c:f>
              <c:strCache>
                <c:ptCount val="1"/>
                <c:pt idx="0">
                  <c:v>2015/16</c:v>
                </c:pt>
              </c:strCache>
            </c:strRef>
          </c:tx>
          <c:spPr>
            <a:ln w="13970" cap="rnd">
              <a:solidFill>
                <a:srgbClr val="2CA02C"/>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Sheet1!$D$2:$D$13</c:f>
              <c:numCache>
                <c:formatCode>General</c:formatCode>
                <c:ptCount val="12"/>
                <c:pt idx="0">
                  <c:v>23.9</c:v>
                </c:pt>
                <c:pt idx="1">
                  <c:v>24.29</c:v>
                </c:pt>
                <c:pt idx="2">
                  <c:v>25.09</c:v>
                </c:pt>
                <c:pt idx="3">
                  <c:v>26.64</c:v>
                </c:pt>
                <c:pt idx="4">
                  <c:v>26.25</c:v>
                </c:pt>
                <c:pt idx="5">
                  <c:v>24.78</c:v>
                </c:pt>
                <c:pt idx="6">
                  <c:v>25.06</c:v>
                </c:pt>
                <c:pt idx="7">
                  <c:v>24.6</c:v>
                </c:pt>
                <c:pt idx="8">
                  <c:v>25.16</c:v>
                </c:pt>
                <c:pt idx="9">
                  <c:v>25.37</c:v>
                </c:pt>
                <c:pt idx="10">
                  <c:v>25.28</c:v>
                </c:pt>
                <c:pt idx="11">
                  <c:v>24.76</c:v>
                </c:pt>
              </c:numCache>
            </c:numRef>
          </c:val>
          <c:smooth val="0"/>
        </c:ser>
        <c:ser>
          <c:idx val="3"/>
          <c:order val="3"/>
          <c:tx>
            <c:strRef>
              <c:f>Sheet1!$E$1</c:f>
              <c:strCache>
                <c:ptCount val="1"/>
                <c:pt idx="0">
                  <c:v>2018/19</c:v>
                </c:pt>
              </c:strCache>
            </c:strRef>
          </c:tx>
          <c:spPr>
            <a:ln w="13970" cap="rnd">
              <a:solidFill>
                <a:srgbClr val="9467BD"/>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Sheet1!$E$2:$E$13</c:f>
              <c:numCache>
                <c:formatCode>General</c:formatCode>
                <c:ptCount val="12"/>
                <c:pt idx="0">
                  <c:v>24.0</c:v>
                </c:pt>
                <c:pt idx="1">
                  <c:v>24.07</c:v>
                </c:pt>
                <c:pt idx="2">
                  <c:v>24.22</c:v>
                </c:pt>
                <c:pt idx="3">
                  <c:v>24.95</c:v>
                </c:pt>
                <c:pt idx="4">
                  <c:v>24.78</c:v>
                </c:pt>
                <c:pt idx="5">
                  <c:v>24.47</c:v>
                </c:pt>
                <c:pt idx="6">
                  <c:v>24.43</c:v>
                </c:pt>
                <c:pt idx="7">
                  <c:v>24.61</c:v>
                </c:pt>
                <c:pt idx="8">
                  <c:v>24.91</c:v>
                </c:pt>
                <c:pt idx="9">
                  <c:v>25.35</c:v>
                </c:pt>
                <c:pt idx="10">
                  <c:v>25.14</c:v>
                </c:pt>
                <c:pt idx="11">
                  <c:v>24.55</c:v>
                </c:pt>
              </c:numCache>
            </c:numRef>
          </c:val>
          <c:smooth val="0"/>
        </c:ser>
        <c:ser>
          <c:idx val="4"/>
          <c:order val="4"/>
          <c:tx>
            <c:strRef>
              <c:f>Sheet1!$F$1</c:f>
              <c:strCache>
                <c:ptCount val="1"/>
                <c:pt idx="0">
                  <c:v>2023/24</c:v>
                </c:pt>
              </c:strCache>
            </c:strRef>
          </c:tx>
          <c:spPr>
            <a:ln w="13970" cap="rnd">
              <a:solidFill>
                <a:srgbClr val="8C564B"/>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Sheet1!$F$2:$F$13</c:f>
              <c:numCache>
                <c:formatCode>General</c:formatCode>
                <c:ptCount val="12"/>
                <c:pt idx="0">
                  <c:v>24.62</c:v>
                </c:pt>
                <c:pt idx="1">
                  <c:v>24.61</c:v>
                </c:pt>
                <c:pt idx="2">
                  <c:v>24.7</c:v>
                </c:pt>
                <c:pt idx="3">
                  <c:v>26.08</c:v>
                </c:pt>
                <c:pt idx="4">
                  <c:v>26.02</c:v>
                </c:pt>
                <c:pt idx="5">
                  <c:v>25.63</c:v>
                </c:pt>
                <c:pt idx="6">
                  <c:v>25.06</c:v>
                </c:pt>
                <c:pt idx="7">
                  <c:v>25.25</c:v>
                </c:pt>
                <c:pt idx="8">
                  <c:v>25.32</c:v>
                </c:pt>
                <c:pt idx="9">
                  <c:v>25.89</c:v>
                </c:pt>
                <c:pt idx="10">
                  <c:v>25.82</c:v>
                </c:pt>
                <c:pt idx="11">
                  <c:v>25.19</c:v>
                </c:pt>
              </c:numCache>
            </c:numRef>
          </c:val>
          <c:smooth val="0"/>
        </c:ser>
        <c:ser>
          <c:idx val="5"/>
          <c:order val="5"/>
          <c:tx>
            <c:strRef>
              <c:f>Sheet1!$G$1</c:f>
              <c:strCache>
                <c:ptCount val="1"/>
                <c:pt idx="0">
                  <c:v>2026/27</c:v>
                </c:pt>
              </c:strCache>
            </c:strRef>
          </c:tx>
          <c:spPr>
            <a:ln w="31750" cap="rnd">
              <a:solidFill>
                <a:srgbClr val="C00000"/>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Sheet1!$G$2:$G$13</c:f>
              <c:numCache>
                <c:formatCode>General</c:formatCode>
                <c:ptCount val="12"/>
                <c:pt idx="0">
                  <c:v>24.17</c:v>
                </c:pt>
                <c:pt idx="1">
                  <c:v>24.98</c:v>
                </c:pt>
              </c:numCache>
            </c:numRef>
          </c:val>
          <c:smooth val="0"/>
        </c:ser>
        <c:ser>
          <c:idx val="6"/>
          <c:order val="6"/>
          <c:tx>
            <c:strRef>
              <c:f>Sheet1!$H$1</c:f>
              <c:strCache>
                <c:ptCount val="1"/>
                <c:pt idx="0">
                  <c:v>Average</c:v>
                </c:pt>
              </c:strCache>
            </c:strRef>
          </c:tx>
          <c:spPr>
            <a:ln w="28575" cap="rnd">
              <a:solidFill>
                <a:srgbClr val="000000"/>
              </a:solidFill>
              <a:prstDash val="dash"/>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Sheet1!$H$2:$H$13</c:f>
              <c:numCache>
                <c:formatCode>General</c:formatCode>
                <c:ptCount val="12"/>
                <c:pt idx="0">
                  <c:v>24.11</c:v>
                </c:pt>
                <c:pt idx="1">
                  <c:v>24.09</c:v>
                </c:pt>
                <c:pt idx="2">
                  <c:v>24.59</c:v>
                </c:pt>
                <c:pt idx="3">
                  <c:v>25.62</c:v>
                </c:pt>
                <c:pt idx="4">
                  <c:v>25.42</c:v>
                </c:pt>
                <c:pt idx="5">
                  <c:v>24.8</c:v>
                </c:pt>
                <c:pt idx="6">
                  <c:v>24.55</c:v>
                </c:pt>
                <c:pt idx="7">
                  <c:v>24.64</c:v>
                </c:pt>
                <c:pt idx="8">
                  <c:v>24.8</c:v>
                </c:pt>
                <c:pt idx="9">
                  <c:v>25.39</c:v>
                </c:pt>
                <c:pt idx="10">
                  <c:v>25.21</c:v>
                </c:pt>
                <c:pt idx="11">
                  <c:v>24.6</c:v>
                </c:pt>
              </c:numCache>
            </c:numRef>
          </c:val>
          <c:smooth val="0"/>
        </c:ser>
        <c:marker val="1"/>
        <c:axId val="60010"/>
        <c:axId val="60020"/>
      </c:lineChart>
      <c:catAx>
        <c:axId val="60010"/>
        <c:scaling>
          <c:orientation val="minMax"/>
        </c:scaling>
        <c:delete val="0"/>
        <c:axPos val="b"/>
        <c:numFmt formatCode="General" sourceLinked="0"/>
        <c:majorTickMark val="none"/>
        <c:minorTickMark val="none"/>
        <c:tickLblPos val="low"/>
        <c:spPr>
          <a:ln w="9525">
            <a:solidFill>
              <a:srgbClr val="B7C0C5"/>
            </a:solidFill>
          </a:ln>
        </c:spPr>
        <c:txPr>
          <a:bodyPr/>
          <a:lstStyle/>
          <a:p>
            <a:pPr>
              <a:defRPr sz="800" b="0">
                <a:solidFill>
                  <a:srgbClr val="5B6770"/>
                </a:solidFill>
                <a:latin typeface="Arial"/>
                <a:cs typeface="Arial"/>
              </a:defRPr>
            </a:pPr>
            <a:endParaRPr lang="fr-FR"/>
          </a:p>
        </c:txPr>
        <c:crossAx val="60020"/>
        <c:crosses val="autoZero"/>
        <c:auto val="1"/>
        <c:lblAlgn val="ctr"/>
        <c:lblOffset val="100"/>
        <c:noMultiLvlLbl val="0"/>
      </c:catAx>
      <c:valAx>
        <c:axId val="60020"/>
        <c:scaling>
          <c:orientation val="minMax"/>
          <c:max val="27.0"/>
          <c:min val="23.0"/>
        </c:scaling>
        <c:delete val="0"/>
        <c:axPos val="l"/>
        <c:majorGridlines>
          <c:spPr>
            <a:ln w="6350">
              <a:solidFill>
                <a:srgbClr val="E3E8EB"/>
              </a:solidFill>
            </a:ln>
          </c:spPr>
        </c:majorGridlines>
        <c:numFmt formatCode="0.0" sourceLinked="0"/>
        <c:majorTickMark val="none"/>
        <c:minorTickMark val="none"/>
        <c:tickLblPos val="low"/>
        <c:spPr>
          <a:ln w="6350">
            <a:solidFill>
              <a:srgbClr val="FFFFFF"/>
            </a:solidFill>
          </a:ln>
        </c:spPr>
        <c:txPr>
          <a:bodyPr/>
          <a:lstStyle/>
          <a:p>
            <a:pPr>
              <a:defRPr sz="800" b="0">
                <a:solidFill>
                  <a:srgbClr val="5B6770"/>
                </a:solidFill>
                <a:latin typeface="Arial"/>
                <a:cs typeface="Arial"/>
              </a:defRPr>
            </a:pPr>
            <a:endParaRPr lang="fr-FR"/>
          </a:p>
        </c:txPr>
        <c:crossAx val="60010"/>
        <c:crosses val="autoZero"/>
        <c:crossBetween val="between"/>
        <c:majorUnit val="0.5"/>
      </c:valAx>
    </c:plotArea>
    <c:plotVisOnly val="1"/>
    <c:dispBlanksAs val="gap"/>
  </c:chart>
  <c:spPr>
    <a:noFill/>
    <a:ln>
      <a:noFill/>
    </a:ln>
  </c:spPr>
  <c:txPr>
    <a:bodyPr/>
    <a:lstStyle/>
    <a:p>
      <a:pPr>
        <a:defRPr sz="1000" b="0">
          <a:solidFill>
            <a:srgbClr val="5B6770"/>
          </a:solidFill>
          <a:latin typeface="Arial"/>
          <a:cs typeface="Arial"/>
        </a:defRPr>
      </a:pPr>
      <a:endParaRPr lang="fr-FR"/>
    </a:p>
  </c:txPr>
</c:chartSpace>
</file>

<file path=ppt/charts/chart19.xml><?xml version="1.0" encoding="utf-8"?>
<c:chartSpace xmlns:c="http://schemas.openxmlformats.org/drawingml/2006/chart" xmlns:a="http://schemas.openxmlformats.org/drawingml/2006/main" xmlns:r="http://schemas.openxmlformats.org/officeDocument/2006/relationships">
  <c:roundedCorners val="0"/>
  <c:chart>
    <c:autoTitleDeleted val="1"/>
    <c:plotArea>
      <c:layout/>
      <c:lineChart>
        <c:grouping val="standard"/>
        <c:varyColors val="0"/>
        <c:ser>
          <c:idx val="0"/>
          <c:order val="0"/>
          <c:tx>
            <c:strRef>
              <c:f>Sheet1!$B$1</c:f>
              <c:strCache>
                <c:ptCount val="1"/>
                <c:pt idx="0">
                  <c:v>2006/07</c:v>
                </c:pt>
              </c:strCache>
            </c:strRef>
          </c:tx>
          <c:spPr>
            <a:ln w="13970" cap="rnd">
              <a:solidFill>
                <a:srgbClr val="1F77B4"/>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Sheet1!$B$2:$B$13</c:f>
              <c:numCache>
                <c:formatCode>General</c:formatCode>
                <c:ptCount val="12"/>
                <c:pt idx="0">
                  <c:v>112.0</c:v>
                </c:pt>
                <c:pt idx="1">
                  <c:v>14.0</c:v>
                </c:pt>
                <c:pt idx="2">
                  <c:v>14.0</c:v>
                </c:pt>
                <c:pt idx="3">
                  <c:v>15.0</c:v>
                </c:pt>
                <c:pt idx="4">
                  <c:v>116.0</c:v>
                </c:pt>
                <c:pt idx="5">
                  <c:v>384.0</c:v>
                </c:pt>
                <c:pt idx="6">
                  <c:v>468.0</c:v>
                </c:pt>
                <c:pt idx="7">
                  <c:v>221.0</c:v>
                </c:pt>
                <c:pt idx="8">
                  <c:v>235.0</c:v>
                </c:pt>
                <c:pt idx="9">
                  <c:v>327.0</c:v>
                </c:pt>
                <c:pt idx="10">
                  <c:v>210.0</c:v>
                </c:pt>
                <c:pt idx="11">
                  <c:v>160.0</c:v>
                </c:pt>
              </c:numCache>
            </c:numRef>
          </c:val>
          <c:smooth val="0"/>
        </c:ser>
        <c:ser>
          <c:idx val="1"/>
          <c:order val="1"/>
          <c:tx>
            <c:strRef>
              <c:f>Sheet1!$C$1</c:f>
              <c:strCache>
                <c:ptCount val="1"/>
                <c:pt idx="0">
                  <c:v>2009/10</c:v>
                </c:pt>
              </c:strCache>
            </c:strRef>
          </c:tx>
          <c:spPr>
            <a:ln w="13970" cap="rnd">
              <a:solidFill>
                <a:srgbClr val="FF7F0E"/>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Sheet1!$C$2:$C$13</c:f>
              <c:numCache>
                <c:formatCode>General</c:formatCode>
                <c:ptCount val="12"/>
                <c:pt idx="0">
                  <c:v>89.0</c:v>
                </c:pt>
                <c:pt idx="1">
                  <c:v>79.0</c:v>
                </c:pt>
                <c:pt idx="2">
                  <c:v>126.0</c:v>
                </c:pt>
                <c:pt idx="3">
                  <c:v>215.0</c:v>
                </c:pt>
                <c:pt idx="4">
                  <c:v>274.0</c:v>
                </c:pt>
                <c:pt idx="5">
                  <c:v>364.0</c:v>
                </c:pt>
                <c:pt idx="6">
                  <c:v>207.0</c:v>
                </c:pt>
                <c:pt idx="7">
                  <c:v>341.0</c:v>
                </c:pt>
                <c:pt idx="8">
                  <c:v>380.0</c:v>
                </c:pt>
                <c:pt idx="9">
                  <c:v>263.0</c:v>
                </c:pt>
                <c:pt idx="10">
                  <c:v>234.0</c:v>
                </c:pt>
                <c:pt idx="11">
                  <c:v>199.0</c:v>
                </c:pt>
              </c:numCache>
            </c:numRef>
          </c:val>
          <c:smooth val="0"/>
        </c:ser>
        <c:ser>
          <c:idx val="2"/>
          <c:order val="2"/>
          <c:tx>
            <c:strRef>
              <c:f>Sheet1!$D$1</c:f>
              <c:strCache>
                <c:ptCount val="1"/>
                <c:pt idx="0">
                  <c:v>2015/16</c:v>
                </c:pt>
              </c:strCache>
            </c:strRef>
          </c:tx>
          <c:spPr>
            <a:ln w="13970" cap="rnd">
              <a:solidFill>
                <a:srgbClr val="2CA02C"/>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Sheet1!$D$2:$D$13</c:f>
              <c:numCache>
                <c:formatCode>General</c:formatCode>
                <c:ptCount val="12"/>
                <c:pt idx="0">
                  <c:v>53.0</c:v>
                </c:pt>
                <c:pt idx="1">
                  <c:v>65.0</c:v>
                </c:pt>
                <c:pt idx="2">
                  <c:v>32.0</c:v>
                </c:pt>
                <c:pt idx="3">
                  <c:v>5.0</c:v>
                </c:pt>
                <c:pt idx="4">
                  <c:v>211.0</c:v>
                </c:pt>
                <c:pt idx="5">
                  <c:v>351.0</c:v>
                </c:pt>
                <c:pt idx="6">
                  <c:v>276.0</c:v>
                </c:pt>
                <c:pt idx="7">
                  <c:v>340.0</c:v>
                </c:pt>
                <c:pt idx="8">
                  <c:v>378.0</c:v>
                </c:pt>
                <c:pt idx="9">
                  <c:v>256.0</c:v>
                </c:pt>
                <c:pt idx="10">
                  <c:v>214.0</c:v>
                </c:pt>
                <c:pt idx="11">
                  <c:v>119.0</c:v>
                </c:pt>
              </c:numCache>
            </c:numRef>
          </c:val>
          <c:smooth val="0"/>
        </c:ser>
        <c:ser>
          <c:idx val="3"/>
          <c:order val="3"/>
          <c:tx>
            <c:strRef>
              <c:f>Sheet1!$E$1</c:f>
              <c:strCache>
                <c:ptCount val="1"/>
                <c:pt idx="0">
                  <c:v>2018/19</c:v>
                </c:pt>
              </c:strCache>
            </c:strRef>
          </c:tx>
          <c:spPr>
            <a:ln w="13970" cap="rnd">
              <a:solidFill>
                <a:srgbClr val="9467BD"/>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Sheet1!$E$2:$E$13</c:f>
              <c:numCache>
                <c:formatCode>General</c:formatCode>
                <c:ptCount val="12"/>
                <c:pt idx="0">
                  <c:v>51.0</c:v>
                </c:pt>
                <c:pt idx="1">
                  <c:v>160.0</c:v>
                </c:pt>
                <c:pt idx="2">
                  <c:v>112.0</c:v>
                </c:pt>
                <c:pt idx="3">
                  <c:v>199.0</c:v>
                </c:pt>
                <c:pt idx="4">
                  <c:v>357.0</c:v>
                </c:pt>
                <c:pt idx="5">
                  <c:v>327.0</c:v>
                </c:pt>
                <c:pt idx="6">
                  <c:v>320.0</c:v>
                </c:pt>
                <c:pt idx="7">
                  <c:v>249.0</c:v>
                </c:pt>
                <c:pt idx="8">
                  <c:v>319.0</c:v>
                </c:pt>
                <c:pt idx="9">
                  <c:v>322.0</c:v>
                </c:pt>
                <c:pt idx="10">
                  <c:v>100.0</c:v>
                </c:pt>
                <c:pt idx="11">
                  <c:v>120.0</c:v>
                </c:pt>
              </c:numCache>
            </c:numRef>
          </c:val>
          <c:smooth val="0"/>
        </c:ser>
        <c:ser>
          <c:idx val="4"/>
          <c:order val="4"/>
          <c:tx>
            <c:strRef>
              <c:f>Sheet1!$F$1</c:f>
              <c:strCache>
                <c:ptCount val="1"/>
                <c:pt idx="0">
                  <c:v>2023/24</c:v>
                </c:pt>
              </c:strCache>
            </c:strRef>
          </c:tx>
          <c:spPr>
            <a:ln w="13970" cap="rnd">
              <a:solidFill>
                <a:srgbClr val="8C564B"/>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Sheet1!$F$2:$F$13</c:f>
              <c:numCache>
                <c:formatCode>General</c:formatCode>
                <c:ptCount val="12"/>
                <c:pt idx="0">
                  <c:v>212.0</c:v>
                </c:pt>
                <c:pt idx="1">
                  <c:v>56.0</c:v>
                </c:pt>
                <c:pt idx="2">
                  <c:v>10.0</c:v>
                </c:pt>
                <c:pt idx="3">
                  <c:v>45.0</c:v>
                </c:pt>
                <c:pt idx="4">
                  <c:v>153.0</c:v>
                </c:pt>
                <c:pt idx="5">
                  <c:v>202.0</c:v>
                </c:pt>
                <c:pt idx="6">
                  <c:v>296.0</c:v>
                </c:pt>
                <c:pt idx="7">
                  <c:v>379.0</c:v>
                </c:pt>
                <c:pt idx="8">
                  <c:v>548.0</c:v>
                </c:pt>
                <c:pt idx="9">
                  <c:v>337.0</c:v>
                </c:pt>
                <c:pt idx="10">
                  <c:v>316.0</c:v>
                </c:pt>
                <c:pt idx="11">
                  <c:v>194.0</c:v>
                </c:pt>
              </c:numCache>
            </c:numRef>
          </c:val>
          <c:smooth val="0"/>
        </c:ser>
        <c:ser>
          <c:idx val="5"/>
          <c:order val="5"/>
          <c:tx>
            <c:strRef>
              <c:f>Sheet1!$G$1</c:f>
              <c:strCache>
                <c:ptCount val="1"/>
                <c:pt idx="0">
                  <c:v>2026/27</c:v>
                </c:pt>
              </c:strCache>
            </c:strRef>
          </c:tx>
          <c:spPr>
            <a:ln w="31750" cap="rnd">
              <a:solidFill>
                <a:srgbClr val="C00000"/>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Sheet1!$G$2:$G$13</c:f>
              <c:numCache>
                <c:formatCode>General</c:formatCode>
                <c:ptCount val="12"/>
                <c:pt idx="0">
                  <c:v>75.0</c:v>
                </c:pt>
                <c:pt idx="1">
                  <c:v>50.0</c:v>
                </c:pt>
              </c:numCache>
            </c:numRef>
          </c:val>
          <c:smooth val="0"/>
        </c:ser>
        <c:ser>
          <c:idx val="6"/>
          <c:order val="6"/>
          <c:tx>
            <c:strRef>
              <c:f>Sheet1!$H$1</c:f>
              <c:strCache>
                <c:ptCount val="1"/>
                <c:pt idx="0">
                  <c:v>Average</c:v>
                </c:pt>
              </c:strCache>
            </c:strRef>
          </c:tx>
          <c:spPr>
            <a:ln w="28575" cap="rnd">
              <a:solidFill>
                <a:srgbClr val="000000"/>
              </a:solidFill>
              <a:prstDash val="dash"/>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Sheet1!$H$2:$H$13</c:f>
              <c:numCache>
                <c:formatCode>General</c:formatCode>
                <c:ptCount val="12"/>
                <c:pt idx="0">
                  <c:v>103.0</c:v>
                </c:pt>
                <c:pt idx="1">
                  <c:v>75.0</c:v>
                </c:pt>
                <c:pt idx="2">
                  <c:v>59.0</c:v>
                </c:pt>
                <c:pt idx="3">
                  <c:v>96.0</c:v>
                </c:pt>
                <c:pt idx="4">
                  <c:v>222.0</c:v>
                </c:pt>
                <c:pt idx="5">
                  <c:v>326.0</c:v>
                </c:pt>
                <c:pt idx="6">
                  <c:v>313.0</c:v>
                </c:pt>
                <c:pt idx="7">
                  <c:v>306.0</c:v>
                </c:pt>
                <c:pt idx="8">
                  <c:v>372.0</c:v>
                </c:pt>
                <c:pt idx="9">
                  <c:v>301.0</c:v>
                </c:pt>
                <c:pt idx="10">
                  <c:v>215.0</c:v>
                </c:pt>
                <c:pt idx="11">
                  <c:v>158.0</c:v>
                </c:pt>
              </c:numCache>
            </c:numRef>
          </c:val>
          <c:smooth val="0"/>
        </c:ser>
        <c:marker val="1"/>
        <c:axId val="60010"/>
        <c:axId val="60020"/>
      </c:lineChart>
      <c:catAx>
        <c:axId val="60010"/>
        <c:scaling>
          <c:orientation val="minMax"/>
        </c:scaling>
        <c:delete val="0"/>
        <c:axPos val="b"/>
        <c:numFmt formatCode="General" sourceLinked="0"/>
        <c:majorTickMark val="none"/>
        <c:minorTickMark val="none"/>
        <c:tickLblPos val="low"/>
        <c:spPr>
          <a:ln w="9525">
            <a:solidFill>
              <a:srgbClr val="B7C0C5"/>
            </a:solidFill>
          </a:ln>
        </c:spPr>
        <c:txPr>
          <a:bodyPr/>
          <a:lstStyle/>
          <a:p>
            <a:pPr>
              <a:defRPr sz="800" b="0">
                <a:solidFill>
                  <a:srgbClr val="5B6770"/>
                </a:solidFill>
                <a:latin typeface="Arial"/>
                <a:cs typeface="Arial"/>
              </a:defRPr>
            </a:pPr>
            <a:endParaRPr lang="fr-FR"/>
          </a:p>
        </c:txPr>
        <c:crossAx val="60020"/>
        <c:crosses val="autoZero"/>
        <c:auto val="1"/>
        <c:lblAlgn val="ctr"/>
        <c:lblOffset val="100"/>
        <c:noMultiLvlLbl val="0"/>
      </c:catAx>
      <c:valAx>
        <c:axId val="60020"/>
        <c:scaling>
          <c:orientation val="minMax"/>
          <c:max val="600"/>
          <c:min val="0"/>
        </c:scaling>
        <c:delete val="0"/>
        <c:axPos val="l"/>
        <c:majorGridlines>
          <c:spPr>
            <a:ln w="6350">
              <a:solidFill>
                <a:srgbClr val="E3E8EB"/>
              </a:solidFill>
            </a:ln>
          </c:spPr>
        </c:majorGridlines>
        <c:numFmt formatCode="0" sourceLinked="0"/>
        <c:majorTickMark val="none"/>
        <c:minorTickMark val="none"/>
        <c:tickLblPos val="low"/>
        <c:spPr>
          <a:ln w="6350">
            <a:solidFill>
              <a:srgbClr val="FFFFFF"/>
            </a:solidFill>
          </a:ln>
        </c:spPr>
        <c:txPr>
          <a:bodyPr/>
          <a:lstStyle/>
          <a:p>
            <a:pPr>
              <a:defRPr sz="800" b="0">
                <a:solidFill>
                  <a:srgbClr val="5B6770"/>
                </a:solidFill>
                <a:latin typeface="Arial"/>
                <a:cs typeface="Arial"/>
              </a:defRPr>
            </a:pPr>
            <a:endParaRPr lang="fr-FR"/>
          </a:p>
        </c:txPr>
        <c:crossAx val="60010"/>
        <c:crosses val="autoZero"/>
        <c:crossBetween val="between"/>
        <c:majorUnit val="100"/>
      </c:valAx>
    </c:plotArea>
    <c:legend>
      <c:legendPos val="b"/>
      <c:overlay val="0"/>
      <c:txPr>
        <a:bodyPr/>
        <a:lstStyle/>
        <a:p>
          <a:pPr>
            <a:defRPr sz="700" b="0">
              <a:solidFill>
                <a:srgbClr val="1F2A30"/>
              </a:solidFill>
              <a:latin typeface="Arial"/>
              <a:cs typeface="Arial"/>
            </a:defRPr>
          </a:pPr>
          <a:endParaRPr lang="fr-FR"/>
        </a:p>
      </c:txPr>
    </c:legend>
    <c:plotVisOnly val="1"/>
    <c:dispBlanksAs val="gap"/>
  </c:chart>
  <c:spPr>
    <a:noFill/>
    <a:ln>
      <a:noFill/>
    </a:ln>
  </c:spPr>
  <c:txPr>
    <a:bodyPr/>
    <a:lstStyle/>
    <a:p>
      <a:pPr>
        <a:defRPr sz="1000" b="0">
          <a:solidFill>
            <a:srgbClr val="5B6770"/>
          </a:solidFill>
          <a:latin typeface="Arial"/>
          <a:cs typeface="Arial"/>
        </a:defRPr>
      </a:pPr>
      <a:endParaRPr lang="fr-FR"/>
    </a:p>
  </c:txPr>
</c:chartSpace>
</file>

<file path=ppt/charts/chart20.xml><?xml version="1.0" encoding="utf-8"?>
<c:chartSpace xmlns:c="http://schemas.openxmlformats.org/drawingml/2006/chart" xmlns:a="http://schemas.openxmlformats.org/drawingml/2006/main" xmlns:r="http://schemas.openxmlformats.org/officeDocument/2006/relationships">
  <c:roundedCorners val="0"/>
  <c:chart>
    <c:autoTitleDeleted val="1"/>
    <c:plotArea>
      <c:layout/>
      <c:lineChart>
        <c:grouping val="standard"/>
        <c:varyColors val="0"/>
        <c:ser>
          <c:idx val="0"/>
          <c:order val="0"/>
          <c:tx>
            <c:strRef>
              <c:f>Sheet1!$B$1</c:f>
              <c:strCache>
                <c:ptCount val="1"/>
                <c:pt idx="0">
                  <c:v>2007/08</c:v>
                </c:pt>
              </c:strCache>
            </c:strRef>
          </c:tx>
          <c:spPr>
            <a:ln w="13970" cap="rnd">
              <a:solidFill>
                <a:srgbClr val="1F77B4"/>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Sheet1!$B$2:$B$13</c:f>
              <c:numCache>
                <c:formatCode>General</c:formatCode>
                <c:ptCount val="12"/>
                <c:pt idx="0">
                  <c:v>23.81</c:v>
                </c:pt>
                <c:pt idx="1">
                  <c:v>23.54</c:v>
                </c:pt>
                <c:pt idx="2">
                  <c:v>24.15</c:v>
                </c:pt>
                <c:pt idx="3">
                  <c:v>24.8</c:v>
                </c:pt>
                <c:pt idx="4">
                  <c:v>24.65</c:v>
                </c:pt>
                <c:pt idx="5">
                  <c:v>24.08</c:v>
                </c:pt>
                <c:pt idx="6">
                  <c:v>24.24</c:v>
                </c:pt>
                <c:pt idx="7">
                  <c:v>23.47</c:v>
                </c:pt>
                <c:pt idx="8">
                  <c:v>24.05</c:v>
                </c:pt>
                <c:pt idx="9">
                  <c:v>24.36</c:v>
                </c:pt>
                <c:pt idx="10">
                  <c:v>24.25</c:v>
                </c:pt>
                <c:pt idx="11">
                  <c:v>23.77</c:v>
                </c:pt>
              </c:numCache>
            </c:numRef>
          </c:val>
          <c:smooth val="0"/>
        </c:ser>
        <c:ser>
          <c:idx val="1"/>
          <c:order val="1"/>
          <c:tx>
            <c:strRef>
              <c:f>Sheet1!$C$1</c:f>
              <c:strCache>
                <c:ptCount val="1"/>
                <c:pt idx="0">
                  <c:v>2010/11</c:v>
                </c:pt>
              </c:strCache>
            </c:strRef>
          </c:tx>
          <c:spPr>
            <a:ln w="13970" cap="rnd">
              <a:solidFill>
                <a:srgbClr val="FF7F0E"/>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Sheet1!$C$2:$C$13</c:f>
              <c:numCache>
                <c:formatCode>General</c:formatCode>
                <c:ptCount val="12"/>
                <c:pt idx="0">
                  <c:v>24.03</c:v>
                </c:pt>
                <c:pt idx="1">
                  <c:v>24.02</c:v>
                </c:pt>
                <c:pt idx="2">
                  <c:v>24.55</c:v>
                </c:pt>
                <c:pt idx="3">
                  <c:v>24.36</c:v>
                </c:pt>
                <c:pt idx="4">
                  <c:v>24.27</c:v>
                </c:pt>
                <c:pt idx="5">
                  <c:v>23.21</c:v>
                </c:pt>
                <c:pt idx="6">
                  <c:v>23.38</c:v>
                </c:pt>
                <c:pt idx="7">
                  <c:v>23.78</c:v>
                </c:pt>
                <c:pt idx="8">
                  <c:v>23.75</c:v>
                </c:pt>
                <c:pt idx="9">
                  <c:v>24.3</c:v>
                </c:pt>
                <c:pt idx="10">
                  <c:v>24.67</c:v>
                </c:pt>
                <c:pt idx="11">
                  <c:v>24.5</c:v>
                </c:pt>
              </c:numCache>
            </c:numRef>
          </c:val>
          <c:smooth val="0"/>
        </c:ser>
        <c:ser>
          <c:idx val="2"/>
          <c:order val="2"/>
          <c:tx>
            <c:strRef>
              <c:f>Sheet1!$D$1</c:f>
              <c:strCache>
                <c:ptCount val="1"/>
                <c:pt idx="0">
                  <c:v>2011/12</c:v>
                </c:pt>
              </c:strCache>
            </c:strRef>
          </c:tx>
          <c:spPr>
            <a:ln w="13970" cap="rnd">
              <a:solidFill>
                <a:srgbClr val="2CA02C"/>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Sheet1!$D$2:$D$13</c:f>
              <c:numCache>
                <c:formatCode>General</c:formatCode>
                <c:ptCount val="12"/>
                <c:pt idx="0">
                  <c:v>23.97</c:v>
                </c:pt>
                <c:pt idx="1">
                  <c:v>23.84</c:v>
                </c:pt>
                <c:pt idx="2">
                  <c:v>24.57</c:v>
                </c:pt>
                <c:pt idx="3">
                  <c:v>24.67</c:v>
                </c:pt>
                <c:pt idx="4">
                  <c:v>24.5</c:v>
                </c:pt>
                <c:pt idx="5">
                  <c:v>24.26</c:v>
                </c:pt>
                <c:pt idx="6">
                  <c:v>23.78</c:v>
                </c:pt>
                <c:pt idx="7">
                  <c:v>24.22</c:v>
                </c:pt>
                <c:pt idx="8">
                  <c:v>23.94</c:v>
                </c:pt>
                <c:pt idx="9">
                  <c:v>24.44</c:v>
                </c:pt>
                <c:pt idx="10">
                  <c:v>24.69</c:v>
                </c:pt>
                <c:pt idx="11">
                  <c:v>24.26</c:v>
                </c:pt>
              </c:numCache>
            </c:numRef>
          </c:val>
          <c:smooth val="0"/>
        </c:ser>
        <c:ser>
          <c:idx val="3"/>
          <c:order val="3"/>
          <c:tx>
            <c:strRef>
              <c:f>Sheet1!$E$1</c:f>
              <c:strCache>
                <c:ptCount val="1"/>
                <c:pt idx="0">
                  <c:v>2020/21</c:v>
                </c:pt>
              </c:strCache>
            </c:strRef>
          </c:tx>
          <c:spPr>
            <a:ln w="13970" cap="rnd">
              <a:solidFill>
                <a:srgbClr val="9467BD"/>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Sheet1!$E$2:$E$13</c:f>
              <c:numCache>
                <c:formatCode>General</c:formatCode>
                <c:ptCount val="12"/>
                <c:pt idx="0">
                  <c:v>23.88</c:v>
                </c:pt>
                <c:pt idx="1">
                  <c:v>24.27</c:v>
                </c:pt>
                <c:pt idx="2">
                  <c:v>24.48</c:v>
                </c:pt>
                <c:pt idx="3">
                  <c:v>24.68</c:v>
                </c:pt>
                <c:pt idx="4">
                  <c:v>24.66</c:v>
                </c:pt>
                <c:pt idx="5">
                  <c:v>24.03</c:v>
                </c:pt>
                <c:pt idx="6">
                  <c:v>23.78</c:v>
                </c:pt>
                <c:pt idx="7">
                  <c:v>24.11</c:v>
                </c:pt>
                <c:pt idx="8">
                  <c:v>24.28</c:v>
                </c:pt>
                <c:pt idx="9">
                  <c:v>24.57</c:v>
                </c:pt>
                <c:pt idx="10">
                  <c:v>25.04</c:v>
                </c:pt>
                <c:pt idx="11">
                  <c:v>24.65</c:v>
                </c:pt>
              </c:numCache>
            </c:numRef>
          </c:val>
          <c:smooth val="0"/>
        </c:ser>
        <c:ser>
          <c:idx val="4"/>
          <c:order val="4"/>
          <c:tx>
            <c:strRef>
              <c:f>Sheet1!$F$1</c:f>
              <c:strCache>
                <c:ptCount val="1"/>
                <c:pt idx="0">
                  <c:v>2021/22</c:v>
                </c:pt>
              </c:strCache>
            </c:strRef>
          </c:tx>
          <c:spPr>
            <a:ln w="13970" cap="rnd">
              <a:solidFill>
                <a:srgbClr val="8C564B"/>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Sheet1!$F$2:$F$13</c:f>
              <c:numCache>
                <c:formatCode>General</c:formatCode>
                <c:ptCount val="12"/>
                <c:pt idx="0">
                  <c:v>24.03</c:v>
                </c:pt>
                <c:pt idx="1">
                  <c:v>24.02</c:v>
                </c:pt>
                <c:pt idx="2">
                  <c:v>24.46</c:v>
                </c:pt>
                <c:pt idx="3">
                  <c:v>25.05</c:v>
                </c:pt>
                <c:pt idx="4">
                  <c:v>24.58</c:v>
                </c:pt>
                <c:pt idx="5">
                  <c:v>24.43</c:v>
                </c:pt>
                <c:pt idx="6">
                  <c:v>24.39</c:v>
                </c:pt>
                <c:pt idx="7">
                  <c:v>24.18</c:v>
                </c:pt>
                <c:pt idx="8">
                  <c:v>24.76</c:v>
                </c:pt>
                <c:pt idx="9">
                  <c:v>24.97</c:v>
                </c:pt>
                <c:pt idx="10">
                  <c:v>25.21</c:v>
                </c:pt>
                <c:pt idx="11">
                  <c:v>24.21</c:v>
                </c:pt>
              </c:numCache>
            </c:numRef>
          </c:val>
          <c:smooth val="0"/>
        </c:ser>
        <c:ser>
          <c:idx val="5"/>
          <c:order val="5"/>
          <c:tx>
            <c:strRef>
              <c:f>Sheet1!$G$1</c:f>
              <c:strCache>
                <c:ptCount val="1"/>
                <c:pt idx="0">
                  <c:v>2022/23</c:v>
                </c:pt>
              </c:strCache>
            </c:strRef>
          </c:tx>
          <c:spPr>
            <a:ln w="13970" cap="rnd">
              <a:solidFill>
                <a:srgbClr val="E377C2"/>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Sheet1!$G$2:$G$13</c:f>
              <c:numCache>
                <c:formatCode>General</c:formatCode>
                <c:ptCount val="12"/>
                <c:pt idx="0">
                  <c:v>24.26</c:v>
                </c:pt>
                <c:pt idx="1">
                  <c:v>24.41</c:v>
                </c:pt>
                <c:pt idx="2">
                  <c:v>24.38</c:v>
                </c:pt>
                <c:pt idx="3">
                  <c:v>24.55</c:v>
                </c:pt>
                <c:pt idx="4">
                  <c:v>24.54</c:v>
                </c:pt>
                <c:pt idx="5">
                  <c:v>24.15</c:v>
                </c:pt>
                <c:pt idx="6">
                  <c:v>23.94</c:v>
                </c:pt>
                <c:pt idx="7">
                  <c:v>23.89</c:v>
                </c:pt>
                <c:pt idx="8">
                  <c:v>24.35</c:v>
                </c:pt>
                <c:pt idx="9">
                  <c:v>25.15</c:v>
                </c:pt>
                <c:pt idx="10">
                  <c:v>25.42</c:v>
                </c:pt>
                <c:pt idx="11">
                  <c:v>24.89</c:v>
                </c:pt>
              </c:numCache>
            </c:numRef>
          </c:val>
          <c:smooth val="0"/>
        </c:ser>
        <c:ser>
          <c:idx val="6"/>
          <c:order val="6"/>
          <c:tx>
            <c:strRef>
              <c:f>Sheet1!$H$1</c:f>
              <c:strCache>
                <c:ptCount val="1"/>
                <c:pt idx="0">
                  <c:v>Average</c:v>
                </c:pt>
              </c:strCache>
            </c:strRef>
          </c:tx>
          <c:spPr>
            <a:ln w="28575" cap="rnd">
              <a:solidFill>
                <a:srgbClr val="000000"/>
              </a:solidFill>
              <a:prstDash val="dash"/>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Sheet1!$H$2:$H$13</c:f>
              <c:numCache>
                <c:formatCode>General</c:formatCode>
                <c:ptCount val="12"/>
                <c:pt idx="0">
                  <c:v>24.0</c:v>
                </c:pt>
                <c:pt idx="1">
                  <c:v>24.02</c:v>
                </c:pt>
                <c:pt idx="2">
                  <c:v>24.43</c:v>
                </c:pt>
                <c:pt idx="3">
                  <c:v>24.69</c:v>
                </c:pt>
                <c:pt idx="4">
                  <c:v>24.53</c:v>
                </c:pt>
                <c:pt idx="5">
                  <c:v>24.03</c:v>
                </c:pt>
                <c:pt idx="6">
                  <c:v>23.92</c:v>
                </c:pt>
                <c:pt idx="7">
                  <c:v>23.94</c:v>
                </c:pt>
                <c:pt idx="8">
                  <c:v>24.19</c:v>
                </c:pt>
                <c:pt idx="9">
                  <c:v>24.63</c:v>
                </c:pt>
                <c:pt idx="10">
                  <c:v>24.88</c:v>
                </c:pt>
                <c:pt idx="11">
                  <c:v>24.38</c:v>
                </c:pt>
              </c:numCache>
            </c:numRef>
          </c:val>
          <c:smooth val="0"/>
        </c:ser>
        <c:marker val="1"/>
        <c:axId val="60010"/>
        <c:axId val="60020"/>
      </c:lineChart>
      <c:catAx>
        <c:axId val="60010"/>
        <c:scaling>
          <c:orientation val="minMax"/>
        </c:scaling>
        <c:delete val="0"/>
        <c:axPos val="b"/>
        <c:numFmt formatCode="General" sourceLinked="0"/>
        <c:majorTickMark val="none"/>
        <c:minorTickMark val="none"/>
        <c:tickLblPos val="low"/>
        <c:spPr>
          <a:ln w="9525">
            <a:solidFill>
              <a:srgbClr val="B7C0C5"/>
            </a:solidFill>
          </a:ln>
        </c:spPr>
        <c:txPr>
          <a:bodyPr/>
          <a:lstStyle/>
          <a:p>
            <a:pPr>
              <a:defRPr sz="800" b="0">
                <a:solidFill>
                  <a:srgbClr val="5B6770"/>
                </a:solidFill>
                <a:latin typeface="Arial"/>
                <a:cs typeface="Arial"/>
              </a:defRPr>
            </a:pPr>
            <a:endParaRPr lang="fr-FR"/>
          </a:p>
        </c:txPr>
        <c:crossAx val="60020"/>
        <c:crosses val="autoZero"/>
        <c:auto val="1"/>
        <c:lblAlgn val="ctr"/>
        <c:lblOffset val="100"/>
        <c:noMultiLvlLbl val="0"/>
      </c:catAx>
      <c:valAx>
        <c:axId val="60020"/>
        <c:scaling>
          <c:orientation val="minMax"/>
          <c:max val="27.0"/>
          <c:min val="23.0"/>
        </c:scaling>
        <c:delete val="0"/>
        <c:axPos val="l"/>
        <c:majorGridlines>
          <c:spPr>
            <a:ln w="6350">
              <a:solidFill>
                <a:srgbClr val="E3E8EB"/>
              </a:solidFill>
            </a:ln>
          </c:spPr>
        </c:majorGridlines>
        <c:numFmt formatCode="0.0" sourceLinked="0"/>
        <c:majorTickMark val="none"/>
        <c:minorTickMark val="none"/>
        <c:tickLblPos val="low"/>
        <c:spPr>
          <a:ln w="6350">
            <a:solidFill>
              <a:srgbClr val="FFFFFF"/>
            </a:solidFill>
          </a:ln>
        </c:spPr>
        <c:txPr>
          <a:bodyPr/>
          <a:lstStyle/>
          <a:p>
            <a:pPr>
              <a:defRPr sz="800" b="0">
                <a:solidFill>
                  <a:srgbClr val="5B6770"/>
                </a:solidFill>
                <a:latin typeface="Arial"/>
                <a:cs typeface="Arial"/>
              </a:defRPr>
            </a:pPr>
            <a:endParaRPr lang="fr-FR"/>
          </a:p>
        </c:txPr>
        <c:crossAx val="60010"/>
        <c:crosses val="autoZero"/>
        <c:crossBetween val="between"/>
        <c:majorUnit val="0.5"/>
      </c:valAx>
    </c:plotArea>
    <c:plotVisOnly val="1"/>
    <c:dispBlanksAs val="gap"/>
  </c:chart>
  <c:spPr>
    <a:noFill/>
    <a:ln>
      <a:noFill/>
    </a:ln>
  </c:spPr>
  <c:txPr>
    <a:bodyPr/>
    <a:lstStyle/>
    <a:p>
      <a:pPr>
        <a:defRPr sz="1000" b="0">
          <a:solidFill>
            <a:srgbClr val="5B6770"/>
          </a:solidFill>
          <a:latin typeface="Arial"/>
          <a:cs typeface="Arial"/>
        </a:defRPr>
      </a:pPr>
      <a:endParaRPr lang="fr-FR"/>
    </a:p>
  </c:txPr>
</c:chartSpace>
</file>

<file path=ppt/charts/chart21.xml><?xml version="1.0" encoding="utf-8"?>
<c:chartSpace xmlns:c="http://schemas.openxmlformats.org/drawingml/2006/chart" xmlns:a="http://schemas.openxmlformats.org/drawingml/2006/main" xmlns:r="http://schemas.openxmlformats.org/officeDocument/2006/relationships">
  <c:roundedCorners val="0"/>
  <c:chart>
    <c:autoTitleDeleted val="1"/>
    <c:plotArea>
      <c:layout/>
      <c:lineChart>
        <c:grouping val="standard"/>
        <c:varyColors val="0"/>
        <c:ser>
          <c:idx val="0"/>
          <c:order val="0"/>
          <c:tx>
            <c:strRef>
              <c:f>Sheet1!$B$1</c:f>
              <c:strCache>
                <c:ptCount val="1"/>
                <c:pt idx="0">
                  <c:v>2007/08</c:v>
                </c:pt>
              </c:strCache>
            </c:strRef>
          </c:tx>
          <c:spPr>
            <a:ln w="13970" cap="rnd">
              <a:solidFill>
                <a:srgbClr val="1F77B4"/>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Sheet1!$B$2:$B$13</c:f>
              <c:numCache>
                <c:formatCode>General</c:formatCode>
                <c:ptCount val="12"/>
                <c:pt idx="0">
                  <c:v>141.0</c:v>
                </c:pt>
                <c:pt idx="1">
                  <c:v>29.0</c:v>
                </c:pt>
                <c:pt idx="2">
                  <c:v>110.0</c:v>
                </c:pt>
                <c:pt idx="3">
                  <c:v>149.0</c:v>
                </c:pt>
                <c:pt idx="4">
                  <c:v>226.0</c:v>
                </c:pt>
                <c:pt idx="5">
                  <c:v>353.0</c:v>
                </c:pt>
                <c:pt idx="6">
                  <c:v>180.0</c:v>
                </c:pt>
                <c:pt idx="7">
                  <c:v>158.0</c:v>
                </c:pt>
                <c:pt idx="8">
                  <c:v>336.0</c:v>
                </c:pt>
                <c:pt idx="9">
                  <c:v>275.0</c:v>
                </c:pt>
                <c:pt idx="10">
                  <c:v>53.0</c:v>
                </c:pt>
                <c:pt idx="11">
                  <c:v>56.0</c:v>
                </c:pt>
              </c:numCache>
            </c:numRef>
          </c:val>
          <c:smooth val="0"/>
        </c:ser>
        <c:ser>
          <c:idx val="1"/>
          <c:order val="1"/>
          <c:tx>
            <c:strRef>
              <c:f>Sheet1!$C$1</c:f>
              <c:strCache>
                <c:ptCount val="1"/>
                <c:pt idx="0">
                  <c:v>2010/11</c:v>
                </c:pt>
              </c:strCache>
            </c:strRef>
          </c:tx>
          <c:spPr>
            <a:ln w="13970" cap="rnd">
              <a:solidFill>
                <a:srgbClr val="FF7F0E"/>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Sheet1!$C$2:$C$13</c:f>
              <c:numCache>
                <c:formatCode>General</c:formatCode>
                <c:ptCount val="12"/>
                <c:pt idx="0">
                  <c:v>241.0</c:v>
                </c:pt>
                <c:pt idx="1">
                  <c:v>205.0</c:v>
                </c:pt>
                <c:pt idx="2">
                  <c:v>380.0</c:v>
                </c:pt>
                <c:pt idx="3">
                  <c:v>412.0</c:v>
                </c:pt>
                <c:pt idx="4">
                  <c:v>406.0</c:v>
                </c:pt>
                <c:pt idx="5">
                  <c:v>281.0</c:v>
                </c:pt>
                <c:pt idx="6">
                  <c:v>293.0</c:v>
                </c:pt>
                <c:pt idx="7">
                  <c:v>149.0</c:v>
                </c:pt>
                <c:pt idx="8">
                  <c:v>255.0</c:v>
                </c:pt>
                <c:pt idx="9">
                  <c:v>345.0</c:v>
                </c:pt>
                <c:pt idx="10">
                  <c:v>155.0</c:v>
                </c:pt>
                <c:pt idx="11">
                  <c:v>230.0</c:v>
                </c:pt>
              </c:numCache>
            </c:numRef>
          </c:val>
          <c:smooth val="0"/>
        </c:ser>
        <c:ser>
          <c:idx val="2"/>
          <c:order val="2"/>
          <c:tx>
            <c:strRef>
              <c:f>Sheet1!$D$1</c:f>
              <c:strCache>
                <c:ptCount val="1"/>
                <c:pt idx="0">
                  <c:v>2011/12</c:v>
                </c:pt>
              </c:strCache>
            </c:strRef>
          </c:tx>
          <c:spPr>
            <a:ln w="13970" cap="rnd">
              <a:solidFill>
                <a:srgbClr val="2CA02C"/>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Sheet1!$D$2:$D$13</c:f>
              <c:numCache>
                <c:formatCode>General</c:formatCode>
                <c:ptCount val="12"/>
                <c:pt idx="0">
                  <c:v>95.0</c:v>
                </c:pt>
                <c:pt idx="1">
                  <c:v>65.0</c:v>
                </c:pt>
                <c:pt idx="2">
                  <c:v>22.0</c:v>
                </c:pt>
                <c:pt idx="3">
                  <c:v>177.0</c:v>
                </c:pt>
                <c:pt idx="4">
                  <c:v>250.0</c:v>
                </c:pt>
                <c:pt idx="5">
                  <c:v>253.0</c:v>
                </c:pt>
                <c:pt idx="6">
                  <c:v>251.0</c:v>
                </c:pt>
                <c:pt idx="7">
                  <c:v>232.0</c:v>
                </c:pt>
                <c:pt idx="8">
                  <c:v>169.0</c:v>
                </c:pt>
                <c:pt idx="9">
                  <c:v>319.0</c:v>
                </c:pt>
                <c:pt idx="10">
                  <c:v>220.0</c:v>
                </c:pt>
                <c:pt idx="11">
                  <c:v>98.0</c:v>
                </c:pt>
              </c:numCache>
            </c:numRef>
          </c:val>
          <c:smooth val="0"/>
        </c:ser>
        <c:ser>
          <c:idx val="3"/>
          <c:order val="3"/>
          <c:tx>
            <c:strRef>
              <c:f>Sheet1!$E$1</c:f>
              <c:strCache>
                <c:ptCount val="1"/>
                <c:pt idx="0">
                  <c:v>2020/21</c:v>
                </c:pt>
              </c:strCache>
            </c:strRef>
          </c:tx>
          <c:spPr>
            <a:ln w="13970" cap="rnd">
              <a:solidFill>
                <a:srgbClr val="9467BD"/>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Sheet1!$E$2:$E$13</c:f>
              <c:numCache>
                <c:formatCode>General</c:formatCode>
                <c:ptCount val="12"/>
                <c:pt idx="0">
                  <c:v>139.0</c:v>
                </c:pt>
                <c:pt idx="1">
                  <c:v>101.0</c:v>
                </c:pt>
                <c:pt idx="2">
                  <c:v>186.0</c:v>
                </c:pt>
                <c:pt idx="3">
                  <c:v>355.0</c:v>
                </c:pt>
                <c:pt idx="4">
                  <c:v>347.0</c:v>
                </c:pt>
                <c:pt idx="5">
                  <c:v>346.0</c:v>
                </c:pt>
                <c:pt idx="6">
                  <c:v>354.0</c:v>
                </c:pt>
                <c:pt idx="7">
                  <c:v>265.0</c:v>
                </c:pt>
                <c:pt idx="8">
                  <c:v>223.0</c:v>
                </c:pt>
                <c:pt idx="9">
                  <c:v>566.0</c:v>
                </c:pt>
                <c:pt idx="10">
                  <c:v>239.0</c:v>
                </c:pt>
                <c:pt idx="11">
                  <c:v>140.0</c:v>
                </c:pt>
              </c:numCache>
            </c:numRef>
          </c:val>
          <c:smooth val="0"/>
        </c:ser>
        <c:ser>
          <c:idx val="4"/>
          <c:order val="4"/>
          <c:tx>
            <c:strRef>
              <c:f>Sheet1!$F$1</c:f>
              <c:strCache>
                <c:ptCount val="1"/>
                <c:pt idx="0">
                  <c:v>2021/22</c:v>
                </c:pt>
              </c:strCache>
            </c:strRef>
          </c:tx>
          <c:spPr>
            <a:ln w="13970" cap="rnd">
              <a:solidFill>
                <a:srgbClr val="8C564B"/>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Sheet1!$F$2:$F$13</c:f>
              <c:numCache>
                <c:formatCode>General</c:formatCode>
                <c:ptCount val="12"/>
                <c:pt idx="0">
                  <c:v>118.0</c:v>
                </c:pt>
                <c:pt idx="1">
                  <c:v>186.0</c:v>
                </c:pt>
                <c:pt idx="2">
                  <c:v>240.0</c:v>
                </c:pt>
                <c:pt idx="3">
                  <c:v>254.0</c:v>
                </c:pt>
                <c:pt idx="4">
                  <c:v>286.0</c:v>
                </c:pt>
                <c:pt idx="5">
                  <c:v>315.0</c:v>
                </c:pt>
                <c:pt idx="6">
                  <c:v>305.0</c:v>
                </c:pt>
                <c:pt idx="7">
                  <c:v>211.0</c:v>
                </c:pt>
                <c:pt idx="8">
                  <c:v>183.0</c:v>
                </c:pt>
                <c:pt idx="9">
                  <c:v>292.0</c:v>
                </c:pt>
                <c:pt idx="10">
                  <c:v>244.0</c:v>
                </c:pt>
                <c:pt idx="11">
                  <c:v>301.0</c:v>
                </c:pt>
              </c:numCache>
            </c:numRef>
          </c:val>
          <c:smooth val="0"/>
        </c:ser>
        <c:ser>
          <c:idx val="5"/>
          <c:order val="5"/>
          <c:tx>
            <c:strRef>
              <c:f>Sheet1!$G$1</c:f>
              <c:strCache>
                <c:ptCount val="1"/>
                <c:pt idx="0">
                  <c:v>2022/23</c:v>
                </c:pt>
              </c:strCache>
            </c:strRef>
          </c:tx>
          <c:spPr>
            <a:ln w="13970" cap="rnd">
              <a:solidFill>
                <a:srgbClr val="E377C2"/>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Sheet1!$G$2:$G$13</c:f>
              <c:numCache>
                <c:formatCode>General</c:formatCode>
                <c:ptCount val="12"/>
                <c:pt idx="0">
                  <c:v>174.0</c:v>
                </c:pt>
                <c:pt idx="1">
                  <c:v>286.0</c:v>
                </c:pt>
                <c:pt idx="2">
                  <c:v>235.0</c:v>
                </c:pt>
                <c:pt idx="3">
                  <c:v>387.0</c:v>
                </c:pt>
                <c:pt idx="4">
                  <c:v>294.0</c:v>
                </c:pt>
                <c:pt idx="5">
                  <c:v>325.0</c:v>
                </c:pt>
                <c:pt idx="6">
                  <c:v>310.0</c:v>
                </c:pt>
                <c:pt idx="7">
                  <c:v>197.0</c:v>
                </c:pt>
                <c:pt idx="8">
                  <c:v>342.0</c:v>
                </c:pt>
                <c:pt idx="9">
                  <c:v>256.0</c:v>
                </c:pt>
                <c:pt idx="10">
                  <c:v>178.0</c:v>
                </c:pt>
                <c:pt idx="11">
                  <c:v>127.0</c:v>
                </c:pt>
              </c:numCache>
            </c:numRef>
          </c:val>
          <c:smooth val="0"/>
        </c:ser>
        <c:ser>
          <c:idx val="6"/>
          <c:order val="6"/>
          <c:tx>
            <c:strRef>
              <c:f>Sheet1!$H$1</c:f>
              <c:strCache>
                <c:ptCount val="1"/>
                <c:pt idx="0">
                  <c:v>Average</c:v>
                </c:pt>
              </c:strCache>
            </c:strRef>
          </c:tx>
          <c:spPr>
            <a:ln w="28575" cap="rnd">
              <a:solidFill>
                <a:srgbClr val="000000"/>
              </a:solidFill>
              <a:prstDash val="dash"/>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Sheet1!$H$2:$H$13</c:f>
              <c:numCache>
                <c:formatCode>General</c:formatCode>
                <c:ptCount val="12"/>
                <c:pt idx="0">
                  <c:v>151.0</c:v>
                </c:pt>
                <c:pt idx="1">
                  <c:v>145.0</c:v>
                </c:pt>
                <c:pt idx="2">
                  <c:v>196.0</c:v>
                </c:pt>
                <c:pt idx="3">
                  <c:v>289.0</c:v>
                </c:pt>
                <c:pt idx="4">
                  <c:v>302.0</c:v>
                </c:pt>
                <c:pt idx="5">
                  <c:v>312.0</c:v>
                </c:pt>
                <c:pt idx="6">
                  <c:v>282.0</c:v>
                </c:pt>
                <c:pt idx="7">
                  <c:v>202.0</c:v>
                </c:pt>
                <c:pt idx="8">
                  <c:v>251.0</c:v>
                </c:pt>
                <c:pt idx="9">
                  <c:v>342.0</c:v>
                </c:pt>
                <c:pt idx="10">
                  <c:v>182.0</c:v>
                </c:pt>
                <c:pt idx="11">
                  <c:v>159.0</c:v>
                </c:pt>
              </c:numCache>
            </c:numRef>
          </c:val>
          <c:smooth val="0"/>
        </c:ser>
        <c:marker val="1"/>
        <c:axId val="60010"/>
        <c:axId val="60020"/>
      </c:lineChart>
      <c:catAx>
        <c:axId val="60010"/>
        <c:scaling>
          <c:orientation val="minMax"/>
        </c:scaling>
        <c:delete val="0"/>
        <c:axPos val="b"/>
        <c:numFmt formatCode="General" sourceLinked="0"/>
        <c:majorTickMark val="none"/>
        <c:minorTickMark val="none"/>
        <c:tickLblPos val="low"/>
        <c:spPr>
          <a:ln w="9525">
            <a:solidFill>
              <a:srgbClr val="B7C0C5"/>
            </a:solidFill>
          </a:ln>
        </c:spPr>
        <c:txPr>
          <a:bodyPr/>
          <a:lstStyle/>
          <a:p>
            <a:pPr>
              <a:defRPr sz="800" b="0">
                <a:solidFill>
                  <a:srgbClr val="5B6770"/>
                </a:solidFill>
                <a:latin typeface="Arial"/>
                <a:cs typeface="Arial"/>
              </a:defRPr>
            </a:pPr>
            <a:endParaRPr lang="fr-FR"/>
          </a:p>
        </c:txPr>
        <c:crossAx val="60020"/>
        <c:crosses val="autoZero"/>
        <c:auto val="1"/>
        <c:lblAlgn val="ctr"/>
        <c:lblOffset val="100"/>
        <c:noMultiLvlLbl val="0"/>
      </c:catAx>
      <c:valAx>
        <c:axId val="60020"/>
        <c:scaling>
          <c:orientation val="minMax"/>
          <c:max val="600"/>
          <c:min val="0"/>
        </c:scaling>
        <c:delete val="0"/>
        <c:axPos val="l"/>
        <c:majorGridlines>
          <c:spPr>
            <a:ln w="6350">
              <a:solidFill>
                <a:srgbClr val="E3E8EB"/>
              </a:solidFill>
            </a:ln>
          </c:spPr>
        </c:majorGridlines>
        <c:numFmt formatCode="0" sourceLinked="0"/>
        <c:majorTickMark val="none"/>
        <c:minorTickMark val="none"/>
        <c:tickLblPos val="low"/>
        <c:spPr>
          <a:ln w="6350">
            <a:solidFill>
              <a:srgbClr val="FFFFFF"/>
            </a:solidFill>
          </a:ln>
        </c:spPr>
        <c:txPr>
          <a:bodyPr/>
          <a:lstStyle/>
          <a:p>
            <a:pPr>
              <a:defRPr sz="800" b="0">
                <a:solidFill>
                  <a:srgbClr val="5B6770"/>
                </a:solidFill>
                <a:latin typeface="Arial"/>
                <a:cs typeface="Arial"/>
              </a:defRPr>
            </a:pPr>
            <a:endParaRPr lang="fr-FR"/>
          </a:p>
        </c:txPr>
        <c:crossAx val="60010"/>
        <c:crosses val="autoZero"/>
        <c:crossBetween val="between"/>
        <c:majorUnit val="100"/>
      </c:valAx>
    </c:plotArea>
    <c:legend>
      <c:legendPos val="b"/>
      <c:overlay val="0"/>
      <c:txPr>
        <a:bodyPr/>
        <a:lstStyle/>
        <a:p>
          <a:pPr>
            <a:defRPr sz="700" b="0">
              <a:solidFill>
                <a:srgbClr val="1F2A30"/>
              </a:solidFill>
              <a:latin typeface="Arial"/>
              <a:cs typeface="Arial"/>
            </a:defRPr>
          </a:pPr>
          <a:endParaRPr lang="fr-FR"/>
        </a:p>
      </c:txPr>
    </c:legend>
    <c:plotVisOnly val="1"/>
    <c:dispBlanksAs val="gap"/>
  </c:chart>
  <c:spPr>
    <a:noFill/>
    <a:ln>
      <a:noFill/>
    </a:ln>
  </c:spPr>
  <c:txPr>
    <a:bodyPr/>
    <a:lstStyle/>
    <a:p>
      <a:pPr>
        <a:defRPr sz="1000" b="0">
          <a:solidFill>
            <a:srgbClr val="5B6770"/>
          </a:solidFill>
          <a:latin typeface="Arial"/>
          <a:cs typeface="Arial"/>
        </a:defRPr>
      </a:pPr>
      <a:endParaRPr lang="fr-FR"/>
    </a:p>
  </c:txPr>
</c:chartSpace>
</file>

<file path=ppt/charts/chart22.xml><?xml version="1.0" encoding="utf-8"?>
<c:chartSpace xmlns:c="http://schemas.openxmlformats.org/drawingml/2006/chart" xmlns:a="http://schemas.openxmlformats.org/drawingml/2006/main" xmlns:r="http://schemas.openxmlformats.org/officeDocument/2006/relationships">
  <c:roundedCorners val="0"/>
  <c:chart>
    <c:autoTitleDeleted val="1"/>
    <c:plotArea>
      <c:layout/>
      <c:lineChart>
        <c:grouping val="standard"/>
        <c:varyColors val="0"/>
        <c:ser>
          <c:idx val="0"/>
          <c:order val="0"/>
          <c:tx>
            <c:strRef>
              <c:f>Sheet1!$B$1</c:f>
              <c:strCache>
                <c:ptCount val="1"/>
                <c:pt idx="0">
                  <c:v>2008/09</c:v>
                </c:pt>
              </c:strCache>
            </c:strRef>
          </c:tx>
          <c:spPr>
            <a:ln w="13970" cap="rnd">
              <a:solidFill>
                <a:srgbClr val="1F77B4"/>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Sheet1!$B$2:$B$13</c:f>
              <c:numCache>
                <c:formatCode>General</c:formatCode>
                <c:ptCount val="12"/>
                <c:pt idx="0">
                  <c:v>23.39</c:v>
                </c:pt>
                <c:pt idx="1">
                  <c:v>23.71</c:v>
                </c:pt>
                <c:pt idx="2">
                  <c:v>24.21</c:v>
                </c:pt>
                <c:pt idx="3">
                  <c:v>24.49</c:v>
                </c:pt>
                <c:pt idx="4">
                  <c:v>24.55</c:v>
                </c:pt>
                <c:pt idx="5">
                  <c:v>23.73</c:v>
                </c:pt>
                <c:pt idx="6">
                  <c:v>23.56</c:v>
                </c:pt>
                <c:pt idx="7">
                  <c:v>23.7</c:v>
                </c:pt>
                <c:pt idx="8">
                  <c:v>24.43</c:v>
                </c:pt>
                <c:pt idx="9">
                  <c:v>24.92</c:v>
                </c:pt>
                <c:pt idx="10">
                  <c:v>24.72</c:v>
                </c:pt>
                <c:pt idx="11">
                  <c:v>24.3</c:v>
                </c:pt>
              </c:numCache>
            </c:numRef>
          </c:val>
          <c:smooth val="0"/>
        </c:ser>
        <c:ser>
          <c:idx val="1"/>
          <c:order val="1"/>
          <c:tx>
            <c:strRef>
              <c:f>Sheet1!$C$1</c:f>
              <c:strCache>
                <c:ptCount val="1"/>
                <c:pt idx="0">
                  <c:v>2012/13</c:v>
                </c:pt>
              </c:strCache>
            </c:strRef>
          </c:tx>
          <c:spPr>
            <a:ln w="13970" cap="rnd">
              <a:solidFill>
                <a:srgbClr val="FF7F0E"/>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Sheet1!$C$2:$C$13</c:f>
              <c:numCache>
                <c:formatCode>General</c:formatCode>
                <c:ptCount val="12"/>
                <c:pt idx="0">
                  <c:v>23.65</c:v>
                </c:pt>
                <c:pt idx="1">
                  <c:v>23.75</c:v>
                </c:pt>
                <c:pt idx="2">
                  <c:v>24.82</c:v>
                </c:pt>
                <c:pt idx="3">
                  <c:v>24.95</c:v>
                </c:pt>
                <c:pt idx="4">
                  <c:v>24.77</c:v>
                </c:pt>
                <c:pt idx="5">
                  <c:v>24.37</c:v>
                </c:pt>
                <c:pt idx="6">
                  <c:v>23.83</c:v>
                </c:pt>
                <c:pt idx="7">
                  <c:v>23.89</c:v>
                </c:pt>
                <c:pt idx="8">
                  <c:v>24.84</c:v>
                </c:pt>
                <c:pt idx="9">
                  <c:v>24.72</c:v>
                </c:pt>
                <c:pt idx="10">
                  <c:v>24.86</c:v>
                </c:pt>
                <c:pt idx="11">
                  <c:v>24.46</c:v>
                </c:pt>
              </c:numCache>
            </c:numRef>
          </c:val>
          <c:smooth val="0"/>
        </c:ser>
        <c:ser>
          <c:idx val="2"/>
          <c:order val="2"/>
          <c:tx>
            <c:strRef>
              <c:f>Sheet1!$D$1</c:f>
              <c:strCache>
                <c:ptCount val="1"/>
                <c:pt idx="0">
                  <c:v>2013/14</c:v>
                </c:pt>
              </c:strCache>
            </c:strRef>
          </c:tx>
          <c:spPr>
            <a:ln w="13970" cap="rnd">
              <a:solidFill>
                <a:srgbClr val="2CA02C"/>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Sheet1!$D$2:$D$13</c:f>
              <c:numCache>
                <c:formatCode>General</c:formatCode>
                <c:ptCount val="12"/>
                <c:pt idx="0">
                  <c:v>23.69</c:v>
                </c:pt>
                <c:pt idx="1">
                  <c:v>23.76</c:v>
                </c:pt>
                <c:pt idx="2">
                  <c:v>24.21</c:v>
                </c:pt>
                <c:pt idx="3">
                  <c:v>24.65</c:v>
                </c:pt>
                <c:pt idx="4">
                  <c:v>24.4</c:v>
                </c:pt>
                <c:pt idx="5">
                  <c:v>24.02</c:v>
                </c:pt>
                <c:pt idx="6">
                  <c:v>23.53</c:v>
                </c:pt>
                <c:pt idx="7">
                  <c:v>23.96</c:v>
                </c:pt>
                <c:pt idx="8">
                  <c:v>24.51</c:v>
                </c:pt>
                <c:pt idx="9">
                  <c:v>24.79</c:v>
                </c:pt>
                <c:pt idx="10">
                  <c:v>24.89</c:v>
                </c:pt>
                <c:pt idx="11">
                  <c:v>24.8</c:v>
                </c:pt>
              </c:numCache>
            </c:numRef>
          </c:val>
          <c:smooth val="0"/>
        </c:ser>
        <c:ser>
          <c:idx val="3"/>
          <c:order val="3"/>
          <c:tx>
            <c:strRef>
              <c:f>Sheet1!$E$1</c:f>
              <c:strCache>
                <c:ptCount val="1"/>
                <c:pt idx="0">
                  <c:v>2014/15</c:v>
                </c:pt>
              </c:strCache>
            </c:strRef>
          </c:tx>
          <c:spPr>
            <a:ln w="13970" cap="rnd">
              <a:solidFill>
                <a:srgbClr val="9467BD"/>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Sheet1!$E$2:$E$13</c:f>
              <c:numCache>
                <c:formatCode>General</c:formatCode>
                <c:ptCount val="12"/>
                <c:pt idx="0">
                  <c:v>24.47</c:v>
                </c:pt>
                <c:pt idx="1">
                  <c:v>24.03</c:v>
                </c:pt>
                <c:pt idx="2">
                  <c:v>24.2</c:v>
                </c:pt>
                <c:pt idx="3">
                  <c:v>24.92</c:v>
                </c:pt>
                <c:pt idx="4">
                  <c:v>24.91</c:v>
                </c:pt>
                <c:pt idx="5">
                  <c:v>24.16</c:v>
                </c:pt>
                <c:pt idx="6">
                  <c:v>23.72</c:v>
                </c:pt>
                <c:pt idx="7">
                  <c:v>23.77</c:v>
                </c:pt>
                <c:pt idx="8">
                  <c:v>24.34</c:v>
                </c:pt>
                <c:pt idx="9">
                  <c:v>24.67</c:v>
                </c:pt>
                <c:pt idx="10">
                  <c:v>24.65</c:v>
                </c:pt>
                <c:pt idx="11">
                  <c:v>24.28</c:v>
                </c:pt>
              </c:numCache>
            </c:numRef>
          </c:val>
          <c:smooth val="0"/>
        </c:ser>
        <c:ser>
          <c:idx val="4"/>
          <c:order val="4"/>
          <c:tx>
            <c:strRef>
              <c:f>Sheet1!$F$1</c:f>
              <c:strCache>
                <c:ptCount val="1"/>
                <c:pt idx="0">
                  <c:v>2016/17</c:v>
                </c:pt>
              </c:strCache>
            </c:strRef>
          </c:tx>
          <c:spPr>
            <a:ln w="13970" cap="rnd">
              <a:solidFill>
                <a:srgbClr val="8C564B"/>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Sheet1!$F$2:$F$13</c:f>
              <c:numCache>
                <c:formatCode>General</c:formatCode>
                <c:ptCount val="12"/>
                <c:pt idx="0">
                  <c:v>24.54</c:v>
                </c:pt>
                <c:pt idx="1">
                  <c:v>24.71</c:v>
                </c:pt>
                <c:pt idx="2">
                  <c:v>24.68</c:v>
                </c:pt>
                <c:pt idx="3">
                  <c:v>24.52</c:v>
                </c:pt>
                <c:pt idx="4">
                  <c:v>24.44</c:v>
                </c:pt>
                <c:pt idx="5">
                  <c:v>23.98</c:v>
                </c:pt>
                <c:pt idx="6">
                  <c:v>24.13</c:v>
                </c:pt>
                <c:pt idx="7">
                  <c:v>23.83</c:v>
                </c:pt>
                <c:pt idx="8">
                  <c:v>24.44</c:v>
                </c:pt>
                <c:pt idx="9">
                  <c:v>24.83</c:v>
                </c:pt>
                <c:pt idx="10">
                  <c:v>24.93</c:v>
                </c:pt>
                <c:pt idx="11">
                  <c:v>24.45</c:v>
                </c:pt>
              </c:numCache>
            </c:numRef>
          </c:val>
          <c:smooth val="0"/>
        </c:ser>
        <c:ser>
          <c:idx val="5"/>
          <c:order val="5"/>
          <c:tx>
            <c:strRef>
              <c:f>Sheet1!$G$1</c:f>
              <c:strCache>
                <c:ptCount val="1"/>
                <c:pt idx="0">
                  <c:v>2017/18</c:v>
                </c:pt>
              </c:strCache>
            </c:strRef>
          </c:tx>
          <c:spPr>
            <a:ln w="13970" cap="rnd">
              <a:solidFill>
                <a:srgbClr val="E377C2"/>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Sheet1!$G$2:$G$13</c:f>
              <c:numCache>
                <c:formatCode>General</c:formatCode>
                <c:ptCount val="12"/>
                <c:pt idx="0">
                  <c:v>24.17</c:v>
                </c:pt>
                <c:pt idx="1">
                  <c:v>24.02</c:v>
                </c:pt>
                <c:pt idx="2">
                  <c:v>24.58</c:v>
                </c:pt>
                <c:pt idx="3">
                  <c:v>25.01</c:v>
                </c:pt>
                <c:pt idx="4">
                  <c:v>24.74</c:v>
                </c:pt>
                <c:pt idx="5">
                  <c:v>24.37</c:v>
                </c:pt>
                <c:pt idx="6">
                  <c:v>23.71</c:v>
                </c:pt>
                <c:pt idx="7">
                  <c:v>24.08</c:v>
                </c:pt>
                <c:pt idx="8">
                  <c:v>24.38</c:v>
                </c:pt>
                <c:pt idx="9">
                  <c:v>24.8</c:v>
                </c:pt>
                <c:pt idx="10">
                  <c:v>24.64</c:v>
                </c:pt>
                <c:pt idx="11">
                  <c:v>24.28</c:v>
                </c:pt>
              </c:numCache>
            </c:numRef>
          </c:val>
          <c:smooth val="0"/>
        </c:ser>
        <c:ser>
          <c:idx val="6"/>
          <c:order val="6"/>
          <c:tx>
            <c:strRef>
              <c:f>Sheet1!$H$1</c:f>
              <c:strCache>
                <c:ptCount val="1"/>
                <c:pt idx="0">
                  <c:v>2019/20</c:v>
                </c:pt>
              </c:strCache>
            </c:strRef>
          </c:tx>
          <c:spPr>
            <a:ln w="13970" cap="rnd">
              <a:solidFill>
                <a:srgbClr val="17BECF"/>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Sheet1!$H$2:$H$13</c:f>
              <c:numCache>
                <c:formatCode>General</c:formatCode>
                <c:ptCount val="12"/>
                <c:pt idx="0">
                  <c:v>23.82</c:v>
                </c:pt>
                <c:pt idx="1">
                  <c:v>24.14</c:v>
                </c:pt>
                <c:pt idx="2">
                  <c:v>25.02</c:v>
                </c:pt>
                <c:pt idx="3">
                  <c:v>26.26</c:v>
                </c:pt>
                <c:pt idx="4">
                  <c:v>26.71</c:v>
                </c:pt>
                <c:pt idx="5">
                  <c:v>25.14</c:v>
                </c:pt>
                <c:pt idx="6">
                  <c:v>24.86</c:v>
                </c:pt>
                <c:pt idx="7">
                  <c:v>24.78</c:v>
                </c:pt>
                <c:pt idx="8">
                  <c:v>25.1</c:v>
                </c:pt>
                <c:pt idx="9">
                  <c:v>25.21</c:v>
                </c:pt>
                <c:pt idx="10">
                  <c:v>25.37</c:v>
                </c:pt>
                <c:pt idx="11">
                  <c:v>24.42</c:v>
                </c:pt>
              </c:numCache>
            </c:numRef>
          </c:val>
          <c:smooth val="0"/>
        </c:ser>
        <c:ser>
          <c:idx val="7"/>
          <c:order val="7"/>
          <c:tx>
            <c:strRef>
              <c:f>Sheet1!$I$1</c:f>
              <c:strCache>
                <c:ptCount val="1"/>
                <c:pt idx="0">
                  <c:v>2024/25</c:v>
                </c:pt>
              </c:strCache>
            </c:strRef>
          </c:tx>
          <c:spPr>
            <a:ln w="13970" cap="rnd">
              <a:solidFill>
                <a:srgbClr val="BCBD22"/>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Sheet1!$I$2:$I$13</c:f>
              <c:numCache>
                <c:formatCode>General</c:formatCode>
                <c:ptCount val="12"/>
                <c:pt idx="0">
                  <c:v>24.63</c:v>
                </c:pt>
                <c:pt idx="1">
                  <c:v>24.71</c:v>
                </c:pt>
                <c:pt idx="2">
                  <c:v>25.38</c:v>
                </c:pt>
                <c:pt idx="3">
                  <c:v>25.93</c:v>
                </c:pt>
                <c:pt idx="4">
                  <c:v>25.26</c:v>
                </c:pt>
                <c:pt idx="5">
                  <c:v>24.65</c:v>
                </c:pt>
                <c:pt idx="6">
                  <c:v>24.36</c:v>
                </c:pt>
                <c:pt idx="7">
                  <c:v>24.41</c:v>
                </c:pt>
                <c:pt idx="8">
                  <c:v>24.71</c:v>
                </c:pt>
                <c:pt idx="9">
                  <c:v>25.02</c:v>
                </c:pt>
                <c:pt idx="10">
                  <c:v>25.43</c:v>
                </c:pt>
                <c:pt idx="11">
                  <c:v>24.75</c:v>
                </c:pt>
              </c:numCache>
            </c:numRef>
          </c:val>
          <c:smooth val="0"/>
        </c:ser>
        <c:ser>
          <c:idx val="8"/>
          <c:order val="8"/>
          <c:tx>
            <c:strRef>
              <c:f>Sheet1!$J$1</c:f>
              <c:strCache>
                <c:ptCount val="1"/>
                <c:pt idx="0">
                  <c:v>2025/26</c:v>
                </c:pt>
              </c:strCache>
            </c:strRef>
          </c:tx>
          <c:spPr>
            <a:ln w="13970" cap="rnd">
              <a:solidFill>
                <a:srgbClr val="7F7F7F"/>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Sheet1!$J$2:$J$13</c:f>
              <c:numCache>
                <c:formatCode>General</c:formatCode>
                <c:ptCount val="12"/>
                <c:pt idx="0">
                  <c:v>24.59</c:v>
                </c:pt>
                <c:pt idx="1">
                  <c:v>24.39</c:v>
                </c:pt>
                <c:pt idx="2">
                  <c:v>24.64</c:v>
                </c:pt>
                <c:pt idx="3">
                  <c:v>24.88</c:v>
                </c:pt>
                <c:pt idx="4">
                  <c:v>24.73</c:v>
                </c:pt>
                <c:pt idx="5">
                  <c:v>24.4</c:v>
                </c:pt>
                <c:pt idx="6">
                  <c:v>23.86</c:v>
                </c:pt>
                <c:pt idx="7">
                  <c:v>24.01</c:v>
                </c:pt>
                <c:pt idx="8">
                  <c:v>24.7</c:v>
                </c:pt>
                <c:pt idx="9">
                  <c:v>25.25</c:v>
                </c:pt>
                <c:pt idx="10">
                  <c:v>25.19</c:v>
                </c:pt>
                <c:pt idx="11">
                  <c:v>24.62</c:v>
                </c:pt>
              </c:numCache>
            </c:numRef>
          </c:val>
          <c:smooth val="0"/>
        </c:ser>
        <c:ser>
          <c:idx val="9"/>
          <c:order val="9"/>
          <c:tx>
            <c:strRef>
              <c:f>Sheet1!$K$1</c:f>
              <c:strCache>
                <c:ptCount val="1"/>
                <c:pt idx="0">
                  <c:v>Average</c:v>
                </c:pt>
              </c:strCache>
            </c:strRef>
          </c:tx>
          <c:spPr>
            <a:ln w="28575" cap="rnd">
              <a:solidFill>
                <a:srgbClr val="000000"/>
              </a:solidFill>
              <a:prstDash val="dash"/>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Sheet1!$K$2:$K$13</c:f>
              <c:numCache>
                <c:formatCode>General</c:formatCode>
                <c:ptCount val="12"/>
                <c:pt idx="0">
                  <c:v>24.11</c:v>
                </c:pt>
                <c:pt idx="1">
                  <c:v>24.14</c:v>
                </c:pt>
                <c:pt idx="2">
                  <c:v>24.64</c:v>
                </c:pt>
                <c:pt idx="3">
                  <c:v>25.07</c:v>
                </c:pt>
                <c:pt idx="4">
                  <c:v>24.95</c:v>
                </c:pt>
                <c:pt idx="5">
                  <c:v>24.31</c:v>
                </c:pt>
                <c:pt idx="6">
                  <c:v>23.95</c:v>
                </c:pt>
                <c:pt idx="7">
                  <c:v>24.05</c:v>
                </c:pt>
                <c:pt idx="8">
                  <c:v>24.61</c:v>
                </c:pt>
                <c:pt idx="9">
                  <c:v>24.91</c:v>
                </c:pt>
                <c:pt idx="10">
                  <c:v>24.96</c:v>
                </c:pt>
                <c:pt idx="11">
                  <c:v>24.48</c:v>
                </c:pt>
              </c:numCache>
            </c:numRef>
          </c:val>
          <c:smooth val="0"/>
        </c:ser>
        <c:marker val="1"/>
        <c:axId val="60010"/>
        <c:axId val="60020"/>
      </c:lineChart>
      <c:catAx>
        <c:axId val="60010"/>
        <c:scaling>
          <c:orientation val="minMax"/>
        </c:scaling>
        <c:delete val="0"/>
        <c:axPos val="b"/>
        <c:numFmt formatCode="General" sourceLinked="0"/>
        <c:majorTickMark val="none"/>
        <c:minorTickMark val="none"/>
        <c:tickLblPos val="low"/>
        <c:spPr>
          <a:ln w="9525">
            <a:solidFill>
              <a:srgbClr val="B7C0C5"/>
            </a:solidFill>
          </a:ln>
        </c:spPr>
        <c:txPr>
          <a:bodyPr/>
          <a:lstStyle/>
          <a:p>
            <a:pPr>
              <a:defRPr sz="800" b="0">
                <a:solidFill>
                  <a:srgbClr val="5B6770"/>
                </a:solidFill>
                <a:latin typeface="Arial"/>
                <a:cs typeface="Arial"/>
              </a:defRPr>
            </a:pPr>
            <a:endParaRPr lang="fr-FR"/>
          </a:p>
        </c:txPr>
        <c:crossAx val="60020"/>
        <c:crosses val="autoZero"/>
        <c:auto val="1"/>
        <c:lblAlgn val="ctr"/>
        <c:lblOffset val="100"/>
        <c:noMultiLvlLbl val="0"/>
      </c:catAx>
      <c:valAx>
        <c:axId val="60020"/>
        <c:scaling>
          <c:orientation val="minMax"/>
          <c:max val="27.0"/>
          <c:min val="23.0"/>
        </c:scaling>
        <c:delete val="0"/>
        <c:axPos val="l"/>
        <c:majorGridlines>
          <c:spPr>
            <a:ln w="6350">
              <a:solidFill>
                <a:srgbClr val="E3E8EB"/>
              </a:solidFill>
            </a:ln>
          </c:spPr>
        </c:majorGridlines>
        <c:numFmt formatCode="0.0" sourceLinked="0"/>
        <c:majorTickMark val="none"/>
        <c:minorTickMark val="none"/>
        <c:tickLblPos val="low"/>
        <c:spPr>
          <a:ln w="6350">
            <a:solidFill>
              <a:srgbClr val="FFFFFF"/>
            </a:solidFill>
          </a:ln>
        </c:spPr>
        <c:txPr>
          <a:bodyPr/>
          <a:lstStyle/>
          <a:p>
            <a:pPr>
              <a:defRPr sz="800" b="0">
                <a:solidFill>
                  <a:srgbClr val="5B6770"/>
                </a:solidFill>
                <a:latin typeface="Arial"/>
                <a:cs typeface="Arial"/>
              </a:defRPr>
            </a:pPr>
            <a:endParaRPr lang="fr-FR"/>
          </a:p>
        </c:txPr>
        <c:crossAx val="60010"/>
        <c:crosses val="autoZero"/>
        <c:crossBetween val="between"/>
        <c:majorUnit val="0.5"/>
      </c:valAx>
    </c:plotArea>
    <c:plotVisOnly val="1"/>
    <c:dispBlanksAs val="gap"/>
  </c:chart>
  <c:spPr>
    <a:noFill/>
    <a:ln>
      <a:noFill/>
    </a:ln>
  </c:spPr>
  <c:txPr>
    <a:bodyPr/>
    <a:lstStyle/>
    <a:p>
      <a:pPr>
        <a:defRPr sz="1000" b="0">
          <a:solidFill>
            <a:srgbClr val="5B6770"/>
          </a:solidFill>
          <a:latin typeface="Arial"/>
          <a:cs typeface="Arial"/>
        </a:defRPr>
      </a:pPr>
      <a:endParaRPr lang="fr-FR"/>
    </a:p>
  </c:txPr>
</c:chartSpace>
</file>

<file path=ppt/charts/chart23.xml><?xml version="1.0" encoding="utf-8"?>
<c:chartSpace xmlns:c="http://schemas.openxmlformats.org/drawingml/2006/chart" xmlns:a="http://schemas.openxmlformats.org/drawingml/2006/main" xmlns:r="http://schemas.openxmlformats.org/officeDocument/2006/relationships">
  <c:roundedCorners val="0"/>
  <c:chart>
    <c:autoTitleDeleted val="1"/>
    <c:plotArea>
      <c:layout/>
      <c:lineChart>
        <c:grouping val="standard"/>
        <c:varyColors val="0"/>
        <c:ser>
          <c:idx val="0"/>
          <c:order val="0"/>
          <c:tx>
            <c:strRef>
              <c:f>Sheet1!$B$1</c:f>
              <c:strCache>
                <c:ptCount val="1"/>
                <c:pt idx="0">
                  <c:v>2008/09</c:v>
                </c:pt>
              </c:strCache>
            </c:strRef>
          </c:tx>
          <c:spPr>
            <a:ln w="13970" cap="rnd">
              <a:solidFill>
                <a:srgbClr val="1F77B4"/>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Sheet1!$B$2:$B$13</c:f>
              <c:numCache>
                <c:formatCode>General</c:formatCode>
                <c:ptCount val="12"/>
                <c:pt idx="0">
                  <c:v>63.0</c:v>
                </c:pt>
                <c:pt idx="1">
                  <c:v>174.0</c:v>
                </c:pt>
                <c:pt idx="2">
                  <c:v>138.0</c:v>
                </c:pt>
                <c:pt idx="3">
                  <c:v>206.0</c:v>
                </c:pt>
                <c:pt idx="4">
                  <c:v>562.0</c:v>
                </c:pt>
                <c:pt idx="5">
                  <c:v>542.0</c:v>
                </c:pt>
                <c:pt idx="6">
                  <c:v>278.0</c:v>
                </c:pt>
                <c:pt idx="7">
                  <c:v>194.0</c:v>
                </c:pt>
                <c:pt idx="8">
                  <c:v>322.0</c:v>
                </c:pt>
                <c:pt idx="9">
                  <c:v>334.0</c:v>
                </c:pt>
                <c:pt idx="10">
                  <c:v>110.0</c:v>
                </c:pt>
                <c:pt idx="11">
                  <c:v>198.0</c:v>
                </c:pt>
              </c:numCache>
            </c:numRef>
          </c:val>
          <c:smooth val="0"/>
        </c:ser>
        <c:ser>
          <c:idx val="1"/>
          <c:order val="1"/>
          <c:tx>
            <c:strRef>
              <c:f>Sheet1!$C$1</c:f>
              <c:strCache>
                <c:ptCount val="1"/>
                <c:pt idx="0">
                  <c:v>2012/13</c:v>
                </c:pt>
              </c:strCache>
            </c:strRef>
          </c:tx>
          <c:spPr>
            <a:ln w="13970" cap="rnd">
              <a:solidFill>
                <a:srgbClr val="FF7F0E"/>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Sheet1!$C$2:$C$13</c:f>
              <c:numCache>
                <c:formatCode>General</c:formatCode>
                <c:ptCount val="12"/>
                <c:pt idx="0">
                  <c:v>86.0</c:v>
                </c:pt>
                <c:pt idx="1">
                  <c:v>104.0</c:v>
                </c:pt>
                <c:pt idx="2">
                  <c:v>54.0</c:v>
                </c:pt>
                <c:pt idx="3">
                  <c:v>237.0</c:v>
                </c:pt>
                <c:pt idx="4">
                  <c:v>442.0</c:v>
                </c:pt>
                <c:pt idx="5">
                  <c:v>487.0</c:v>
                </c:pt>
                <c:pt idx="6">
                  <c:v>398.0</c:v>
                </c:pt>
                <c:pt idx="7">
                  <c:v>307.0</c:v>
                </c:pt>
                <c:pt idx="8">
                  <c:v>312.0</c:v>
                </c:pt>
                <c:pt idx="9">
                  <c:v>242.0</c:v>
                </c:pt>
                <c:pt idx="10">
                  <c:v>208.0</c:v>
                </c:pt>
                <c:pt idx="11">
                  <c:v>165.0</c:v>
                </c:pt>
              </c:numCache>
            </c:numRef>
          </c:val>
          <c:smooth val="0"/>
        </c:ser>
        <c:ser>
          <c:idx val="2"/>
          <c:order val="2"/>
          <c:tx>
            <c:strRef>
              <c:f>Sheet1!$D$1</c:f>
              <c:strCache>
                <c:ptCount val="1"/>
                <c:pt idx="0">
                  <c:v>2013/14</c:v>
                </c:pt>
              </c:strCache>
            </c:strRef>
          </c:tx>
          <c:spPr>
            <a:ln w="13970" cap="rnd">
              <a:solidFill>
                <a:srgbClr val="2CA02C"/>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Sheet1!$D$2:$D$13</c:f>
              <c:numCache>
                <c:formatCode>General</c:formatCode>
                <c:ptCount val="12"/>
                <c:pt idx="0">
                  <c:v>294.0</c:v>
                </c:pt>
                <c:pt idx="1">
                  <c:v>134.0</c:v>
                </c:pt>
                <c:pt idx="2">
                  <c:v>232.0</c:v>
                </c:pt>
                <c:pt idx="3">
                  <c:v>259.0</c:v>
                </c:pt>
                <c:pt idx="4">
                  <c:v>421.0</c:v>
                </c:pt>
                <c:pt idx="5">
                  <c:v>431.0</c:v>
                </c:pt>
                <c:pt idx="6">
                  <c:v>252.0</c:v>
                </c:pt>
                <c:pt idx="7">
                  <c:v>182.0</c:v>
                </c:pt>
                <c:pt idx="8">
                  <c:v>218.0</c:v>
                </c:pt>
                <c:pt idx="9">
                  <c:v>316.0</c:v>
                </c:pt>
                <c:pt idx="10">
                  <c:v>257.0</c:v>
                </c:pt>
                <c:pt idx="11">
                  <c:v>164.0</c:v>
                </c:pt>
              </c:numCache>
            </c:numRef>
          </c:val>
          <c:smooth val="0"/>
        </c:ser>
        <c:ser>
          <c:idx val="3"/>
          <c:order val="3"/>
          <c:tx>
            <c:strRef>
              <c:f>Sheet1!$E$1</c:f>
              <c:strCache>
                <c:ptCount val="1"/>
                <c:pt idx="0">
                  <c:v>2014/15</c:v>
                </c:pt>
              </c:strCache>
            </c:strRef>
          </c:tx>
          <c:spPr>
            <a:ln w="13970" cap="rnd">
              <a:solidFill>
                <a:srgbClr val="9467BD"/>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Sheet1!$E$2:$E$13</c:f>
              <c:numCache>
                <c:formatCode>General</c:formatCode>
                <c:ptCount val="12"/>
                <c:pt idx="0">
                  <c:v>99.0</c:v>
                </c:pt>
                <c:pt idx="1">
                  <c:v>208.0</c:v>
                </c:pt>
                <c:pt idx="2">
                  <c:v>44.0</c:v>
                </c:pt>
                <c:pt idx="3">
                  <c:v>90.0</c:v>
                </c:pt>
                <c:pt idx="4">
                  <c:v>439.0</c:v>
                </c:pt>
                <c:pt idx="5">
                  <c:v>323.0</c:v>
                </c:pt>
                <c:pt idx="6">
                  <c:v>310.0</c:v>
                </c:pt>
                <c:pt idx="7">
                  <c:v>261.0</c:v>
                </c:pt>
                <c:pt idx="8">
                  <c:v>278.0</c:v>
                </c:pt>
                <c:pt idx="9">
                  <c:v>395.0</c:v>
                </c:pt>
                <c:pt idx="10">
                  <c:v>86.0</c:v>
                </c:pt>
                <c:pt idx="11">
                  <c:v>126.0</c:v>
                </c:pt>
              </c:numCache>
            </c:numRef>
          </c:val>
          <c:smooth val="0"/>
        </c:ser>
        <c:ser>
          <c:idx val="4"/>
          <c:order val="4"/>
          <c:tx>
            <c:strRef>
              <c:f>Sheet1!$F$1</c:f>
              <c:strCache>
                <c:ptCount val="1"/>
                <c:pt idx="0">
                  <c:v>2016/17</c:v>
                </c:pt>
              </c:strCache>
            </c:strRef>
          </c:tx>
          <c:spPr>
            <a:ln w="13970" cap="rnd">
              <a:solidFill>
                <a:srgbClr val="8C564B"/>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Sheet1!$F$2:$F$13</c:f>
              <c:numCache>
                <c:formatCode>General</c:formatCode>
                <c:ptCount val="12"/>
                <c:pt idx="0">
                  <c:v>119.0</c:v>
                </c:pt>
                <c:pt idx="1">
                  <c:v>284.0</c:v>
                </c:pt>
                <c:pt idx="2">
                  <c:v>198.0</c:v>
                </c:pt>
                <c:pt idx="3">
                  <c:v>229.0</c:v>
                </c:pt>
                <c:pt idx="4">
                  <c:v>428.0</c:v>
                </c:pt>
                <c:pt idx="5">
                  <c:v>233.0</c:v>
                </c:pt>
                <c:pt idx="6">
                  <c:v>280.0</c:v>
                </c:pt>
                <c:pt idx="7">
                  <c:v>382.0</c:v>
                </c:pt>
                <c:pt idx="8">
                  <c:v>258.0</c:v>
                </c:pt>
                <c:pt idx="9">
                  <c:v>272.0</c:v>
                </c:pt>
                <c:pt idx="10">
                  <c:v>274.0</c:v>
                </c:pt>
                <c:pt idx="11">
                  <c:v>109.0</c:v>
                </c:pt>
              </c:numCache>
            </c:numRef>
          </c:val>
          <c:smooth val="0"/>
        </c:ser>
        <c:ser>
          <c:idx val="5"/>
          <c:order val="5"/>
          <c:tx>
            <c:strRef>
              <c:f>Sheet1!$G$1</c:f>
              <c:strCache>
                <c:ptCount val="1"/>
                <c:pt idx="0">
                  <c:v>2017/18</c:v>
                </c:pt>
              </c:strCache>
            </c:strRef>
          </c:tx>
          <c:spPr>
            <a:ln w="13970" cap="rnd">
              <a:solidFill>
                <a:srgbClr val="E377C2"/>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Sheet1!$G$2:$G$13</c:f>
              <c:numCache>
                <c:formatCode>General</c:formatCode>
                <c:ptCount val="12"/>
                <c:pt idx="0">
                  <c:v>103.0</c:v>
                </c:pt>
                <c:pt idx="1">
                  <c:v>157.0</c:v>
                </c:pt>
                <c:pt idx="2">
                  <c:v>212.0</c:v>
                </c:pt>
                <c:pt idx="3">
                  <c:v>258.0</c:v>
                </c:pt>
                <c:pt idx="4">
                  <c:v>281.0</c:v>
                </c:pt>
                <c:pt idx="5">
                  <c:v>309.0</c:v>
                </c:pt>
                <c:pt idx="6">
                  <c:v>193.0</c:v>
                </c:pt>
                <c:pt idx="7">
                  <c:v>253.0</c:v>
                </c:pt>
                <c:pt idx="8">
                  <c:v>359.0</c:v>
                </c:pt>
                <c:pt idx="9">
                  <c:v>200.0</c:v>
                </c:pt>
                <c:pt idx="10">
                  <c:v>192.0</c:v>
                </c:pt>
                <c:pt idx="11">
                  <c:v>159.0</c:v>
                </c:pt>
              </c:numCache>
            </c:numRef>
          </c:val>
          <c:smooth val="0"/>
        </c:ser>
        <c:ser>
          <c:idx val="6"/>
          <c:order val="6"/>
          <c:tx>
            <c:strRef>
              <c:f>Sheet1!$H$1</c:f>
              <c:strCache>
                <c:ptCount val="1"/>
                <c:pt idx="0">
                  <c:v>2019/20</c:v>
                </c:pt>
              </c:strCache>
            </c:strRef>
          </c:tx>
          <c:spPr>
            <a:ln w="13970" cap="rnd">
              <a:solidFill>
                <a:srgbClr val="17BECF"/>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Sheet1!$H$2:$H$13</c:f>
              <c:numCache>
                <c:formatCode>General</c:formatCode>
                <c:ptCount val="12"/>
                <c:pt idx="0">
                  <c:v>139.0</c:v>
                </c:pt>
                <c:pt idx="1">
                  <c:v>12.0</c:v>
                </c:pt>
                <c:pt idx="2">
                  <c:v>40.0</c:v>
                </c:pt>
                <c:pt idx="3">
                  <c:v>50.0</c:v>
                </c:pt>
                <c:pt idx="4">
                  <c:v>98.0</c:v>
                </c:pt>
                <c:pt idx="5">
                  <c:v>361.0</c:v>
                </c:pt>
                <c:pt idx="6">
                  <c:v>366.0</c:v>
                </c:pt>
                <c:pt idx="7">
                  <c:v>227.0</c:v>
                </c:pt>
                <c:pt idx="8">
                  <c:v>439.0</c:v>
                </c:pt>
                <c:pt idx="9">
                  <c:v>393.0</c:v>
                </c:pt>
                <c:pt idx="10">
                  <c:v>216.0</c:v>
                </c:pt>
                <c:pt idx="11">
                  <c:v>262.0</c:v>
                </c:pt>
              </c:numCache>
            </c:numRef>
          </c:val>
          <c:smooth val="0"/>
        </c:ser>
        <c:ser>
          <c:idx val="7"/>
          <c:order val="7"/>
          <c:tx>
            <c:strRef>
              <c:f>Sheet1!$I$1</c:f>
              <c:strCache>
                <c:ptCount val="1"/>
                <c:pt idx="0">
                  <c:v>2024/25</c:v>
                </c:pt>
              </c:strCache>
            </c:strRef>
          </c:tx>
          <c:spPr>
            <a:ln w="13970" cap="rnd">
              <a:solidFill>
                <a:srgbClr val="BCBD22"/>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Sheet1!$I$2:$I$13</c:f>
              <c:numCache>
                <c:formatCode>General</c:formatCode>
                <c:ptCount val="12"/>
                <c:pt idx="0">
                  <c:v>123.0</c:v>
                </c:pt>
                <c:pt idx="1">
                  <c:v>22.0</c:v>
                </c:pt>
                <c:pt idx="2">
                  <c:v>123.0</c:v>
                </c:pt>
                <c:pt idx="3">
                  <c:v>118.0</c:v>
                </c:pt>
                <c:pt idx="4">
                  <c:v>296.0</c:v>
                </c:pt>
                <c:pt idx="5">
                  <c:v>381.0</c:v>
                </c:pt>
                <c:pt idx="6">
                  <c:v>329.0</c:v>
                </c:pt>
                <c:pt idx="7">
                  <c:v>299.0</c:v>
                </c:pt>
                <c:pt idx="8">
                  <c:v>388.0</c:v>
                </c:pt>
                <c:pt idx="9">
                  <c:v>279.0</c:v>
                </c:pt>
                <c:pt idx="10">
                  <c:v>151.0</c:v>
                </c:pt>
                <c:pt idx="11">
                  <c:v>135.0</c:v>
                </c:pt>
              </c:numCache>
            </c:numRef>
          </c:val>
          <c:smooth val="0"/>
        </c:ser>
        <c:ser>
          <c:idx val="8"/>
          <c:order val="8"/>
          <c:tx>
            <c:strRef>
              <c:f>Sheet1!$J$1</c:f>
              <c:strCache>
                <c:ptCount val="1"/>
                <c:pt idx="0">
                  <c:v>2025/26</c:v>
                </c:pt>
              </c:strCache>
            </c:strRef>
          </c:tx>
          <c:spPr>
            <a:ln w="13970" cap="rnd">
              <a:solidFill>
                <a:srgbClr val="7F7F7F"/>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Sheet1!$J$2:$J$13</c:f>
              <c:numCache>
                <c:formatCode>General</c:formatCode>
                <c:ptCount val="12"/>
                <c:pt idx="0">
                  <c:v>128.0</c:v>
                </c:pt>
                <c:pt idx="1">
                  <c:v>260.0</c:v>
                </c:pt>
                <c:pt idx="2">
                  <c:v>312.0</c:v>
                </c:pt>
                <c:pt idx="3">
                  <c:v>258.0</c:v>
                </c:pt>
                <c:pt idx="4">
                  <c:v>394.0</c:v>
                </c:pt>
                <c:pt idx="5">
                  <c:v>429.0</c:v>
                </c:pt>
                <c:pt idx="6">
                  <c:v>262.0</c:v>
                </c:pt>
                <c:pt idx="7">
                  <c:v>269.0</c:v>
                </c:pt>
                <c:pt idx="8">
                  <c:v>199.0</c:v>
                </c:pt>
                <c:pt idx="9">
                  <c:v>330.0</c:v>
                </c:pt>
                <c:pt idx="10">
                  <c:v>230.0</c:v>
                </c:pt>
                <c:pt idx="11">
                  <c:v>93.0</c:v>
                </c:pt>
              </c:numCache>
            </c:numRef>
          </c:val>
          <c:smooth val="0"/>
        </c:ser>
        <c:ser>
          <c:idx val="9"/>
          <c:order val="9"/>
          <c:tx>
            <c:strRef>
              <c:f>Sheet1!$K$1</c:f>
              <c:strCache>
                <c:ptCount val="1"/>
                <c:pt idx="0">
                  <c:v>Average</c:v>
                </c:pt>
              </c:strCache>
            </c:strRef>
          </c:tx>
          <c:spPr>
            <a:ln w="28575" cap="rnd">
              <a:solidFill>
                <a:srgbClr val="000000"/>
              </a:solidFill>
              <a:prstDash val="dash"/>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Sheet1!$K$2:$K$13</c:f>
              <c:numCache>
                <c:formatCode>General</c:formatCode>
                <c:ptCount val="12"/>
                <c:pt idx="0">
                  <c:v>128.0</c:v>
                </c:pt>
                <c:pt idx="1">
                  <c:v>151.0</c:v>
                </c:pt>
                <c:pt idx="2">
                  <c:v>150.0</c:v>
                </c:pt>
                <c:pt idx="3">
                  <c:v>189.0</c:v>
                </c:pt>
                <c:pt idx="4">
                  <c:v>373.0</c:v>
                </c:pt>
                <c:pt idx="5">
                  <c:v>388.0</c:v>
                </c:pt>
                <c:pt idx="6">
                  <c:v>296.0</c:v>
                </c:pt>
                <c:pt idx="7">
                  <c:v>264.0</c:v>
                </c:pt>
                <c:pt idx="8">
                  <c:v>308.0</c:v>
                </c:pt>
                <c:pt idx="9">
                  <c:v>307.0</c:v>
                </c:pt>
                <c:pt idx="10">
                  <c:v>192.0</c:v>
                </c:pt>
                <c:pt idx="11">
                  <c:v>157.0</c:v>
                </c:pt>
              </c:numCache>
            </c:numRef>
          </c:val>
          <c:smooth val="0"/>
        </c:ser>
        <c:marker val="1"/>
        <c:axId val="60010"/>
        <c:axId val="60020"/>
      </c:lineChart>
      <c:catAx>
        <c:axId val="60010"/>
        <c:scaling>
          <c:orientation val="minMax"/>
        </c:scaling>
        <c:delete val="0"/>
        <c:axPos val="b"/>
        <c:numFmt formatCode="General" sourceLinked="0"/>
        <c:majorTickMark val="none"/>
        <c:minorTickMark val="none"/>
        <c:tickLblPos val="low"/>
        <c:spPr>
          <a:ln w="9525">
            <a:solidFill>
              <a:srgbClr val="B7C0C5"/>
            </a:solidFill>
          </a:ln>
        </c:spPr>
        <c:txPr>
          <a:bodyPr/>
          <a:lstStyle/>
          <a:p>
            <a:pPr>
              <a:defRPr sz="800" b="0">
                <a:solidFill>
                  <a:srgbClr val="5B6770"/>
                </a:solidFill>
                <a:latin typeface="Arial"/>
                <a:cs typeface="Arial"/>
              </a:defRPr>
            </a:pPr>
            <a:endParaRPr lang="fr-FR"/>
          </a:p>
        </c:txPr>
        <c:crossAx val="60020"/>
        <c:crosses val="autoZero"/>
        <c:auto val="1"/>
        <c:lblAlgn val="ctr"/>
        <c:lblOffset val="100"/>
        <c:noMultiLvlLbl val="0"/>
      </c:catAx>
      <c:valAx>
        <c:axId val="60020"/>
        <c:scaling>
          <c:orientation val="minMax"/>
          <c:max val="600"/>
          <c:min val="0"/>
        </c:scaling>
        <c:delete val="0"/>
        <c:axPos val="l"/>
        <c:majorGridlines>
          <c:spPr>
            <a:ln w="6350">
              <a:solidFill>
                <a:srgbClr val="E3E8EB"/>
              </a:solidFill>
            </a:ln>
          </c:spPr>
        </c:majorGridlines>
        <c:numFmt formatCode="0" sourceLinked="0"/>
        <c:majorTickMark val="none"/>
        <c:minorTickMark val="none"/>
        <c:tickLblPos val="low"/>
        <c:spPr>
          <a:ln w="6350">
            <a:solidFill>
              <a:srgbClr val="FFFFFF"/>
            </a:solidFill>
          </a:ln>
        </c:spPr>
        <c:txPr>
          <a:bodyPr/>
          <a:lstStyle/>
          <a:p>
            <a:pPr>
              <a:defRPr sz="800" b="0">
                <a:solidFill>
                  <a:srgbClr val="5B6770"/>
                </a:solidFill>
                <a:latin typeface="Arial"/>
                <a:cs typeface="Arial"/>
              </a:defRPr>
            </a:pPr>
            <a:endParaRPr lang="fr-FR"/>
          </a:p>
        </c:txPr>
        <c:crossAx val="60010"/>
        <c:crosses val="autoZero"/>
        <c:crossBetween val="between"/>
        <c:majorUnit val="100"/>
      </c:valAx>
    </c:plotArea>
    <c:legend>
      <c:legendPos val="b"/>
      <c:overlay val="0"/>
      <c:txPr>
        <a:bodyPr/>
        <a:lstStyle/>
        <a:p>
          <a:pPr>
            <a:defRPr sz="700" b="0">
              <a:solidFill>
                <a:srgbClr val="1F2A30"/>
              </a:solidFill>
              <a:latin typeface="Arial"/>
              <a:cs typeface="Arial"/>
            </a:defRPr>
          </a:pPr>
          <a:endParaRPr lang="fr-FR"/>
        </a:p>
      </c:txPr>
    </c:legend>
    <c:plotVisOnly val="1"/>
    <c:dispBlanksAs val="gap"/>
  </c:chart>
  <c:spPr>
    <a:noFill/>
    <a:ln>
      <a:noFill/>
    </a:ln>
  </c:spPr>
  <c:txPr>
    <a:bodyPr/>
    <a:lstStyle/>
    <a:p>
      <a:pPr>
        <a:defRPr sz="1000" b="0">
          <a:solidFill>
            <a:srgbClr val="5B6770"/>
          </a:solidFill>
          <a:latin typeface="Arial"/>
          <a:cs typeface="Arial"/>
        </a:defRPr>
      </a:pPr>
      <a:endParaRPr lang="fr-FR"/>
    </a:p>
  </c:txPr>
</c:chartSpace>
</file>

<file path=ppt/charts/chart24.xml><?xml version="1.0" encoding="utf-8"?>
<c:chartSpace xmlns:c="http://schemas.openxmlformats.org/drawingml/2006/chart" xmlns:a="http://schemas.openxmlformats.org/drawingml/2006/main" xmlns:r="http://schemas.openxmlformats.org/officeDocument/2006/relationships">
  <c:roundedCorners val="0"/>
  <c:chart>
    <c:autoTitleDeleted val="1"/>
    <c:plotArea>
      <c:layout/>
      <c:lineChart>
        <c:grouping val="standard"/>
        <c:varyColors val="0"/>
        <c:ser>
          <c:idx val="0"/>
          <c:order val="0"/>
          <c:tx>
            <c:strRef>
              <c:f>Sheet1!$B$1</c:f>
              <c:strCache>
                <c:ptCount val="1"/>
                <c:pt idx="0">
                  <c:v>2006/07</c:v>
                </c:pt>
              </c:strCache>
            </c:strRef>
          </c:tx>
          <c:spPr>
            <a:ln w="13970" cap="rnd">
              <a:solidFill>
                <a:srgbClr val="1F77B4"/>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Sheet1!$B$2:$B$13</c:f>
              <c:numCache>
                <c:formatCode>General</c:formatCode>
                <c:ptCount val="12"/>
                <c:pt idx="0">
                  <c:v>24.36</c:v>
                </c:pt>
                <c:pt idx="1">
                  <c:v>23.85</c:v>
                </c:pt>
                <c:pt idx="2">
                  <c:v>25.35</c:v>
                </c:pt>
                <c:pt idx="3">
                  <c:v>27.68</c:v>
                </c:pt>
                <c:pt idx="4">
                  <c:v>27.42</c:v>
                </c:pt>
                <c:pt idx="5">
                  <c:v>25.68</c:v>
                </c:pt>
                <c:pt idx="6">
                  <c:v>24.95</c:v>
                </c:pt>
                <c:pt idx="7">
                  <c:v>24.61</c:v>
                </c:pt>
                <c:pt idx="8">
                  <c:v>24.76</c:v>
                </c:pt>
                <c:pt idx="9">
                  <c:v>25.3</c:v>
                </c:pt>
                <c:pt idx="10">
                  <c:v>25.16</c:v>
                </c:pt>
                <c:pt idx="11">
                  <c:v>24.83</c:v>
                </c:pt>
              </c:numCache>
            </c:numRef>
          </c:val>
          <c:smooth val="0"/>
        </c:ser>
        <c:ser>
          <c:idx val="1"/>
          <c:order val="1"/>
          <c:tx>
            <c:strRef>
              <c:f>Sheet1!$C$1</c:f>
              <c:strCache>
                <c:ptCount val="1"/>
                <c:pt idx="0">
                  <c:v>2009/10</c:v>
                </c:pt>
              </c:strCache>
            </c:strRef>
          </c:tx>
          <c:spPr>
            <a:ln w="13970" cap="rnd">
              <a:solidFill>
                <a:srgbClr val="FF7F0E"/>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Sheet1!$C$2:$C$13</c:f>
              <c:numCache>
                <c:formatCode>General</c:formatCode>
                <c:ptCount val="12"/>
                <c:pt idx="0">
                  <c:v>24.36</c:v>
                </c:pt>
                <c:pt idx="1">
                  <c:v>24.78</c:v>
                </c:pt>
                <c:pt idx="2">
                  <c:v>26.31</c:v>
                </c:pt>
                <c:pt idx="3">
                  <c:v>26.27</c:v>
                </c:pt>
                <c:pt idx="4">
                  <c:v>25.87</c:v>
                </c:pt>
                <c:pt idx="5">
                  <c:v>25.24</c:v>
                </c:pt>
                <c:pt idx="6">
                  <c:v>24.64</c:v>
                </c:pt>
                <c:pt idx="7">
                  <c:v>25.41</c:v>
                </c:pt>
                <c:pt idx="8">
                  <c:v>25.34</c:v>
                </c:pt>
                <c:pt idx="9">
                  <c:v>26.07</c:v>
                </c:pt>
                <c:pt idx="10">
                  <c:v>25.74</c:v>
                </c:pt>
                <c:pt idx="11">
                  <c:v>24.66</c:v>
                </c:pt>
              </c:numCache>
            </c:numRef>
          </c:val>
          <c:smooth val="0"/>
        </c:ser>
        <c:ser>
          <c:idx val="2"/>
          <c:order val="2"/>
          <c:tx>
            <c:strRef>
              <c:f>Sheet1!$D$1</c:f>
              <c:strCache>
                <c:ptCount val="1"/>
                <c:pt idx="0">
                  <c:v>2015/16</c:v>
                </c:pt>
              </c:strCache>
            </c:strRef>
          </c:tx>
          <c:spPr>
            <a:ln w="13970" cap="rnd">
              <a:solidFill>
                <a:srgbClr val="2CA02C"/>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Sheet1!$D$2:$D$13</c:f>
              <c:numCache>
                <c:formatCode>General</c:formatCode>
                <c:ptCount val="12"/>
                <c:pt idx="0">
                  <c:v>24.42</c:v>
                </c:pt>
                <c:pt idx="1">
                  <c:v>25.52</c:v>
                </c:pt>
                <c:pt idx="2">
                  <c:v>27.15</c:v>
                </c:pt>
                <c:pt idx="3">
                  <c:v>28.12</c:v>
                </c:pt>
                <c:pt idx="4">
                  <c:v>28.38</c:v>
                </c:pt>
                <c:pt idx="5">
                  <c:v>25.92</c:v>
                </c:pt>
                <c:pt idx="6">
                  <c:v>25.72</c:v>
                </c:pt>
                <c:pt idx="7">
                  <c:v>25.18</c:v>
                </c:pt>
                <c:pt idx="8">
                  <c:v>25.67</c:v>
                </c:pt>
                <c:pt idx="9">
                  <c:v>25.77</c:v>
                </c:pt>
                <c:pt idx="10">
                  <c:v>25.77</c:v>
                </c:pt>
                <c:pt idx="11">
                  <c:v>25.18</c:v>
                </c:pt>
              </c:numCache>
            </c:numRef>
          </c:val>
          <c:smooth val="0"/>
        </c:ser>
        <c:ser>
          <c:idx val="3"/>
          <c:order val="3"/>
          <c:tx>
            <c:strRef>
              <c:f>Sheet1!$E$1</c:f>
              <c:strCache>
                <c:ptCount val="1"/>
                <c:pt idx="0">
                  <c:v>2018/19</c:v>
                </c:pt>
              </c:strCache>
            </c:strRef>
          </c:tx>
          <c:spPr>
            <a:ln w="13970" cap="rnd">
              <a:solidFill>
                <a:srgbClr val="9467BD"/>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Sheet1!$E$2:$E$13</c:f>
              <c:numCache>
                <c:formatCode>General</c:formatCode>
                <c:ptCount val="12"/>
                <c:pt idx="0">
                  <c:v>24.33</c:v>
                </c:pt>
                <c:pt idx="1">
                  <c:v>24.77</c:v>
                </c:pt>
                <c:pt idx="2">
                  <c:v>25.61</c:v>
                </c:pt>
                <c:pt idx="3">
                  <c:v>26.83</c:v>
                </c:pt>
                <c:pt idx="4">
                  <c:v>25.93</c:v>
                </c:pt>
                <c:pt idx="5">
                  <c:v>25.4</c:v>
                </c:pt>
                <c:pt idx="6">
                  <c:v>25.24</c:v>
                </c:pt>
                <c:pt idx="7">
                  <c:v>25.22</c:v>
                </c:pt>
                <c:pt idx="8">
                  <c:v>25.34</c:v>
                </c:pt>
                <c:pt idx="9">
                  <c:v>25.84</c:v>
                </c:pt>
                <c:pt idx="10">
                  <c:v>25.64</c:v>
                </c:pt>
                <c:pt idx="11">
                  <c:v>25.06</c:v>
                </c:pt>
              </c:numCache>
            </c:numRef>
          </c:val>
          <c:smooth val="0"/>
        </c:ser>
        <c:ser>
          <c:idx val="4"/>
          <c:order val="4"/>
          <c:tx>
            <c:strRef>
              <c:f>Sheet1!$F$1</c:f>
              <c:strCache>
                <c:ptCount val="1"/>
                <c:pt idx="0">
                  <c:v>2023/24</c:v>
                </c:pt>
              </c:strCache>
            </c:strRef>
          </c:tx>
          <c:spPr>
            <a:ln w="13970" cap="rnd">
              <a:solidFill>
                <a:srgbClr val="8C564B"/>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Sheet1!$F$2:$F$13</c:f>
              <c:numCache>
                <c:formatCode>General</c:formatCode>
                <c:ptCount val="12"/>
                <c:pt idx="0">
                  <c:v>25.14</c:v>
                </c:pt>
                <c:pt idx="1">
                  <c:v>25.12</c:v>
                </c:pt>
                <c:pt idx="2">
                  <c:v>25.75</c:v>
                </c:pt>
                <c:pt idx="3">
                  <c:v>28.01</c:v>
                </c:pt>
                <c:pt idx="4">
                  <c:v>27.82</c:v>
                </c:pt>
                <c:pt idx="5">
                  <c:v>26.73</c:v>
                </c:pt>
                <c:pt idx="6">
                  <c:v>25.66</c:v>
                </c:pt>
                <c:pt idx="7">
                  <c:v>25.9</c:v>
                </c:pt>
                <c:pt idx="8">
                  <c:v>26.04</c:v>
                </c:pt>
                <c:pt idx="9">
                  <c:v>26.5</c:v>
                </c:pt>
                <c:pt idx="10">
                  <c:v>26.42</c:v>
                </c:pt>
                <c:pt idx="11">
                  <c:v>25.66</c:v>
                </c:pt>
              </c:numCache>
            </c:numRef>
          </c:val>
          <c:smooth val="0"/>
        </c:ser>
        <c:ser>
          <c:idx val="5"/>
          <c:order val="5"/>
          <c:tx>
            <c:strRef>
              <c:f>Sheet1!$G$1</c:f>
              <c:strCache>
                <c:ptCount val="1"/>
                <c:pt idx="0">
                  <c:v>2026/27</c:v>
                </c:pt>
              </c:strCache>
            </c:strRef>
          </c:tx>
          <c:spPr>
            <a:ln w="31750" cap="rnd">
              <a:solidFill>
                <a:srgbClr val="C00000"/>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Sheet1!$G$2:$G$13</c:f>
              <c:numCache>
                <c:formatCode>General</c:formatCode>
                <c:ptCount val="12"/>
                <c:pt idx="0">
                  <c:v>24.87</c:v>
                </c:pt>
                <c:pt idx="1">
                  <c:v>26.83</c:v>
                </c:pt>
              </c:numCache>
            </c:numRef>
          </c:val>
          <c:smooth val="0"/>
        </c:ser>
        <c:ser>
          <c:idx val="6"/>
          <c:order val="6"/>
          <c:tx>
            <c:strRef>
              <c:f>Sheet1!$H$1</c:f>
              <c:strCache>
                <c:ptCount val="1"/>
                <c:pt idx="0">
                  <c:v>Average</c:v>
                </c:pt>
              </c:strCache>
            </c:strRef>
          </c:tx>
          <c:spPr>
            <a:ln w="28575" cap="rnd">
              <a:solidFill>
                <a:srgbClr val="000000"/>
              </a:solidFill>
              <a:prstDash val="dash"/>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Sheet1!$H$2:$H$13</c:f>
              <c:numCache>
                <c:formatCode>General</c:formatCode>
                <c:ptCount val="12"/>
                <c:pt idx="0">
                  <c:v>24.52</c:v>
                </c:pt>
                <c:pt idx="1">
                  <c:v>24.81</c:v>
                </c:pt>
                <c:pt idx="2">
                  <c:v>26.03</c:v>
                </c:pt>
                <c:pt idx="3">
                  <c:v>27.38</c:v>
                </c:pt>
                <c:pt idx="4">
                  <c:v>27.08</c:v>
                </c:pt>
                <c:pt idx="5">
                  <c:v>25.79</c:v>
                </c:pt>
                <c:pt idx="6">
                  <c:v>25.24</c:v>
                </c:pt>
                <c:pt idx="7">
                  <c:v>25.26</c:v>
                </c:pt>
                <c:pt idx="8">
                  <c:v>25.43</c:v>
                </c:pt>
                <c:pt idx="9">
                  <c:v>25.9</c:v>
                </c:pt>
                <c:pt idx="10">
                  <c:v>25.75</c:v>
                </c:pt>
                <c:pt idx="11">
                  <c:v>25.08</c:v>
                </c:pt>
              </c:numCache>
            </c:numRef>
          </c:val>
          <c:smooth val="0"/>
        </c:ser>
        <c:marker val="1"/>
        <c:axId val="60010"/>
        <c:axId val="60020"/>
      </c:lineChart>
      <c:catAx>
        <c:axId val="60010"/>
        <c:scaling>
          <c:orientation val="minMax"/>
        </c:scaling>
        <c:delete val="0"/>
        <c:axPos val="b"/>
        <c:numFmt formatCode="General" sourceLinked="0"/>
        <c:majorTickMark val="none"/>
        <c:minorTickMark val="none"/>
        <c:tickLblPos val="low"/>
        <c:spPr>
          <a:ln w="9525">
            <a:solidFill>
              <a:srgbClr val="B7C0C5"/>
            </a:solidFill>
          </a:ln>
        </c:spPr>
        <c:txPr>
          <a:bodyPr/>
          <a:lstStyle/>
          <a:p>
            <a:pPr>
              <a:defRPr sz="800" b="0">
                <a:solidFill>
                  <a:srgbClr val="5B6770"/>
                </a:solidFill>
                <a:latin typeface="Arial"/>
                <a:cs typeface="Arial"/>
              </a:defRPr>
            </a:pPr>
            <a:endParaRPr lang="fr-FR"/>
          </a:p>
        </c:txPr>
        <c:crossAx val="60020"/>
        <c:crosses val="autoZero"/>
        <c:auto val="1"/>
        <c:lblAlgn val="ctr"/>
        <c:lblOffset val="100"/>
        <c:noMultiLvlLbl val="0"/>
      </c:catAx>
      <c:valAx>
        <c:axId val="60020"/>
        <c:scaling>
          <c:orientation val="minMax"/>
          <c:max val="29.0"/>
          <c:min val="23.5"/>
        </c:scaling>
        <c:delete val="0"/>
        <c:axPos val="l"/>
        <c:majorGridlines>
          <c:spPr>
            <a:ln w="6350">
              <a:solidFill>
                <a:srgbClr val="E3E8EB"/>
              </a:solidFill>
            </a:ln>
          </c:spPr>
        </c:majorGridlines>
        <c:numFmt formatCode="0.0" sourceLinked="0"/>
        <c:majorTickMark val="none"/>
        <c:minorTickMark val="none"/>
        <c:tickLblPos val="low"/>
        <c:spPr>
          <a:ln w="6350">
            <a:solidFill>
              <a:srgbClr val="FFFFFF"/>
            </a:solidFill>
          </a:ln>
        </c:spPr>
        <c:txPr>
          <a:bodyPr/>
          <a:lstStyle/>
          <a:p>
            <a:pPr>
              <a:defRPr sz="800" b="0">
                <a:solidFill>
                  <a:srgbClr val="5B6770"/>
                </a:solidFill>
                <a:latin typeface="Arial"/>
                <a:cs typeface="Arial"/>
              </a:defRPr>
            </a:pPr>
            <a:endParaRPr lang="fr-FR"/>
          </a:p>
        </c:txPr>
        <c:crossAx val="60010"/>
        <c:crosses val="autoZero"/>
        <c:crossBetween val="between"/>
        <c:majorUnit val="0.5"/>
      </c:valAx>
    </c:plotArea>
    <c:plotVisOnly val="1"/>
    <c:dispBlanksAs val="gap"/>
  </c:chart>
  <c:spPr>
    <a:noFill/>
    <a:ln>
      <a:noFill/>
    </a:ln>
  </c:spPr>
  <c:txPr>
    <a:bodyPr/>
    <a:lstStyle/>
    <a:p>
      <a:pPr>
        <a:defRPr sz="1000" b="0">
          <a:solidFill>
            <a:srgbClr val="5B6770"/>
          </a:solidFill>
          <a:latin typeface="Arial"/>
          <a:cs typeface="Arial"/>
        </a:defRPr>
      </a:pPr>
      <a:endParaRPr lang="fr-FR"/>
    </a:p>
  </c:txPr>
</c:chartSpace>
</file>

<file path=ppt/charts/chart25.xml><?xml version="1.0" encoding="utf-8"?>
<c:chartSpace xmlns:c="http://schemas.openxmlformats.org/drawingml/2006/chart" xmlns:a="http://schemas.openxmlformats.org/drawingml/2006/main" xmlns:r="http://schemas.openxmlformats.org/officeDocument/2006/relationships">
  <c:roundedCorners val="0"/>
  <c:chart>
    <c:autoTitleDeleted val="1"/>
    <c:plotArea>
      <c:layout/>
      <c:lineChart>
        <c:grouping val="standard"/>
        <c:varyColors val="0"/>
        <c:ser>
          <c:idx val="0"/>
          <c:order val="0"/>
          <c:tx>
            <c:strRef>
              <c:f>Sheet1!$B$1</c:f>
              <c:strCache>
                <c:ptCount val="1"/>
                <c:pt idx="0">
                  <c:v>2006/07</c:v>
                </c:pt>
              </c:strCache>
            </c:strRef>
          </c:tx>
          <c:spPr>
            <a:ln w="13970" cap="rnd">
              <a:solidFill>
                <a:srgbClr val="1F77B4"/>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Sheet1!$B$2:$B$13</c:f>
              <c:numCache>
                <c:formatCode>General</c:formatCode>
                <c:ptCount val="12"/>
                <c:pt idx="0">
                  <c:v>106.0</c:v>
                </c:pt>
                <c:pt idx="1">
                  <c:v>10.0</c:v>
                </c:pt>
                <c:pt idx="2">
                  <c:v>5.0</c:v>
                </c:pt>
                <c:pt idx="3">
                  <c:v>10.0</c:v>
                </c:pt>
                <c:pt idx="4">
                  <c:v>97.0</c:v>
                </c:pt>
                <c:pt idx="5">
                  <c:v>303.0</c:v>
                </c:pt>
                <c:pt idx="6">
                  <c:v>413.0</c:v>
                </c:pt>
                <c:pt idx="7">
                  <c:v>160.0</c:v>
                </c:pt>
                <c:pt idx="8">
                  <c:v>196.0</c:v>
                </c:pt>
                <c:pt idx="9">
                  <c:v>367.0</c:v>
                </c:pt>
                <c:pt idx="10">
                  <c:v>148.0</c:v>
                </c:pt>
                <c:pt idx="11">
                  <c:v>139.0</c:v>
                </c:pt>
              </c:numCache>
            </c:numRef>
          </c:val>
          <c:smooth val="0"/>
        </c:ser>
        <c:ser>
          <c:idx val="1"/>
          <c:order val="1"/>
          <c:tx>
            <c:strRef>
              <c:f>Sheet1!$C$1</c:f>
              <c:strCache>
                <c:ptCount val="1"/>
                <c:pt idx="0">
                  <c:v>2009/10</c:v>
                </c:pt>
              </c:strCache>
            </c:strRef>
          </c:tx>
          <c:spPr>
            <a:ln w="13970" cap="rnd">
              <a:solidFill>
                <a:srgbClr val="FF7F0E"/>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Sheet1!$C$2:$C$13</c:f>
              <c:numCache>
                <c:formatCode>General</c:formatCode>
                <c:ptCount val="12"/>
                <c:pt idx="0">
                  <c:v>43.0</c:v>
                </c:pt>
                <c:pt idx="1">
                  <c:v>70.0</c:v>
                </c:pt>
                <c:pt idx="2">
                  <c:v>60.0</c:v>
                </c:pt>
                <c:pt idx="3">
                  <c:v>139.0</c:v>
                </c:pt>
                <c:pt idx="4">
                  <c:v>179.0</c:v>
                </c:pt>
                <c:pt idx="5">
                  <c:v>296.0</c:v>
                </c:pt>
                <c:pt idx="6">
                  <c:v>218.0</c:v>
                </c:pt>
                <c:pt idx="7">
                  <c:v>283.0</c:v>
                </c:pt>
                <c:pt idx="8">
                  <c:v>352.0</c:v>
                </c:pt>
                <c:pt idx="9">
                  <c:v>158.0</c:v>
                </c:pt>
                <c:pt idx="10">
                  <c:v>190.0</c:v>
                </c:pt>
                <c:pt idx="11">
                  <c:v>214.0</c:v>
                </c:pt>
              </c:numCache>
            </c:numRef>
          </c:val>
          <c:smooth val="0"/>
        </c:ser>
        <c:ser>
          <c:idx val="2"/>
          <c:order val="2"/>
          <c:tx>
            <c:strRef>
              <c:f>Sheet1!$D$1</c:f>
              <c:strCache>
                <c:ptCount val="1"/>
                <c:pt idx="0">
                  <c:v>2015/16</c:v>
                </c:pt>
              </c:strCache>
            </c:strRef>
          </c:tx>
          <c:spPr>
            <a:ln w="13970" cap="rnd">
              <a:solidFill>
                <a:srgbClr val="2CA02C"/>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Sheet1!$D$2:$D$13</c:f>
              <c:numCache>
                <c:formatCode>General</c:formatCode>
                <c:ptCount val="12"/>
                <c:pt idx="0">
                  <c:v>70.0</c:v>
                </c:pt>
                <c:pt idx="1">
                  <c:v>23.0</c:v>
                </c:pt>
                <c:pt idx="2">
                  <c:v>27.0</c:v>
                </c:pt>
                <c:pt idx="3">
                  <c:v>3.0</c:v>
                </c:pt>
                <c:pt idx="4">
                  <c:v>99.0</c:v>
                </c:pt>
                <c:pt idx="5">
                  <c:v>308.0</c:v>
                </c:pt>
                <c:pt idx="6">
                  <c:v>299.0</c:v>
                </c:pt>
                <c:pt idx="7">
                  <c:v>313.0</c:v>
                </c:pt>
                <c:pt idx="8">
                  <c:v>337.0</c:v>
                </c:pt>
                <c:pt idx="9">
                  <c:v>222.0</c:v>
                </c:pt>
                <c:pt idx="10">
                  <c:v>168.0</c:v>
                </c:pt>
                <c:pt idx="11">
                  <c:v>110.0</c:v>
                </c:pt>
              </c:numCache>
            </c:numRef>
          </c:val>
          <c:smooth val="0"/>
        </c:ser>
        <c:ser>
          <c:idx val="3"/>
          <c:order val="3"/>
          <c:tx>
            <c:strRef>
              <c:f>Sheet1!$E$1</c:f>
              <c:strCache>
                <c:ptCount val="1"/>
                <c:pt idx="0">
                  <c:v>2018/19</c:v>
                </c:pt>
              </c:strCache>
            </c:strRef>
          </c:tx>
          <c:spPr>
            <a:ln w="13970" cap="rnd">
              <a:solidFill>
                <a:srgbClr val="9467BD"/>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Sheet1!$E$2:$E$13</c:f>
              <c:numCache>
                <c:formatCode>General</c:formatCode>
                <c:ptCount val="12"/>
                <c:pt idx="0">
                  <c:v>18.0</c:v>
                </c:pt>
                <c:pt idx="1">
                  <c:v>61.0</c:v>
                </c:pt>
                <c:pt idx="2">
                  <c:v>58.0</c:v>
                </c:pt>
                <c:pt idx="3">
                  <c:v>94.0</c:v>
                </c:pt>
                <c:pt idx="4">
                  <c:v>206.0</c:v>
                </c:pt>
                <c:pt idx="5">
                  <c:v>159.0</c:v>
                </c:pt>
                <c:pt idx="6">
                  <c:v>305.0</c:v>
                </c:pt>
                <c:pt idx="7">
                  <c:v>294.0</c:v>
                </c:pt>
                <c:pt idx="8">
                  <c:v>338.0</c:v>
                </c:pt>
                <c:pt idx="9">
                  <c:v>320.0</c:v>
                </c:pt>
                <c:pt idx="10">
                  <c:v>71.0</c:v>
                </c:pt>
                <c:pt idx="11">
                  <c:v>72.0</c:v>
                </c:pt>
              </c:numCache>
            </c:numRef>
          </c:val>
          <c:smooth val="0"/>
        </c:ser>
        <c:ser>
          <c:idx val="4"/>
          <c:order val="4"/>
          <c:tx>
            <c:strRef>
              <c:f>Sheet1!$F$1</c:f>
              <c:strCache>
                <c:ptCount val="1"/>
                <c:pt idx="0">
                  <c:v>2023/24</c:v>
                </c:pt>
              </c:strCache>
            </c:strRef>
          </c:tx>
          <c:spPr>
            <a:ln w="13970" cap="rnd">
              <a:solidFill>
                <a:srgbClr val="8C564B"/>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Sheet1!$F$2:$F$13</c:f>
              <c:numCache>
                <c:formatCode>General</c:formatCode>
                <c:ptCount val="12"/>
                <c:pt idx="0">
                  <c:v>196.0</c:v>
                </c:pt>
                <c:pt idx="1">
                  <c:v>60.0</c:v>
                </c:pt>
                <c:pt idx="2">
                  <c:v>6.0</c:v>
                </c:pt>
                <c:pt idx="3">
                  <c:v>16.0</c:v>
                </c:pt>
                <c:pt idx="4">
                  <c:v>112.0</c:v>
                </c:pt>
                <c:pt idx="5">
                  <c:v>207.0</c:v>
                </c:pt>
                <c:pt idx="6">
                  <c:v>249.0</c:v>
                </c:pt>
                <c:pt idx="7">
                  <c:v>275.0</c:v>
                </c:pt>
                <c:pt idx="8">
                  <c:v>319.0</c:v>
                </c:pt>
                <c:pt idx="9">
                  <c:v>266.0</c:v>
                </c:pt>
                <c:pt idx="10">
                  <c:v>212.0</c:v>
                </c:pt>
                <c:pt idx="11">
                  <c:v>123.0</c:v>
                </c:pt>
              </c:numCache>
            </c:numRef>
          </c:val>
          <c:smooth val="0"/>
        </c:ser>
        <c:ser>
          <c:idx val="5"/>
          <c:order val="5"/>
          <c:tx>
            <c:strRef>
              <c:f>Sheet1!$G$1</c:f>
              <c:strCache>
                <c:ptCount val="1"/>
                <c:pt idx="0">
                  <c:v>2026/27</c:v>
                </c:pt>
              </c:strCache>
            </c:strRef>
          </c:tx>
          <c:spPr>
            <a:ln w="31750" cap="rnd">
              <a:solidFill>
                <a:srgbClr val="C00000"/>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Sheet1!$G$2:$G$13</c:f>
              <c:numCache>
                <c:formatCode>General</c:formatCode>
                <c:ptCount val="12"/>
                <c:pt idx="0">
                  <c:v>26.0</c:v>
                </c:pt>
                <c:pt idx="1">
                  <c:v>7.0</c:v>
                </c:pt>
              </c:numCache>
            </c:numRef>
          </c:val>
          <c:smooth val="0"/>
        </c:ser>
        <c:ser>
          <c:idx val="6"/>
          <c:order val="6"/>
          <c:tx>
            <c:strRef>
              <c:f>Sheet1!$H$1</c:f>
              <c:strCache>
                <c:ptCount val="1"/>
                <c:pt idx="0">
                  <c:v>Average</c:v>
                </c:pt>
              </c:strCache>
            </c:strRef>
          </c:tx>
          <c:spPr>
            <a:ln w="28575" cap="rnd">
              <a:solidFill>
                <a:srgbClr val="000000"/>
              </a:solidFill>
              <a:prstDash val="dash"/>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Sheet1!$H$2:$H$13</c:f>
              <c:numCache>
                <c:formatCode>General</c:formatCode>
                <c:ptCount val="12"/>
                <c:pt idx="0">
                  <c:v>87.0</c:v>
                </c:pt>
                <c:pt idx="1">
                  <c:v>45.0</c:v>
                </c:pt>
                <c:pt idx="2">
                  <c:v>31.0</c:v>
                </c:pt>
                <c:pt idx="3">
                  <c:v>52.0</c:v>
                </c:pt>
                <c:pt idx="4">
                  <c:v>139.0</c:v>
                </c:pt>
                <c:pt idx="5">
                  <c:v>255.0</c:v>
                </c:pt>
                <c:pt idx="6">
                  <c:v>297.0</c:v>
                </c:pt>
                <c:pt idx="7">
                  <c:v>265.0</c:v>
                </c:pt>
                <c:pt idx="8">
                  <c:v>308.0</c:v>
                </c:pt>
                <c:pt idx="9">
                  <c:v>267.0</c:v>
                </c:pt>
                <c:pt idx="10">
                  <c:v>158.0</c:v>
                </c:pt>
                <c:pt idx="11">
                  <c:v>132.0</c:v>
                </c:pt>
              </c:numCache>
            </c:numRef>
          </c:val>
          <c:smooth val="0"/>
        </c:ser>
        <c:marker val="1"/>
        <c:axId val="60010"/>
        <c:axId val="60020"/>
      </c:lineChart>
      <c:catAx>
        <c:axId val="60010"/>
        <c:scaling>
          <c:orientation val="minMax"/>
        </c:scaling>
        <c:delete val="0"/>
        <c:axPos val="b"/>
        <c:numFmt formatCode="General" sourceLinked="0"/>
        <c:majorTickMark val="none"/>
        <c:minorTickMark val="none"/>
        <c:tickLblPos val="low"/>
        <c:spPr>
          <a:ln w="9525">
            <a:solidFill>
              <a:srgbClr val="B7C0C5"/>
            </a:solidFill>
          </a:ln>
        </c:spPr>
        <c:txPr>
          <a:bodyPr/>
          <a:lstStyle/>
          <a:p>
            <a:pPr>
              <a:defRPr sz="800" b="0">
                <a:solidFill>
                  <a:srgbClr val="5B6770"/>
                </a:solidFill>
                <a:latin typeface="Arial"/>
                <a:cs typeface="Arial"/>
              </a:defRPr>
            </a:pPr>
            <a:endParaRPr lang="fr-FR"/>
          </a:p>
        </c:txPr>
        <c:crossAx val="60020"/>
        <c:crosses val="autoZero"/>
        <c:auto val="1"/>
        <c:lblAlgn val="ctr"/>
        <c:lblOffset val="100"/>
        <c:noMultiLvlLbl val="0"/>
      </c:catAx>
      <c:valAx>
        <c:axId val="60020"/>
        <c:scaling>
          <c:orientation val="minMax"/>
          <c:max val="600"/>
          <c:min val="0"/>
        </c:scaling>
        <c:delete val="0"/>
        <c:axPos val="l"/>
        <c:majorGridlines>
          <c:spPr>
            <a:ln w="6350">
              <a:solidFill>
                <a:srgbClr val="E3E8EB"/>
              </a:solidFill>
            </a:ln>
          </c:spPr>
        </c:majorGridlines>
        <c:numFmt formatCode="0" sourceLinked="0"/>
        <c:majorTickMark val="none"/>
        <c:minorTickMark val="none"/>
        <c:tickLblPos val="low"/>
        <c:spPr>
          <a:ln w="6350">
            <a:solidFill>
              <a:srgbClr val="FFFFFF"/>
            </a:solidFill>
          </a:ln>
        </c:spPr>
        <c:txPr>
          <a:bodyPr/>
          <a:lstStyle/>
          <a:p>
            <a:pPr>
              <a:defRPr sz="800" b="0">
                <a:solidFill>
                  <a:srgbClr val="5B6770"/>
                </a:solidFill>
                <a:latin typeface="Arial"/>
                <a:cs typeface="Arial"/>
              </a:defRPr>
            </a:pPr>
            <a:endParaRPr lang="fr-FR"/>
          </a:p>
        </c:txPr>
        <c:crossAx val="60010"/>
        <c:crosses val="autoZero"/>
        <c:crossBetween val="between"/>
        <c:majorUnit val="100"/>
      </c:valAx>
    </c:plotArea>
    <c:legend>
      <c:legendPos val="b"/>
      <c:overlay val="0"/>
      <c:txPr>
        <a:bodyPr/>
        <a:lstStyle/>
        <a:p>
          <a:pPr>
            <a:defRPr sz="700" b="0">
              <a:solidFill>
                <a:srgbClr val="1F2A30"/>
              </a:solidFill>
              <a:latin typeface="Arial"/>
              <a:cs typeface="Arial"/>
            </a:defRPr>
          </a:pPr>
          <a:endParaRPr lang="fr-FR"/>
        </a:p>
      </c:txPr>
    </c:legend>
    <c:plotVisOnly val="1"/>
    <c:dispBlanksAs val="gap"/>
  </c:chart>
  <c:spPr>
    <a:noFill/>
    <a:ln>
      <a:noFill/>
    </a:ln>
  </c:spPr>
  <c:txPr>
    <a:bodyPr/>
    <a:lstStyle/>
    <a:p>
      <a:pPr>
        <a:defRPr sz="1000" b="0">
          <a:solidFill>
            <a:srgbClr val="5B6770"/>
          </a:solidFill>
          <a:latin typeface="Arial"/>
          <a:cs typeface="Arial"/>
        </a:defRPr>
      </a:pPr>
      <a:endParaRPr lang="fr-FR"/>
    </a:p>
  </c:txPr>
</c:chartSpace>
</file>

<file path=ppt/charts/chart26.xml><?xml version="1.0" encoding="utf-8"?>
<c:chartSpace xmlns:c="http://schemas.openxmlformats.org/drawingml/2006/chart" xmlns:a="http://schemas.openxmlformats.org/drawingml/2006/main" xmlns:r="http://schemas.openxmlformats.org/officeDocument/2006/relationships">
  <c:roundedCorners val="0"/>
  <c:chart>
    <c:autoTitleDeleted val="1"/>
    <c:plotArea>
      <c:layout/>
      <c:lineChart>
        <c:grouping val="standard"/>
        <c:varyColors val="0"/>
        <c:ser>
          <c:idx val="0"/>
          <c:order val="0"/>
          <c:tx>
            <c:strRef>
              <c:f>Sheet1!$B$1</c:f>
              <c:strCache>
                <c:ptCount val="1"/>
                <c:pt idx="0">
                  <c:v>2007/08</c:v>
                </c:pt>
              </c:strCache>
            </c:strRef>
          </c:tx>
          <c:spPr>
            <a:ln w="13970" cap="rnd">
              <a:solidFill>
                <a:srgbClr val="1F77B4"/>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Sheet1!$B$2:$B$13</c:f>
              <c:numCache>
                <c:formatCode>General</c:formatCode>
                <c:ptCount val="12"/>
                <c:pt idx="0">
                  <c:v>24.24</c:v>
                </c:pt>
                <c:pt idx="1">
                  <c:v>24.16</c:v>
                </c:pt>
                <c:pt idx="2">
                  <c:v>25.25</c:v>
                </c:pt>
                <c:pt idx="3">
                  <c:v>26.49</c:v>
                </c:pt>
                <c:pt idx="4">
                  <c:v>25.88</c:v>
                </c:pt>
                <c:pt idx="5">
                  <c:v>24.89</c:v>
                </c:pt>
                <c:pt idx="6">
                  <c:v>24.93</c:v>
                </c:pt>
                <c:pt idx="7">
                  <c:v>24.19</c:v>
                </c:pt>
                <c:pt idx="8">
                  <c:v>24.74</c:v>
                </c:pt>
                <c:pt idx="9">
                  <c:v>24.98</c:v>
                </c:pt>
                <c:pt idx="10">
                  <c:v>24.58</c:v>
                </c:pt>
                <c:pt idx="11">
                  <c:v>24.34</c:v>
                </c:pt>
              </c:numCache>
            </c:numRef>
          </c:val>
          <c:smooth val="0"/>
        </c:ser>
        <c:ser>
          <c:idx val="1"/>
          <c:order val="1"/>
          <c:tx>
            <c:strRef>
              <c:f>Sheet1!$C$1</c:f>
              <c:strCache>
                <c:ptCount val="1"/>
                <c:pt idx="0">
                  <c:v>2010/11</c:v>
                </c:pt>
              </c:strCache>
            </c:strRef>
          </c:tx>
          <c:spPr>
            <a:ln w="13970" cap="rnd">
              <a:solidFill>
                <a:srgbClr val="FF7F0E"/>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Sheet1!$C$2:$C$13</c:f>
              <c:numCache>
                <c:formatCode>General</c:formatCode>
                <c:ptCount val="12"/>
                <c:pt idx="0">
                  <c:v>24.48</c:v>
                </c:pt>
                <c:pt idx="1">
                  <c:v>24.62</c:v>
                </c:pt>
                <c:pt idx="2">
                  <c:v>25.16</c:v>
                </c:pt>
                <c:pt idx="3">
                  <c:v>24.79</c:v>
                </c:pt>
                <c:pt idx="4">
                  <c:v>24.76</c:v>
                </c:pt>
                <c:pt idx="5">
                  <c:v>24.01</c:v>
                </c:pt>
                <c:pt idx="6">
                  <c:v>24.02</c:v>
                </c:pt>
                <c:pt idx="7">
                  <c:v>24.41</c:v>
                </c:pt>
                <c:pt idx="8">
                  <c:v>24.41</c:v>
                </c:pt>
                <c:pt idx="9">
                  <c:v>24.95</c:v>
                </c:pt>
                <c:pt idx="10">
                  <c:v>25.2</c:v>
                </c:pt>
                <c:pt idx="11">
                  <c:v>24.8</c:v>
                </c:pt>
              </c:numCache>
            </c:numRef>
          </c:val>
          <c:smooth val="0"/>
        </c:ser>
        <c:ser>
          <c:idx val="2"/>
          <c:order val="2"/>
          <c:tx>
            <c:strRef>
              <c:f>Sheet1!$D$1</c:f>
              <c:strCache>
                <c:ptCount val="1"/>
                <c:pt idx="0">
                  <c:v>2011/12</c:v>
                </c:pt>
              </c:strCache>
            </c:strRef>
          </c:tx>
          <c:spPr>
            <a:ln w="13970" cap="rnd">
              <a:solidFill>
                <a:srgbClr val="2CA02C"/>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Sheet1!$D$2:$D$13</c:f>
              <c:numCache>
                <c:formatCode>General</c:formatCode>
                <c:ptCount val="12"/>
                <c:pt idx="0">
                  <c:v>24.43</c:v>
                </c:pt>
                <c:pt idx="1">
                  <c:v>24.74</c:v>
                </c:pt>
                <c:pt idx="2">
                  <c:v>26.31</c:v>
                </c:pt>
                <c:pt idx="3">
                  <c:v>25.94</c:v>
                </c:pt>
                <c:pt idx="4">
                  <c:v>25.66</c:v>
                </c:pt>
                <c:pt idx="5">
                  <c:v>24.95</c:v>
                </c:pt>
                <c:pt idx="6">
                  <c:v>24.65</c:v>
                </c:pt>
                <c:pt idx="7">
                  <c:v>24.84</c:v>
                </c:pt>
                <c:pt idx="8">
                  <c:v>24.78</c:v>
                </c:pt>
                <c:pt idx="9">
                  <c:v>24.97</c:v>
                </c:pt>
                <c:pt idx="10">
                  <c:v>25.14</c:v>
                </c:pt>
                <c:pt idx="11">
                  <c:v>24.66</c:v>
                </c:pt>
              </c:numCache>
            </c:numRef>
          </c:val>
          <c:smooth val="0"/>
        </c:ser>
        <c:ser>
          <c:idx val="3"/>
          <c:order val="3"/>
          <c:tx>
            <c:strRef>
              <c:f>Sheet1!$E$1</c:f>
              <c:strCache>
                <c:ptCount val="1"/>
                <c:pt idx="0">
                  <c:v>2020/21</c:v>
                </c:pt>
              </c:strCache>
            </c:strRef>
          </c:tx>
          <c:spPr>
            <a:ln w="13970" cap="rnd">
              <a:solidFill>
                <a:srgbClr val="9467BD"/>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Sheet1!$E$2:$E$13</c:f>
              <c:numCache>
                <c:formatCode>General</c:formatCode>
                <c:ptCount val="12"/>
                <c:pt idx="0">
                  <c:v>24.49</c:v>
                </c:pt>
                <c:pt idx="1">
                  <c:v>24.73</c:v>
                </c:pt>
                <c:pt idx="2">
                  <c:v>25.08</c:v>
                </c:pt>
                <c:pt idx="3">
                  <c:v>25.29</c:v>
                </c:pt>
                <c:pt idx="4">
                  <c:v>25.37</c:v>
                </c:pt>
                <c:pt idx="5">
                  <c:v>24.87</c:v>
                </c:pt>
                <c:pt idx="6">
                  <c:v>24.49</c:v>
                </c:pt>
                <c:pt idx="7">
                  <c:v>24.75</c:v>
                </c:pt>
                <c:pt idx="8">
                  <c:v>24.78</c:v>
                </c:pt>
                <c:pt idx="9">
                  <c:v>25.13</c:v>
                </c:pt>
                <c:pt idx="10">
                  <c:v>25.65</c:v>
                </c:pt>
                <c:pt idx="11">
                  <c:v>24.93</c:v>
                </c:pt>
              </c:numCache>
            </c:numRef>
          </c:val>
          <c:smooth val="0"/>
        </c:ser>
        <c:ser>
          <c:idx val="4"/>
          <c:order val="4"/>
          <c:tx>
            <c:strRef>
              <c:f>Sheet1!$F$1</c:f>
              <c:strCache>
                <c:ptCount val="1"/>
                <c:pt idx="0">
                  <c:v>2021/22</c:v>
                </c:pt>
              </c:strCache>
            </c:strRef>
          </c:tx>
          <c:spPr>
            <a:ln w="13970" cap="rnd">
              <a:solidFill>
                <a:srgbClr val="8C564B"/>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Sheet1!$F$2:$F$13</c:f>
              <c:numCache>
                <c:formatCode>General</c:formatCode>
                <c:ptCount val="12"/>
                <c:pt idx="0">
                  <c:v>24.43</c:v>
                </c:pt>
                <c:pt idx="1">
                  <c:v>24.86</c:v>
                </c:pt>
                <c:pt idx="2">
                  <c:v>25.18</c:v>
                </c:pt>
                <c:pt idx="3">
                  <c:v>25.89</c:v>
                </c:pt>
                <c:pt idx="4">
                  <c:v>25.12</c:v>
                </c:pt>
                <c:pt idx="5">
                  <c:v>25.04</c:v>
                </c:pt>
                <c:pt idx="6">
                  <c:v>24.93</c:v>
                </c:pt>
                <c:pt idx="7">
                  <c:v>24.76</c:v>
                </c:pt>
                <c:pt idx="8">
                  <c:v>25.36</c:v>
                </c:pt>
                <c:pt idx="9">
                  <c:v>25.43</c:v>
                </c:pt>
                <c:pt idx="10">
                  <c:v>25.57</c:v>
                </c:pt>
                <c:pt idx="11">
                  <c:v>24.64</c:v>
                </c:pt>
              </c:numCache>
            </c:numRef>
          </c:val>
          <c:smooth val="0"/>
        </c:ser>
        <c:ser>
          <c:idx val="5"/>
          <c:order val="5"/>
          <c:tx>
            <c:strRef>
              <c:f>Sheet1!$G$1</c:f>
              <c:strCache>
                <c:ptCount val="1"/>
                <c:pt idx="0">
                  <c:v>2022/23</c:v>
                </c:pt>
              </c:strCache>
            </c:strRef>
          </c:tx>
          <c:spPr>
            <a:ln w="13970" cap="rnd">
              <a:solidFill>
                <a:srgbClr val="E377C2"/>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Sheet1!$G$2:$G$13</c:f>
              <c:numCache>
                <c:formatCode>General</c:formatCode>
                <c:ptCount val="12"/>
                <c:pt idx="0">
                  <c:v>24.7</c:v>
                </c:pt>
                <c:pt idx="1">
                  <c:v>24.92</c:v>
                </c:pt>
                <c:pt idx="2">
                  <c:v>24.95</c:v>
                </c:pt>
                <c:pt idx="3">
                  <c:v>25.04</c:v>
                </c:pt>
                <c:pt idx="4">
                  <c:v>25.42</c:v>
                </c:pt>
                <c:pt idx="5">
                  <c:v>24.97</c:v>
                </c:pt>
                <c:pt idx="6">
                  <c:v>24.67</c:v>
                </c:pt>
                <c:pt idx="7">
                  <c:v>24.67</c:v>
                </c:pt>
                <c:pt idx="8">
                  <c:v>24.98</c:v>
                </c:pt>
                <c:pt idx="9">
                  <c:v>25.74</c:v>
                </c:pt>
                <c:pt idx="10">
                  <c:v>25.82</c:v>
                </c:pt>
                <c:pt idx="11">
                  <c:v>25.32</c:v>
                </c:pt>
              </c:numCache>
            </c:numRef>
          </c:val>
          <c:smooth val="0"/>
        </c:ser>
        <c:ser>
          <c:idx val="6"/>
          <c:order val="6"/>
          <c:tx>
            <c:strRef>
              <c:f>Sheet1!$H$1</c:f>
              <c:strCache>
                <c:ptCount val="1"/>
                <c:pt idx="0">
                  <c:v>Average</c:v>
                </c:pt>
              </c:strCache>
            </c:strRef>
          </c:tx>
          <c:spPr>
            <a:ln w="28575" cap="rnd">
              <a:solidFill>
                <a:srgbClr val="000000"/>
              </a:solidFill>
              <a:prstDash val="dash"/>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Sheet1!$H$2:$H$13</c:f>
              <c:numCache>
                <c:formatCode>General</c:formatCode>
                <c:ptCount val="12"/>
                <c:pt idx="0">
                  <c:v>24.46</c:v>
                </c:pt>
                <c:pt idx="1">
                  <c:v>24.67</c:v>
                </c:pt>
                <c:pt idx="2">
                  <c:v>25.32</c:v>
                </c:pt>
                <c:pt idx="3">
                  <c:v>25.57</c:v>
                </c:pt>
                <c:pt idx="4">
                  <c:v>25.37</c:v>
                </c:pt>
                <c:pt idx="5">
                  <c:v>24.79</c:v>
                </c:pt>
                <c:pt idx="6">
                  <c:v>24.61</c:v>
                </c:pt>
                <c:pt idx="7">
                  <c:v>24.6</c:v>
                </c:pt>
                <c:pt idx="8">
                  <c:v>24.84</c:v>
                </c:pt>
                <c:pt idx="9">
                  <c:v>25.2</c:v>
                </c:pt>
                <c:pt idx="10">
                  <c:v>25.33</c:v>
                </c:pt>
                <c:pt idx="11">
                  <c:v>24.78</c:v>
                </c:pt>
              </c:numCache>
            </c:numRef>
          </c:val>
          <c:smooth val="0"/>
        </c:ser>
        <c:marker val="1"/>
        <c:axId val="60010"/>
        <c:axId val="60020"/>
      </c:lineChart>
      <c:catAx>
        <c:axId val="60010"/>
        <c:scaling>
          <c:orientation val="minMax"/>
        </c:scaling>
        <c:delete val="0"/>
        <c:axPos val="b"/>
        <c:numFmt formatCode="General" sourceLinked="0"/>
        <c:majorTickMark val="none"/>
        <c:minorTickMark val="none"/>
        <c:tickLblPos val="low"/>
        <c:spPr>
          <a:ln w="9525">
            <a:solidFill>
              <a:srgbClr val="B7C0C5"/>
            </a:solidFill>
          </a:ln>
        </c:spPr>
        <c:txPr>
          <a:bodyPr/>
          <a:lstStyle/>
          <a:p>
            <a:pPr>
              <a:defRPr sz="800" b="0">
                <a:solidFill>
                  <a:srgbClr val="5B6770"/>
                </a:solidFill>
                <a:latin typeface="Arial"/>
                <a:cs typeface="Arial"/>
              </a:defRPr>
            </a:pPr>
            <a:endParaRPr lang="fr-FR"/>
          </a:p>
        </c:txPr>
        <c:crossAx val="60020"/>
        <c:crosses val="autoZero"/>
        <c:auto val="1"/>
        <c:lblAlgn val="ctr"/>
        <c:lblOffset val="100"/>
        <c:noMultiLvlLbl val="0"/>
      </c:catAx>
      <c:valAx>
        <c:axId val="60020"/>
        <c:scaling>
          <c:orientation val="minMax"/>
          <c:max val="29.0"/>
          <c:min val="23.5"/>
        </c:scaling>
        <c:delete val="0"/>
        <c:axPos val="l"/>
        <c:majorGridlines>
          <c:spPr>
            <a:ln w="6350">
              <a:solidFill>
                <a:srgbClr val="E3E8EB"/>
              </a:solidFill>
            </a:ln>
          </c:spPr>
        </c:majorGridlines>
        <c:numFmt formatCode="0.0" sourceLinked="0"/>
        <c:majorTickMark val="none"/>
        <c:minorTickMark val="none"/>
        <c:tickLblPos val="low"/>
        <c:spPr>
          <a:ln w="6350">
            <a:solidFill>
              <a:srgbClr val="FFFFFF"/>
            </a:solidFill>
          </a:ln>
        </c:spPr>
        <c:txPr>
          <a:bodyPr/>
          <a:lstStyle/>
          <a:p>
            <a:pPr>
              <a:defRPr sz="800" b="0">
                <a:solidFill>
                  <a:srgbClr val="5B6770"/>
                </a:solidFill>
                <a:latin typeface="Arial"/>
                <a:cs typeface="Arial"/>
              </a:defRPr>
            </a:pPr>
            <a:endParaRPr lang="fr-FR"/>
          </a:p>
        </c:txPr>
        <c:crossAx val="60010"/>
        <c:crosses val="autoZero"/>
        <c:crossBetween val="between"/>
        <c:majorUnit val="0.5"/>
      </c:valAx>
    </c:plotArea>
    <c:plotVisOnly val="1"/>
    <c:dispBlanksAs val="gap"/>
  </c:chart>
  <c:spPr>
    <a:noFill/>
    <a:ln>
      <a:noFill/>
    </a:ln>
  </c:spPr>
  <c:txPr>
    <a:bodyPr/>
    <a:lstStyle/>
    <a:p>
      <a:pPr>
        <a:defRPr sz="1000" b="0">
          <a:solidFill>
            <a:srgbClr val="5B6770"/>
          </a:solidFill>
          <a:latin typeface="Arial"/>
          <a:cs typeface="Arial"/>
        </a:defRPr>
      </a:pPr>
      <a:endParaRPr lang="fr-FR"/>
    </a:p>
  </c:txPr>
</c:chartSpace>
</file>

<file path=ppt/charts/chart27.xml><?xml version="1.0" encoding="utf-8"?>
<c:chartSpace xmlns:c="http://schemas.openxmlformats.org/drawingml/2006/chart" xmlns:a="http://schemas.openxmlformats.org/drawingml/2006/main" xmlns:r="http://schemas.openxmlformats.org/officeDocument/2006/relationships">
  <c:roundedCorners val="0"/>
  <c:chart>
    <c:autoTitleDeleted val="1"/>
    <c:plotArea>
      <c:layout/>
      <c:lineChart>
        <c:grouping val="standard"/>
        <c:varyColors val="0"/>
        <c:ser>
          <c:idx val="0"/>
          <c:order val="0"/>
          <c:tx>
            <c:strRef>
              <c:f>Sheet1!$B$1</c:f>
              <c:strCache>
                <c:ptCount val="1"/>
                <c:pt idx="0">
                  <c:v>2007/08</c:v>
                </c:pt>
              </c:strCache>
            </c:strRef>
          </c:tx>
          <c:spPr>
            <a:ln w="13970" cap="rnd">
              <a:solidFill>
                <a:srgbClr val="1F77B4"/>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Sheet1!$B$2:$B$13</c:f>
              <c:numCache>
                <c:formatCode>General</c:formatCode>
                <c:ptCount val="12"/>
                <c:pt idx="0">
                  <c:v>107.0</c:v>
                </c:pt>
                <c:pt idx="1">
                  <c:v>20.0</c:v>
                </c:pt>
                <c:pt idx="2">
                  <c:v>54.0</c:v>
                </c:pt>
                <c:pt idx="3">
                  <c:v>99.0</c:v>
                </c:pt>
                <c:pt idx="4">
                  <c:v>170.0</c:v>
                </c:pt>
                <c:pt idx="5">
                  <c:v>365.0</c:v>
                </c:pt>
                <c:pt idx="6">
                  <c:v>173.0</c:v>
                </c:pt>
                <c:pt idx="7">
                  <c:v>173.0</c:v>
                </c:pt>
                <c:pt idx="8">
                  <c:v>252.0</c:v>
                </c:pt>
                <c:pt idx="9">
                  <c:v>246.0</c:v>
                </c:pt>
                <c:pt idx="10">
                  <c:v>48.0</c:v>
                </c:pt>
                <c:pt idx="11">
                  <c:v>51.0</c:v>
                </c:pt>
              </c:numCache>
            </c:numRef>
          </c:val>
          <c:smooth val="0"/>
        </c:ser>
        <c:ser>
          <c:idx val="1"/>
          <c:order val="1"/>
          <c:tx>
            <c:strRef>
              <c:f>Sheet1!$C$1</c:f>
              <c:strCache>
                <c:ptCount val="1"/>
                <c:pt idx="0">
                  <c:v>2010/11</c:v>
                </c:pt>
              </c:strCache>
            </c:strRef>
          </c:tx>
          <c:spPr>
            <a:ln w="13970" cap="rnd">
              <a:solidFill>
                <a:srgbClr val="FF7F0E"/>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Sheet1!$C$2:$C$13</c:f>
              <c:numCache>
                <c:formatCode>General</c:formatCode>
                <c:ptCount val="12"/>
                <c:pt idx="0">
                  <c:v>204.0</c:v>
                </c:pt>
                <c:pt idx="1">
                  <c:v>145.0</c:v>
                </c:pt>
                <c:pt idx="2">
                  <c:v>298.0</c:v>
                </c:pt>
                <c:pt idx="3">
                  <c:v>238.0</c:v>
                </c:pt>
                <c:pt idx="4">
                  <c:v>329.0</c:v>
                </c:pt>
                <c:pt idx="5">
                  <c:v>285.0</c:v>
                </c:pt>
                <c:pt idx="6">
                  <c:v>364.0</c:v>
                </c:pt>
                <c:pt idx="7">
                  <c:v>160.0</c:v>
                </c:pt>
                <c:pt idx="8">
                  <c:v>219.0</c:v>
                </c:pt>
                <c:pt idx="9">
                  <c:v>253.0</c:v>
                </c:pt>
                <c:pt idx="10">
                  <c:v>139.0</c:v>
                </c:pt>
                <c:pt idx="11">
                  <c:v>128.0</c:v>
                </c:pt>
              </c:numCache>
            </c:numRef>
          </c:val>
          <c:smooth val="0"/>
        </c:ser>
        <c:ser>
          <c:idx val="2"/>
          <c:order val="2"/>
          <c:tx>
            <c:strRef>
              <c:f>Sheet1!$D$1</c:f>
              <c:strCache>
                <c:ptCount val="1"/>
                <c:pt idx="0">
                  <c:v>2011/12</c:v>
                </c:pt>
              </c:strCache>
            </c:strRef>
          </c:tx>
          <c:spPr>
            <a:ln w="13970" cap="rnd">
              <a:solidFill>
                <a:srgbClr val="2CA02C"/>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Sheet1!$D$2:$D$13</c:f>
              <c:numCache>
                <c:formatCode>General</c:formatCode>
                <c:ptCount val="12"/>
                <c:pt idx="0">
                  <c:v>72.0</c:v>
                </c:pt>
                <c:pt idx="1">
                  <c:v>29.0</c:v>
                </c:pt>
                <c:pt idx="2">
                  <c:v>9.0</c:v>
                </c:pt>
                <c:pt idx="3">
                  <c:v>162.0</c:v>
                </c:pt>
                <c:pt idx="4">
                  <c:v>189.0</c:v>
                </c:pt>
                <c:pt idx="5">
                  <c:v>207.0</c:v>
                </c:pt>
                <c:pt idx="6">
                  <c:v>246.0</c:v>
                </c:pt>
                <c:pt idx="7">
                  <c:v>224.0</c:v>
                </c:pt>
                <c:pt idx="8">
                  <c:v>171.0</c:v>
                </c:pt>
                <c:pt idx="9">
                  <c:v>266.0</c:v>
                </c:pt>
                <c:pt idx="10">
                  <c:v>169.0</c:v>
                </c:pt>
                <c:pt idx="11">
                  <c:v>76.0</c:v>
                </c:pt>
              </c:numCache>
            </c:numRef>
          </c:val>
          <c:smooth val="0"/>
        </c:ser>
        <c:ser>
          <c:idx val="3"/>
          <c:order val="3"/>
          <c:tx>
            <c:strRef>
              <c:f>Sheet1!$E$1</c:f>
              <c:strCache>
                <c:ptCount val="1"/>
                <c:pt idx="0">
                  <c:v>2020/21</c:v>
                </c:pt>
              </c:strCache>
            </c:strRef>
          </c:tx>
          <c:spPr>
            <a:ln w="13970" cap="rnd">
              <a:solidFill>
                <a:srgbClr val="9467BD"/>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Sheet1!$E$2:$E$13</c:f>
              <c:numCache>
                <c:formatCode>General</c:formatCode>
                <c:ptCount val="12"/>
                <c:pt idx="0">
                  <c:v>143.0</c:v>
                </c:pt>
                <c:pt idx="1">
                  <c:v>111.0</c:v>
                </c:pt>
                <c:pt idx="2">
                  <c:v>108.0</c:v>
                </c:pt>
                <c:pt idx="3">
                  <c:v>175.0</c:v>
                </c:pt>
                <c:pt idx="4">
                  <c:v>173.0</c:v>
                </c:pt>
                <c:pt idx="5">
                  <c:v>291.0</c:v>
                </c:pt>
                <c:pt idx="6">
                  <c:v>312.0</c:v>
                </c:pt>
                <c:pt idx="7">
                  <c:v>260.0</c:v>
                </c:pt>
                <c:pt idx="8">
                  <c:v>180.0</c:v>
                </c:pt>
                <c:pt idx="9">
                  <c:v>390.0</c:v>
                </c:pt>
                <c:pt idx="10">
                  <c:v>103.0</c:v>
                </c:pt>
                <c:pt idx="11">
                  <c:v>84.0</c:v>
                </c:pt>
              </c:numCache>
            </c:numRef>
          </c:val>
          <c:smooth val="0"/>
        </c:ser>
        <c:ser>
          <c:idx val="4"/>
          <c:order val="4"/>
          <c:tx>
            <c:strRef>
              <c:f>Sheet1!$F$1</c:f>
              <c:strCache>
                <c:ptCount val="1"/>
                <c:pt idx="0">
                  <c:v>2021/22</c:v>
                </c:pt>
              </c:strCache>
            </c:strRef>
          </c:tx>
          <c:spPr>
            <a:ln w="13970" cap="rnd">
              <a:solidFill>
                <a:srgbClr val="8C564B"/>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Sheet1!$F$2:$F$13</c:f>
              <c:numCache>
                <c:formatCode>General</c:formatCode>
                <c:ptCount val="12"/>
                <c:pt idx="0">
                  <c:v>64.0</c:v>
                </c:pt>
                <c:pt idx="1">
                  <c:v>128.0</c:v>
                </c:pt>
                <c:pt idx="2">
                  <c:v>168.0</c:v>
                </c:pt>
                <c:pt idx="3">
                  <c:v>137.0</c:v>
                </c:pt>
                <c:pt idx="4">
                  <c:v>338.0</c:v>
                </c:pt>
                <c:pt idx="5">
                  <c:v>282.0</c:v>
                </c:pt>
                <c:pt idx="6">
                  <c:v>329.0</c:v>
                </c:pt>
                <c:pt idx="7">
                  <c:v>195.0</c:v>
                </c:pt>
                <c:pt idx="8">
                  <c:v>140.0</c:v>
                </c:pt>
                <c:pt idx="9">
                  <c:v>221.0</c:v>
                </c:pt>
                <c:pt idx="10">
                  <c:v>199.0</c:v>
                </c:pt>
                <c:pt idx="11">
                  <c:v>155.0</c:v>
                </c:pt>
              </c:numCache>
            </c:numRef>
          </c:val>
          <c:smooth val="0"/>
        </c:ser>
        <c:ser>
          <c:idx val="5"/>
          <c:order val="5"/>
          <c:tx>
            <c:strRef>
              <c:f>Sheet1!$G$1</c:f>
              <c:strCache>
                <c:ptCount val="1"/>
                <c:pt idx="0">
                  <c:v>2022/23</c:v>
                </c:pt>
              </c:strCache>
            </c:strRef>
          </c:tx>
          <c:spPr>
            <a:ln w="13970" cap="rnd">
              <a:solidFill>
                <a:srgbClr val="E377C2"/>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Sheet1!$G$2:$G$13</c:f>
              <c:numCache>
                <c:formatCode>General</c:formatCode>
                <c:ptCount val="12"/>
                <c:pt idx="0">
                  <c:v>89.0</c:v>
                </c:pt>
                <c:pt idx="1">
                  <c:v>156.0</c:v>
                </c:pt>
                <c:pt idx="2">
                  <c:v>111.0</c:v>
                </c:pt>
                <c:pt idx="3">
                  <c:v>224.0</c:v>
                </c:pt>
                <c:pt idx="4">
                  <c:v>150.0</c:v>
                </c:pt>
                <c:pt idx="5">
                  <c:v>252.0</c:v>
                </c:pt>
                <c:pt idx="6">
                  <c:v>330.0</c:v>
                </c:pt>
                <c:pt idx="7">
                  <c:v>178.0</c:v>
                </c:pt>
                <c:pt idx="8">
                  <c:v>304.0</c:v>
                </c:pt>
                <c:pt idx="9">
                  <c:v>148.0</c:v>
                </c:pt>
                <c:pt idx="10">
                  <c:v>179.0</c:v>
                </c:pt>
                <c:pt idx="11">
                  <c:v>132.0</c:v>
                </c:pt>
              </c:numCache>
            </c:numRef>
          </c:val>
          <c:smooth val="0"/>
        </c:ser>
        <c:ser>
          <c:idx val="6"/>
          <c:order val="6"/>
          <c:tx>
            <c:strRef>
              <c:f>Sheet1!$H$1</c:f>
              <c:strCache>
                <c:ptCount val="1"/>
                <c:pt idx="0">
                  <c:v>Average</c:v>
                </c:pt>
              </c:strCache>
            </c:strRef>
          </c:tx>
          <c:spPr>
            <a:ln w="28575" cap="rnd">
              <a:solidFill>
                <a:srgbClr val="000000"/>
              </a:solidFill>
              <a:prstDash val="dash"/>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Sheet1!$H$2:$H$13</c:f>
              <c:numCache>
                <c:formatCode>General</c:formatCode>
                <c:ptCount val="12"/>
                <c:pt idx="0">
                  <c:v>113.0</c:v>
                </c:pt>
                <c:pt idx="1">
                  <c:v>98.0</c:v>
                </c:pt>
                <c:pt idx="2">
                  <c:v>125.0</c:v>
                </c:pt>
                <c:pt idx="3">
                  <c:v>172.0</c:v>
                </c:pt>
                <c:pt idx="4">
                  <c:v>225.0</c:v>
                </c:pt>
                <c:pt idx="5">
                  <c:v>280.0</c:v>
                </c:pt>
                <c:pt idx="6">
                  <c:v>292.0</c:v>
                </c:pt>
                <c:pt idx="7">
                  <c:v>198.0</c:v>
                </c:pt>
                <c:pt idx="8">
                  <c:v>211.0</c:v>
                </c:pt>
                <c:pt idx="9">
                  <c:v>254.0</c:v>
                </c:pt>
                <c:pt idx="10">
                  <c:v>140.0</c:v>
                </c:pt>
                <c:pt idx="11">
                  <c:v>104.0</c:v>
                </c:pt>
              </c:numCache>
            </c:numRef>
          </c:val>
          <c:smooth val="0"/>
        </c:ser>
        <c:marker val="1"/>
        <c:axId val="60010"/>
        <c:axId val="60020"/>
      </c:lineChart>
      <c:catAx>
        <c:axId val="60010"/>
        <c:scaling>
          <c:orientation val="minMax"/>
        </c:scaling>
        <c:delete val="0"/>
        <c:axPos val="b"/>
        <c:numFmt formatCode="General" sourceLinked="0"/>
        <c:majorTickMark val="none"/>
        <c:minorTickMark val="none"/>
        <c:tickLblPos val="low"/>
        <c:spPr>
          <a:ln w="9525">
            <a:solidFill>
              <a:srgbClr val="B7C0C5"/>
            </a:solidFill>
          </a:ln>
        </c:spPr>
        <c:txPr>
          <a:bodyPr/>
          <a:lstStyle/>
          <a:p>
            <a:pPr>
              <a:defRPr sz="800" b="0">
                <a:solidFill>
                  <a:srgbClr val="5B6770"/>
                </a:solidFill>
                <a:latin typeface="Arial"/>
                <a:cs typeface="Arial"/>
              </a:defRPr>
            </a:pPr>
            <a:endParaRPr lang="fr-FR"/>
          </a:p>
        </c:txPr>
        <c:crossAx val="60020"/>
        <c:crosses val="autoZero"/>
        <c:auto val="1"/>
        <c:lblAlgn val="ctr"/>
        <c:lblOffset val="100"/>
        <c:noMultiLvlLbl val="0"/>
      </c:catAx>
      <c:valAx>
        <c:axId val="60020"/>
        <c:scaling>
          <c:orientation val="minMax"/>
          <c:max val="600"/>
          <c:min val="0"/>
        </c:scaling>
        <c:delete val="0"/>
        <c:axPos val="l"/>
        <c:majorGridlines>
          <c:spPr>
            <a:ln w="6350">
              <a:solidFill>
                <a:srgbClr val="E3E8EB"/>
              </a:solidFill>
            </a:ln>
          </c:spPr>
        </c:majorGridlines>
        <c:numFmt formatCode="0" sourceLinked="0"/>
        <c:majorTickMark val="none"/>
        <c:minorTickMark val="none"/>
        <c:tickLblPos val="low"/>
        <c:spPr>
          <a:ln w="6350">
            <a:solidFill>
              <a:srgbClr val="FFFFFF"/>
            </a:solidFill>
          </a:ln>
        </c:spPr>
        <c:txPr>
          <a:bodyPr/>
          <a:lstStyle/>
          <a:p>
            <a:pPr>
              <a:defRPr sz="800" b="0">
                <a:solidFill>
                  <a:srgbClr val="5B6770"/>
                </a:solidFill>
                <a:latin typeface="Arial"/>
                <a:cs typeface="Arial"/>
              </a:defRPr>
            </a:pPr>
            <a:endParaRPr lang="fr-FR"/>
          </a:p>
        </c:txPr>
        <c:crossAx val="60010"/>
        <c:crosses val="autoZero"/>
        <c:crossBetween val="between"/>
        <c:majorUnit val="100"/>
      </c:valAx>
    </c:plotArea>
    <c:legend>
      <c:legendPos val="b"/>
      <c:overlay val="0"/>
      <c:txPr>
        <a:bodyPr/>
        <a:lstStyle/>
        <a:p>
          <a:pPr>
            <a:defRPr sz="700" b="0">
              <a:solidFill>
                <a:srgbClr val="1F2A30"/>
              </a:solidFill>
              <a:latin typeface="Arial"/>
              <a:cs typeface="Arial"/>
            </a:defRPr>
          </a:pPr>
          <a:endParaRPr lang="fr-FR"/>
        </a:p>
      </c:txPr>
    </c:legend>
    <c:plotVisOnly val="1"/>
    <c:dispBlanksAs val="gap"/>
  </c:chart>
  <c:spPr>
    <a:noFill/>
    <a:ln>
      <a:noFill/>
    </a:ln>
  </c:spPr>
  <c:txPr>
    <a:bodyPr/>
    <a:lstStyle/>
    <a:p>
      <a:pPr>
        <a:defRPr sz="1000" b="0">
          <a:solidFill>
            <a:srgbClr val="5B6770"/>
          </a:solidFill>
          <a:latin typeface="Arial"/>
          <a:cs typeface="Arial"/>
        </a:defRPr>
      </a:pPr>
      <a:endParaRPr lang="fr-FR"/>
    </a:p>
  </c:txPr>
</c:chartSpace>
</file>

<file path=ppt/charts/chart28.xml><?xml version="1.0" encoding="utf-8"?>
<c:chartSpace xmlns:c="http://schemas.openxmlformats.org/drawingml/2006/chart" xmlns:a="http://schemas.openxmlformats.org/drawingml/2006/main" xmlns:r="http://schemas.openxmlformats.org/officeDocument/2006/relationships">
  <c:roundedCorners val="0"/>
  <c:chart>
    <c:autoTitleDeleted val="1"/>
    <c:plotArea>
      <c:layout/>
      <c:lineChart>
        <c:grouping val="standard"/>
        <c:varyColors val="0"/>
        <c:ser>
          <c:idx val="0"/>
          <c:order val="0"/>
          <c:tx>
            <c:strRef>
              <c:f>Sheet1!$B$1</c:f>
              <c:strCache>
                <c:ptCount val="1"/>
                <c:pt idx="0">
                  <c:v>2008/09</c:v>
                </c:pt>
              </c:strCache>
            </c:strRef>
          </c:tx>
          <c:spPr>
            <a:ln w="13970" cap="rnd">
              <a:solidFill>
                <a:srgbClr val="1F77B4"/>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Sheet1!$B$2:$B$13</c:f>
              <c:numCache>
                <c:formatCode>General</c:formatCode>
                <c:ptCount val="12"/>
                <c:pt idx="0">
                  <c:v>24.38</c:v>
                </c:pt>
                <c:pt idx="1">
                  <c:v>25.01</c:v>
                </c:pt>
                <c:pt idx="2">
                  <c:v>25.44</c:v>
                </c:pt>
                <c:pt idx="3">
                  <c:v>25.6</c:v>
                </c:pt>
                <c:pt idx="4">
                  <c:v>25.35</c:v>
                </c:pt>
                <c:pt idx="5">
                  <c:v>24.37</c:v>
                </c:pt>
                <c:pt idx="6">
                  <c:v>24.27</c:v>
                </c:pt>
                <c:pt idx="7">
                  <c:v>24.35</c:v>
                </c:pt>
                <c:pt idx="8">
                  <c:v>24.93</c:v>
                </c:pt>
                <c:pt idx="9">
                  <c:v>25.27</c:v>
                </c:pt>
                <c:pt idx="10">
                  <c:v>25.22</c:v>
                </c:pt>
                <c:pt idx="11">
                  <c:v>24.73</c:v>
                </c:pt>
              </c:numCache>
            </c:numRef>
          </c:val>
          <c:smooth val="0"/>
        </c:ser>
        <c:ser>
          <c:idx val="1"/>
          <c:order val="1"/>
          <c:tx>
            <c:strRef>
              <c:f>Sheet1!$C$1</c:f>
              <c:strCache>
                <c:ptCount val="1"/>
                <c:pt idx="0">
                  <c:v>2012/13</c:v>
                </c:pt>
              </c:strCache>
            </c:strRef>
          </c:tx>
          <c:spPr>
            <a:ln w="13970" cap="rnd">
              <a:solidFill>
                <a:srgbClr val="FF7F0E"/>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Sheet1!$C$2:$C$13</c:f>
              <c:numCache>
                <c:formatCode>General</c:formatCode>
                <c:ptCount val="12"/>
                <c:pt idx="0">
                  <c:v>24.39</c:v>
                </c:pt>
                <c:pt idx="1">
                  <c:v>25.36</c:v>
                </c:pt>
                <c:pt idx="2">
                  <c:v>26.68</c:v>
                </c:pt>
                <c:pt idx="3">
                  <c:v>26.51</c:v>
                </c:pt>
                <c:pt idx="4">
                  <c:v>25.65</c:v>
                </c:pt>
                <c:pt idx="5">
                  <c:v>25.04</c:v>
                </c:pt>
                <c:pt idx="6">
                  <c:v>24.57</c:v>
                </c:pt>
                <c:pt idx="7">
                  <c:v>24.62</c:v>
                </c:pt>
                <c:pt idx="8">
                  <c:v>25.35</c:v>
                </c:pt>
                <c:pt idx="9">
                  <c:v>25.35</c:v>
                </c:pt>
                <c:pt idx="10">
                  <c:v>25.36</c:v>
                </c:pt>
                <c:pt idx="11">
                  <c:v>25.2</c:v>
                </c:pt>
              </c:numCache>
            </c:numRef>
          </c:val>
          <c:smooth val="0"/>
        </c:ser>
        <c:ser>
          <c:idx val="2"/>
          <c:order val="2"/>
          <c:tx>
            <c:strRef>
              <c:f>Sheet1!$D$1</c:f>
              <c:strCache>
                <c:ptCount val="1"/>
                <c:pt idx="0">
                  <c:v>2013/14</c:v>
                </c:pt>
              </c:strCache>
            </c:strRef>
          </c:tx>
          <c:spPr>
            <a:ln w="13970" cap="rnd">
              <a:solidFill>
                <a:srgbClr val="2CA02C"/>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Sheet1!$D$2:$D$13</c:f>
              <c:numCache>
                <c:formatCode>General</c:formatCode>
                <c:ptCount val="12"/>
                <c:pt idx="0">
                  <c:v>24.14</c:v>
                </c:pt>
                <c:pt idx="1">
                  <c:v>24.35</c:v>
                </c:pt>
                <c:pt idx="2">
                  <c:v>25.05</c:v>
                </c:pt>
                <c:pt idx="3">
                  <c:v>25.45</c:v>
                </c:pt>
                <c:pt idx="4">
                  <c:v>24.99</c:v>
                </c:pt>
                <c:pt idx="5">
                  <c:v>24.56</c:v>
                </c:pt>
                <c:pt idx="6">
                  <c:v>24.19</c:v>
                </c:pt>
                <c:pt idx="7">
                  <c:v>24.6</c:v>
                </c:pt>
                <c:pt idx="8">
                  <c:v>25.14</c:v>
                </c:pt>
                <c:pt idx="9">
                  <c:v>25.34</c:v>
                </c:pt>
                <c:pt idx="10">
                  <c:v>25.52</c:v>
                </c:pt>
                <c:pt idx="11">
                  <c:v>25.22</c:v>
                </c:pt>
              </c:numCache>
            </c:numRef>
          </c:val>
          <c:smooth val="0"/>
        </c:ser>
        <c:ser>
          <c:idx val="3"/>
          <c:order val="3"/>
          <c:tx>
            <c:strRef>
              <c:f>Sheet1!$E$1</c:f>
              <c:strCache>
                <c:ptCount val="1"/>
                <c:pt idx="0">
                  <c:v>2014/15</c:v>
                </c:pt>
              </c:strCache>
            </c:strRef>
          </c:tx>
          <c:spPr>
            <a:ln w="13970" cap="rnd">
              <a:solidFill>
                <a:srgbClr val="9467BD"/>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Sheet1!$E$2:$E$13</c:f>
              <c:numCache>
                <c:formatCode>General</c:formatCode>
                <c:ptCount val="12"/>
                <c:pt idx="0">
                  <c:v>24.87</c:v>
                </c:pt>
                <c:pt idx="1">
                  <c:v>24.64</c:v>
                </c:pt>
                <c:pt idx="2">
                  <c:v>25.4</c:v>
                </c:pt>
                <c:pt idx="3">
                  <c:v>26.89</c:v>
                </c:pt>
                <c:pt idx="4">
                  <c:v>25.97</c:v>
                </c:pt>
                <c:pt idx="5">
                  <c:v>24.77</c:v>
                </c:pt>
                <c:pt idx="6">
                  <c:v>24.43</c:v>
                </c:pt>
                <c:pt idx="7">
                  <c:v>24.4</c:v>
                </c:pt>
                <c:pt idx="8">
                  <c:v>24.92</c:v>
                </c:pt>
                <c:pt idx="9">
                  <c:v>25.19</c:v>
                </c:pt>
                <c:pt idx="10">
                  <c:v>25.24</c:v>
                </c:pt>
                <c:pt idx="11">
                  <c:v>24.71</c:v>
                </c:pt>
              </c:numCache>
            </c:numRef>
          </c:val>
          <c:smooth val="0"/>
        </c:ser>
        <c:ser>
          <c:idx val="4"/>
          <c:order val="4"/>
          <c:tx>
            <c:strRef>
              <c:f>Sheet1!$F$1</c:f>
              <c:strCache>
                <c:ptCount val="1"/>
                <c:pt idx="0">
                  <c:v>2016/17</c:v>
                </c:pt>
              </c:strCache>
            </c:strRef>
          </c:tx>
          <c:spPr>
            <a:ln w="13970" cap="rnd">
              <a:solidFill>
                <a:srgbClr val="8C564B"/>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Sheet1!$F$2:$F$13</c:f>
              <c:numCache>
                <c:formatCode>General</c:formatCode>
                <c:ptCount val="12"/>
                <c:pt idx="0">
                  <c:v>24.93</c:v>
                </c:pt>
                <c:pt idx="1">
                  <c:v>25.1</c:v>
                </c:pt>
                <c:pt idx="2">
                  <c:v>25.23</c:v>
                </c:pt>
                <c:pt idx="3">
                  <c:v>25.0</c:v>
                </c:pt>
                <c:pt idx="4">
                  <c:v>25.2</c:v>
                </c:pt>
                <c:pt idx="5">
                  <c:v>24.92</c:v>
                </c:pt>
                <c:pt idx="6">
                  <c:v>24.81</c:v>
                </c:pt>
                <c:pt idx="7">
                  <c:v>24.58</c:v>
                </c:pt>
                <c:pt idx="8">
                  <c:v>24.86</c:v>
                </c:pt>
                <c:pt idx="9">
                  <c:v>25.28</c:v>
                </c:pt>
                <c:pt idx="10">
                  <c:v>25.52</c:v>
                </c:pt>
                <c:pt idx="11">
                  <c:v>24.81</c:v>
                </c:pt>
              </c:numCache>
            </c:numRef>
          </c:val>
          <c:smooth val="0"/>
        </c:ser>
        <c:ser>
          <c:idx val="5"/>
          <c:order val="5"/>
          <c:tx>
            <c:strRef>
              <c:f>Sheet1!$G$1</c:f>
              <c:strCache>
                <c:ptCount val="1"/>
                <c:pt idx="0">
                  <c:v>2017/18</c:v>
                </c:pt>
              </c:strCache>
            </c:strRef>
          </c:tx>
          <c:spPr>
            <a:ln w="13970" cap="rnd">
              <a:solidFill>
                <a:srgbClr val="E377C2"/>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Sheet1!$G$2:$G$13</c:f>
              <c:numCache>
                <c:formatCode>General</c:formatCode>
                <c:ptCount val="12"/>
                <c:pt idx="0">
                  <c:v>24.61</c:v>
                </c:pt>
                <c:pt idx="1">
                  <c:v>24.82</c:v>
                </c:pt>
                <c:pt idx="2">
                  <c:v>26.02</c:v>
                </c:pt>
                <c:pt idx="3">
                  <c:v>25.86</c:v>
                </c:pt>
                <c:pt idx="4">
                  <c:v>25.56</c:v>
                </c:pt>
                <c:pt idx="5">
                  <c:v>25.02</c:v>
                </c:pt>
                <c:pt idx="6">
                  <c:v>24.67</c:v>
                </c:pt>
                <c:pt idx="7">
                  <c:v>24.68</c:v>
                </c:pt>
                <c:pt idx="8">
                  <c:v>24.78</c:v>
                </c:pt>
                <c:pt idx="9">
                  <c:v>25.4</c:v>
                </c:pt>
                <c:pt idx="10">
                  <c:v>25.24</c:v>
                </c:pt>
                <c:pt idx="11">
                  <c:v>24.76</c:v>
                </c:pt>
              </c:numCache>
            </c:numRef>
          </c:val>
          <c:smooth val="0"/>
        </c:ser>
        <c:ser>
          <c:idx val="6"/>
          <c:order val="6"/>
          <c:tx>
            <c:strRef>
              <c:f>Sheet1!$H$1</c:f>
              <c:strCache>
                <c:ptCount val="1"/>
                <c:pt idx="0">
                  <c:v>2019/20</c:v>
                </c:pt>
              </c:strCache>
            </c:strRef>
          </c:tx>
          <c:spPr>
            <a:ln w="13970" cap="rnd">
              <a:solidFill>
                <a:srgbClr val="17BECF"/>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Sheet1!$H$2:$H$13</c:f>
              <c:numCache>
                <c:formatCode>General</c:formatCode>
                <c:ptCount val="12"/>
                <c:pt idx="0">
                  <c:v>24.42</c:v>
                </c:pt>
                <c:pt idx="1">
                  <c:v>25.3</c:v>
                </c:pt>
                <c:pt idx="2">
                  <c:v>27.12</c:v>
                </c:pt>
                <c:pt idx="3">
                  <c:v>28.24</c:v>
                </c:pt>
                <c:pt idx="4">
                  <c:v>28.64</c:v>
                </c:pt>
                <c:pt idx="5">
                  <c:v>26.63</c:v>
                </c:pt>
                <c:pt idx="6">
                  <c:v>25.44</c:v>
                </c:pt>
                <c:pt idx="7">
                  <c:v>25.4</c:v>
                </c:pt>
                <c:pt idx="8">
                  <c:v>25.62</c:v>
                </c:pt>
                <c:pt idx="9">
                  <c:v>25.78</c:v>
                </c:pt>
                <c:pt idx="10">
                  <c:v>25.83</c:v>
                </c:pt>
                <c:pt idx="11">
                  <c:v>24.9</c:v>
                </c:pt>
              </c:numCache>
            </c:numRef>
          </c:val>
          <c:smooth val="0"/>
        </c:ser>
        <c:ser>
          <c:idx val="7"/>
          <c:order val="7"/>
          <c:tx>
            <c:strRef>
              <c:f>Sheet1!$I$1</c:f>
              <c:strCache>
                <c:ptCount val="1"/>
                <c:pt idx="0">
                  <c:v>2024/25</c:v>
                </c:pt>
              </c:strCache>
            </c:strRef>
          </c:tx>
          <c:spPr>
            <a:ln w="13970" cap="rnd">
              <a:solidFill>
                <a:srgbClr val="BCBD22"/>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Sheet1!$I$2:$I$13</c:f>
              <c:numCache>
                <c:formatCode>General</c:formatCode>
                <c:ptCount val="12"/>
                <c:pt idx="0">
                  <c:v>25.02</c:v>
                </c:pt>
                <c:pt idx="1">
                  <c:v>25.66</c:v>
                </c:pt>
                <c:pt idx="2">
                  <c:v>26.78</c:v>
                </c:pt>
                <c:pt idx="3">
                  <c:v>27.52</c:v>
                </c:pt>
                <c:pt idx="4">
                  <c:v>26.4</c:v>
                </c:pt>
                <c:pt idx="5">
                  <c:v>25.62</c:v>
                </c:pt>
                <c:pt idx="6">
                  <c:v>24.99</c:v>
                </c:pt>
                <c:pt idx="7">
                  <c:v>25.04</c:v>
                </c:pt>
                <c:pt idx="8">
                  <c:v>25.41</c:v>
                </c:pt>
                <c:pt idx="9">
                  <c:v>25.36</c:v>
                </c:pt>
                <c:pt idx="10">
                  <c:v>25.91</c:v>
                </c:pt>
                <c:pt idx="11">
                  <c:v>25.14</c:v>
                </c:pt>
              </c:numCache>
            </c:numRef>
          </c:val>
          <c:smooth val="0"/>
        </c:ser>
        <c:ser>
          <c:idx val="8"/>
          <c:order val="8"/>
          <c:tx>
            <c:strRef>
              <c:f>Sheet1!$J$1</c:f>
              <c:strCache>
                <c:ptCount val="1"/>
                <c:pt idx="0">
                  <c:v>2025/26</c:v>
                </c:pt>
              </c:strCache>
            </c:strRef>
          </c:tx>
          <c:spPr>
            <a:ln w="13970" cap="rnd">
              <a:solidFill>
                <a:srgbClr val="7F7F7F"/>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Sheet1!$J$2:$J$13</c:f>
              <c:numCache>
                <c:formatCode>General</c:formatCode>
                <c:ptCount val="12"/>
                <c:pt idx="0">
                  <c:v>24.91</c:v>
                </c:pt>
                <c:pt idx="1">
                  <c:v>24.92</c:v>
                </c:pt>
                <c:pt idx="2">
                  <c:v>25.32</c:v>
                </c:pt>
                <c:pt idx="3">
                  <c:v>25.38</c:v>
                </c:pt>
                <c:pt idx="4">
                  <c:v>25.3</c:v>
                </c:pt>
                <c:pt idx="5">
                  <c:v>25.16</c:v>
                </c:pt>
                <c:pt idx="6">
                  <c:v>24.57</c:v>
                </c:pt>
                <c:pt idx="7">
                  <c:v>24.62</c:v>
                </c:pt>
                <c:pt idx="8">
                  <c:v>25.32</c:v>
                </c:pt>
                <c:pt idx="9">
                  <c:v>25.83</c:v>
                </c:pt>
                <c:pt idx="10">
                  <c:v>25.75</c:v>
                </c:pt>
                <c:pt idx="11">
                  <c:v>25.23</c:v>
                </c:pt>
              </c:numCache>
            </c:numRef>
          </c:val>
          <c:smooth val="0"/>
        </c:ser>
        <c:ser>
          <c:idx val="9"/>
          <c:order val="9"/>
          <c:tx>
            <c:strRef>
              <c:f>Sheet1!$K$1</c:f>
              <c:strCache>
                <c:ptCount val="1"/>
                <c:pt idx="0">
                  <c:v>Average</c:v>
                </c:pt>
              </c:strCache>
            </c:strRef>
          </c:tx>
          <c:spPr>
            <a:ln w="28575" cap="rnd">
              <a:solidFill>
                <a:srgbClr val="000000"/>
              </a:solidFill>
              <a:prstDash val="dash"/>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Sheet1!$K$2:$K$13</c:f>
              <c:numCache>
                <c:formatCode>General</c:formatCode>
                <c:ptCount val="12"/>
                <c:pt idx="0">
                  <c:v>24.63</c:v>
                </c:pt>
                <c:pt idx="1">
                  <c:v>25.02</c:v>
                </c:pt>
                <c:pt idx="2">
                  <c:v>25.89</c:v>
                </c:pt>
                <c:pt idx="3">
                  <c:v>26.27</c:v>
                </c:pt>
                <c:pt idx="4">
                  <c:v>25.9</c:v>
                </c:pt>
                <c:pt idx="5">
                  <c:v>25.12</c:v>
                </c:pt>
                <c:pt idx="6">
                  <c:v>24.66</c:v>
                </c:pt>
                <c:pt idx="7">
                  <c:v>24.7</c:v>
                </c:pt>
                <c:pt idx="8">
                  <c:v>25.15</c:v>
                </c:pt>
                <c:pt idx="9">
                  <c:v>25.42</c:v>
                </c:pt>
                <c:pt idx="10">
                  <c:v>25.51</c:v>
                </c:pt>
                <c:pt idx="11">
                  <c:v>24.97</c:v>
                </c:pt>
              </c:numCache>
            </c:numRef>
          </c:val>
          <c:smooth val="0"/>
        </c:ser>
        <c:marker val="1"/>
        <c:axId val="60010"/>
        <c:axId val="60020"/>
      </c:lineChart>
      <c:catAx>
        <c:axId val="60010"/>
        <c:scaling>
          <c:orientation val="minMax"/>
        </c:scaling>
        <c:delete val="0"/>
        <c:axPos val="b"/>
        <c:numFmt formatCode="General" sourceLinked="0"/>
        <c:majorTickMark val="none"/>
        <c:minorTickMark val="none"/>
        <c:tickLblPos val="low"/>
        <c:spPr>
          <a:ln w="9525">
            <a:solidFill>
              <a:srgbClr val="B7C0C5"/>
            </a:solidFill>
          </a:ln>
        </c:spPr>
        <c:txPr>
          <a:bodyPr/>
          <a:lstStyle/>
          <a:p>
            <a:pPr>
              <a:defRPr sz="800" b="0">
                <a:solidFill>
                  <a:srgbClr val="5B6770"/>
                </a:solidFill>
                <a:latin typeface="Arial"/>
                <a:cs typeface="Arial"/>
              </a:defRPr>
            </a:pPr>
            <a:endParaRPr lang="fr-FR"/>
          </a:p>
        </c:txPr>
        <c:crossAx val="60020"/>
        <c:crosses val="autoZero"/>
        <c:auto val="1"/>
        <c:lblAlgn val="ctr"/>
        <c:lblOffset val="100"/>
        <c:noMultiLvlLbl val="0"/>
      </c:catAx>
      <c:valAx>
        <c:axId val="60020"/>
        <c:scaling>
          <c:orientation val="minMax"/>
          <c:max val="29.0"/>
          <c:min val="23.5"/>
        </c:scaling>
        <c:delete val="0"/>
        <c:axPos val="l"/>
        <c:majorGridlines>
          <c:spPr>
            <a:ln w="6350">
              <a:solidFill>
                <a:srgbClr val="E3E8EB"/>
              </a:solidFill>
            </a:ln>
          </c:spPr>
        </c:majorGridlines>
        <c:numFmt formatCode="0.0" sourceLinked="0"/>
        <c:majorTickMark val="none"/>
        <c:minorTickMark val="none"/>
        <c:tickLblPos val="low"/>
        <c:spPr>
          <a:ln w="6350">
            <a:solidFill>
              <a:srgbClr val="FFFFFF"/>
            </a:solidFill>
          </a:ln>
        </c:spPr>
        <c:txPr>
          <a:bodyPr/>
          <a:lstStyle/>
          <a:p>
            <a:pPr>
              <a:defRPr sz="800" b="0">
                <a:solidFill>
                  <a:srgbClr val="5B6770"/>
                </a:solidFill>
                <a:latin typeface="Arial"/>
                <a:cs typeface="Arial"/>
              </a:defRPr>
            </a:pPr>
            <a:endParaRPr lang="fr-FR"/>
          </a:p>
        </c:txPr>
        <c:crossAx val="60010"/>
        <c:crosses val="autoZero"/>
        <c:crossBetween val="between"/>
        <c:majorUnit val="0.5"/>
      </c:valAx>
    </c:plotArea>
    <c:plotVisOnly val="1"/>
    <c:dispBlanksAs val="gap"/>
  </c:chart>
  <c:spPr>
    <a:noFill/>
    <a:ln>
      <a:noFill/>
    </a:ln>
  </c:spPr>
  <c:txPr>
    <a:bodyPr/>
    <a:lstStyle/>
    <a:p>
      <a:pPr>
        <a:defRPr sz="1000" b="0">
          <a:solidFill>
            <a:srgbClr val="5B6770"/>
          </a:solidFill>
          <a:latin typeface="Arial"/>
          <a:cs typeface="Arial"/>
        </a:defRPr>
      </a:pPr>
      <a:endParaRPr lang="fr-FR"/>
    </a:p>
  </c:txPr>
</c:chartSpace>
</file>

<file path=ppt/charts/chart29.xml><?xml version="1.0" encoding="utf-8"?>
<c:chartSpace xmlns:c="http://schemas.openxmlformats.org/drawingml/2006/chart" xmlns:a="http://schemas.openxmlformats.org/drawingml/2006/main" xmlns:r="http://schemas.openxmlformats.org/officeDocument/2006/relationships">
  <c:roundedCorners val="0"/>
  <c:chart>
    <c:autoTitleDeleted val="1"/>
    <c:plotArea>
      <c:layout/>
      <c:lineChart>
        <c:grouping val="standard"/>
        <c:varyColors val="0"/>
        <c:ser>
          <c:idx val="0"/>
          <c:order val="0"/>
          <c:tx>
            <c:strRef>
              <c:f>Sheet1!$B$1</c:f>
              <c:strCache>
                <c:ptCount val="1"/>
                <c:pt idx="0">
                  <c:v>2008/09</c:v>
                </c:pt>
              </c:strCache>
            </c:strRef>
          </c:tx>
          <c:spPr>
            <a:ln w="13970" cap="rnd">
              <a:solidFill>
                <a:srgbClr val="1F77B4"/>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Sheet1!$B$2:$B$13</c:f>
              <c:numCache>
                <c:formatCode>General</c:formatCode>
                <c:ptCount val="12"/>
                <c:pt idx="0">
                  <c:v>37.0</c:v>
                </c:pt>
                <c:pt idx="1">
                  <c:v>146.0</c:v>
                </c:pt>
                <c:pt idx="2">
                  <c:v>104.0</c:v>
                </c:pt>
                <c:pt idx="3">
                  <c:v>178.0</c:v>
                </c:pt>
                <c:pt idx="4">
                  <c:v>360.0</c:v>
                </c:pt>
                <c:pt idx="5">
                  <c:v>453.0</c:v>
                </c:pt>
                <c:pt idx="6">
                  <c:v>281.0</c:v>
                </c:pt>
                <c:pt idx="7">
                  <c:v>240.0</c:v>
                </c:pt>
                <c:pt idx="8">
                  <c:v>223.0</c:v>
                </c:pt>
                <c:pt idx="9">
                  <c:v>226.0</c:v>
                </c:pt>
                <c:pt idx="10">
                  <c:v>95.0</c:v>
                </c:pt>
                <c:pt idx="11">
                  <c:v>164.0</c:v>
                </c:pt>
              </c:numCache>
            </c:numRef>
          </c:val>
          <c:smooth val="0"/>
        </c:ser>
        <c:ser>
          <c:idx val="1"/>
          <c:order val="1"/>
          <c:tx>
            <c:strRef>
              <c:f>Sheet1!$C$1</c:f>
              <c:strCache>
                <c:ptCount val="1"/>
                <c:pt idx="0">
                  <c:v>2012/13</c:v>
                </c:pt>
              </c:strCache>
            </c:strRef>
          </c:tx>
          <c:spPr>
            <a:ln w="13970" cap="rnd">
              <a:solidFill>
                <a:srgbClr val="FF7F0E"/>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Sheet1!$C$2:$C$13</c:f>
              <c:numCache>
                <c:formatCode>General</c:formatCode>
                <c:ptCount val="12"/>
                <c:pt idx="0">
                  <c:v>45.0</c:v>
                </c:pt>
                <c:pt idx="1">
                  <c:v>58.0</c:v>
                </c:pt>
                <c:pt idx="2">
                  <c:v>46.0</c:v>
                </c:pt>
                <c:pt idx="3">
                  <c:v>190.0</c:v>
                </c:pt>
                <c:pt idx="4">
                  <c:v>275.0</c:v>
                </c:pt>
                <c:pt idx="5">
                  <c:v>568.0</c:v>
                </c:pt>
                <c:pt idx="6">
                  <c:v>459.0</c:v>
                </c:pt>
                <c:pt idx="7">
                  <c:v>303.0</c:v>
                </c:pt>
                <c:pt idx="8">
                  <c:v>263.0</c:v>
                </c:pt>
                <c:pt idx="9">
                  <c:v>246.0</c:v>
                </c:pt>
                <c:pt idx="10">
                  <c:v>172.0</c:v>
                </c:pt>
                <c:pt idx="11">
                  <c:v>114.0</c:v>
                </c:pt>
              </c:numCache>
            </c:numRef>
          </c:val>
          <c:smooth val="0"/>
        </c:ser>
        <c:ser>
          <c:idx val="2"/>
          <c:order val="2"/>
          <c:tx>
            <c:strRef>
              <c:f>Sheet1!$D$1</c:f>
              <c:strCache>
                <c:ptCount val="1"/>
                <c:pt idx="0">
                  <c:v>2013/14</c:v>
                </c:pt>
              </c:strCache>
            </c:strRef>
          </c:tx>
          <c:spPr>
            <a:ln w="13970" cap="rnd">
              <a:solidFill>
                <a:srgbClr val="2CA02C"/>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Sheet1!$D$2:$D$13</c:f>
              <c:numCache>
                <c:formatCode>General</c:formatCode>
                <c:ptCount val="12"/>
                <c:pt idx="0">
                  <c:v>238.0</c:v>
                </c:pt>
                <c:pt idx="1">
                  <c:v>80.0</c:v>
                </c:pt>
                <c:pt idx="2">
                  <c:v>124.0</c:v>
                </c:pt>
                <c:pt idx="3">
                  <c:v>289.0</c:v>
                </c:pt>
                <c:pt idx="4">
                  <c:v>331.0</c:v>
                </c:pt>
                <c:pt idx="5">
                  <c:v>439.0</c:v>
                </c:pt>
                <c:pt idx="6">
                  <c:v>203.0</c:v>
                </c:pt>
                <c:pt idx="7">
                  <c:v>287.0</c:v>
                </c:pt>
                <c:pt idx="8">
                  <c:v>310.0</c:v>
                </c:pt>
                <c:pt idx="9">
                  <c:v>212.0</c:v>
                </c:pt>
                <c:pt idx="10">
                  <c:v>172.0</c:v>
                </c:pt>
                <c:pt idx="11">
                  <c:v>124.0</c:v>
                </c:pt>
              </c:numCache>
            </c:numRef>
          </c:val>
          <c:smooth val="0"/>
        </c:ser>
        <c:ser>
          <c:idx val="3"/>
          <c:order val="3"/>
          <c:tx>
            <c:strRef>
              <c:f>Sheet1!$E$1</c:f>
              <c:strCache>
                <c:ptCount val="1"/>
                <c:pt idx="0">
                  <c:v>2014/15</c:v>
                </c:pt>
              </c:strCache>
            </c:strRef>
          </c:tx>
          <c:spPr>
            <a:ln w="13970" cap="rnd">
              <a:solidFill>
                <a:srgbClr val="9467BD"/>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Sheet1!$E$2:$E$13</c:f>
              <c:numCache>
                <c:formatCode>General</c:formatCode>
                <c:ptCount val="12"/>
                <c:pt idx="0">
                  <c:v>69.0</c:v>
                </c:pt>
                <c:pt idx="1">
                  <c:v>139.0</c:v>
                </c:pt>
                <c:pt idx="2">
                  <c:v>18.0</c:v>
                </c:pt>
                <c:pt idx="3">
                  <c:v>78.0</c:v>
                </c:pt>
                <c:pt idx="4">
                  <c:v>344.0</c:v>
                </c:pt>
                <c:pt idx="5">
                  <c:v>317.0</c:v>
                </c:pt>
                <c:pt idx="6">
                  <c:v>249.0</c:v>
                </c:pt>
                <c:pt idx="7">
                  <c:v>248.0</c:v>
                </c:pt>
                <c:pt idx="8">
                  <c:v>254.0</c:v>
                </c:pt>
                <c:pt idx="9">
                  <c:v>326.0</c:v>
                </c:pt>
                <c:pt idx="10">
                  <c:v>74.0</c:v>
                </c:pt>
                <c:pt idx="11">
                  <c:v>72.0</c:v>
                </c:pt>
              </c:numCache>
            </c:numRef>
          </c:val>
          <c:smooth val="0"/>
        </c:ser>
        <c:ser>
          <c:idx val="4"/>
          <c:order val="4"/>
          <c:tx>
            <c:strRef>
              <c:f>Sheet1!$F$1</c:f>
              <c:strCache>
                <c:ptCount val="1"/>
                <c:pt idx="0">
                  <c:v>2016/17</c:v>
                </c:pt>
              </c:strCache>
            </c:strRef>
          </c:tx>
          <c:spPr>
            <a:ln w="13970" cap="rnd">
              <a:solidFill>
                <a:srgbClr val="8C564B"/>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Sheet1!$F$2:$F$13</c:f>
              <c:numCache>
                <c:formatCode>General</c:formatCode>
                <c:ptCount val="12"/>
                <c:pt idx="0">
                  <c:v>107.0</c:v>
                </c:pt>
                <c:pt idx="1">
                  <c:v>126.0</c:v>
                </c:pt>
                <c:pt idx="2">
                  <c:v>191.0</c:v>
                </c:pt>
                <c:pt idx="3">
                  <c:v>144.0</c:v>
                </c:pt>
                <c:pt idx="4">
                  <c:v>270.0</c:v>
                </c:pt>
                <c:pt idx="5">
                  <c:v>204.0</c:v>
                </c:pt>
                <c:pt idx="6">
                  <c:v>233.0</c:v>
                </c:pt>
                <c:pt idx="7">
                  <c:v>341.0</c:v>
                </c:pt>
                <c:pt idx="8">
                  <c:v>184.0</c:v>
                </c:pt>
                <c:pt idx="9">
                  <c:v>234.0</c:v>
                </c:pt>
                <c:pt idx="10">
                  <c:v>192.0</c:v>
                </c:pt>
                <c:pt idx="11">
                  <c:v>64.0</c:v>
                </c:pt>
              </c:numCache>
            </c:numRef>
          </c:val>
          <c:smooth val="0"/>
        </c:ser>
        <c:ser>
          <c:idx val="5"/>
          <c:order val="5"/>
          <c:tx>
            <c:strRef>
              <c:f>Sheet1!$G$1</c:f>
              <c:strCache>
                <c:ptCount val="1"/>
                <c:pt idx="0">
                  <c:v>2017/18</c:v>
                </c:pt>
              </c:strCache>
            </c:strRef>
          </c:tx>
          <c:spPr>
            <a:ln w="13970" cap="rnd">
              <a:solidFill>
                <a:srgbClr val="E377C2"/>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Sheet1!$G$2:$G$13</c:f>
              <c:numCache>
                <c:formatCode>General</c:formatCode>
                <c:ptCount val="12"/>
                <c:pt idx="0">
                  <c:v>64.0</c:v>
                </c:pt>
                <c:pt idx="1">
                  <c:v>56.0</c:v>
                </c:pt>
                <c:pt idx="2">
                  <c:v>96.0</c:v>
                </c:pt>
                <c:pt idx="3">
                  <c:v>127.0</c:v>
                </c:pt>
                <c:pt idx="4">
                  <c:v>208.0</c:v>
                </c:pt>
                <c:pt idx="5">
                  <c:v>297.0</c:v>
                </c:pt>
                <c:pt idx="6">
                  <c:v>167.0</c:v>
                </c:pt>
                <c:pt idx="7">
                  <c:v>343.0</c:v>
                </c:pt>
                <c:pt idx="8">
                  <c:v>396.0</c:v>
                </c:pt>
                <c:pt idx="9">
                  <c:v>191.0</c:v>
                </c:pt>
                <c:pt idx="10">
                  <c:v>149.0</c:v>
                </c:pt>
                <c:pt idx="11">
                  <c:v>122.0</c:v>
                </c:pt>
              </c:numCache>
            </c:numRef>
          </c:val>
          <c:smooth val="0"/>
        </c:ser>
        <c:ser>
          <c:idx val="6"/>
          <c:order val="6"/>
          <c:tx>
            <c:strRef>
              <c:f>Sheet1!$H$1</c:f>
              <c:strCache>
                <c:ptCount val="1"/>
                <c:pt idx="0">
                  <c:v>2019/20</c:v>
                </c:pt>
              </c:strCache>
            </c:strRef>
          </c:tx>
          <c:spPr>
            <a:ln w="13970" cap="rnd">
              <a:solidFill>
                <a:srgbClr val="17BECF"/>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Sheet1!$H$2:$H$13</c:f>
              <c:numCache>
                <c:formatCode>General</c:formatCode>
                <c:ptCount val="12"/>
                <c:pt idx="0">
                  <c:v>84.0</c:v>
                </c:pt>
                <c:pt idx="1">
                  <c:v>3.0</c:v>
                </c:pt>
                <c:pt idx="2">
                  <c:v>14.0</c:v>
                </c:pt>
                <c:pt idx="3">
                  <c:v>51.0</c:v>
                </c:pt>
                <c:pt idx="4">
                  <c:v>63.0</c:v>
                </c:pt>
                <c:pt idx="5">
                  <c:v>301.0</c:v>
                </c:pt>
                <c:pt idx="6">
                  <c:v>401.0</c:v>
                </c:pt>
                <c:pt idx="7">
                  <c:v>180.0</c:v>
                </c:pt>
                <c:pt idx="8">
                  <c:v>361.0</c:v>
                </c:pt>
                <c:pt idx="9">
                  <c:v>295.0</c:v>
                </c:pt>
                <c:pt idx="10">
                  <c:v>192.0</c:v>
                </c:pt>
                <c:pt idx="11">
                  <c:v>296.0</c:v>
                </c:pt>
              </c:numCache>
            </c:numRef>
          </c:val>
          <c:smooth val="0"/>
        </c:ser>
        <c:ser>
          <c:idx val="7"/>
          <c:order val="7"/>
          <c:tx>
            <c:strRef>
              <c:f>Sheet1!$I$1</c:f>
              <c:strCache>
                <c:ptCount val="1"/>
                <c:pt idx="0">
                  <c:v>2024/25</c:v>
                </c:pt>
              </c:strCache>
            </c:strRef>
          </c:tx>
          <c:spPr>
            <a:ln w="13970" cap="rnd">
              <a:solidFill>
                <a:srgbClr val="BCBD22"/>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Sheet1!$I$2:$I$13</c:f>
              <c:numCache>
                <c:formatCode>General</c:formatCode>
                <c:ptCount val="12"/>
                <c:pt idx="0">
                  <c:v>48.0</c:v>
                </c:pt>
                <c:pt idx="1">
                  <c:v>30.0</c:v>
                </c:pt>
                <c:pt idx="2">
                  <c:v>84.0</c:v>
                </c:pt>
                <c:pt idx="3">
                  <c:v>84.0</c:v>
                </c:pt>
                <c:pt idx="4">
                  <c:v>253.0</c:v>
                </c:pt>
                <c:pt idx="5">
                  <c:v>261.0</c:v>
                </c:pt>
                <c:pt idx="6">
                  <c:v>423.0</c:v>
                </c:pt>
                <c:pt idx="7">
                  <c:v>270.0</c:v>
                </c:pt>
                <c:pt idx="8">
                  <c:v>256.0</c:v>
                </c:pt>
                <c:pt idx="9">
                  <c:v>181.0</c:v>
                </c:pt>
                <c:pt idx="10">
                  <c:v>142.0</c:v>
                </c:pt>
                <c:pt idx="11">
                  <c:v>173.0</c:v>
                </c:pt>
              </c:numCache>
            </c:numRef>
          </c:val>
          <c:smooth val="0"/>
        </c:ser>
        <c:ser>
          <c:idx val="8"/>
          <c:order val="8"/>
          <c:tx>
            <c:strRef>
              <c:f>Sheet1!$J$1</c:f>
              <c:strCache>
                <c:ptCount val="1"/>
                <c:pt idx="0">
                  <c:v>2025/26</c:v>
                </c:pt>
              </c:strCache>
            </c:strRef>
          </c:tx>
          <c:spPr>
            <a:ln w="13970" cap="rnd">
              <a:solidFill>
                <a:srgbClr val="7F7F7F"/>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Sheet1!$J$2:$J$13</c:f>
              <c:numCache>
                <c:formatCode>General</c:formatCode>
                <c:ptCount val="12"/>
                <c:pt idx="0">
                  <c:v>64.0</c:v>
                </c:pt>
                <c:pt idx="1">
                  <c:v>107.0</c:v>
                </c:pt>
                <c:pt idx="2">
                  <c:v>198.0</c:v>
                </c:pt>
                <c:pt idx="3">
                  <c:v>226.0</c:v>
                </c:pt>
                <c:pt idx="4">
                  <c:v>218.0</c:v>
                </c:pt>
                <c:pt idx="5">
                  <c:v>405.0</c:v>
                </c:pt>
                <c:pt idx="6">
                  <c:v>248.0</c:v>
                </c:pt>
                <c:pt idx="7">
                  <c:v>224.0</c:v>
                </c:pt>
                <c:pt idx="8">
                  <c:v>278.0</c:v>
                </c:pt>
                <c:pt idx="9">
                  <c:v>191.0</c:v>
                </c:pt>
                <c:pt idx="10">
                  <c:v>148.0</c:v>
                </c:pt>
                <c:pt idx="11">
                  <c:v>53.0</c:v>
                </c:pt>
              </c:numCache>
            </c:numRef>
          </c:val>
          <c:smooth val="0"/>
        </c:ser>
        <c:ser>
          <c:idx val="9"/>
          <c:order val="9"/>
          <c:tx>
            <c:strRef>
              <c:f>Sheet1!$K$1</c:f>
              <c:strCache>
                <c:ptCount val="1"/>
                <c:pt idx="0">
                  <c:v>Average</c:v>
                </c:pt>
              </c:strCache>
            </c:strRef>
          </c:tx>
          <c:spPr>
            <a:ln w="28575" cap="rnd">
              <a:solidFill>
                <a:srgbClr val="000000"/>
              </a:solidFill>
              <a:prstDash val="dash"/>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Sheet1!$K$2:$K$13</c:f>
              <c:numCache>
                <c:formatCode>General</c:formatCode>
                <c:ptCount val="12"/>
                <c:pt idx="0">
                  <c:v>84.0</c:v>
                </c:pt>
                <c:pt idx="1">
                  <c:v>83.0</c:v>
                </c:pt>
                <c:pt idx="2">
                  <c:v>97.0</c:v>
                </c:pt>
                <c:pt idx="3">
                  <c:v>152.0</c:v>
                </c:pt>
                <c:pt idx="4">
                  <c:v>258.0</c:v>
                </c:pt>
                <c:pt idx="5">
                  <c:v>361.0</c:v>
                </c:pt>
                <c:pt idx="6">
                  <c:v>296.0</c:v>
                </c:pt>
                <c:pt idx="7">
                  <c:v>271.0</c:v>
                </c:pt>
                <c:pt idx="8">
                  <c:v>281.0</c:v>
                </c:pt>
                <c:pt idx="9">
                  <c:v>234.0</c:v>
                </c:pt>
                <c:pt idx="10">
                  <c:v>148.0</c:v>
                </c:pt>
                <c:pt idx="11">
                  <c:v>131.0</c:v>
                </c:pt>
              </c:numCache>
            </c:numRef>
          </c:val>
          <c:smooth val="0"/>
        </c:ser>
        <c:marker val="1"/>
        <c:axId val="60010"/>
        <c:axId val="60020"/>
      </c:lineChart>
      <c:catAx>
        <c:axId val="60010"/>
        <c:scaling>
          <c:orientation val="minMax"/>
        </c:scaling>
        <c:delete val="0"/>
        <c:axPos val="b"/>
        <c:numFmt formatCode="General" sourceLinked="0"/>
        <c:majorTickMark val="none"/>
        <c:minorTickMark val="none"/>
        <c:tickLblPos val="low"/>
        <c:spPr>
          <a:ln w="9525">
            <a:solidFill>
              <a:srgbClr val="B7C0C5"/>
            </a:solidFill>
          </a:ln>
        </c:spPr>
        <c:txPr>
          <a:bodyPr/>
          <a:lstStyle/>
          <a:p>
            <a:pPr>
              <a:defRPr sz="800" b="0">
                <a:solidFill>
                  <a:srgbClr val="5B6770"/>
                </a:solidFill>
                <a:latin typeface="Arial"/>
                <a:cs typeface="Arial"/>
              </a:defRPr>
            </a:pPr>
            <a:endParaRPr lang="fr-FR"/>
          </a:p>
        </c:txPr>
        <c:crossAx val="60020"/>
        <c:crosses val="autoZero"/>
        <c:auto val="1"/>
        <c:lblAlgn val="ctr"/>
        <c:lblOffset val="100"/>
        <c:noMultiLvlLbl val="0"/>
      </c:catAx>
      <c:valAx>
        <c:axId val="60020"/>
        <c:scaling>
          <c:orientation val="minMax"/>
          <c:max val="600"/>
          <c:min val="0"/>
        </c:scaling>
        <c:delete val="0"/>
        <c:axPos val="l"/>
        <c:majorGridlines>
          <c:spPr>
            <a:ln w="6350">
              <a:solidFill>
                <a:srgbClr val="E3E8EB"/>
              </a:solidFill>
            </a:ln>
          </c:spPr>
        </c:majorGridlines>
        <c:numFmt formatCode="0" sourceLinked="0"/>
        <c:majorTickMark val="none"/>
        <c:minorTickMark val="none"/>
        <c:tickLblPos val="low"/>
        <c:spPr>
          <a:ln w="6350">
            <a:solidFill>
              <a:srgbClr val="FFFFFF"/>
            </a:solidFill>
          </a:ln>
        </c:spPr>
        <c:txPr>
          <a:bodyPr/>
          <a:lstStyle/>
          <a:p>
            <a:pPr>
              <a:defRPr sz="800" b="0">
                <a:solidFill>
                  <a:srgbClr val="5B6770"/>
                </a:solidFill>
                <a:latin typeface="Arial"/>
                <a:cs typeface="Arial"/>
              </a:defRPr>
            </a:pPr>
            <a:endParaRPr lang="fr-FR"/>
          </a:p>
        </c:txPr>
        <c:crossAx val="60010"/>
        <c:crosses val="autoZero"/>
        <c:crossBetween val="between"/>
        <c:majorUnit val="100"/>
      </c:valAx>
    </c:plotArea>
    <c:legend>
      <c:legendPos val="b"/>
      <c:overlay val="0"/>
      <c:txPr>
        <a:bodyPr/>
        <a:lstStyle/>
        <a:p>
          <a:pPr>
            <a:defRPr sz="700" b="0">
              <a:solidFill>
                <a:srgbClr val="1F2A30"/>
              </a:solidFill>
              <a:latin typeface="Arial"/>
              <a:cs typeface="Arial"/>
            </a:defRPr>
          </a:pPr>
          <a:endParaRPr lang="fr-FR"/>
        </a:p>
      </c:txPr>
    </c:legend>
    <c:plotVisOnly val="1"/>
    <c:dispBlanksAs val="gap"/>
  </c:chart>
  <c:spPr>
    <a:noFill/>
    <a:ln>
      <a:noFill/>
    </a:ln>
  </c:spPr>
  <c:txPr>
    <a:bodyPr/>
    <a:lstStyle/>
    <a:p>
      <a:pPr>
        <a:defRPr sz="1000" b="0">
          <a:solidFill>
            <a:srgbClr val="5B6770"/>
          </a:solidFill>
          <a:latin typeface="Arial"/>
          <a:cs typeface="Arial"/>
        </a:defRPr>
      </a:pPr>
      <a:endParaRPr lang="fr-FR"/>
    </a:p>
  </c:txPr>
</c:chartSpace>
</file>

<file path=ppt/charts/chart30.xml><?xml version="1.0" encoding="utf-8"?>
<c:chartSpace xmlns:c="http://schemas.openxmlformats.org/drawingml/2006/chart" xmlns:a="http://schemas.openxmlformats.org/drawingml/2006/main" xmlns:r="http://schemas.openxmlformats.org/officeDocument/2006/relationships">
  <c:roundedCorners val="0"/>
  <c:chart>
    <c:autoTitleDeleted val="1"/>
    <c:plotArea>
      <c:layout/>
      <c:lineChart>
        <c:grouping val="standard"/>
        <c:varyColors val="0"/>
        <c:ser>
          <c:idx val="0"/>
          <c:order val="0"/>
          <c:tx>
            <c:strRef>
              <c:f>Sheet1!$B$1</c:f>
              <c:strCache>
                <c:ptCount val="1"/>
                <c:pt idx="0">
                  <c:v>2006/07</c:v>
                </c:pt>
              </c:strCache>
            </c:strRef>
          </c:tx>
          <c:spPr>
            <a:ln w="13970" cap="rnd">
              <a:solidFill>
                <a:srgbClr val="1F77B4"/>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Sheet1!$B$2:$B$13</c:f>
              <c:numCache>
                <c:formatCode>General</c:formatCode>
                <c:ptCount val="12"/>
                <c:pt idx="0">
                  <c:v>23.36</c:v>
                </c:pt>
                <c:pt idx="1">
                  <c:v>22.96</c:v>
                </c:pt>
                <c:pt idx="2">
                  <c:v>24.26</c:v>
                </c:pt>
                <c:pt idx="3">
                  <c:v>25.94</c:v>
                </c:pt>
                <c:pt idx="4">
                  <c:v>26.39</c:v>
                </c:pt>
                <c:pt idx="5">
                  <c:v>24.68</c:v>
                </c:pt>
                <c:pt idx="6">
                  <c:v>23.81</c:v>
                </c:pt>
                <c:pt idx="7">
                  <c:v>23.81</c:v>
                </c:pt>
                <c:pt idx="8">
                  <c:v>23.49</c:v>
                </c:pt>
                <c:pt idx="9">
                  <c:v>24.1</c:v>
                </c:pt>
                <c:pt idx="10">
                  <c:v>24.22</c:v>
                </c:pt>
                <c:pt idx="11">
                  <c:v>23.76</c:v>
                </c:pt>
              </c:numCache>
            </c:numRef>
          </c:val>
          <c:smooth val="0"/>
        </c:ser>
        <c:ser>
          <c:idx val="1"/>
          <c:order val="1"/>
          <c:tx>
            <c:strRef>
              <c:f>Sheet1!$C$1</c:f>
              <c:strCache>
                <c:ptCount val="1"/>
                <c:pt idx="0">
                  <c:v>2009/10</c:v>
                </c:pt>
              </c:strCache>
            </c:strRef>
          </c:tx>
          <c:spPr>
            <a:ln w="13970" cap="rnd">
              <a:solidFill>
                <a:srgbClr val="FF7F0E"/>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Sheet1!$C$2:$C$13</c:f>
              <c:numCache>
                <c:formatCode>General</c:formatCode>
                <c:ptCount val="12"/>
                <c:pt idx="0">
                  <c:v>23.45</c:v>
                </c:pt>
                <c:pt idx="1">
                  <c:v>24.12</c:v>
                </c:pt>
                <c:pt idx="2">
                  <c:v>25.19</c:v>
                </c:pt>
                <c:pt idx="3">
                  <c:v>25.25</c:v>
                </c:pt>
                <c:pt idx="4">
                  <c:v>24.76</c:v>
                </c:pt>
                <c:pt idx="5">
                  <c:v>24.28</c:v>
                </c:pt>
                <c:pt idx="6">
                  <c:v>23.47</c:v>
                </c:pt>
                <c:pt idx="7">
                  <c:v>24.4</c:v>
                </c:pt>
                <c:pt idx="8">
                  <c:v>24.21</c:v>
                </c:pt>
                <c:pt idx="9">
                  <c:v>24.62</c:v>
                </c:pt>
                <c:pt idx="10">
                  <c:v>24.65</c:v>
                </c:pt>
                <c:pt idx="11">
                  <c:v>23.71</c:v>
                </c:pt>
              </c:numCache>
            </c:numRef>
          </c:val>
          <c:smooth val="0"/>
        </c:ser>
        <c:ser>
          <c:idx val="2"/>
          <c:order val="2"/>
          <c:tx>
            <c:strRef>
              <c:f>Sheet1!$D$1</c:f>
              <c:strCache>
                <c:ptCount val="1"/>
                <c:pt idx="0">
                  <c:v>2015/16</c:v>
                </c:pt>
              </c:strCache>
            </c:strRef>
          </c:tx>
          <c:spPr>
            <a:ln w="13970" cap="rnd">
              <a:solidFill>
                <a:srgbClr val="2CA02C"/>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Sheet1!$D$2:$D$13</c:f>
              <c:numCache>
                <c:formatCode>General</c:formatCode>
                <c:ptCount val="12"/>
                <c:pt idx="0">
                  <c:v>23.73</c:v>
                </c:pt>
                <c:pt idx="1">
                  <c:v>24.94</c:v>
                </c:pt>
                <c:pt idx="2">
                  <c:v>25.67</c:v>
                </c:pt>
                <c:pt idx="3">
                  <c:v>26.54</c:v>
                </c:pt>
                <c:pt idx="4">
                  <c:v>26.81</c:v>
                </c:pt>
                <c:pt idx="5">
                  <c:v>24.84</c:v>
                </c:pt>
                <c:pt idx="6">
                  <c:v>24.78</c:v>
                </c:pt>
                <c:pt idx="7">
                  <c:v>24.19</c:v>
                </c:pt>
                <c:pt idx="8">
                  <c:v>24.65</c:v>
                </c:pt>
                <c:pt idx="9">
                  <c:v>24.71</c:v>
                </c:pt>
                <c:pt idx="10">
                  <c:v>24.71</c:v>
                </c:pt>
                <c:pt idx="11">
                  <c:v>24.04</c:v>
                </c:pt>
              </c:numCache>
            </c:numRef>
          </c:val>
          <c:smooth val="0"/>
        </c:ser>
        <c:ser>
          <c:idx val="3"/>
          <c:order val="3"/>
          <c:tx>
            <c:strRef>
              <c:f>Sheet1!$E$1</c:f>
              <c:strCache>
                <c:ptCount val="1"/>
                <c:pt idx="0">
                  <c:v>2018/19</c:v>
                </c:pt>
              </c:strCache>
            </c:strRef>
          </c:tx>
          <c:spPr>
            <a:ln w="13970" cap="rnd">
              <a:solidFill>
                <a:srgbClr val="9467BD"/>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Sheet1!$E$2:$E$13</c:f>
              <c:numCache>
                <c:formatCode>General</c:formatCode>
                <c:ptCount val="12"/>
                <c:pt idx="0">
                  <c:v>23.32</c:v>
                </c:pt>
                <c:pt idx="1">
                  <c:v>23.94</c:v>
                </c:pt>
                <c:pt idx="2">
                  <c:v>24.79</c:v>
                </c:pt>
                <c:pt idx="3">
                  <c:v>25.98</c:v>
                </c:pt>
                <c:pt idx="4">
                  <c:v>24.87</c:v>
                </c:pt>
                <c:pt idx="5">
                  <c:v>24.36</c:v>
                </c:pt>
                <c:pt idx="6">
                  <c:v>24.43</c:v>
                </c:pt>
                <c:pt idx="7">
                  <c:v>24.35</c:v>
                </c:pt>
                <c:pt idx="8">
                  <c:v>24.12</c:v>
                </c:pt>
                <c:pt idx="9">
                  <c:v>24.66</c:v>
                </c:pt>
                <c:pt idx="10">
                  <c:v>24.46</c:v>
                </c:pt>
                <c:pt idx="11">
                  <c:v>24.09</c:v>
                </c:pt>
              </c:numCache>
            </c:numRef>
          </c:val>
          <c:smooth val="0"/>
        </c:ser>
        <c:ser>
          <c:idx val="4"/>
          <c:order val="4"/>
          <c:tx>
            <c:strRef>
              <c:f>Sheet1!$F$1</c:f>
              <c:strCache>
                <c:ptCount val="1"/>
                <c:pt idx="0">
                  <c:v>2023/24</c:v>
                </c:pt>
              </c:strCache>
            </c:strRef>
          </c:tx>
          <c:spPr>
            <a:ln w="13970" cap="rnd">
              <a:solidFill>
                <a:srgbClr val="8C564B"/>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Sheet1!$F$2:$F$13</c:f>
              <c:numCache>
                <c:formatCode>General</c:formatCode>
                <c:ptCount val="12"/>
                <c:pt idx="0">
                  <c:v>24.06</c:v>
                </c:pt>
                <c:pt idx="1">
                  <c:v>24.12</c:v>
                </c:pt>
                <c:pt idx="2">
                  <c:v>24.81</c:v>
                </c:pt>
                <c:pt idx="3">
                  <c:v>26.82</c:v>
                </c:pt>
                <c:pt idx="4">
                  <c:v>26.58</c:v>
                </c:pt>
                <c:pt idx="5">
                  <c:v>25.66</c:v>
                </c:pt>
                <c:pt idx="6">
                  <c:v>24.6</c:v>
                </c:pt>
                <c:pt idx="7">
                  <c:v>24.82</c:v>
                </c:pt>
                <c:pt idx="8">
                  <c:v>24.81</c:v>
                </c:pt>
                <c:pt idx="9">
                  <c:v>25.39</c:v>
                </c:pt>
                <c:pt idx="10">
                  <c:v>25.49</c:v>
                </c:pt>
                <c:pt idx="11">
                  <c:v>24.73</c:v>
                </c:pt>
              </c:numCache>
            </c:numRef>
          </c:val>
          <c:smooth val="0"/>
        </c:ser>
        <c:ser>
          <c:idx val="5"/>
          <c:order val="5"/>
          <c:tx>
            <c:strRef>
              <c:f>Sheet1!$G$1</c:f>
              <c:strCache>
                <c:ptCount val="1"/>
                <c:pt idx="0">
                  <c:v>2026/27</c:v>
                </c:pt>
              </c:strCache>
            </c:strRef>
          </c:tx>
          <c:spPr>
            <a:ln w="31750" cap="rnd">
              <a:solidFill>
                <a:srgbClr val="C00000"/>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Sheet1!$G$2:$G$13</c:f>
              <c:numCache>
                <c:formatCode>General</c:formatCode>
                <c:ptCount val="12"/>
                <c:pt idx="0">
                  <c:v>24.3</c:v>
                </c:pt>
                <c:pt idx="1">
                  <c:v>26.4</c:v>
                </c:pt>
              </c:numCache>
            </c:numRef>
          </c:val>
          <c:smooth val="0"/>
        </c:ser>
        <c:ser>
          <c:idx val="6"/>
          <c:order val="6"/>
          <c:tx>
            <c:strRef>
              <c:f>Sheet1!$H$1</c:f>
              <c:strCache>
                <c:ptCount val="1"/>
                <c:pt idx="0">
                  <c:v>Average</c:v>
                </c:pt>
              </c:strCache>
            </c:strRef>
          </c:tx>
          <c:spPr>
            <a:ln w="28575" cap="rnd">
              <a:solidFill>
                <a:srgbClr val="000000"/>
              </a:solidFill>
              <a:prstDash val="dash"/>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Sheet1!$H$2:$H$13</c:f>
              <c:numCache>
                <c:formatCode>General</c:formatCode>
                <c:ptCount val="12"/>
                <c:pt idx="0">
                  <c:v>23.58</c:v>
                </c:pt>
                <c:pt idx="1">
                  <c:v>24.02</c:v>
                </c:pt>
                <c:pt idx="2">
                  <c:v>24.94</c:v>
                </c:pt>
                <c:pt idx="3">
                  <c:v>26.11</c:v>
                </c:pt>
                <c:pt idx="4">
                  <c:v>25.88</c:v>
                </c:pt>
                <c:pt idx="5">
                  <c:v>24.76</c:v>
                </c:pt>
                <c:pt idx="6">
                  <c:v>24.22</c:v>
                </c:pt>
                <c:pt idx="7">
                  <c:v>24.31</c:v>
                </c:pt>
                <c:pt idx="8">
                  <c:v>24.26</c:v>
                </c:pt>
                <c:pt idx="9">
                  <c:v>24.7</c:v>
                </c:pt>
                <c:pt idx="10">
                  <c:v>24.71</c:v>
                </c:pt>
                <c:pt idx="11">
                  <c:v>24.07</c:v>
                </c:pt>
              </c:numCache>
            </c:numRef>
          </c:val>
          <c:smooth val="0"/>
        </c:ser>
        <c:marker val="1"/>
        <c:axId val="60010"/>
        <c:axId val="60020"/>
      </c:lineChart>
      <c:catAx>
        <c:axId val="60010"/>
        <c:scaling>
          <c:orientation val="minMax"/>
        </c:scaling>
        <c:delete val="0"/>
        <c:axPos val="b"/>
        <c:numFmt formatCode="General" sourceLinked="0"/>
        <c:majorTickMark val="none"/>
        <c:minorTickMark val="none"/>
        <c:tickLblPos val="low"/>
        <c:spPr>
          <a:ln w="9525">
            <a:solidFill>
              <a:srgbClr val="B7C0C5"/>
            </a:solidFill>
          </a:ln>
        </c:spPr>
        <c:txPr>
          <a:bodyPr/>
          <a:lstStyle/>
          <a:p>
            <a:pPr>
              <a:defRPr sz="800" b="0">
                <a:solidFill>
                  <a:srgbClr val="5B6770"/>
                </a:solidFill>
                <a:latin typeface="Arial"/>
                <a:cs typeface="Arial"/>
              </a:defRPr>
            </a:pPr>
            <a:endParaRPr lang="fr-FR"/>
          </a:p>
        </c:txPr>
        <c:crossAx val="60020"/>
        <c:crosses val="autoZero"/>
        <c:auto val="1"/>
        <c:lblAlgn val="ctr"/>
        <c:lblOffset val="100"/>
        <c:noMultiLvlLbl val="0"/>
      </c:catAx>
      <c:valAx>
        <c:axId val="60020"/>
        <c:scaling>
          <c:orientation val="minMax"/>
          <c:max val="27.0"/>
          <c:min val="22.5"/>
        </c:scaling>
        <c:delete val="0"/>
        <c:axPos val="l"/>
        <c:majorGridlines>
          <c:spPr>
            <a:ln w="6350">
              <a:solidFill>
                <a:srgbClr val="E3E8EB"/>
              </a:solidFill>
            </a:ln>
          </c:spPr>
        </c:majorGridlines>
        <c:numFmt formatCode="0.0" sourceLinked="0"/>
        <c:majorTickMark val="none"/>
        <c:minorTickMark val="none"/>
        <c:tickLblPos val="low"/>
        <c:spPr>
          <a:ln w="6350">
            <a:solidFill>
              <a:srgbClr val="FFFFFF"/>
            </a:solidFill>
          </a:ln>
        </c:spPr>
        <c:txPr>
          <a:bodyPr/>
          <a:lstStyle/>
          <a:p>
            <a:pPr>
              <a:defRPr sz="800" b="0">
                <a:solidFill>
                  <a:srgbClr val="5B6770"/>
                </a:solidFill>
                <a:latin typeface="Arial"/>
                <a:cs typeface="Arial"/>
              </a:defRPr>
            </a:pPr>
            <a:endParaRPr lang="fr-FR"/>
          </a:p>
        </c:txPr>
        <c:crossAx val="60010"/>
        <c:crosses val="autoZero"/>
        <c:crossBetween val="between"/>
        <c:majorUnit val="0.5"/>
      </c:valAx>
    </c:plotArea>
    <c:plotVisOnly val="1"/>
    <c:dispBlanksAs val="gap"/>
  </c:chart>
  <c:spPr>
    <a:noFill/>
    <a:ln>
      <a:noFill/>
    </a:ln>
  </c:spPr>
  <c:txPr>
    <a:bodyPr/>
    <a:lstStyle/>
    <a:p>
      <a:pPr>
        <a:defRPr sz="1000" b="0">
          <a:solidFill>
            <a:srgbClr val="5B6770"/>
          </a:solidFill>
          <a:latin typeface="Arial"/>
          <a:cs typeface="Arial"/>
        </a:defRPr>
      </a:pPr>
      <a:endParaRPr lang="fr-FR"/>
    </a:p>
  </c:txPr>
</c:chartSpace>
</file>

<file path=ppt/charts/chart31.xml><?xml version="1.0" encoding="utf-8"?>
<c:chartSpace xmlns:c="http://schemas.openxmlformats.org/drawingml/2006/chart" xmlns:a="http://schemas.openxmlformats.org/drawingml/2006/main" xmlns:r="http://schemas.openxmlformats.org/officeDocument/2006/relationships">
  <c:roundedCorners val="0"/>
  <c:chart>
    <c:autoTitleDeleted val="1"/>
    <c:plotArea>
      <c:layout/>
      <c:lineChart>
        <c:grouping val="standard"/>
        <c:varyColors val="0"/>
        <c:ser>
          <c:idx val="0"/>
          <c:order val="0"/>
          <c:tx>
            <c:strRef>
              <c:f>Sheet1!$B$1</c:f>
              <c:strCache>
                <c:ptCount val="1"/>
                <c:pt idx="0">
                  <c:v>2006/07</c:v>
                </c:pt>
              </c:strCache>
            </c:strRef>
          </c:tx>
          <c:spPr>
            <a:ln w="13970" cap="rnd">
              <a:solidFill>
                <a:srgbClr val="1F77B4"/>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Sheet1!$B$2:$B$13</c:f>
              <c:numCache>
                <c:formatCode>General</c:formatCode>
                <c:ptCount val="12"/>
                <c:pt idx="0">
                  <c:v>102.0</c:v>
                </c:pt>
                <c:pt idx="1">
                  <c:v>4.0</c:v>
                </c:pt>
                <c:pt idx="2">
                  <c:v>4.0</c:v>
                </c:pt>
                <c:pt idx="3">
                  <c:v>7.0</c:v>
                </c:pt>
                <c:pt idx="4">
                  <c:v>82.0</c:v>
                </c:pt>
                <c:pt idx="5">
                  <c:v>295.0</c:v>
                </c:pt>
                <c:pt idx="6">
                  <c:v>389.0</c:v>
                </c:pt>
                <c:pt idx="7">
                  <c:v>133.0</c:v>
                </c:pt>
                <c:pt idx="8">
                  <c:v>199.0</c:v>
                </c:pt>
                <c:pt idx="9">
                  <c:v>341.0</c:v>
                </c:pt>
                <c:pt idx="10">
                  <c:v>134.0</c:v>
                </c:pt>
                <c:pt idx="11">
                  <c:v>133.0</c:v>
                </c:pt>
              </c:numCache>
            </c:numRef>
          </c:val>
          <c:smooth val="0"/>
        </c:ser>
        <c:ser>
          <c:idx val="1"/>
          <c:order val="1"/>
          <c:tx>
            <c:strRef>
              <c:f>Sheet1!$C$1</c:f>
              <c:strCache>
                <c:ptCount val="1"/>
                <c:pt idx="0">
                  <c:v>2009/10</c:v>
                </c:pt>
              </c:strCache>
            </c:strRef>
          </c:tx>
          <c:spPr>
            <a:ln w="13970" cap="rnd">
              <a:solidFill>
                <a:srgbClr val="FF7F0E"/>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Sheet1!$C$2:$C$13</c:f>
              <c:numCache>
                <c:formatCode>General</c:formatCode>
                <c:ptCount val="12"/>
                <c:pt idx="0">
                  <c:v>34.0</c:v>
                </c:pt>
                <c:pt idx="1">
                  <c:v>75.0</c:v>
                </c:pt>
                <c:pt idx="2">
                  <c:v>51.0</c:v>
                </c:pt>
                <c:pt idx="3">
                  <c:v>116.0</c:v>
                </c:pt>
                <c:pt idx="4">
                  <c:v>153.0</c:v>
                </c:pt>
                <c:pt idx="5">
                  <c:v>266.0</c:v>
                </c:pt>
                <c:pt idx="6">
                  <c:v>226.0</c:v>
                </c:pt>
                <c:pt idx="7">
                  <c:v>272.0</c:v>
                </c:pt>
                <c:pt idx="8">
                  <c:v>314.0</c:v>
                </c:pt>
                <c:pt idx="9">
                  <c:v>99.0</c:v>
                </c:pt>
                <c:pt idx="10">
                  <c:v>147.0</c:v>
                </c:pt>
                <c:pt idx="11">
                  <c:v>218.0</c:v>
                </c:pt>
              </c:numCache>
            </c:numRef>
          </c:val>
          <c:smooth val="0"/>
        </c:ser>
        <c:ser>
          <c:idx val="2"/>
          <c:order val="2"/>
          <c:tx>
            <c:strRef>
              <c:f>Sheet1!$D$1</c:f>
              <c:strCache>
                <c:ptCount val="1"/>
                <c:pt idx="0">
                  <c:v>2015/16</c:v>
                </c:pt>
              </c:strCache>
            </c:strRef>
          </c:tx>
          <c:spPr>
            <a:ln w="13970" cap="rnd">
              <a:solidFill>
                <a:srgbClr val="2CA02C"/>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Sheet1!$D$2:$D$13</c:f>
              <c:numCache>
                <c:formatCode>General</c:formatCode>
                <c:ptCount val="12"/>
                <c:pt idx="0">
                  <c:v>76.0</c:v>
                </c:pt>
                <c:pt idx="1">
                  <c:v>21.0</c:v>
                </c:pt>
                <c:pt idx="2">
                  <c:v>34.0</c:v>
                </c:pt>
                <c:pt idx="3">
                  <c:v>3.0</c:v>
                </c:pt>
                <c:pt idx="4">
                  <c:v>72.0</c:v>
                </c:pt>
                <c:pt idx="5">
                  <c:v>326.0</c:v>
                </c:pt>
                <c:pt idx="6">
                  <c:v>318.0</c:v>
                </c:pt>
                <c:pt idx="7">
                  <c:v>320.0</c:v>
                </c:pt>
                <c:pt idx="8">
                  <c:v>350.0</c:v>
                </c:pt>
                <c:pt idx="9">
                  <c:v>213.0</c:v>
                </c:pt>
                <c:pt idx="10">
                  <c:v>166.0</c:v>
                </c:pt>
                <c:pt idx="11">
                  <c:v>111.0</c:v>
                </c:pt>
              </c:numCache>
            </c:numRef>
          </c:val>
          <c:smooth val="0"/>
        </c:ser>
        <c:ser>
          <c:idx val="3"/>
          <c:order val="3"/>
          <c:tx>
            <c:strRef>
              <c:f>Sheet1!$E$1</c:f>
              <c:strCache>
                <c:ptCount val="1"/>
                <c:pt idx="0">
                  <c:v>2018/19</c:v>
                </c:pt>
              </c:strCache>
            </c:strRef>
          </c:tx>
          <c:spPr>
            <a:ln w="13970" cap="rnd">
              <a:solidFill>
                <a:srgbClr val="9467BD"/>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Sheet1!$E$2:$E$13</c:f>
              <c:numCache>
                <c:formatCode>General</c:formatCode>
                <c:ptCount val="12"/>
                <c:pt idx="0">
                  <c:v>14.0</c:v>
                </c:pt>
                <c:pt idx="1">
                  <c:v>41.0</c:v>
                </c:pt>
                <c:pt idx="2">
                  <c:v>46.0</c:v>
                </c:pt>
                <c:pt idx="3">
                  <c:v>73.0</c:v>
                </c:pt>
                <c:pt idx="4">
                  <c:v>168.0</c:v>
                </c:pt>
                <c:pt idx="5">
                  <c:v>119.0</c:v>
                </c:pt>
                <c:pt idx="6">
                  <c:v>322.0</c:v>
                </c:pt>
                <c:pt idx="7">
                  <c:v>308.0</c:v>
                </c:pt>
                <c:pt idx="8">
                  <c:v>334.0</c:v>
                </c:pt>
                <c:pt idx="9">
                  <c:v>323.0</c:v>
                </c:pt>
                <c:pt idx="10">
                  <c:v>67.0</c:v>
                </c:pt>
                <c:pt idx="11">
                  <c:v>57.0</c:v>
                </c:pt>
              </c:numCache>
            </c:numRef>
          </c:val>
          <c:smooth val="0"/>
        </c:ser>
        <c:ser>
          <c:idx val="4"/>
          <c:order val="4"/>
          <c:tx>
            <c:strRef>
              <c:f>Sheet1!$F$1</c:f>
              <c:strCache>
                <c:ptCount val="1"/>
                <c:pt idx="0">
                  <c:v>2023/24</c:v>
                </c:pt>
              </c:strCache>
            </c:strRef>
          </c:tx>
          <c:spPr>
            <a:ln w="13970" cap="rnd">
              <a:solidFill>
                <a:srgbClr val="8C564B"/>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Sheet1!$F$2:$F$13</c:f>
              <c:numCache>
                <c:formatCode>General</c:formatCode>
                <c:ptCount val="12"/>
                <c:pt idx="0">
                  <c:v>200.0</c:v>
                </c:pt>
                <c:pt idx="1">
                  <c:v>63.0</c:v>
                </c:pt>
                <c:pt idx="2">
                  <c:v>4.0</c:v>
                </c:pt>
                <c:pt idx="3">
                  <c:v>6.0</c:v>
                </c:pt>
                <c:pt idx="4">
                  <c:v>101.0</c:v>
                </c:pt>
                <c:pt idx="5">
                  <c:v>206.0</c:v>
                </c:pt>
                <c:pt idx="6">
                  <c:v>240.0</c:v>
                </c:pt>
                <c:pt idx="7">
                  <c:v>244.0</c:v>
                </c:pt>
                <c:pt idx="8">
                  <c:v>314.0</c:v>
                </c:pt>
                <c:pt idx="9">
                  <c:v>266.0</c:v>
                </c:pt>
                <c:pt idx="10">
                  <c:v>172.0</c:v>
                </c:pt>
                <c:pt idx="11">
                  <c:v>122.0</c:v>
                </c:pt>
              </c:numCache>
            </c:numRef>
          </c:val>
          <c:smooth val="0"/>
        </c:ser>
        <c:ser>
          <c:idx val="5"/>
          <c:order val="5"/>
          <c:tx>
            <c:strRef>
              <c:f>Sheet1!$G$1</c:f>
              <c:strCache>
                <c:ptCount val="1"/>
                <c:pt idx="0">
                  <c:v>2026/27</c:v>
                </c:pt>
              </c:strCache>
            </c:strRef>
          </c:tx>
          <c:spPr>
            <a:ln w="31750" cap="rnd">
              <a:solidFill>
                <a:srgbClr val="C00000"/>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Sheet1!$G$2:$G$13</c:f>
              <c:numCache>
                <c:formatCode>General</c:formatCode>
                <c:ptCount val="12"/>
                <c:pt idx="0">
                  <c:v>9.0</c:v>
                </c:pt>
                <c:pt idx="1">
                  <c:v>5.0</c:v>
                </c:pt>
              </c:numCache>
            </c:numRef>
          </c:val>
          <c:smooth val="0"/>
        </c:ser>
        <c:ser>
          <c:idx val="6"/>
          <c:order val="6"/>
          <c:tx>
            <c:strRef>
              <c:f>Sheet1!$H$1</c:f>
              <c:strCache>
                <c:ptCount val="1"/>
                <c:pt idx="0">
                  <c:v>Average</c:v>
                </c:pt>
              </c:strCache>
            </c:strRef>
          </c:tx>
          <c:spPr>
            <a:ln w="28575" cap="rnd">
              <a:solidFill>
                <a:srgbClr val="000000"/>
              </a:solidFill>
              <a:prstDash val="dash"/>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Sheet1!$H$2:$H$13</c:f>
              <c:numCache>
                <c:formatCode>General</c:formatCode>
                <c:ptCount val="12"/>
                <c:pt idx="0">
                  <c:v>85.0</c:v>
                </c:pt>
                <c:pt idx="1">
                  <c:v>41.0</c:v>
                </c:pt>
                <c:pt idx="2">
                  <c:v>28.0</c:v>
                </c:pt>
                <c:pt idx="3">
                  <c:v>41.0</c:v>
                </c:pt>
                <c:pt idx="4">
                  <c:v>115.0</c:v>
                </c:pt>
                <c:pt idx="5">
                  <c:v>242.0</c:v>
                </c:pt>
                <c:pt idx="6">
                  <c:v>299.0</c:v>
                </c:pt>
                <c:pt idx="7">
                  <c:v>255.0</c:v>
                </c:pt>
                <c:pt idx="8">
                  <c:v>302.0</c:v>
                </c:pt>
                <c:pt idx="9">
                  <c:v>248.0</c:v>
                </c:pt>
                <c:pt idx="10">
                  <c:v>137.0</c:v>
                </c:pt>
                <c:pt idx="11">
                  <c:v>128.0</c:v>
                </c:pt>
              </c:numCache>
            </c:numRef>
          </c:val>
          <c:smooth val="0"/>
        </c:ser>
        <c:marker val="1"/>
        <c:axId val="60010"/>
        <c:axId val="60020"/>
      </c:lineChart>
      <c:catAx>
        <c:axId val="60010"/>
        <c:scaling>
          <c:orientation val="minMax"/>
        </c:scaling>
        <c:delete val="0"/>
        <c:axPos val="b"/>
        <c:numFmt formatCode="General" sourceLinked="0"/>
        <c:majorTickMark val="none"/>
        <c:minorTickMark val="none"/>
        <c:tickLblPos val="low"/>
        <c:spPr>
          <a:ln w="9525">
            <a:solidFill>
              <a:srgbClr val="B7C0C5"/>
            </a:solidFill>
          </a:ln>
        </c:spPr>
        <c:txPr>
          <a:bodyPr/>
          <a:lstStyle/>
          <a:p>
            <a:pPr>
              <a:defRPr sz="800" b="0">
                <a:solidFill>
                  <a:srgbClr val="5B6770"/>
                </a:solidFill>
                <a:latin typeface="Arial"/>
                <a:cs typeface="Arial"/>
              </a:defRPr>
            </a:pPr>
            <a:endParaRPr lang="fr-FR"/>
          </a:p>
        </c:txPr>
        <c:crossAx val="60020"/>
        <c:crosses val="autoZero"/>
        <c:auto val="1"/>
        <c:lblAlgn val="ctr"/>
        <c:lblOffset val="100"/>
        <c:noMultiLvlLbl val="0"/>
      </c:catAx>
      <c:valAx>
        <c:axId val="60020"/>
        <c:scaling>
          <c:orientation val="minMax"/>
          <c:max val="600"/>
          <c:min val="0"/>
        </c:scaling>
        <c:delete val="0"/>
        <c:axPos val="l"/>
        <c:majorGridlines>
          <c:spPr>
            <a:ln w="6350">
              <a:solidFill>
                <a:srgbClr val="E3E8EB"/>
              </a:solidFill>
            </a:ln>
          </c:spPr>
        </c:majorGridlines>
        <c:numFmt formatCode="0" sourceLinked="0"/>
        <c:majorTickMark val="none"/>
        <c:minorTickMark val="none"/>
        <c:tickLblPos val="low"/>
        <c:spPr>
          <a:ln w="6350">
            <a:solidFill>
              <a:srgbClr val="FFFFFF"/>
            </a:solidFill>
          </a:ln>
        </c:spPr>
        <c:txPr>
          <a:bodyPr/>
          <a:lstStyle/>
          <a:p>
            <a:pPr>
              <a:defRPr sz="800" b="0">
                <a:solidFill>
                  <a:srgbClr val="5B6770"/>
                </a:solidFill>
                <a:latin typeface="Arial"/>
                <a:cs typeface="Arial"/>
              </a:defRPr>
            </a:pPr>
            <a:endParaRPr lang="fr-FR"/>
          </a:p>
        </c:txPr>
        <c:crossAx val="60010"/>
        <c:crosses val="autoZero"/>
        <c:crossBetween val="between"/>
        <c:majorUnit val="100"/>
      </c:valAx>
    </c:plotArea>
    <c:legend>
      <c:legendPos val="b"/>
      <c:overlay val="0"/>
      <c:txPr>
        <a:bodyPr/>
        <a:lstStyle/>
        <a:p>
          <a:pPr>
            <a:defRPr sz="700" b="0">
              <a:solidFill>
                <a:srgbClr val="1F2A30"/>
              </a:solidFill>
              <a:latin typeface="Arial"/>
              <a:cs typeface="Arial"/>
            </a:defRPr>
          </a:pPr>
          <a:endParaRPr lang="fr-FR"/>
        </a:p>
      </c:txPr>
    </c:legend>
    <c:plotVisOnly val="1"/>
    <c:dispBlanksAs val="gap"/>
  </c:chart>
  <c:spPr>
    <a:noFill/>
    <a:ln>
      <a:noFill/>
    </a:ln>
  </c:spPr>
  <c:txPr>
    <a:bodyPr/>
    <a:lstStyle/>
    <a:p>
      <a:pPr>
        <a:defRPr sz="1000" b="0">
          <a:solidFill>
            <a:srgbClr val="5B6770"/>
          </a:solidFill>
          <a:latin typeface="Arial"/>
          <a:cs typeface="Arial"/>
        </a:defRPr>
      </a:pPr>
      <a:endParaRPr lang="fr-FR"/>
    </a:p>
  </c:txPr>
</c:chartSpace>
</file>

<file path=ppt/charts/chart32.xml><?xml version="1.0" encoding="utf-8"?>
<c:chartSpace xmlns:c="http://schemas.openxmlformats.org/drawingml/2006/chart" xmlns:a="http://schemas.openxmlformats.org/drawingml/2006/main" xmlns:r="http://schemas.openxmlformats.org/officeDocument/2006/relationships">
  <c:roundedCorners val="0"/>
  <c:chart>
    <c:autoTitleDeleted val="1"/>
    <c:plotArea>
      <c:layout/>
      <c:lineChart>
        <c:grouping val="standard"/>
        <c:varyColors val="0"/>
        <c:ser>
          <c:idx val="0"/>
          <c:order val="0"/>
          <c:tx>
            <c:strRef>
              <c:f>Sheet1!$B$1</c:f>
              <c:strCache>
                <c:ptCount val="1"/>
                <c:pt idx="0">
                  <c:v>2007/08</c:v>
                </c:pt>
              </c:strCache>
            </c:strRef>
          </c:tx>
          <c:spPr>
            <a:ln w="13970" cap="rnd">
              <a:solidFill>
                <a:srgbClr val="1F77B4"/>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Sheet1!$B$2:$B$13</c:f>
              <c:numCache>
                <c:formatCode>General</c:formatCode>
                <c:ptCount val="12"/>
                <c:pt idx="0">
                  <c:v>23.33</c:v>
                </c:pt>
                <c:pt idx="1">
                  <c:v>23.34</c:v>
                </c:pt>
                <c:pt idx="2">
                  <c:v>24.21</c:v>
                </c:pt>
                <c:pt idx="3">
                  <c:v>25.25</c:v>
                </c:pt>
                <c:pt idx="4">
                  <c:v>24.62</c:v>
                </c:pt>
                <c:pt idx="5">
                  <c:v>24.03</c:v>
                </c:pt>
                <c:pt idx="6">
                  <c:v>23.72</c:v>
                </c:pt>
                <c:pt idx="7">
                  <c:v>23.06</c:v>
                </c:pt>
                <c:pt idx="8">
                  <c:v>23.53</c:v>
                </c:pt>
                <c:pt idx="9">
                  <c:v>23.92</c:v>
                </c:pt>
                <c:pt idx="10">
                  <c:v>23.56</c:v>
                </c:pt>
                <c:pt idx="11">
                  <c:v>23.52</c:v>
                </c:pt>
              </c:numCache>
            </c:numRef>
          </c:val>
          <c:smooth val="0"/>
        </c:ser>
        <c:ser>
          <c:idx val="1"/>
          <c:order val="1"/>
          <c:tx>
            <c:strRef>
              <c:f>Sheet1!$C$1</c:f>
              <c:strCache>
                <c:ptCount val="1"/>
                <c:pt idx="0">
                  <c:v>2010/11</c:v>
                </c:pt>
              </c:strCache>
            </c:strRef>
          </c:tx>
          <c:spPr>
            <a:ln w="13970" cap="rnd">
              <a:solidFill>
                <a:srgbClr val="FF7F0E"/>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Sheet1!$C$2:$C$13</c:f>
              <c:numCache>
                <c:formatCode>General</c:formatCode>
                <c:ptCount val="12"/>
                <c:pt idx="0">
                  <c:v>23.53</c:v>
                </c:pt>
                <c:pt idx="1">
                  <c:v>23.62</c:v>
                </c:pt>
                <c:pt idx="2">
                  <c:v>23.99</c:v>
                </c:pt>
                <c:pt idx="3">
                  <c:v>23.32</c:v>
                </c:pt>
                <c:pt idx="4">
                  <c:v>23.36</c:v>
                </c:pt>
                <c:pt idx="5">
                  <c:v>22.59</c:v>
                </c:pt>
                <c:pt idx="6">
                  <c:v>22.99</c:v>
                </c:pt>
                <c:pt idx="7">
                  <c:v>23.51</c:v>
                </c:pt>
                <c:pt idx="8">
                  <c:v>23.15</c:v>
                </c:pt>
                <c:pt idx="9">
                  <c:v>23.81</c:v>
                </c:pt>
                <c:pt idx="10">
                  <c:v>23.97</c:v>
                </c:pt>
                <c:pt idx="11">
                  <c:v>23.68</c:v>
                </c:pt>
              </c:numCache>
            </c:numRef>
          </c:val>
          <c:smooth val="0"/>
        </c:ser>
        <c:ser>
          <c:idx val="2"/>
          <c:order val="2"/>
          <c:tx>
            <c:strRef>
              <c:f>Sheet1!$D$1</c:f>
              <c:strCache>
                <c:ptCount val="1"/>
                <c:pt idx="0">
                  <c:v>2011/12</c:v>
                </c:pt>
              </c:strCache>
            </c:strRef>
          </c:tx>
          <c:spPr>
            <a:ln w="13970" cap="rnd">
              <a:solidFill>
                <a:srgbClr val="2CA02C"/>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Sheet1!$D$2:$D$13</c:f>
              <c:numCache>
                <c:formatCode>General</c:formatCode>
                <c:ptCount val="12"/>
                <c:pt idx="0">
                  <c:v>23.53</c:v>
                </c:pt>
                <c:pt idx="1">
                  <c:v>24.22</c:v>
                </c:pt>
                <c:pt idx="2">
                  <c:v>25.22</c:v>
                </c:pt>
                <c:pt idx="3">
                  <c:v>25.05</c:v>
                </c:pt>
                <c:pt idx="4">
                  <c:v>24.65</c:v>
                </c:pt>
                <c:pt idx="5">
                  <c:v>24.05</c:v>
                </c:pt>
                <c:pt idx="6">
                  <c:v>23.33</c:v>
                </c:pt>
                <c:pt idx="7">
                  <c:v>23.85</c:v>
                </c:pt>
                <c:pt idx="8">
                  <c:v>23.43</c:v>
                </c:pt>
                <c:pt idx="9">
                  <c:v>23.85</c:v>
                </c:pt>
                <c:pt idx="10">
                  <c:v>24.19</c:v>
                </c:pt>
                <c:pt idx="11">
                  <c:v>23.79</c:v>
                </c:pt>
              </c:numCache>
            </c:numRef>
          </c:val>
          <c:smooth val="0"/>
        </c:ser>
        <c:ser>
          <c:idx val="3"/>
          <c:order val="3"/>
          <c:tx>
            <c:strRef>
              <c:f>Sheet1!$E$1</c:f>
              <c:strCache>
                <c:ptCount val="1"/>
                <c:pt idx="0">
                  <c:v>2020/21</c:v>
                </c:pt>
              </c:strCache>
            </c:strRef>
          </c:tx>
          <c:spPr>
            <a:ln w="13970" cap="rnd">
              <a:solidFill>
                <a:srgbClr val="9467BD"/>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Sheet1!$E$2:$E$13</c:f>
              <c:numCache>
                <c:formatCode>General</c:formatCode>
                <c:ptCount val="12"/>
                <c:pt idx="0">
                  <c:v>23.54</c:v>
                </c:pt>
                <c:pt idx="1">
                  <c:v>23.84</c:v>
                </c:pt>
                <c:pt idx="2">
                  <c:v>24.05</c:v>
                </c:pt>
                <c:pt idx="3">
                  <c:v>24.05</c:v>
                </c:pt>
                <c:pt idx="4">
                  <c:v>24.38</c:v>
                </c:pt>
                <c:pt idx="5">
                  <c:v>23.54</c:v>
                </c:pt>
                <c:pt idx="6">
                  <c:v>23.63</c:v>
                </c:pt>
                <c:pt idx="7">
                  <c:v>23.87</c:v>
                </c:pt>
                <c:pt idx="8">
                  <c:v>23.78</c:v>
                </c:pt>
                <c:pt idx="9">
                  <c:v>24.0</c:v>
                </c:pt>
                <c:pt idx="10">
                  <c:v>24.65</c:v>
                </c:pt>
                <c:pt idx="11">
                  <c:v>23.79</c:v>
                </c:pt>
              </c:numCache>
            </c:numRef>
          </c:val>
          <c:smooth val="0"/>
        </c:ser>
        <c:ser>
          <c:idx val="4"/>
          <c:order val="4"/>
          <c:tx>
            <c:strRef>
              <c:f>Sheet1!$F$1</c:f>
              <c:strCache>
                <c:ptCount val="1"/>
                <c:pt idx="0">
                  <c:v>2021/22</c:v>
                </c:pt>
              </c:strCache>
            </c:strRef>
          </c:tx>
          <c:spPr>
            <a:ln w="13970" cap="rnd">
              <a:solidFill>
                <a:srgbClr val="8C564B"/>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Sheet1!$F$2:$F$13</c:f>
              <c:numCache>
                <c:formatCode>General</c:formatCode>
                <c:ptCount val="12"/>
                <c:pt idx="0">
                  <c:v>23.62</c:v>
                </c:pt>
                <c:pt idx="1">
                  <c:v>24.22</c:v>
                </c:pt>
                <c:pt idx="2">
                  <c:v>24.37</c:v>
                </c:pt>
                <c:pt idx="3">
                  <c:v>24.77</c:v>
                </c:pt>
                <c:pt idx="4">
                  <c:v>23.73</c:v>
                </c:pt>
                <c:pt idx="5">
                  <c:v>23.94</c:v>
                </c:pt>
                <c:pt idx="6">
                  <c:v>23.81</c:v>
                </c:pt>
                <c:pt idx="7">
                  <c:v>23.51</c:v>
                </c:pt>
                <c:pt idx="8">
                  <c:v>24.04</c:v>
                </c:pt>
                <c:pt idx="9">
                  <c:v>24.18</c:v>
                </c:pt>
                <c:pt idx="10">
                  <c:v>24.37</c:v>
                </c:pt>
                <c:pt idx="11">
                  <c:v>23.5</c:v>
                </c:pt>
              </c:numCache>
            </c:numRef>
          </c:val>
          <c:smooth val="0"/>
        </c:ser>
        <c:ser>
          <c:idx val="5"/>
          <c:order val="5"/>
          <c:tx>
            <c:strRef>
              <c:f>Sheet1!$G$1</c:f>
              <c:strCache>
                <c:ptCount val="1"/>
                <c:pt idx="0">
                  <c:v>2022/23</c:v>
                </c:pt>
              </c:strCache>
            </c:strRef>
          </c:tx>
          <c:spPr>
            <a:ln w="13970" cap="rnd">
              <a:solidFill>
                <a:srgbClr val="E377C2"/>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Sheet1!$G$2:$G$13</c:f>
              <c:numCache>
                <c:formatCode>General</c:formatCode>
                <c:ptCount val="12"/>
                <c:pt idx="0">
                  <c:v>23.8</c:v>
                </c:pt>
                <c:pt idx="1">
                  <c:v>24.0</c:v>
                </c:pt>
                <c:pt idx="2">
                  <c:v>23.79</c:v>
                </c:pt>
                <c:pt idx="3">
                  <c:v>23.76</c:v>
                </c:pt>
                <c:pt idx="4">
                  <c:v>23.94</c:v>
                </c:pt>
                <c:pt idx="5">
                  <c:v>23.73</c:v>
                </c:pt>
                <c:pt idx="6">
                  <c:v>23.4</c:v>
                </c:pt>
                <c:pt idx="7">
                  <c:v>23.42</c:v>
                </c:pt>
                <c:pt idx="8">
                  <c:v>23.94</c:v>
                </c:pt>
                <c:pt idx="9">
                  <c:v>24.28</c:v>
                </c:pt>
                <c:pt idx="10">
                  <c:v>24.7</c:v>
                </c:pt>
                <c:pt idx="11">
                  <c:v>24.32</c:v>
                </c:pt>
              </c:numCache>
            </c:numRef>
          </c:val>
          <c:smooth val="0"/>
        </c:ser>
        <c:ser>
          <c:idx val="6"/>
          <c:order val="6"/>
          <c:tx>
            <c:strRef>
              <c:f>Sheet1!$H$1</c:f>
              <c:strCache>
                <c:ptCount val="1"/>
                <c:pt idx="0">
                  <c:v>Average</c:v>
                </c:pt>
              </c:strCache>
            </c:strRef>
          </c:tx>
          <c:spPr>
            <a:ln w="28575" cap="rnd">
              <a:solidFill>
                <a:srgbClr val="000000"/>
              </a:solidFill>
              <a:prstDash val="dash"/>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Sheet1!$H$2:$H$13</c:f>
              <c:numCache>
                <c:formatCode>General</c:formatCode>
                <c:ptCount val="12"/>
                <c:pt idx="0">
                  <c:v>23.56</c:v>
                </c:pt>
                <c:pt idx="1">
                  <c:v>23.87</c:v>
                </c:pt>
                <c:pt idx="2">
                  <c:v>24.27</c:v>
                </c:pt>
                <c:pt idx="3">
                  <c:v>24.37</c:v>
                </c:pt>
                <c:pt idx="4">
                  <c:v>24.11</c:v>
                </c:pt>
                <c:pt idx="5">
                  <c:v>23.65</c:v>
                </c:pt>
                <c:pt idx="6">
                  <c:v>23.48</c:v>
                </c:pt>
                <c:pt idx="7">
                  <c:v>23.54</c:v>
                </c:pt>
                <c:pt idx="8">
                  <c:v>23.64</c:v>
                </c:pt>
                <c:pt idx="9">
                  <c:v>24.01</c:v>
                </c:pt>
                <c:pt idx="10">
                  <c:v>24.24</c:v>
                </c:pt>
                <c:pt idx="11">
                  <c:v>23.77</c:v>
                </c:pt>
              </c:numCache>
            </c:numRef>
          </c:val>
          <c:smooth val="0"/>
        </c:ser>
        <c:marker val="1"/>
        <c:axId val="60010"/>
        <c:axId val="60020"/>
      </c:lineChart>
      <c:catAx>
        <c:axId val="60010"/>
        <c:scaling>
          <c:orientation val="minMax"/>
        </c:scaling>
        <c:delete val="0"/>
        <c:axPos val="b"/>
        <c:numFmt formatCode="General" sourceLinked="0"/>
        <c:majorTickMark val="none"/>
        <c:minorTickMark val="none"/>
        <c:tickLblPos val="low"/>
        <c:spPr>
          <a:ln w="9525">
            <a:solidFill>
              <a:srgbClr val="B7C0C5"/>
            </a:solidFill>
          </a:ln>
        </c:spPr>
        <c:txPr>
          <a:bodyPr/>
          <a:lstStyle/>
          <a:p>
            <a:pPr>
              <a:defRPr sz="800" b="0">
                <a:solidFill>
                  <a:srgbClr val="5B6770"/>
                </a:solidFill>
                <a:latin typeface="Arial"/>
                <a:cs typeface="Arial"/>
              </a:defRPr>
            </a:pPr>
            <a:endParaRPr lang="fr-FR"/>
          </a:p>
        </c:txPr>
        <c:crossAx val="60020"/>
        <c:crosses val="autoZero"/>
        <c:auto val="1"/>
        <c:lblAlgn val="ctr"/>
        <c:lblOffset val="100"/>
        <c:noMultiLvlLbl val="0"/>
      </c:catAx>
      <c:valAx>
        <c:axId val="60020"/>
        <c:scaling>
          <c:orientation val="minMax"/>
          <c:max val="27.0"/>
          <c:min val="22.5"/>
        </c:scaling>
        <c:delete val="0"/>
        <c:axPos val="l"/>
        <c:majorGridlines>
          <c:spPr>
            <a:ln w="6350">
              <a:solidFill>
                <a:srgbClr val="E3E8EB"/>
              </a:solidFill>
            </a:ln>
          </c:spPr>
        </c:majorGridlines>
        <c:numFmt formatCode="0.0" sourceLinked="0"/>
        <c:majorTickMark val="none"/>
        <c:minorTickMark val="none"/>
        <c:tickLblPos val="low"/>
        <c:spPr>
          <a:ln w="6350">
            <a:solidFill>
              <a:srgbClr val="FFFFFF"/>
            </a:solidFill>
          </a:ln>
        </c:spPr>
        <c:txPr>
          <a:bodyPr/>
          <a:lstStyle/>
          <a:p>
            <a:pPr>
              <a:defRPr sz="800" b="0">
                <a:solidFill>
                  <a:srgbClr val="5B6770"/>
                </a:solidFill>
                <a:latin typeface="Arial"/>
                <a:cs typeface="Arial"/>
              </a:defRPr>
            </a:pPr>
            <a:endParaRPr lang="fr-FR"/>
          </a:p>
        </c:txPr>
        <c:crossAx val="60010"/>
        <c:crosses val="autoZero"/>
        <c:crossBetween val="between"/>
        <c:majorUnit val="0.5"/>
      </c:valAx>
    </c:plotArea>
    <c:plotVisOnly val="1"/>
    <c:dispBlanksAs val="gap"/>
  </c:chart>
  <c:spPr>
    <a:noFill/>
    <a:ln>
      <a:noFill/>
    </a:ln>
  </c:spPr>
  <c:txPr>
    <a:bodyPr/>
    <a:lstStyle/>
    <a:p>
      <a:pPr>
        <a:defRPr sz="1000" b="0">
          <a:solidFill>
            <a:srgbClr val="5B6770"/>
          </a:solidFill>
          <a:latin typeface="Arial"/>
          <a:cs typeface="Arial"/>
        </a:defRPr>
      </a:pPr>
      <a:endParaRPr lang="fr-FR"/>
    </a:p>
  </c:txPr>
</c:chartSpace>
</file>

<file path=ppt/charts/chart33.xml><?xml version="1.0" encoding="utf-8"?>
<c:chartSpace xmlns:c="http://schemas.openxmlformats.org/drawingml/2006/chart" xmlns:a="http://schemas.openxmlformats.org/drawingml/2006/main" xmlns:r="http://schemas.openxmlformats.org/officeDocument/2006/relationships">
  <c:roundedCorners val="0"/>
  <c:chart>
    <c:autoTitleDeleted val="1"/>
    <c:plotArea>
      <c:layout/>
      <c:lineChart>
        <c:grouping val="standard"/>
        <c:varyColors val="0"/>
        <c:ser>
          <c:idx val="0"/>
          <c:order val="0"/>
          <c:tx>
            <c:strRef>
              <c:f>Sheet1!$B$1</c:f>
              <c:strCache>
                <c:ptCount val="1"/>
                <c:pt idx="0">
                  <c:v>2007/08</c:v>
                </c:pt>
              </c:strCache>
            </c:strRef>
          </c:tx>
          <c:spPr>
            <a:ln w="13970" cap="rnd">
              <a:solidFill>
                <a:srgbClr val="1F77B4"/>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Sheet1!$B$2:$B$13</c:f>
              <c:numCache>
                <c:formatCode>General</c:formatCode>
                <c:ptCount val="12"/>
                <c:pt idx="0">
                  <c:v>103.0</c:v>
                </c:pt>
                <c:pt idx="1">
                  <c:v>22.0</c:v>
                </c:pt>
                <c:pt idx="2">
                  <c:v>41.0</c:v>
                </c:pt>
                <c:pt idx="3">
                  <c:v>77.0</c:v>
                </c:pt>
                <c:pt idx="4">
                  <c:v>150.0</c:v>
                </c:pt>
                <c:pt idx="5">
                  <c:v>382.0</c:v>
                </c:pt>
                <c:pt idx="6">
                  <c:v>172.0</c:v>
                </c:pt>
                <c:pt idx="7">
                  <c:v>182.0</c:v>
                </c:pt>
                <c:pt idx="8">
                  <c:v>216.0</c:v>
                </c:pt>
                <c:pt idx="9">
                  <c:v>247.0</c:v>
                </c:pt>
                <c:pt idx="10">
                  <c:v>51.0</c:v>
                </c:pt>
                <c:pt idx="11">
                  <c:v>55.0</c:v>
                </c:pt>
              </c:numCache>
            </c:numRef>
          </c:val>
          <c:smooth val="0"/>
        </c:ser>
        <c:ser>
          <c:idx val="1"/>
          <c:order val="1"/>
          <c:tx>
            <c:strRef>
              <c:f>Sheet1!$C$1</c:f>
              <c:strCache>
                <c:ptCount val="1"/>
                <c:pt idx="0">
                  <c:v>2010/11</c:v>
                </c:pt>
              </c:strCache>
            </c:strRef>
          </c:tx>
          <c:spPr>
            <a:ln w="13970" cap="rnd">
              <a:solidFill>
                <a:srgbClr val="FF7F0E"/>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Sheet1!$C$2:$C$13</c:f>
              <c:numCache>
                <c:formatCode>General</c:formatCode>
                <c:ptCount val="12"/>
                <c:pt idx="0">
                  <c:v>202.0</c:v>
                </c:pt>
                <c:pt idx="1">
                  <c:v>135.0</c:v>
                </c:pt>
                <c:pt idx="2">
                  <c:v>255.0</c:v>
                </c:pt>
                <c:pt idx="3">
                  <c:v>177.0</c:v>
                </c:pt>
                <c:pt idx="4">
                  <c:v>259.0</c:v>
                </c:pt>
                <c:pt idx="5">
                  <c:v>297.0</c:v>
                </c:pt>
                <c:pt idx="6">
                  <c:v>398.0</c:v>
                </c:pt>
                <c:pt idx="7">
                  <c:v>144.0</c:v>
                </c:pt>
                <c:pt idx="8">
                  <c:v>194.0</c:v>
                </c:pt>
                <c:pt idx="9">
                  <c:v>198.0</c:v>
                </c:pt>
                <c:pt idx="10">
                  <c:v>133.0</c:v>
                </c:pt>
                <c:pt idx="11">
                  <c:v>96.0</c:v>
                </c:pt>
              </c:numCache>
            </c:numRef>
          </c:val>
          <c:smooth val="0"/>
        </c:ser>
        <c:ser>
          <c:idx val="2"/>
          <c:order val="2"/>
          <c:tx>
            <c:strRef>
              <c:f>Sheet1!$D$1</c:f>
              <c:strCache>
                <c:ptCount val="1"/>
                <c:pt idx="0">
                  <c:v>2011/12</c:v>
                </c:pt>
              </c:strCache>
            </c:strRef>
          </c:tx>
          <c:spPr>
            <a:ln w="13970" cap="rnd">
              <a:solidFill>
                <a:srgbClr val="2CA02C"/>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Sheet1!$D$2:$D$13</c:f>
              <c:numCache>
                <c:formatCode>General</c:formatCode>
                <c:ptCount val="12"/>
                <c:pt idx="0">
                  <c:v>71.0</c:v>
                </c:pt>
                <c:pt idx="1">
                  <c:v>16.0</c:v>
                </c:pt>
                <c:pt idx="2">
                  <c:v>6.0</c:v>
                </c:pt>
                <c:pt idx="3">
                  <c:v>135.0</c:v>
                </c:pt>
                <c:pt idx="4">
                  <c:v>160.0</c:v>
                </c:pt>
                <c:pt idx="5">
                  <c:v>183.0</c:v>
                </c:pt>
                <c:pt idx="6">
                  <c:v>241.0</c:v>
                </c:pt>
                <c:pt idx="7">
                  <c:v>188.0</c:v>
                </c:pt>
                <c:pt idx="8">
                  <c:v>156.0</c:v>
                </c:pt>
                <c:pt idx="9">
                  <c:v>235.0</c:v>
                </c:pt>
                <c:pt idx="10">
                  <c:v>126.0</c:v>
                </c:pt>
                <c:pt idx="11">
                  <c:v>58.0</c:v>
                </c:pt>
              </c:numCache>
            </c:numRef>
          </c:val>
          <c:smooth val="0"/>
        </c:ser>
        <c:ser>
          <c:idx val="3"/>
          <c:order val="3"/>
          <c:tx>
            <c:strRef>
              <c:f>Sheet1!$E$1</c:f>
              <c:strCache>
                <c:ptCount val="1"/>
                <c:pt idx="0">
                  <c:v>2020/21</c:v>
                </c:pt>
              </c:strCache>
            </c:strRef>
          </c:tx>
          <c:spPr>
            <a:ln w="13970" cap="rnd">
              <a:solidFill>
                <a:srgbClr val="9467BD"/>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Sheet1!$E$2:$E$13</c:f>
              <c:numCache>
                <c:formatCode>General</c:formatCode>
                <c:ptCount val="12"/>
                <c:pt idx="0">
                  <c:v>146.0</c:v>
                </c:pt>
                <c:pt idx="1">
                  <c:v>131.0</c:v>
                </c:pt>
                <c:pt idx="2">
                  <c:v>102.0</c:v>
                </c:pt>
                <c:pt idx="3">
                  <c:v>121.0</c:v>
                </c:pt>
                <c:pt idx="4">
                  <c:v>131.0</c:v>
                </c:pt>
                <c:pt idx="5">
                  <c:v>290.0</c:v>
                </c:pt>
                <c:pt idx="6">
                  <c:v>323.0</c:v>
                </c:pt>
                <c:pt idx="7">
                  <c:v>266.0</c:v>
                </c:pt>
                <c:pt idx="8">
                  <c:v>168.0</c:v>
                </c:pt>
                <c:pt idx="9">
                  <c:v>229.0</c:v>
                </c:pt>
                <c:pt idx="10">
                  <c:v>88.0</c:v>
                </c:pt>
                <c:pt idx="11">
                  <c:v>77.0</c:v>
                </c:pt>
              </c:numCache>
            </c:numRef>
          </c:val>
          <c:smooth val="0"/>
        </c:ser>
        <c:ser>
          <c:idx val="4"/>
          <c:order val="4"/>
          <c:tx>
            <c:strRef>
              <c:f>Sheet1!$F$1</c:f>
              <c:strCache>
                <c:ptCount val="1"/>
                <c:pt idx="0">
                  <c:v>2021/22</c:v>
                </c:pt>
              </c:strCache>
            </c:strRef>
          </c:tx>
          <c:spPr>
            <a:ln w="13970" cap="rnd">
              <a:solidFill>
                <a:srgbClr val="8C564B"/>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Sheet1!$F$2:$F$13</c:f>
              <c:numCache>
                <c:formatCode>General</c:formatCode>
                <c:ptCount val="12"/>
                <c:pt idx="0">
                  <c:v>54.0</c:v>
                </c:pt>
                <c:pt idx="1">
                  <c:v>120.0</c:v>
                </c:pt>
                <c:pt idx="2">
                  <c:v>161.0</c:v>
                </c:pt>
                <c:pt idx="3">
                  <c:v>146.0</c:v>
                </c:pt>
                <c:pt idx="4">
                  <c:v>367.0</c:v>
                </c:pt>
                <c:pt idx="5">
                  <c:v>257.0</c:v>
                </c:pt>
                <c:pt idx="6">
                  <c:v>316.0</c:v>
                </c:pt>
                <c:pt idx="7">
                  <c:v>194.0</c:v>
                </c:pt>
                <c:pt idx="8">
                  <c:v>122.0</c:v>
                </c:pt>
                <c:pt idx="9">
                  <c:v>177.0</c:v>
                </c:pt>
                <c:pt idx="10">
                  <c:v>195.0</c:v>
                </c:pt>
                <c:pt idx="11">
                  <c:v>130.0</c:v>
                </c:pt>
              </c:numCache>
            </c:numRef>
          </c:val>
          <c:smooth val="0"/>
        </c:ser>
        <c:ser>
          <c:idx val="5"/>
          <c:order val="5"/>
          <c:tx>
            <c:strRef>
              <c:f>Sheet1!$G$1</c:f>
              <c:strCache>
                <c:ptCount val="1"/>
                <c:pt idx="0">
                  <c:v>2022/23</c:v>
                </c:pt>
              </c:strCache>
            </c:strRef>
          </c:tx>
          <c:spPr>
            <a:ln w="13970" cap="rnd">
              <a:solidFill>
                <a:srgbClr val="E377C2"/>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Sheet1!$G$2:$G$13</c:f>
              <c:numCache>
                <c:formatCode>General</c:formatCode>
                <c:ptCount val="12"/>
                <c:pt idx="0">
                  <c:v>82.0</c:v>
                </c:pt>
                <c:pt idx="1">
                  <c:v>155.0</c:v>
                </c:pt>
                <c:pt idx="2">
                  <c:v>81.0</c:v>
                </c:pt>
                <c:pt idx="3">
                  <c:v>192.0</c:v>
                </c:pt>
                <c:pt idx="4">
                  <c:v>132.0</c:v>
                </c:pt>
                <c:pt idx="5">
                  <c:v>228.0</c:v>
                </c:pt>
                <c:pt idx="6">
                  <c:v>342.0</c:v>
                </c:pt>
                <c:pt idx="7">
                  <c:v>165.0</c:v>
                </c:pt>
                <c:pt idx="8">
                  <c:v>296.0</c:v>
                </c:pt>
                <c:pt idx="9">
                  <c:v>116.0</c:v>
                </c:pt>
                <c:pt idx="10">
                  <c:v>160.0</c:v>
                </c:pt>
                <c:pt idx="11">
                  <c:v>130.0</c:v>
                </c:pt>
              </c:numCache>
            </c:numRef>
          </c:val>
          <c:smooth val="0"/>
        </c:ser>
        <c:ser>
          <c:idx val="6"/>
          <c:order val="6"/>
          <c:tx>
            <c:strRef>
              <c:f>Sheet1!$H$1</c:f>
              <c:strCache>
                <c:ptCount val="1"/>
                <c:pt idx="0">
                  <c:v>Average</c:v>
                </c:pt>
              </c:strCache>
            </c:strRef>
          </c:tx>
          <c:spPr>
            <a:ln w="28575" cap="rnd">
              <a:solidFill>
                <a:srgbClr val="000000"/>
              </a:solidFill>
              <a:prstDash val="dash"/>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Sheet1!$H$2:$H$13</c:f>
              <c:numCache>
                <c:formatCode>General</c:formatCode>
                <c:ptCount val="12"/>
                <c:pt idx="0">
                  <c:v>110.0</c:v>
                </c:pt>
                <c:pt idx="1">
                  <c:v>96.0</c:v>
                </c:pt>
                <c:pt idx="2">
                  <c:v>108.0</c:v>
                </c:pt>
                <c:pt idx="3">
                  <c:v>141.0</c:v>
                </c:pt>
                <c:pt idx="4">
                  <c:v>200.0</c:v>
                </c:pt>
                <c:pt idx="5">
                  <c:v>273.0</c:v>
                </c:pt>
                <c:pt idx="6">
                  <c:v>299.0</c:v>
                </c:pt>
                <c:pt idx="7">
                  <c:v>190.0</c:v>
                </c:pt>
                <c:pt idx="8">
                  <c:v>192.0</c:v>
                </c:pt>
                <c:pt idx="9">
                  <c:v>200.0</c:v>
                </c:pt>
                <c:pt idx="10">
                  <c:v>126.0</c:v>
                </c:pt>
                <c:pt idx="11">
                  <c:v>91.0</c:v>
                </c:pt>
              </c:numCache>
            </c:numRef>
          </c:val>
          <c:smooth val="0"/>
        </c:ser>
        <c:marker val="1"/>
        <c:axId val="60010"/>
        <c:axId val="60020"/>
      </c:lineChart>
      <c:catAx>
        <c:axId val="60010"/>
        <c:scaling>
          <c:orientation val="minMax"/>
        </c:scaling>
        <c:delete val="0"/>
        <c:axPos val="b"/>
        <c:numFmt formatCode="General" sourceLinked="0"/>
        <c:majorTickMark val="none"/>
        <c:minorTickMark val="none"/>
        <c:tickLblPos val="low"/>
        <c:spPr>
          <a:ln w="9525">
            <a:solidFill>
              <a:srgbClr val="B7C0C5"/>
            </a:solidFill>
          </a:ln>
        </c:spPr>
        <c:txPr>
          <a:bodyPr/>
          <a:lstStyle/>
          <a:p>
            <a:pPr>
              <a:defRPr sz="800" b="0">
                <a:solidFill>
                  <a:srgbClr val="5B6770"/>
                </a:solidFill>
                <a:latin typeface="Arial"/>
                <a:cs typeface="Arial"/>
              </a:defRPr>
            </a:pPr>
            <a:endParaRPr lang="fr-FR"/>
          </a:p>
        </c:txPr>
        <c:crossAx val="60020"/>
        <c:crosses val="autoZero"/>
        <c:auto val="1"/>
        <c:lblAlgn val="ctr"/>
        <c:lblOffset val="100"/>
        <c:noMultiLvlLbl val="0"/>
      </c:catAx>
      <c:valAx>
        <c:axId val="60020"/>
        <c:scaling>
          <c:orientation val="minMax"/>
          <c:max val="600"/>
          <c:min val="0"/>
        </c:scaling>
        <c:delete val="0"/>
        <c:axPos val="l"/>
        <c:majorGridlines>
          <c:spPr>
            <a:ln w="6350">
              <a:solidFill>
                <a:srgbClr val="E3E8EB"/>
              </a:solidFill>
            </a:ln>
          </c:spPr>
        </c:majorGridlines>
        <c:numFmt formatCode="0" sourceLinked="0"/>
        <c:majorTickMark val="none"/>
        <c:minorTickMark val="none"/>
        <c:tickLblPos val="low"/>
        <c:spPr>
          <a:ln w="6350">
            <a:solidFill>
              <a:srgbClr val="FFFFFF"/>
            </a:solidFill>
          </a:ln>
        </c:spPr>
        <c:txPr>
          <a:bodyPr/>
          <a:lstStyle/>
          <a:p>
            <a:pPr>
              <a:defRPr sz="800" b="0">
                <a:solidFill>
                  <a:srgbClr val="5B6770"/>
                </a:solidFill>
                <a:latin typeface="Arial"/>
                <a:cs typeface="Arial"/>
              </a:defRPr>
            </a:pPr>
            <a:endParaRPr lang="fr-FR"/>
          </a:p>
        </c:txPr>
        <c:crossAx val="60010"/>
        <c:crosses val="autoZero"/>
        <c:crossBetween val="between"/>
        <c:majorUnit val="100"/>
      </c:valAx>
    </c:plotArea>
    <c:legend>
      <c:legendPos val="b"/>
      <c:overlay val="0"/>
      <c:txPr>
        <a:bodyPr/>
        <a:lstStyle/>
        <a:p>
          <a:pPr>
            <a:defRPr sz="700" b="0">
              <a:solidFill>
                <a:srgbClr val="1F2A30"/>
              </a:solidFill>
              <a:latin typeface="Arial"/>
              <a:cs typeface="Arial"/>
            </a:defRPr>
          </a:pPr>
          <a:endParaRPr lang="fr-FR"/>
        </a:p>
      </c:txPr>
    </c:legend>
    <c:plotVisOnly val="1"/>
    <c:dispBlanksAs val="gap"/>
  </c:chart>
  <c:spPr>
    <a:noFill/>
    <a:ln>
      <a:noFill/>
    </a:ln>
  </c:spPr>
  <c:txPr>
    <a:bodyPr/>
    <a:lstStyle/>
    <a:p>
      <a:pPr>
        <a:defRPr sz="1000" b="0">
          <a:solidFill>
            <a:srgbClr val="5B6770"/>
          </a:solidFill>
          <a:latin typeface="Arial"/>
          <a:cs typeface="Arial"/>
        </a:defRPr>
      </a:pPr>
      <a:endParaRPr lang="fr-FR"/>
    </a:p>
  </c:txPr>
</c:chartSpace>
</file>

<file path=ppt/charts/chart34.xml><?xml version="1.0" encoding="utf-8"?>
<c:chartSpace xmlns:c="http://schemas.openxmlformats.org/drawingml/2006/chart" xmlns:a="http://schemas.openxmlformats.org/drawingml/2006/main" xmlns:r="http://schemas.openxmlformats.org/officeDocument/2006/relationships">
  <c:roundedCorners val="0"/>
  <c:chart>
    <c:autoTitleDeleted val="1"/>
    <c:plotArea>
      <c:layout/>
      <c:lineChart>
        <c:grouping val="standard"/>
        <c:varyColors val="0"/>
        <c:ser>
          <c:idx val="0"/>
          <c:order val="0"/>
          <c:tx>
            <c:strRef>
              <c:f>Sheet1!$B$1</c:f>
              <c:strCache>
                <c:ptCount val="1"/>
                <c:pt idx="0">
                  <c:v>2008/09</c:v>
                </c:pt>
              </c:strCache>
            </c:strRef>
          </c:tx>
          <c:spPr>
            <a:ln w="13970" cap="rnd">
              <a:solidFill>
                <a:srgbClr val="1F77B4"/>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Sheet1!$B$2:$B$13</c:f>
              <c:numCache>
                <c:formatCode>General</c:formatCode>
                <c:ptCount val="12"/>
                <c:pt idx="0">
                  <c:v>23.69</c:v>
                </c:pt>
                <c:pt idx="1">
                  <c:v>24.32</c:v>
                </c:pt>
                <c:pt idx="2">
                  <c:v>24.4</c:v>
                </c:pt>
                <c:pt idx="3">
                  <c:v>24.56</c:v>
                </c:pt>
                <c:pt idx="4">
                  <c:v>24.05</c:v>
                </c:pt>
                <c:pt idx="5">
                  <c:v>23.25</c:v>
                </c:pt>
                <c:pt idx="6">
                  <c:v>23.29</c:v>
                </c:pt>
                <c:pt idx="7">
                  <c:v>23.19</c:v>
                </c:pt>
                <c:pt idx="8">
                  <c:v>23.62</c:v>
                </c:pt>
                <c:pt idx="9">
                  <c:v>24.09</c:v>
                </c:pt>
                <c:pt idx="10">
                  <c:v>24.05</c:v>
                </c:pt>
                <c:pt idx="11">
                  <c:v>23.78</c:v>
                </c:pt>
              </c:numCache>
            </c:numRef>
          </c:val>
          <c:smooth val="0"/>
        </c:ser>
        <c:ser>
          <c:idx val="1"/>
          <c:order val="1"/>
          <c:tx>
            <c:strRef>
              <c:f>Sheet1!$C$1</c:f>
              <c:strCache>
                <c:ptCount val="1"/>
                <c:pt idx="0">
                  <c:v>2012/13</c:v>
                </c:pt>
              </c:strCache>
            </c:strRef>
          </c:tx>
          <c:spPr>
            <a:ln w="13970" cap="rnd">
              <a:solidFill>
                <a:srgbClr val="FF7F0E"/>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Sheet1!$C$2:$C$13</c:f>
              <c:numCache>
                <c:formatCode>General</c:formatCode>
                <c:ptCount val="12"/>
                <c:pt idx="0">
                  <c:v>23.83</c:v>
                </c:pt>
                <c:pt idx="1">
                  <c:v>24.98</c:v>
                </c:pt>
                <c:pt idx="2">
                  <c:v>25.25</c:v>
                </c:pt>
                <c:pt idx="3">
                  <c:v>25.13</c:v>
                </c:pt>
                <c:pt idx="4">
                  <c:v>24.69</c:v>
                </c:pt>
                <c:pt idx="5">
                  <c:v>23.83</c:v>
                </c:pt>
                <c:pt idx="6">
                  <c:v>23.43</c:v>
                </c:pt>
                <c:pt idx="7">
                  <c:v>23.51</c:v>
                </c:pt>
                <c:pt idx="8">
                  <c:v>24.3</c:v>
                </c:pt>
                <c:pt idx="9">
                  <c:v>24.18</c:v>
                </c:pt>
                <c:pt idx="10">
                  <c:v>24.16</c:v>
                </c:pt>
                <c:pt idx="11">
                  <c:v>23.75</c:v>
                </c:pt>
              </c:numCache>
            </c:numRef>
          </c:val>
          <c:smooth val="0"/>
        </c:ser>
        <c:ser>
          <c:idx val="2"/>
          <c:order val="2"/>
          <c:tx>
            <c:strRef>
              <c:f>Sheet1!$D$1</c:f>
              <c:strCache>
                <c:ptCount val="1"/>
                <c:pt idx="0">
                  <c:v>2013/14</c:v>
                </c:pt>
              </c:strCache>
            </c:strRef>
          </c:tx>
          <c:spPr>
            <a:ln w="13970" cap="rnd">
              <a:solidFill>
                <a:srgbClr val="2CA02C"/>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Sheet1!$D$2:$D$13</c:f>
              <c:numCache>
                <c:formatCode>General</c:formatCode>
                <c:ptCount val="12"/>
                <c:pt idx="0">
                  <c:v>23.13</c:v>
                </c:pt>
                <c:pt idx="1">
                  <c:v>23.38</c:v>
                </c:pt>
                <c:pt idx="2">
                  <c:v>24.06</c:v>
                </c:pt>
                <c:pt idx="3">
                  <c:v>24.27</c:v>
                </c:pt>
                <c:pt idx="4">
                  <c:v>23.66</c:v>
                </c:pt>
                <c:pt idx="5">
                  <c:v>23.35</c:v>
                </c:pt>
                <c:pt idx="6">
                  <c:v>23.21</c:v>
                </c:pt>
                <c:pt idx="7">
                  <c:v>23.69</c:v>
                </c:pt>
                <c:pt idx="8">
                  <c:v>24.34</c:v>
                </c:pt>
                <c:pt idx="9">
                  <c:v>23.99</c:v>
                </c:pt>
                <c:pt idx="10">
                  <c:v>24.57</c:v>
                </c:pt>
                <c:pt idx="11">
                  <c:v>24.06</c:v>
                </c:pt>
              </c:numCache>
            </c:numRef>
          </c:val>
          <c:smooth val="0"/>
        </c:ser>
        <c:ser>
          <c:idx val="3"/>
          <c:order val="3"/>
          <c:tx>
            <c:strRef>
              <c:f>Sheet1!$E$1</c:f>
              <c:strCache>
                <c:ptCount val="1"/>
                <c:pt idx="0">
                  <c:v>2014/15</c:v>
                </c:pt>
              </c:strCache>
            </c:strRef>
          </c:tx>
          <c:spPr>
            <a:ln w="13970" cap="rnd">
              <a:solidFill>
                <a:srgbClr val="9467BD"/>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Sheet1!$E$2:$E$13</c:f>
              <c:numCache>
                <c:formatCode>General</c:formatCode>
                <c:ptCount val="12"/>
                <c:pt idx="0">
                  <c:v>23.76</c:v>
                </c:pt>
                <c:pt idx="1">
                  <c:v>23.87</c:v>
                </c:pt>
                <c:pt idx="2">
                  <c:v>24.9</c:v>
                </c:pt>
                <c:pt idx="3">
                  <c:v>25.92</c:v>
                </c:pt>
                <c:pt idx="4">
                  <c:v>24.72</c:v>
                </c:pt>
                <c:pt idx="5">
                  <c:v>23.51</c:v>
                </c:pt>
                <c:pt idx="6">
                  <c:v>23.41</c:v>
                </c:pt>
                <c:pt idx="7">
                  <c:v>23.67</c:v>
                </c:pt>
                <c:pt idx="8">
                  <c:v>23.85</c:v>
                </c:pt>
                <c:pt idx="9">
                  <c:v>23.98</c:v>
                </c:pt>
                <c:pt idx="10">
                  <c:v>24.23</c:v>
                </c:pt>
                <c:pt idx="11">
                  <c:v>23.85</c:v>
                </c:pt>
              </c:numCache>
            </c:numRef>
          </c:val>
          <c:smooth val="0"/>
        </c:ser>
        <c:ser>
          <c:idx val="4"/>
          <c:order val="4"/>
          <c:tx>
            <c:strRef>
              <c:f>Sheet1!$F$1</c:f>
              <c:strCache>
                <c:ptCount val="1"/>
                <c:pt idx="0">
                  <c:v>2016/17</c:v>
                </c:pt>
              </c:strCache>
            </c:strRef>
          </c:tx>
          <c:spPr>
            <a:ln w="13970" cap="rnd">
              <a:solidFill>
                <a:srgbClr val="8C564B"/>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Sheet1!$F$2:$F$13</c:f>
              <c:numCache>
                <c:formatCode>General</c:formatCode>
                <c:ptCount val="12"/>
                <c:pt idx="0">
                  <c:v>23.89</c:v>
                </c:pt>
                <c:pt idx="1">
                  <c:v>23.91</c:v>
                </c:pt>
                <c:pt idx="2">
                  <c:v>24.02</c:v>
                </c:pt>
                <c:pt idx="3">
                  <c:v>23.58</c:v>
                </c:pt>
                <c:pt idx="4">
                  <c:v>24.0</c:v>
                </c:pt>
                <c:pt idx="5">
                  <c:v>23.49</c:v>
                </c:pt>
                <c:pt idx="6">
                  <c:v>23.49</c:v>
                </c:pt>
                <c:pt idx="7">
                  <c:v>23.4</c:v>
                </c:pt>
                <c:pt idx="8">
                  <c:v>23.71</c:v>
                </c:pt>
                <c:pt idx="9">
                  <c:v>23.78</c:v>
                </c:pt>
                <c:pt idx="10">
                  <c:v>24.57</c:v>
                </c:pt>
                <c:pt idx="11">
                  <c:v>23.85</c:v>
                </c:pt>
              </c:numCache>
            </c:numRef>
          </c:val>
          <c:smooth val="0"/>
        </c:ser>
        <c:ser>
          <c:idx val="5"/>
          <c:order val="5"/>
          <c:tx>
            <c:strRef>
              <c:f>Sheet1!$G$1</c:f>
              <c:strCache>
                <c:ptCount val="1"/>
                <c:pt idx="0">
                  <c:v>2017/18</c:v>
                </c:pt>
              </c:strCache>
            </c:strRef>
          </c:tx>
          <c:spPr>
            <a:ln w="13970" cap="rnd">
              <a:solidFill>
                <a:srgbClr val="E377C2"/>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Sheet1!$G$2:$G$13</c:f>
              <c:numCache>
                <c:formatCode>General</c:formatCode>
                <c:ptCount val="12"/>
                <c:pt idx="0">
                  <c:v>23.7</c:v>
                </c:pt>
                <c:pt idx="1">
                  <c:v>24.27</c:v>
                </c:pt>
                <c:pt idx="2">
                  <c:v>25.51</c:v>
                </c:pt>
                <c:pt idx="3">
                  <c:v>24.76</c:v>
                </c:pt>
                <c:pt idx="4">
                  <c:v>24.41</c:v>
                </c:pt>
                <c:pt idx="5">
                  <c:v>23.86</c:v>
                </c:pt>
                <c:pt idx="6">
                  <c:v>23.36</c:v>
                </c:pt>
                <c:pt idx="7">
                  <c:v>23.71</c:v>
                </c:pt>
                <c:pt idx="8">
                  <c:v>23.65</c:v>
                </c:pt>
                <c:pt idx="9">
                  <c:v>24.41</c:v>
                </c:pt>
                <c:pt idx="10">
                  <c:v>24.27</c:v>
                </c:pt>
                <c:pt idx="11">
                  <c:v>23.76</c:v>
                </c:pt>
              </c:numCache>
            </c:numRef>
          </c:val>
          <c:smooth val="0"/>
        </c:ser>
        <c:ser>
          <c:idx val="6"/>
          <c:order val="6"/>
          <c:tx>
            <c:strRef>
              <c:f>Sheet1!$H$1</c:f>
              <c:strCache>
                <c:ptCount val="1"/>
                <c:pt idx="0">
                  <c:v>2019/20</c:v>
                </c:pt>
              </c:strCache>
            </c:strRef>
          </c:tx>
          <c:spPr>
            <a:ln w="13970" cap="rnd">
              <a:solidFill>
                <a:srgbClr val="17BECF"/>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Sheet1!$H$2:$H$13</c:f>
              <c:numCache>
                <c:formatCode>General</c:formatCode>
                <c:ptCount val="12"/>
                <c:pt idx="0">
                  <c:v>23.67</c:v>
                </c:pt>
                <c:pt idx="1">
                  <c:v>24.43</c:v>
                </c:pt>
                <c:pt idx="2">
                  <c:v>25.79</c:v>
                </c:pt>
                <c:pt idx="3">
                  <c:v>26.31</c:v>
                </c:pt>
                <c:pt idx="4">
                  <c:v>26.77</c:v>
                </c:pt>
                <c:pt idx="5">
                  <c:v>26.02</c:v>
                </c:pt>
                <c:pt idx="6">
                  <c:v>24.57</c:v>
                </c:pt>
                <c:pt idx="7">
                  <c:v>24.48</c:v>
                </c:pt>
                <c:pt idx="8">
                  <c:v>24.48</c:v>
                </c:pt>
                <c:pt idx="9">
                  <c:v>24.63</c:v>
                </c:pt>
                <c:pt idx="10">
                  <c:v>24.78</c:v>
                </c:pt>
                <c:pt idx="11">
                  <c:v>23.93</c:v>
                </c:pt>
              </c:numCache>
            </c:numRef>
          </c:val>
          <c:smooth val="0"/>
        </c:ser>
        <c:ser>
          <c:idx val="7"/>
          <c:order val="7"/>
          <c:tx>
            <c:strRef>
              <c:f>Sheet1!$I$1</c:f>
              <c:strCache>
                <c:ptCount val="1"/>
                <c:pt idx="0">
                  <c:v>2024/25</c:v>
                </c:pt>
              </c:strCache>
            </c:strRef>
          </c:tx>
          <c:spPr>
            <a:ln w="13970" cap="rnd">
              <a:solidFill>
                <a:srgbClr val="BCBD22"/>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Sheet1!$I$2:$I$13</c:f>
              <c:numCache>
                <c:formatCode>General</c:formatCode>
                <c:ptCount val="12"/>
                <c:pt idx="0">
                  <c:v>24.17</c:v>
                </c:pt>
                <c:pt idx="1">
                  <c:v>24.97</c:v>
                </c:pt>
                <c:pt idx="2">
                  <c:v>25.91</c:v>
                </c:pt>
                <c:pt idx="3">
                  <c:v>26.43</c:v>
                </c:pt>
                <c:pt idx="4">
                  <c:v>25.15</c:v>
                </c:pt>
                <c:pt idx="5">
                  <c:v>24.3</c:v>
                </c:pt>
                <c:pt idx="6">
                  <c:v>23.94</c:v>
                </c:pt>
                <c:pt idx="7">
                  <c:v>23.92</c:v>
                </c:pt>
                <c:pt idx="8">
                  <c:v>24.37</c:v>
                </c:pt>
                <c:pt idx="9">
                  <c:v>24.2</c:v>
                </c:pt>
                <c:pt idx="10">
                  <c:v>24.69</c:v>
                </c:pt>
                <c:pt idx="11">
                  <c:v>23.97</c:v>
                </c:pt>
              </c:numCache>
            </c:numRef>
          </c:val>
          <c:smooth val="0"/>
        </c:ser>
        <c:ser>
          <c:idx val="8"/>
          <c:order val="8"/>
          <c:tx>
            <c:strRef>
              <c:f>Sheet1!$J$1</c:f>
              <c:strCache>
                <c:ptCount val="1"/>
                <c:pt idx="0">
                  <c:v>2025/26</c:v>
                </c:pt>
              </c:strCache>
            </c:strRef>
          </c:tx>
          <c:spPr>
            <a:ln w="13970" cap="rnd">
              <a:solidFill>
                <a:srgbClr val="7F7F7F"/>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Sheet1!$J$2:$J$13</c:f>
              <c:numCache>
                <c:formatCode>General</c:formatCode>
                <c:ptCount val="12"/>
                <c:pt idx="0">
                  <c:v>23.86</c:v>
                </c:pt>
                <c:pt idx="1">
                  <c:v>23.96</c:v>
                </c:pt>
                <c:pt idx="2">
                  <c:v>24.34</c:v>
                </c:pt>
                <c:pt idx="3">
                  <c:v>24.15</c:v>
                </c:pt>
                <c:pt idx="4">
                  <c:v>23.74</c:v>
                </c:pt>
                <c:pt idx="5">
                  <c:v>23.91</c:v>
                </c:pt>
                <c:pt idx="6">
                  <c:v>23.51</c:v>
                </c:pt>
                <c:pt idx="7">
                  <c:v>23.7</c:v>
                </c:pt>
                <c:pt idx="8">
                  <c:v>24.17</c:v>
                </c:pt>
                <c:pt idx="9">
                  <c:v>24.72</c:v>
                </c:pt>
                <c:pt idx="10">
                  <c:v>24.6</c:v>
                </c:pt>
                <c:pt idx="11">
                  <c:v>24.4</c:v>
                </c:pt>
              </c:numCache>
            </c:numRef>
          </c:val>
          <c:smooth val="0"/>
        </c:ser>
        <c:ser>
          <c:idx val="9"/>
          <c:order val="9"/>
          <c:tx>
            <c:strRef>
              <c:f>Sheet1!$K$1</c:f>
              <c:strCache>
                <c:ptCount val="1"/>
                <c:pt idx="0">
                  <c:v>Average</c:v>
                </c:pt>
              </c:strCache>
            </c:strRef>
          </c:tx>
          <c:spPr>
            <a:ln w="28575" cap="rnd">
              <a:solidFill>
                <a:srgbClr val="000000"/>
              </a:solidFill>
              <a:prstDash val="dash"/>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Sheet1!$K$2:$K$13</c:f>
              <c:numCache>
                <c:formatCode>General</c:formatCode>
                <c:ptCount val="12"/>
                <c:pt idx="0">
                  <c:v>23.74</c:v>
                </c:pt>
                <c:pt idx="1">
                  <c:v>24.23</c:v>
                </c:pt>
                <c:pt idx="2">
                  <c:v>24.91</c:v>
                </c:pt>
                <c:pt idx="3">
                  <c:v>25.01</c:v>
                </c:pt>
                <c:pt idx="4">
                  <c:v>24.58</c:v>
                </c:pt>
                <c:pt idx="5">
                  <c:v>23.95</c:v>
                </c:pt>
                <c:pt idx="6">
                  <c:v>23.58</c:v>
                </c:pt>
                <c:pt idx="7">
                  <c:v>23.7</c:v>
                </c:pt>
                <c:pt idx="8">
                  <c:v>24.05</c:v>
                </c:pt>
                <c:pt idx="9">
                  <c:v>24.22</c:v>
                </c:pt>
                <c:pt idx="10">
                  <c:v>24.44</c:v>
                </c:pt>
                <c:pt idx="11">
                  <c:v>23.93</c:v>
                </c:pt>
              </c:numCache>
            </c:numRef>
          </c:val>
          <c:smooth val="0"/>
        </c:ser>
        <c:marker val="1"/>
        <c:axId val="60010"/>
        <c:axId val="60020"/>
      </c:lineChart>
      <c:catAx>
        <c:axId val="60010"/>
        <c:scaling>
          <c:orientation val="minMax"/>
        </c:scaling>
        <c:delete val="0"/>
        <c:axPos val="b"/>
        <c:numFmt formatCode="General" sourceLinked="0"/>
        <c:majorTickMark val="none"/>
        <c:minorTickMark val="none"/>
        <c:tickLblPos val="low"/>
        <c:spPr>
          <a:ln w="9525">
            <a:solidFill>
              <a:srgbClr val="B7C0C5"/>
            </a:solidFill>
          </a:ln>
        </c:spPr>
        <c:txPr>
          <a:bodyPr/>
          <a:lstStyle/>
          <a:p>
            <a:pPr>
              <a:defRPr sz="800" b="0">
                <a:solidFill>
                  <a:srgbClr val="5B6770"/>
                </a:solidFill>
                <a:latin typeface="Arial"/>
                <a:cs typeface="Arial"/>
              </a:defRPr>
            </a:pPr>
            <a:endParaRPr lang="fr-FR"/>
          </a:p>
        </c:txPr>
        <c:crossAx val="60020"/>
        <c:crosses val="autoZero"/>
        <c:auto val="1"/>
        <c:lblAlgn val="ctr"/>
        <c:lblOffset val="100"/>
        <c:noMultiLvlLbl val="0"/>
      </c:catAx>
      <c:valAx>
        <c:axId val="60020"/>
        <c:scaling>
          <c:orientation val="minMax"/>
          <c:max val="27.0"/>
          <c:min val="22.5"/>
        </c:scaling>
        <c:delete val="0"/>
        <c:axPos val="l"/>
        <c:majorGridlines>
          <c:spPr>
            <a:ln w="6350">
              <a:solidFill>
                <a:srgbClr val="E3E8EB"/>
              </a:solidFill>
            </a:ln>
          </c:spPr>
        </c:majorGridlines>
        <c:numFmt formatCode="0.0" sourceLinked="0"/>
        <c:majorTickMark val="none"/>
        <c:minorTickMark val="none"/>
        <c:tickLblPos val="low"/>
        <c:spPr>
          <a:ln w="6350">
            <a:solidFill>
              <a:srgbClr val="FFFFFF"/>
            </a:solidFill>
          </a:ln>
        </c:spPr>
        <c:txPr>
          <a:bodyPr/>
          <a:lstStyle/>
          <a:p>
            <a:pPr>
              <a:defRPr sz="800" b="0">
                <a:solidFill>
                  <a:srgbClr val="5B6770"/>
                </a:solidFill>
                <a:latin typeface="Arial"/>
                <a:cs typeface="Arial"/>
              </a:defRPr>
            </a:pPr>
            <a:endParaRPr lang="fr-FR"/>
          </a:p>
        </c:txPr>
        <c:crossAx val="60010"/>
        <c:crosses val="autoZero"/>
        <c:crossBetween val="between"/>
        <c:majorUnit val="0.5"/>
      </c:valAx>
    </c:plotArea>
    <c:plotVisOnly val="1"/>
    <c:dispBlanksAs val="gap"/>
  </c:chart>
  <c:spPr>
    <a:noFill/>
    <a:ln>
      <a:noFill/>
    </a:ln>
  </c:spPr>
  <c:txPr>
    <a:bodyPr/>
    <a:lstStyle/>
    <a:p>
      <a:pPr>
        <a:defRPr sz="1000" b="0">
          <a:solidFill>
            <a:srgbClr val="5B6770"/>
          </a:solidFill>
          <a:latin typeface="Arial"/>
          <a:cs typeface="Arial"/>
        </a:defRPr>
      </a:pPr>
      <a:endParaRPr lang="fr-FR"/>
    </a:p>
  </c:txPr>
</c:chartSpace>
</file>

<file path=ppt/charts/chart35.xml><?xml version="1.0" encoding="utf-8"?>
<c:chartSpace xmlns:c="http://schemas.openxmlformats.org/drawingml/2006/chart" xmlns:a="http://schemas.openxmlformats.org/drawingml/2006/main" xmlns:r="http://schemas.openxmlformats.org/officeDocument/2006/relationships">
  <c:roundedCorners val="0"/>
  <c:chart>
    <c:autoTitleDeleted val="1"/>
    <c:plotArea>
      <c:layout/>
      <c:lineChart>
        <c:grouping val="standard"/>
        <c:varyColors val="0"/>
        <c:ser>
          <c:idx val="0"/>
          <c:order val="0"/>
          <c:tx>
            <c:strRef>
              <c:f>Sheet1!$B$1</c:f>
              <c:strCache>
                <c:ptCount val="1"/>
                <c:pt idx="0">
                  <c:v>2008/09</c:v>
                </c:pt>
              </c:strCache>
            </c:strRef>
          </c:tx>
          <c:spPr>
            <a:ln w="13970" cap="rnd">
              <a:solidFill>
                <a:srgbClr val="1F77B4"/>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Sheet1!$B$2:$B$13</c:f>
              <c:numCache>
                <c:formatCode>General</c:formatCode>
                <c:ptCount val="12"/>
                <c:pt idx="0">
                  <c:v>18.0</c:v>
                </c:pt>
                <c:pt idx="1">
                  <c:v>140.0</c:v>
                </c:pt>
                <c:pt idx="2">
                  <c:v>94.0</c:v>
                </c:pt>
                <c:pt idx="3">
                  <c:v>171.0</c:v>
                </c:pt>
                <c:pt idx="4">
                  <c:v>251.0</c:v>
                </c:pt>
                <c:pt idx="5">
                  <c:v>460.0</c:v>
                </c:pt>
                <c:pt idx="6">
                  <c:v>310.0</c:v>
                </c:pt>
                <c:pt idx="7">
                  <c:v>268.0</c:v>
                </c:pt>
                <c:pt idx="8">
                  <c:v>134.0</c:v>
                </c:pt>
                <c:pt idx="9">
                  <c:v>191.0</c:v>
                </c:pt>
                <c:pt idx="10">
                  <c:v>100.0</c:v>
                </c:pt>
                <c:pt idx="11">
                  <c:v>149.0</c:v>
                </c:pt>
              </c:numCache>
            </c:numRef>
          </c:val>
          <c:smooth val="0"/>
        </c:ser>
        <c:ser>
          <c:idx val="1"/>
          <c:order val="1"/>
          <c:tx>
            <c:strRef>
              <c:f>Sheet1!$C$1</c:f>
              <c:strCache>
                <c:ptCount val="1"/>
                <c:pt idx="0">
                  <c:v>2012/13</c:v>
                </c:pt>
              </c:strCache>
            </c:strRef>
          </c:tx>
          <c:spPr>
            <a:ln w="13970" cap="rnd">
              <a:solidFill>
                <a:srgbClr val="FF7F0E"/>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Sheet1!$C$2:$C$13</c:f>
              <c:numCache>
                <c:formatCode>General</c:formatCode>
                <c:ptCount val="12"/>
                <c:pt idx="0">
                  <c:v>36.0</c:v>
                </c:pt>
                <c:pt idx="1">
                  <c:v>51.0</c:v>
                </c:pt>
                <c:pt idx="2">
                  <c:v>42.0</c:v>
                </c:pt>
                <c:pt idx="3">
                  <c:v>189.0</c:v>
                </c:pt>
                <c:pt idx="4">
                  <c:v>166.0</c:v>
                </c:pt>
                <c:pt idx="5">
                  <c:v>585.0</c:v>
                </c:pt>
                <c:pt idx="6">
                  <c:v>525.0</c:v>
                </c:pt>
                <c:pt idx="7">
                  <c:v>300.0</c:v>
                </c:pt>
                <c:pt idx="8">
                  <c:v>207.0</c:v>
                </c:pt>
                <c:pt idx="9">
                  <c:v>241.0</c:v>
                </c:pt>
                <c:pt idx="10">
                  <c:v>180.0</c:v>
                </c:pt>
                <c:pt idx="11">
                  <c:v>94.0</c:v>
                </c:pt>
              </c:numCache>
            </c:numRef>
          </c:val>
          <c:smooth val="0"/>
        </c:ser>
        <c:ser>
          <c:idx val="2"/>
          <c:order val="2"/>
          <c:tx>
            <c:strRef>
              <c:f>Sheet1!$D$1</c:f>
              <c:strCache>
                <c:ptCount val="1"/>
                <c:pt idx="0">
                  <c:v>2013/14</c:v>
                </c:pt>
              </c:strCache>
            </c:strRef>
          </c:tx>
          <c:spPr>
            <a:ln w="13970" cap="rnd">
              <a:solidFill>
                <a:srgbClr val="2CA02C"/>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Sheet1!$D$2:$D$13</c:f>
              <c:numCache>
                <c:formatCode>General</c:formatCode>
                <c:ptCount val="12"/>
                <c:pt idx="0">
                  <c:v>249.0</c:v>
                </c:pt>
                <c:pt idx="1">
                  <c:v>59.0</c:v>
                </c:pt>
                <c:pt idx="2">
                  <c:v>86.0</c:v>
                </c:pt>
                <c:pt idx="3">
                  <c:v>308.0</c:v>
                </c:pt>
                <c:pt idx="4">
                  <c:v>306.0</c:v>
                </c:pt>
                <c:pt idx="5">
                  <c:v>411.0</c:v>
                </c:pt>
                <c:pt idx="6">
                  <c:v>199.0</c:v>
                </c:pt>
                <c:pt idx="7">
                  <c:v>356.0</c:v>
                </c:pt>
                <c:pt idx="8">
                  <c:v>371.0</c:v>
                </c:pt>
                <c:pt idx="9">
                  <c:v>181.0</c:v>
                </c:pt>
                <c:pt idx="10">
                  <c:v>138.0</c:v>
                </c:pt>
                <c:pt idx="11">
                  <c:v>98.0</c:v>
                </c:pt>
              </c:numCache>
            </c:numRef>
          </c:val>
          <c:smooth val="0"/>
        </c:ser>
        <c:ser>
          <c:idx val="3"/>
          <c:order val="3"/>
          <c:tx>
            <c:strRef>
              <c:f>Sheet1!$E$1</c:f>
              <c:strCache>
                <c:ptCount val="1"/>
                <c:pt idx="0">
                  <c:v>2014/15</c:v>
                </c:pt>
              </c:strCache>
            </c:strRef>
          </c:tx>
          <c:spPr>
            <a:ln w="13970" cap="rnd">
              <a:solidFill>
                <a:srgbClr val="9467BD"/>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Sheet1!$E$2:$E$13</c:f>
              <c:numCache>
                <c:formatCode>General</c:formatCode>
                <c:ptCount val="12"/>
                <c:pt idx="0">
                  <c:v>66.0</c:v>
                </c:pt>
                <c:pt idx="1">
                  <c:v>136.0</c:v>
                </c:pt>
                <c:pt idx="2">
                  <c:v>11.0</c:v>
                </c:pt>
                <c:pt idx="3">
                  <c:v>87.0</c:v>
                </c:pt>
                <c:pt idx="4">
                  <c:v>312.0</c:v>
                </c:pt>
                <c:pt idx="5">
                  <c:v>299.0</c:v>
                </c:pt>
                <c:pt idx="6">
                  <c:v>239.0</c:v>
                </c:pt>
                <c:pt idx="7">
                  <c:v>263.0</c:v>
                </c:pt>
                <c:pt idx="8">
                  <c:v>242.0</c:v>
                </c:pt>
                <c:pt idx="9">
                  <c:v>306.0</c:v>
                </c:pt>
                <c:pt idx="10">
                  <c:v>63.0</c:v>
                </c:pt>
                <c:pt idx="11">
                  <c:v>53.0</c:v>
                </c:pt>
              </c:numCache>
            </c:numRef>
          </c:val>
          <c:smooth val="0"/>
        </c:ser>
        <c:ser>
          <c:idx val="4"/>
          <c:order val="4"/>
          <c:tx>
            <c:strRef>
              <c:f>Sheet1!$F$1</c:f>
              <c:strCache>
                <c:ptCount val="1"/>
                <c:pt idx="0">
                  <c:v>2016/17</c:v>
                </c:pt>
              </c:strCache>
            </c:strRef>
          </c:tx>
          <c:spPr>
            <a:ln w="13970" cap="rnd">
              <a:solidFill>
                <a:srgbClr val="8C564B"/>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Sheet1!$F$2:$F$13</c:f>
              <c:numCache>
                <c:formatCode>General</c:formatCode>
                <c:ptCount val="12"/>
                <c:pt idx="0">
                  <c:v>108.0</c:v>
                </c:pt>
                <c:pt idx="1">
                  <c:v>84.0</c:v>
                </c:pt>
                <c:pt idx="2">
                  <c:v>180.0</c:v>
                </c:pt>
                <c:pt idx="3">
                  <c:v>120.0</c:v>
                </c:pt>
                <c:pt idx="4">
                  <c:v>251.0</c:v>
                </c:pt>
                <c:pt idx="5">
                  <c:v>201.0</c:v>
                </c:pt>
                <c:pt idx="6">
                  <c:v>220.0</c:v>
                </c:pt>
                <c:pt idx="7">
                  <c:v>345.0</c:v>
                </c:pt>
                <c:pt idx="8">
                  <c:v>155.0</c:v>
                </c:pt>
                <c:pt idx="9">
                  <c:v>231.0</c:v>
                </c:pt>
                <c:pt idx="10">
                  <c:v>157.0</c:v>
                </c:pt>
                <c:pt idx="11">
                  <c:v>58.0</c:v>
                </c:pt>
              </c:numCache>
            </c:numRef>
          </c:val>
          <c:smooth val="0"/>
        </c:ser>
        <c:ser>
          <c:idx val="5"/>
          <c:order val="5"/>
          <c:tx>
            <c:strRef>
              <c:f>Sheet1!$G$1</c:f>
              <c:strCache>
                <c:ptCount val="1"/>
                <c:pt idx="0">
                  <c:v>2017/18</c:v>
                </c:pt>
              </c:strCache>
            </c:strRef>
          </c:tx>
          <c:spPr>
            <a:ln w="13970" cap="rnd">
              <a:solidFill>
                <a:srgbClr val="E377C2"/>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Sheet1!$G$2:$G$13</c:f>
              <c:numCache>
                <c:formatCode>General</c:formatCode>
                <c:ptCount val="12"/>
                <c:pt idx="0">
                  <c:v>48.0</c:v>
                </c:pt>
                <c:pt idx="1">
                  <c:v>37.0</c:v>
                </c:pt>
                <c:pt idx="2">
                  <c:v>88.0</c:v>
                </c:pt>
                <c:pt idx="3">
                  <c:v>91.0</c:v>
                </c:pt>
                <c:pt idx="4">
                  <c:v>201.0</c:v>
                </c:pt>
                <c:pt idx="5">
                  <c:v>296.0</c:v>
                </c:pt>
                <c:pt idx="6">
                  <c:v>164.0</c:v>
                </c:pt>
                <c:pt idx="7">
                  <c:v>377.0</c:v>
                </c:pt>
                <c:pt idx="8">
                  <c:v>390.0</c:v>
                </c:pt>
                <c:pt idx="9">
                  <c:v>206.0</c:v>
                </c:pt>
                <c:pt idx="10">
                  <c:v>137.0</c:v>
                </c:pt>
                <c:pt idx="11">
                  <c:v>118.0</c:v>
                </c:pt>
              </c:numCache>
            </c:numRef>
          </c:val>
          <c:smooth val="0"/>
        </c:ser>
        <c:ser>
          <c:idx val="6"/>
          <c:order val="6"/>
          <c:tx>
            <c:strRef>
              <c:f>Sheet1!$H$1</c:f>
              <c:strCache>
                <c:ptCount val="1"/>
                <c:pt idx="0">
                  <c:v>2019/20</c:v>
                </c:pt>
              </c:strCache>
            </c:strRef>
          </c:tx>
          <c:spPr>
            <a:ln w="13970" cap="rnd">
              <a:solidFill>
                <a:srgbClr val="17BECF"/>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Sheet1!$H$2:$H$13</c:f>
              <c:numCache>
                <c:formatCode>General</c:formatCode>
                <c:ptCount val="12"/>
                <c:pt idx="0">
                  <c:v>73.0</c:v>
                </c:pt>
                <c:pt idx="1">
                  <c:v>1.0</c:v>
                </c:pt>
                <c:pt idx="2">
                  <c:v>4.0</c:v>
                </c:pt>
                <c:pt idx="3">
                  <c:v>52.0</c:v>
                </c:pt>
                <c:pt idx="4">
                  <c:v>48.0</c:v>
                </c:pt>
                <c:pt idx="5">
                  <c:v>279.0</c:v>
                </c:pt>
                <c:pt idx="6">
                  <c:v>457.0</c:v>
                </c:pt>
                <c:pt idx="7">
                  <c:v>181.0</c:v>
                </c:pt>
                <c:pt idx="8">
                  <c:v>368.0</c:v>
                </c:pt>
                <c:pt idx="9">
                  <c:v>276.0</c:v>
                </c:pt>
                <c:pt idx="10">
                  <c:v>184.0</c:v>
                </c:pt>
                <c:pt idx="11">
                  <c:v>299.0</c:v>
                </c:pt>
              </c:numCache>
            </c:numRef>
          </c:val>
          <c:smooth val="0"/>
        </c:ser>
        <c:ser>
          <c:idx val="7"/>
          <c:order val="7"/>
          <c:tx>
            <c:strRef>
              <c:f>Sheet1!$I$1</c:f>
              <c:strCache>
                <c:ptCount val="1"/>
                <c:pt idx="0">
                  <c:v>2024/25</c:v>
                </c:pt>
              </c:strCache>
            </c:strRef>
          </c:tx>
          <c:spPr>
            <a:ln w="13970" cap="rnd">
              <a:solidFill>
                <a:srgbClr val="BCBD22"/>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Sheet1!$I$2:$I$13</c:f>
              <c:numCache>
                <c:formatCode>General</c:formatCode>
                <c:ptCount val="12"/>
                <c:pt idx="0">
                  <c:v>31.0</c:v>
                </c:pt>
                <c:pt idx="1">
                  <c:v>36.0</c:v>
                </c:pt>
                <c:pt idx="2">
                  <c:v>72.0</c:v>
                </c:pt>
                <c:pt idx="3">
                  <c:v>69.0</c:v>
                </c:pt>
                <c:pt idx="4">
                  <c:v>274.0</c:v>
                </c:pt>
                <c:pt idx="5">
                  <c:v>232.0</c:v>
                </c:pt>
                <c:pt idx="6">
                  <c:v>481.0</c:v>
                </c:pt>
                <c:pt idx="7">
                  <c:v>253.0</c:v>
                </c:pt>
                <c:pt idx="8">
                  <c:v>182.0</c:v>
                </c:pt>
                <c:pt idx="9">
                  <c:v>125.0</c:v>
                </c:pt>
                <c:pt idx="10">
                  <c:v>144.0</c:v>
                </c:pt>
                <c:pt idx="11">
                  <c:v>204.0</c:v>
                </c:pt>
              </c:numCache>
            </c:numRef>
          </c:val>
          <c:smooth val="0"/>
        </c:ser>
        <c:ser>
          <c:idx val="8"/>
          <c:order val="8"/>
          <c:tx>
            <c:strRef>
              <c:f>Sheet1!$J$1</c:f>
              <c:strCache>
                <c:ptCount val="1"/>
                <c:pt idx="0">
                  <c:v>2025/26</c:v>
                </c:pt>
              </c:strCache>
            </c:strRef>
          </c:tx>
          <c:spPr>
            <a:ln w="13970" cap="rnd">
              <a:solidFill>
                <a:srgbClr val="7F7F7F"/>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Sheet1!$J$2:$J$13</c:f>
              <c:numCache>
                <c:formatCode>General</c:formatCode>
                <c:ptCount val="12"/>
                <c:pt idx="0">
                  <c:v>49.0</c:v>
                </c:pt>
                <c:pt idx="1">
                  <c:v>97.0</c:v>
                </c:pt>
                <c:pt idx="2">
                  <c:v>187.0</c:v>
                </c:pt>
                <c:pt idx="3">
                  <c:v>238.0</c:v>
                </c:pt>
                <c:pt idx="4">
                  <c:v>165.0</c:v>
                </c:pt>
                <c:pt idx="5">
                  <c:v>389.0</c:v>
                </c:pt>
                <c:pt idx="6">
                  <c:v>271.0</c:v>
                </c:pt>
                <c:pt idx="7">
                  <c:v>217.0</c:v>
                </c:pt>
                <c:pt idx="8">
                  <c:v>324.0</c:v>
                </c:pt>
                <c:pt idx="9">
                  <c:v>160.0</c:v>
                </c:pt>
                <c:pt idx="10">
                  <c:v>138.0</c:v>
                </c:pt>
                <c:pt idx="11">
                  <c:v>48.0</c:v>
                </c:pt>
              </c:numCache>
            </c:numRef>
          </c:val>
          <c:smooth val="0"/>
        </c:ser>
        <c:ser>
          <c:idx val="9"/>
          <c:order val="9"/>
          <c:tx>
            <c:strRef>
              <c:f>Sheet1!$K$1</c:f>
              <c:strCache>
                <c:ptCount val="1"/>
                <c:pt idx="0">
                  <c:v>Average</c:v>
                </c:pt>
              </c:strCache>
            </c:strRef>
          </c:tx>
          <c:spPr>
            <a:ln w="28575" cap="rnd">
              <a:solidFill>
                <a:srgbClr val="000000"/>
              </a:solidFill>
              <a:prstDash val="dash"/>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Sheet1!$K$2:$K$13</c:f>
              <c:numCache>
                <c:formatCode>General</c:formatCode>
                <c:ptCount val="12"/>
                <c:pt idx="0">
                  <c:v>75.0</c:v>
                </c:pt>
                <c:pt idx="1">
                  <c:v>71.0</c:v>
                </c:pt>
                <c:pt idx="2">
                  <c:v>85.0</c:v>
                </c:pt>
                <c:pt idx="3">
                  <c:v>147.0</c:v>
                </c:pt>
                <c:pt idx="4">
                  <c:v>219.0</c:v>
                </c:pt>
                <c:pt idx="5">
                  <c:v>350.0</c:v>
                </c:pt>
                <c:pt idx="6">
                  <c:v>318.0</c:v>
                </c:pt>
                <c:pt idx="7">
                  <c:v>284.0</c:v>
                </c:pt>
                <c:pt idx="8">
                  <c:v>264.0</c:v>
                </c:pt>
                <c:pt idx="9">
                  <c:v>213.0</c:v>
                </c:pt>
                <c:pt idx="10">
                  <c:v>138.0</c:v>
                </c:pt>
                <c:pt idx="11">
                  <c:v>125.0</c:v>
                </c:pt>
              </c:numCache>
            </c:numRef>
          </c:val>
          <c:smooth val="0"/>
        </c:ser>
        <c:marker val="1"/>
        <c:axId val="60010"/>
        <c:axId val="60020"/>
      </c:lineChart>
      <c:catAx>
        <c:axId val="60010"/>
        <c:scaling>
          <c:orientation val="minMax"/>
        </c:scaling>
        <c:delete val="0"/>
        <c:axPos val="b"/>
        <c:numFmt formatCode="General" sourceLinked="0"/>
        <c:majorTickMark val="none"/>
        <c:minorTickMark val="none"/>
        <c:tickLblPos val="low"/>
        <c:spPr>
          <a:ln w="9525">
            <a:solidFill>
              <a:srgbClr val="B7C0C5"/>
            </a:solidFill>
          </a:ln>
        </c:spPr>
        <c:txPr>
          <a:bodyPr/>
          <a:lstStyle/>
          <a:p>
            <a:pPr>
              <a:defRPr sz="800" b="0">
                <a:solidFill>
                  <a:srgbClr val="5B6770"/>
                </a:solidFill>
                <a:latin typeface="Arial"/>
                <a:cs typeface="Arial"/>
              </a:defRPr>
            </a:pPr>
            <a:endParaRPr lang="fr-FR"/>
          </a:p>
        </c:txPr>
        <c:crossAx val="60020"/>
        <c:crosses val="autoZero"/>
        <c:auto val="1"/>
        <c:lblAlgn val="ctr"/>
        <c:lblOffset val="100"/>
        <c:noMultiLvlLbl val="0"/>
      </c:catAx>
      <c:valAx>
        <c:axId val="60020"/>
        <c:scaling>
          <c:orientation val="minMax"/>
          <c:max val="600"/>
          <c:min val="0"/>
        </c:scaling>
        <c:delete val="0"/>
        <c:axPos val="l"/>
        <c:majorGridlines>
          <c:spPr>
            <a:ln w="6350">
              <a:solidFill>
                <a:srgbClr val="E3E8EB"/>
              </a:solidFill>
            </a:ln>
          </c:spPr>
        </c:majorGridlines>
        <c:numFmt formatCode="0" sourceLinked="0"/>
        <c:majorTickMark val="none"/>
        <c:minorTickMark val="none"/>
        <c:tickLblPos val="low"/>
        <c:spPr>
          <a:ln w="6350">
            <a:solidFill>
              <a:srgbClr val="FFFFFF"/>
            </a:solidFill>
          </a:ln>
        </c:spPr>
        <c:txPr>
          <a:bodyPr/>
          <a:lstStyle/>
          <a:p>
            <a:pPr>
              <a:defRPr sz="800" b="0">
                <a:solidFill>
                  <a:srgbClr val="5B6770"/>
                </a:solidFill>
                <a:latin typeface="Arial"/>
                <a:cs typeface="Arial"/>
              </a:defRPr>
            </a:pPr>
            <a:endParaRPr lang="fr-FR"/>
          </a:p>
        </c:txPr>
        <c:crossAx val="60010"/>
        <c:crosses val="autoZero"/>
        <c:crossBetween val="between"/>
        <c:majorUnit val="100"/>
      </c:valAx>
    </c:plotArea>
    <c:legend>
      <c:legendPos val="b"/>
      <c:overlay val="0"/>
      <c:txPr>
        <a:bodyPr/>
        <a:lstStyle/>
        <a:p>
          <a:pPr>
            <a:defRPr sz="700" b="0">
              <a:solidFill>
                <a:srgbClr val="1F2A30"/>
              </a:solidFill>
              <a:latin typeface="Arial"/>
              <a:cs typeface="Arial"/>
            </a:defRPr>
          </a:pPr>
          <a:endParaRPr lang="fr-FR"/>
        </a:p>
      </c:txPr>
    </c:legend>
    <c:plotVisOnly val="1"/>
    <c:dispBlanksAs val="gap"/>
  </c:chart>
  <c:spPr>
    <a:noFill/>
    <a:ln>
      <a:noFill/>
    </a:ln>
  </c:spPr>
  <c:txPr>
    <a:bodyPr/>
    <a:lstStyle/>
    <a:p>
      <a:pPr>
        <a:defRPr sz="1000" b="0">
          <a:solidFill>
            <a:srgbClr val="5B6770"/>
          </a:solidFill>
          <a:latin typeface="Arial"/>
          <a:cs typeface="Arial"/>
        </a:defRPr>
      </a:pPr>
      <a:endParaRPr lang="fr-FR"/>
    </a:p>
  </c:txPr>
</c:chartSpace>
</file>

<file path=ppt/charts/chart36.xml><?xml version="1.0" encoding="utf-8"?>
<c:chartSpace xmlns:c="http://schemas.openxmlformats.org/drawingml/2006/chart" xmlns:a="http://schemas.openxmlformats.org/drawingml/2006/main" xmlns:r="http://schemas.openxmlformats.org/officeDocument/2006/relationships">
  <c:roundedCorners val="0"/>
  <c:chart>
    <c:autoTitleDeleted val="1"/>
    <c:plotArea>
      <c:layout/>
      <c:lineChart>
        <c:grouping val="standard"/>
        <c:varyColors val="0"/>
        <c:ser>
          <c:idx val="0"/>
          <c:order val="0"/>
          <c:tx>
            <c:strRef>
              <c:f>Sheet1!$B$1</c:f>
              <c:strCache>
                <c:ptCount val="1"/>
                <c:pt idx="0">
                  <c:v>2006/07</c:v>
                </c:pt>
              </c:strCache>
            </c:strRef>
          </c:tx>
          <c:spPr>
            <a:ln w="13970" cap="rnd">
              <a:solidFill>
                <a:srgbClr val="1F77B4"/>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Sheet1!$B$2:$B$13</c:f>
              <c:numCache>
                <c:formatCode>General</c:formatCode>
                <c:ptCount val="12"/>
                <c:pt idx="0">
                  <c:v>22.87</c:v>
                </c:pt>
                <c:pt idx="1">
                  <c:v>22.2</c:v>
                </c:pt>
                <c:pt idx="2">
                  <c:v>22.41</c:v>
                </c:pt>
                <c:pt idx="3">
                  <c:v>23.47</c:v>
                </c:pt>
                <c:pt idx="4">
                  <c:v>24.12</c:v>
                </c:pt>
                <c:pt idx="5">
                  <c:v>23.51</c:v>
                </c:pt>
                <c:pt idx="6">
                  <c:v>23.05</c:v>
                </c:pt>
                <c:pt idx="7">
                  <c:v>23.23</c:v>
                </c:pt>
                <c:pt idx="8">
                  <c:v>22.65</c:v>
                </c:pt>
                <c:pt idx="9">
                  <c:v>23.22</c:v>
                </c:pt>
                <c:pt idx="10">
                  <c:v>23.69</c:v>
                </c:pt>
                <c:pt idx="11">
                  <c:v>23.26</c:v>
                </c:pt>
              </c:numCache>
            </c:numRef>
          </c:val>
          <c:smooth val="0"/>
        </c:ser>
        <c:ser>
          <c:idx val="1"/>
          <c:order val="1"/>
          <c:tx>
            <c:strRef>
              <c:f>Sheet1!$C$1</c:f>
              <c:strCache>
                <c:ptCount val="1"/>
                <c:pt idx="0">
                  <c:v>2009/10</c:v>
                </c:pt>
              </c:strCache>
            </c:strRef>
          </c:tx>
          <c:spPr>
            <a:ln w="13970" cap="rnd">
              <a:solidFill>
                <a:srgbClr val="FF7F0E"/>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Sheet1!$C$2:$C$13</c:f>
              <c:numCache>
                <c:formatCode>General</c:formatCode>
                <c:ptCount val="12"/>
                <c:pt idx="0">
                  <c:v>22.83</c:v>
                </c:pt>
                <c:pt idx="1">
                  <c:v>23.06</c:v>
                </c:pt>
                <c:pt idx="2">
                  <c:v>23.27</c:v>
                </c:pt>
                <c:pt idx="3">
                  <c:v>23.08</c:v>
                </c:pt>
                <c:pt idx="4">
                  <c:v>23.1</c:v>
                </c:pt>
                <c:pt idx="5">
                  <c:v>23.03</c:v>
                </c:pt>
                <c:pt idx="6">
                  <c:v>22.85</c:v>
                </c:pt>
                <c:pt idx="7">
                  <c:v>23.58</c:v>
                </c:pt>
                <c:pt idx="8">
                  <c:v>23.23</c:v>
                </c:pt>
                <c:pt idx="9">
                  <c:v>23.92</c:v>
                </c:pt>
                <c:pt idx="10">
                  <c:v>24.22</c:v>
                </c:pt>
                <c:pt idx="11">
                  <c:v>23.26</c:v>
                </c:pt>
              </c:numCache>
            </c:numRef>
          </c:val>
          <c:smooth val="0"/>
        </c:ser>
        <c:ser>
          <c:idx val="2"/>
          <c:order val="2"/>
          <c:tx>
            <c:strRef>
              <c:f>Sheet1!$D$1</c:f>
              <c:strCache>
                <c:ptCount val="1"/>
                <c:pt idx="0">
                  <c:v>2015/16</c:v>
                </c:pt>
              </c:strCache>
            </c:strRef>
          </c:tx>
          <c:spPr>
            <a:ln w="13970" cap="rnd">
              <a:solidFill>
                <a:srgbClr val="2CA02C"/>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Sheet1!$D$2:$D$13</c:f>
              <c:numCache>
                <c:formatCode>General</c:formatCode>
                <c:ptCount val="12"/>
                <c:pt idx="0">
                  <c:v>23.07</c:v>
                </c:pt>
                <c:pt idx="1">
                  <c:v>23.25</c:v>
                </c:pt>
                <c:pt idx="2">
                  <c:v>23.43</c:v>
                </c:pt>
                <c:pt idx="3">
                  <c:v>25.04</c:v>
                </c:pt>
                <c:pt idx="4">
                  <c:v>24.0</c:v>
                </c:pt>
                <c:pt idx="5">
                  <c:v>23.24</c:v>
                </c:pt>
                <c:pt idx="6">
                  <c:v>24.06</c:v>
                </c:pt>
                <c:pt idx="7">
                  <c:v>23.51</c:v>
                </c:pt>
                <c:pt idx="8">
                  <c:v>23.84</c:v>
                </c:pt>
                <c:pt idx="9">
                  <c:v>24.2</c:v>
                </c:pt>
                <c:pt idx="10">
                  <c:v>24.08</c:v>
                </c:pt>
                <c:pt idx="11">
                  <c:v>23.33</c:v>
                </c:pt>
              </c:numCache>
            </c:numRef>
          </c:val>
          <c:smooth val="0"/>
        </c:ser>
        <c:ser>
          <c:idx val="3"/>
          <c:order val="3"/>
          <c:tx>
            <c:strRef>
              <c:f>Sheet1!$E$1</c:f>
              <c:strCache>
                <c:ptCount val="1"/>
                <c:pt idx="0">
                  <c:v>2018/19</c:v>
                </c:pt>
              </c:strCache>
            </c:strRef>
          </c:tx>
          <c:spPr>
            <a:ln w="13970" cap="rnd">
              <a:solidFill>
                <a:srgbClr val="9467BD"/>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Sheet1!$E$2:$E$13</c:f>
              <c:numCache>
                <c:formatCode>General</c:formatCode>
                <c:ptCount val="12"/>
                <c:pt idx="0">
                  <c:v>22.92</c:v>
                </c:pt>
                <c:pt idx="1">
                  <c:v>22.79</c:v>
                </c:pt>
                <c:pt idx="2">
                  <c:v>23.04</c:v>
                </c:pt>
                <c:pt idx="3">
                  <c:v>23.42</c:v>
                </c:pt>
                <c:pt idx="4">
                  <c:v>22.97</c:v>
                </c:pt>
                <c:pt idx="5">
                  <c:v>22.93</c:v>
                </c:pt>
                <c:pt idx="6">
                  <c:v>23.36</c:v>
                </c:pt>
                <c:pt idx="7">
                  <c:v>23.72</c:v>
                </c:pt>
                <c:pt idx="8">
                  <c:v>23.49</c:v>
                </c:pt>
                <c:pt idx="9">
                  <c:v>23.86</c:v>
                </c:pt>
                <c:pt idx="10">
                  <c:v>23.92</c:v>
                </c:pt>
                <c:pt idx="11">
                  <c:v>23.72</c:v>
                </c:pt>
              </c:numCache>
            </c:numRef>
          </c:val>
          <c:smooth val="0"/>
        </c:ser>
        <c:ser>
          <c:idx val="4"/>
          <c:order val="4"/>
          <c:tx>
            <c:strRef>
              <c:f>Sheet1!$F$1</c:f>
              <c:strCache>
                <c:ptCount val="1"/>
                <c:pt idx="0">
                  <c:v>2023/24</c:v>
                </c:pt>
              </c:strCache>
            </c:strRef>
          </c:tx>
          <c:spPr>
            <a:ln w="13970" cap="rnd">
              <a:solidFill>
                <a:srgbClr val="8C564B"/>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Sheet1!$F$2:$F$13</c:f>
              <c:numCache>
                <c:formatCode>General</c:formatCode>
                <c:ptCount val="12"/>
                <c:pt idx="0">
                  <c:v>23.39</c:v>
                </c:pt>
                <c:pt idx="1">
                  <c:v>23.66</c:v>
                </c:pt>
                <c:pt idx="2">
                  <c:v>23.39</c:v>
                </c:pt>
                <c:pt idx="3">
                  <c:v>24.77</c:v>
                </c:pt>
                <c:pt idx="4">
                  <c:v>24.11</c:v>
                </c:pt>
                <c:pt idx="5">
                  <c:v>24.01</c:v>
                </c:pt>
                <c:pt idx="6">
                  <c:v>23.79</c:v>
                </c:pt>
                <c:pt idx="7">
                  <c:v>24.21</c:v>
                </c:pt>
                <c:pt idx="8">
                  <c:v>24.05</c:v>
                </c:pt>
                <c:pt idx="9">
                  <c:v>24.71</c:v>
                </c:pt>
                <c:pt idx="10">
                  <c:v>24.81</c:v>
                </c:pt>
                <c:pt idx="11">
                  <c:v>23.95</c:v>
                </c:pt>
              </c:numCache>
            </c:numRef>
          </c:val>
          <c:smooth val="0"/>
        </c:ser>
        <c:ser>
          <c:idx val="5"/>
          <c:order val="5"/>
          <c:tx>
            <c:strRef>
              <c:f>Sheet1!$G$1</c:f>
              <c:strCache>
                <c:ptCount val="1"/>
                <c:pt idx="0">
                  <c:v>2026/27</c:v>
                </c:pt>
              </c:strCache>
            </c:strRef>
          </c:tx>
          <c:spPr>
            <a:ln w="31750" cap="rnd">
              <a:solidFill>
                <a:srgbClr val="C00000"/>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Sheet1!$G$2:$G$13</c:f>
              <c:numCache>
                <c:formatCode>General</c:formatCode>
                <c:ptCount val="12"/>
                <c:pt idx="0">
                  <c:v>23.37</c:v>
                </c:pt>
                <c:pt idx="1">
                  <c:v>23.87</c:v>
                </c:pt>
              </c:numCache>
            </c:numRef>
          </c:val>
          <c:smooth val="0"/>
        </c:ser>
        <c:ser>
          <c:idx val="6"/>
          <c:order val="6"/>
          <c:tx>
            <c:strRef>
              <c:f>Sheet1!$H$1</c:f>
              <c:strCache>
                <c:ptCount val="1"/>
                <c:pt idx="0">
                  <c:v>Average</c:v>
                </c:pt>
              </c:strCache>
            </c:strRef>
          </c:tx>
          <c:spPr>
            <a:ln w="28575" cap="rnd">
              <a:solidFill>
                <a:srgbClr val="000000"/>
              </a:solidFill>
              <a:prstDash val="dash"/>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Sheet1!$H$2:$H$13</c:f>
              <c:numCache>
                <c:formatCode>General</c:formatCode>
                <c:ptCount val="12"/>
                <c:pt idx="0">
                  <c:v>23.02</c:v>
                </c:pt>
                <c:pt idx="1">
                  <c:v>22.99</c:v>
                </c:pt>
                <c:pt idx="2">
                  <c:v>23.11</c:v>
                </c:pt>
                <c:pt idx="3">
                  <c:v>23.96</c:v>
                </c:pt>
                <c:pt idx="4">
                  <c:v>23.66</c:v>
                </c:pt>
                <c:pt idx="5">
                  <c:v>23.34</c:v>
                </c:pt>
                <c:pt idx="6">
                  <c:v>23.42</c:v>
                </c:pt>
                <c:pt idx="7">
                  <c:v>23.65</c:v>
                </c:pt>
                <c:pt idx="8">
                  <c:v>23.45</c:v>
                </c:pt>
                <c:pt idx="9">
                  <c:v>23.98</c:v>
                </c:pt>
                <c:pt idx="10">
                  <c:v>24.14</c:v>
                </c:pt>
                <c:pt idx="11">
                  <c:v>23.5</c:v>
                </c:pt>
              </c:numCache>
            </c:numRef>
          </c:val>
          <c:smooth val="0"/>
        </c:ser>
        <c:marker val="1"/>
        <c:axId val="60010"/>
        <c:axId val="60020"/>
      </c:lineChart>
      <c:catAx>
        <c:axId val="60010"/>
        <c:scaling>
          <c:orientation val="minMax"/>
        </c:scaling>
        <c:delete val="0"/>
        <c:axPos val="b"/>
        <c:numFmt formatCode="General" sourceLinked="0"/>
        <c:majorTickMark val="none"/>
        <c:minorTickMark val="none"/>
        <c:tickLblPos val="low"/>
        <c:spPr>
          <a:ln w="9525">
            <a:solidFill>
              <a:srgbClr val="B7C0C5"/>
            </a:solidFill>
          </a:ln>
        </c:spPr>
        <c:txPr>
          <a:bodyPr/>
          <a:lstStyle/>
          <a:p>
            <a:pPr>
              <a:defRPr sz="800" b="0">
                <a:solidFill>
                  <a:srgbClr val="5B6770"/>
                </a:solidFill>
                <a:latin typeface="Arial"/>
                <a:cs typeface="Arial"/>
              </a:defRPr>
            </a:pPr>
            <a:endParaRPr lang="fr-FR"/>
          </a:p>
        </c:txPr>
        <c:crossAx val="60020"/>
        <c:crosses val="autoZero"/>
        <c:auto val="1"/>
        <c:lblAlgn val="ctr"/>
        <c:lblOffset val="100"/>
        <c:noMultiLvlLbl val="0"/>
      </c:catAx>
      <c:valAx>
        <c:axId val="60020"/>
        <c:scaling>
          <c:orientation val="minMax"/>
          <c:max val="25.5"/>
          <c:min val="21.5"/>
        </c:scaling>
        <c:delete val="0"/>
        <c:axPos val="l"/>
        <c:majorGridlines>
          <c:spPr>
            <a:ln w="6350">
              <a:solidFill>
                <a:srgbClr val="E3E8EB"/>
              </a:solidFill>
            </a:ln>
          </c:spPr>
        </c:majorGridlines>
        <c:numFmt formatCode="0.0" sourceLinked="0"/>
        <c:majorTickMark val="none"/>
        <c:minorTickMark val="none"/>
        <c:tickLblPos val="low"/>
        <c:spPr>
          <a:ln w="6350">
            <a:solidFill>
              <a:srgbClr val="FFFFFF"/>
            </a:solidFill>
          </a:ln>
        </c:spPr>
        <c:txPr>
          <a:bodyPr/>
          <a:lstStyle/>
          <a:p>
            <a:pPr>
              <a:defRPr sz="800" b="0">
                <a:solidFill>
                  <a:srgbClr val="5B6770"/>
                </a:solidFill>
                <a:latin typeface="Arial"/>
                <a:cs typeface="Arial"/>
              </a:defRPr>
            </a:pPr>
            <a:endParaRPr lang="fr-FR"/>
          </a:p>
        </c:txPr>
        <c:crossAx val="60010"/>
        <c:crosses val="autoZero"/>
        <c:crossBetween val="between"/>
        <c:majorUnit val="0.5"/>
      </c:valAx>
    </c:plotArea>
    <c:plotVisOnly val="1"/>
    <c:dispBlanksAs val="gap"/>
  </c:chart>
  <c:spPr>
    <a:noFill/>
    <a:ln>
      <a:noFill/>
    </a:ln>
  </c:spPr>
  <c:txPr>
    <a:bodyPr/>
    <a:lstStyle/>
    <a:p>
      <a:pPr>
        <a:defRPr sz="1000" b="0">
          <a:solidFill>
            <a:srgbClr val="5B6770"/>
          </a:solidFill>
          <a:latin typeface="Arial"/>
          <a:cs typeface="Arial"/>
        </a:defRPr>
      </a:pPr>
      <a:endParaRPr lang="fr-FR"/>
    </a:p>
  </c:txPr>
</c:chartSpace>
</file>

<file path=ppt/charts/chart37.xml><?xml version="1.0" encoding="utf-8"?>
<c:chartSpace xmlns:c="http://schemas.openxmlformats.org/drawingml/2006/chart" xmlns:a="http://schemas.openxmlformats.org/drawingml/2006/main" xmlns:r="http://schemas.openxmlformats.org/officeDocument/2006/relationships">
  <c:roundedCorners val="0"/>
  <c:chart>
    <c:autoTitleDeleted val="1"/>
    <c:plotArea>
      <c:layout/>
      <c:lineChart>
        <c:grouping val="standard"/>
        <c:varyColors val="0"/>
        <c:ser>
          <c:idx val="0"/>
          <c:order val="0"/>
          <c:tx>
            <c:strRef>
              <c:f>Sheet1!$B$1</c:f>
              <c:strCache>
                <c:ptCount val="1"/>
                <c:pt idx="0">
                  <c:v>2006/07</c:v>
                </c:pt>
              </c:strCache>
            </c:strRef>
          </c:tx>
          <c:spPr>
            <a:ln w="13970" cap="rnd">
              <a:solidFill>
                <a:srgbClr val="1F77B4"/>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Sheet1!$B$2:$B$13</c:f>
              <c:numCache>
                <c:formatCode>General</c:formatCode>
                <c:ptCount val="12"/>
                <c:pt idx="0">
                  <c:v>113.0</c:v>
                </c:pt>
                <c:pt idx="1">
                  <c:v>15.0</c:v>
                </c:pt>
                <c:pt idx="2">
                  <c:v>44.0</c:v>
                </c:pt>
                <c:pt idx="3">
                  <c:v>14.0</c:v>
                </c:pt>
                <c:pt idx="4">
                  <c:v>112.0</c:v>
                </c:pt>
                <c:pt idx="5">
                  <c:v>405.0</c:v>
                </c:pt>
                <c:pt idx="6">
                  <c:v>446.0</c:v>
                </c:pt>
                <c:pt idx="7">
                  <c:v>289.0</c:v>
                </c:pt>
                <c:pt idx="8">
                  <c:v>259.0</c:v>
                </c:pt>
                <c:pt idx="9">
                  <c:v>175.0</c:v>
                </c:pt>
                <c:pt idx="10">
                  <c:v>249.0</c:v>
                </c:pt>
                <c:pt idx="11">
                  <c:v>169.0</c:v>
                </c:pt>
              </c:numCache>
            </c:numRef>
          </c:val>
          <c:smooth val="0"/>
        </c:ser>
        <c:ser>
          <c:idx val="1"/>
          <c:order val="1"/>
          <c:tx>
            <c:strRef>
              <c:f>Sheet1!$C$1</c:f>
              <c:strCache>
                <c:ptCount val="1"/>
                <c:pt idx="0">
                  <c:v>2009/10</c:v>
                </c:pt>
              </c:strCache>
            </c:strRef>
          </c:tx>
          <c:spPr>
            <a:ln w="13970" cap="rnd">
              <a:solidFill>
                <a:srgbClr val="FF7F0E"/>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Sheet1!$C$2:$C$13</c:f>
              <c:numCache>
                <c:formatCode>General</c:formatCode>
                <c:ptCount val="12"/>
                <c:pt idx="0">
                  <c:v>144.0</c:v>
                </c:pt>
                <c:pt idx="1">
                  <c:v>102.0</c:v>
                </c:pt>
                <c:pt idx="2">
                  <c:v>204.0</c:v>
                </c:pt>
                <c:pt idx="3">
                  <c:v>247.0</c:v>
                </c:pt>
                <c:pt idx="4">
                  <c:v>320.0</c:v>
                </c:pt>
                <c:pt idx="5">
                  <c:v>367.0</c:v>
                </c:pt>
                <c:pt idx="6">
                  <c:v>179.0</c:v>
                </c:pt>
                <c:pt idx="7">
                  <c:v>373.0</c:v>
                </c:pt>
                <c:pt idx="8">
                  <c:v>352.0</c:v>
                </c:pt>
                <c:pt idx="9">
                  <c:v>289.0</c:v>
                </c:pt>
                <c:pt idx="10">
                  <c:v>179.0</c:v>
                </c:pt>
                <c:pt idx="11">
                  <c:v>176.0</c:v>
                </c:pt>
              </c:numCache>
            </c:numRef>
          </c:val>
          <c:smooth val="0"/>
        </c:ser>
        <c:ser>
          <c:idx val="2"/>
          <c:order val="2"/>
          <c:tx>
            <c:strRef>
              <c:f>Sheet1!$D$1</c:f>
              <c:strCache>
                <c:ptCount val="1"/>
                <c:pt idx="0">
                  <c:v>2015/16</c:v>
                </c:pt>
              </c:strCache>
            </c:strRef>
          </c:tx>
          <c:spPr>
            <a:ln w="13970" cap="rnd">
              <a:solidFill>
                <a:srgbClr val="2CA02C"/>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Sheet1!$D$2:$D$13</c:f>
              <c:numCache>
                <c:formatCode>General</c:formatCode>
                <c:ptCount val="12"/>
                <c:pt idx="0">
                  <c:v>52.0</c:v>
                </c:pt>
                <c:pt idx="1">
                  <c:v>134.0</c:v>
                </c:pt>
                <c:pt idx="2">
                  <c:v>49.0</c:v>
                </c:pt>
                <c:pt idx="3">
                  <c:v>9.0</c:v>
                </c:pt>
                <c:pt idx="4">
                  <c:v>337.0</c:v>
                </c:pt>
                <c:pt idx="5">
                  <c:v>509.0</c:v>
                </c:pt>
                <c:pt idx="6">
                  <c:v>268.0</c:v>
                </c:pt>
                <c:pt idx="7">
                  <c:v>394.0</c:v>
                </c:pt>
                <c:pt idx="8">
                  <c:v>436.0</c:v>
                </c:pt>
                <c:pt idx="9">
                  <c:v>237.0</c:v>
                </c:pt>
                <c:pt idx="10">
                  <c:v>247.0</c:v>
                </c:pt>
                <c:pt idx="11">
                  <c:v>135.0</c:v>
                </c:pt>
              </c:numCache>
            </c:numRef>
          </c:val>
          <c:smooth val="0"/>
        </c:ser>
        <c:ser>
          <c:idx val="3"/>
          <c:order val="3"/>
          <c:tx>
            <c:strRef>
              <c:f>Sheet1!$E$1</c:f>
              <c:strCache>
                <c:ptCount val="1"/>
                <c:pt idx="0">
                  <c:v>2018/19</c:v>
                </c:pt>
              </c:strCache>
            </c:strRef>
          </c:tx>
          <c:spPr>
            <a:ln w="13970" cap="rnd">
              <a:solidFill>
                <a:srgbClr val="9467BD"/>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Sheet1!$E$2:$E$13</c:f>
              <c:numCache>
                <c:formatCode>General</c:formatCode>
                <c:ptCount val="12"/>
                <c:pt idx="0">
                  <c:v>115.0</c:v>
                </c:pt>
                <c:pt idx="1">
                  <c:v>319.0</c:v>
                </c:pt>
                <c:pt idx="2">
                  <c:v>140.0</c:v>
                </c:pt>
                <c:pt idx="3">
                  <c:v>256.0</c:v>
                </c:pt>
                <c:pt idx="4">
                  <c:v>485.0</c:v>
                </c:pt>
                <c:pt idx="5">
                  <c:v>440.0</c:v>
                </c:pt>
                <c:pt idx="6">
                  <c:v>334.0</c:v>
                </c:pt>
                <c:pt idx="7">
                  <c:v>202.0</c:v>
                </c:pt>
                <c:pt idx="8">
                  <c:v>229.0</c:v>
                </c:pt>
                <c:pt idx="9">
                  <c:v>305.0</c:v>
                </c:pt>
                <c:pt idx="10">
                  <c:v>129.0</c:v>
                </c:pt>
                <c:pt idx="11">
                  <c:v>173.0</c:v>
                </c:pt>
              </c:numCache>
            </c:numRef>
          </c:val>
          <c:smooth val="0"/>
        </c:ser>
        <c:ser>
          <c:idx val="4"/>
          <c:order val="4"/>
          <c:tx>
            <c:strRef>
              <c:f>Sheet1!$F$1</c:f>
              <c:strCache>
                <c:ptCount val="1"/>
                <c:pt idx="0">
                  <c:v>2023/24</c:v>
                </c:pt>
              </c:strCache>
            </c:strRef>
          </c:tx>
          <c:spPr>
            <a:ln w="13970" cap="rnd">
              <a:solidFill>
                <a:srgbClr val="8C564B"/>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Sheet1!$F$2:$F$13</c:f>
              <c:numCache>
                <c:formatCode>General</c:formatCode>
                <c:ptCount val="12"/>
                <c:pt idx="0">
                  <c:v>213.0</c:v>
                </c:pt>
                <c:pt idx="1">
                  <c:v>91.0</c:v>
                </c:pt>
                <c:pt idx="2">
                  <c:v>12.0</c:v>
                </c:pt>
                <c:pt idx="3">
                  <c:v>59.0</c:v>
                </c:pt>
                <c:pt idx="4">
                  <c:v>217.0</c:v>
                </c:pt>
                <c:pt idx="5">
                  <c:v>170.0</c:v>
                </c:pt>
                <c:pt idx="6">
                  <c:v>346.0</c:v>
                </c:pt>
                <c:pt idx="7">
                  <c:v>391.0</c:v>
                </c:pt>
                <c:pt idx="8">
                  <c:v>831.0</c:v>
                </c:pt>
                <c:pt idx="9">
                  <c:v>403.0</c:v>
                </c:pt>
                <c:pt idx="10">
                  <c:v>312.0</c:v>
                </c:pt>
                <c:pt idx="11">
                  <c:v>274.0</c:v>
                </c:pt>
              </c:numCache>
            </c:numRef>
          </c:val>
          <c:smooth val="0"/>
        </c:ser>
        <c:ser>
          <c:idx val="5"/>
          <c:order val="5"/>
          <c:tx>
            <c:strRef>
              <c:f>Sheet1!$G$1</c:f>
              <c:strCache>
                <c:ptCount val="1"/>
                <c:pt idx="0">
                  <c:v>2026/27</c:v>
                </c:pt>
              </c:strCache>
            </c:strRef>
          </c:tx>
          <c:spPr>
            <a:ln w="31750" cap="rnd">
              <a:solidFill>
                <a:srgbClr val="C00000"/>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Sheet1!$G$2:$G$13</c:f>
              <c:numCache>
                <c:formatCode>General</c:formatCode>
                <c:ptCount val="12"/>
                <c:pt idx="0">
                  <c:v>117.0</c:v>
                </c:pt>
                <c:pt idx="1">
                  <c:v>171.0</c:v>
                </c:pt>
              </c:numCache>
            </c:numRef>
          </c:val>
          <c:smooth val="0"/>
        </c:ser>
        <c:ser>
          <c:idx val="6"/>
          <c:order val="6"/>
          <c:tx>
            <c:strRef>
              <c:f>Sheet1!$H$1</c:f>
              <c:strCache>
                <c:ptCount val="1"/>
                <c:pt idx="0">
                  <c:v>Average</c:v>
                </c:pt>
              </c:strCache>
            </c:strRef>
          </c:tx>
          <c:spPr>
            <a:ln w="28575" cap="rnd">
              <a:solidFill>
                <a:srgbClr val="000000"/>
              </a:solidFill>
              <a:prstDash val="dash"/>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Sheet1!$H$2:$H$13</c:f>
              <c:numCache>
                <c:formatCode>General</c:formatCode>
                <c:ptCount val="12"/>
                <c:pt idx="0">
                  <c:v>127.0</c:v>
                </c:pt>
                <c:pt idx="1">
                  <c:v>132.0</c:v>
                </c:pt>
                <c:pt idx="2">
                  <c:v>90.0</c:v>
                </c:pt>
                <c:pt idx="3">
                  <c:v>117.0</c:v>
                </c:pt>
                <c:pt idx="4">
                  <c:v>294.0</c:v>
                </c:pt>
                <c:pt idx="5">
                  <c:v>378.0</c:v>
                </c:pt>
                <c:pt idx="6">
                  <c:v>315.0</c:v>
                </c:pt>
                <c:pt idx="7">
                  <c:v>330.0</c:v>
                </c:pt>
                <c:pt idx="8">
                  <c:v>421.0</c:v>
                </c:pt>
                <c:pt idx="9">
                  <c:v>282.0</c:v>
                </c:pt>
                <c:pt idx="10">
                  <c:v>223.0</c:v>
                </c:pt>
                <c:pt idx="11">
                  <c:v>185.0</c:v>
                </c:pt>
              </c:numCache>
            </c:numRef>
          </c:val>
          <c:smooth val="0"/>
        </c:ser>
        <c:marker val="1"/>
        <c:axId val="60010"/>
        <c:axId val="60020"/>
      </c:lineChart>
      <c:catAx>
        <c:axId val="60010"/>
        <c:scaling>
          <c:orientation val="minMax"/>
        </c:scaling>
        <c:delete val="0"/>
        <c:axPos val="b"/>
        <c:numFmt formatCode="General" sourceLinked="0"/>
        <c:majorTickMark val="none"/>
        <c:minorTickMark val="none"/>
        <c:tickLblPos val="low"/>
        <c:spPr>
          <a:ln w="9525">
            <a:solidFill>
              <a:srgbClr val="B7C0C5"/>
            </a:solidFill>
          </a:ln>
        </c:spPr>
        <c:txPr>
          <a:bodyPr/>
          <a:lstStyle/>
          <a:p>
            <a:pPr>
              <a:defRPr sz="800" b="0">
                <a:solidFill>
                  <a:srgbClr val="5B6770"/>
                </a:solidFill>
                <a:latin typeface="Arial"/>
                <a:cs typeface="Arial"/>
              </a:defRPr>
            </a:pPr>
            <a:endParaRPr lang="fr-FR"/>
          </a:p>
        </c:txPr>
        <c:crossAx val="60020"/>
        <c:crosses val="autoZero"/>
        <c:auto val="1"/>
        <c:lblAlgn val="ctr"/>
        <c:lblOffset val="100"/>
        <c:noMultiLvlLbl val="0"/>
      </c:catAx>
      <c:valAx>
        <c:axId val="60020"/>
        <c:scaling>
          <c:orientation val="minMax"/>
          <c:max val="900"/>
          <c:min val="0"/>
        </c:scaling>
        <c:delete val="0"/>
        <c:axPos val="l"/>
        <c:majorGridlines>
          <c:spPr>
            <a:ln w="6350">
              <a:solidFill>
                <a:srgbClr val="E3E8EB"/>
              </a:solidFill>
            </a:ln>
          </c:spPr>
        </c:majorGridlines>
        <c:numFmt formatCode="0" sourceLinked="0"/>
        <c:majorTickMark val="none"/>
        <c:minorTickMark val="none"/>
        <c:tickLblPos val="low"/>
        <c:spPr>
          <a:ln w="6350">
            <a:solidFill>
              <a:srgbClr val="FFFFFF"/>
            </a:solidFill>
          </a:ln>
        </c:spPr>
        <c:txPr>
          <a:bodyPr/>
          <a:lstStyle/>
          <a:p>
            <a:pPr>
              <a:defRPr sz="800" b="0">
                <a:solidFill>
                  <a:srgbClr val="5B6770"/>
                </a:solidFill>
                <a:latin typeface="Arial"/>
                <a:cs typeface="Arial"/>
              </a:defRPr>
            </a:pPr>
            <a:endParaRPr lang="fr-FR"/>
          </a:p>
        </c:txPr>
        <c:crossAx val="60010"/>
        <c:crosses val="autoZero"/>
        <c:crossBetween val="between"/>
        <c:majorUnit val="200"/>
      </c:valAx>
    </c:plotArea>
    <c:legend>
      <c:legendPos val="b"/>
      <c:overlay val="0"/>
      <c:txPr>
        <a:bodyPr/>
        <a:lstStyle/>
        <a:p>
          <a:pPr>
            <a:defRPr sz="700" b="0">
              <a:solidFill>
                <a:srgbClr val="1F2A30"/>
              </a:solidFill>
              <a:latin typeface="Arial"/>
              <a:cs typeface="Arial"/>
            </a:defRPr>
          </a:pPr>
          <a:endParaRPr lang="fr-FR"/>
        </a:p>
      </c:txPr>
    </c:legend>
    <c:plotVisOnly val="1"/>
    <c:dispBlanksAs val="gap"/>
  </c:chart>
  <c:spPr>
    <a:noFill/>
    <a:ln>
      <a:noFill/>
    </a:ln>
  </c:spPr>
  <c:txPr>
    <a:bodyPr/>
    <a:lstStyle/>
    <a:p>
      <a:pPr>
        <a:defRPr sz="1000" b="0">
          <a:solidFill>
            <a:srgbClr val="5B6770"/>
          </a:solidFill>
          <a:latin typeface="Arial"/>
          <a:cs typeface="Arial"/>
        </a:defRPr>
      </a:pPr>
      <a:endParaRPr lang="fr-FR"/>
    </a:p>
  </c:txPr>
</c:chartSpace>
</file>

<file path=ppt/charts/chart38.xml><?xml version="1.0" encoding="utf-8"?>
<c:chartSpace xmlns:c="http://schemas.openxmlformats.org/drawingml/2006/chart" xmlns:a="http://schemas.openxmlformats.org/drawingml/2006/main" xmlns:r="http://schemas.openxmlformats.org/officeDocument/2006/relationships">
  <c:roundedCorners val="0"/>
  <c:chart>
    <c:autoTitleDeleted val="1"/>
    <c:plotArea>
      <c:layout/>
      <c:lineChart>
        <c:grouping val="standard"/>
        <c:varyColors val="0"/>
        <c:ser>
          <c:idx val="0"/>
          <c:order val="0"/>
          <c:tx>
            <c:strRef>
              <c:f>Sheet1!$B$1</c:f>
              <c:strCache>
                <c:ptCount val="1"/>
                <c:pt idx="0">
                  <c:v>2007/08</c:v>
                </c:pt>
              </c:strCache>
            </c:strRef>
          </c:tx>
          <c:spPr>
            <a:ln w="13970" cap="rnd">
              <a:solidFill>
                <a:srgbClr val="1F77B4"/>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Sheet1!$B$2:$B$13</c:f>
              <c:numCache>
                <c:formatCode>General</c:formatCode>
                <c:ptCount val="12"/>
                <c:pt idx="0">
                  <c:v>22.96</c:v>
                </c:pt>
                <c:pt idx="1">
                  <c:v>22.69</c:v>
                </c:pt>
                <c:pt idx="2">
                  <c:v>22.8</c:v>
                </c:pt>
                <c:pt idx="3">
                  <c:v>23.19</c:v>
                </c:pt>
                <c:pt idx="4">
                  <c:v>22.91</c:v>
                </c:pt>
                <c:pt idx="5">
                  <c:v>22.95</c:v>
                </c:pt>
                <c:pt idx="6">
                  <c:v>22.95</c:v>
                </c:pt>
                <c:pt idx="7">
                  <c:v>22.36</c:v>
                </c:pt>
                <c:pt idx="8">
                  <c:v>22.63</c:v>
                </c:pt>
                <c:pt idx="9">
                  <c:v>23.16</c:v>
                </c:pt>
                <c:pt idx="10">
                  <c:v>23.02</c:v>
                </c:pt>
                <c:pt idx="11">
                  <c:v>22.88</c:v>
                </c:pt>
              </c:numCache>
            </c:numRef>
          </c:val>
          <c:smooth val="0"/>
        </c:ser>
        <c:ser>
          <c:idx val="1"/>
          <c:order val="1"/>
          <c:tx>
            <c:strRef>
              <c:f>Sheet1!$C$1</c:f>
              <c:strCache>
                <c:ptCount val="1"/>
                <c:pt idx="0">
                  <c:v>2010/11</c:v>
                </c:pt>
              </c:strCache>
            </c:strRef>
          </c:tx>
          <c:spPr>
            <a:ln w="13970" cap="rnd">
              <a:solidFill>
                <a:srgbClr val="FF7F0E"/>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Sheet1!$C$2:$C$13</c:f>
              <c:numCache>
                <c:formatCode>General</c:formatCode>
                <c:ptCount val="12"/>
                <c:pt idx="0">
                  <c:v>23.02</c:v>
                </c:pt>
                <c:pt idx="1">
                  <c:v>22.93</c:v>
                </c:pt>
                <c:pt idx="2">
                  <c:v>22.95</c:v>
                </c:pt>
                <c:pt idx="3">
                  <c:v>22.53</c:v>
                </c:pt>
                <c:pt idx="4">
                  <c:v>22.54</c:v>
                </c:pt>
                <c:pt idx="5">
                  <c:v>21.86</c:v>
                </c:pt>
                <c:pt idx="6">
                  <c:v>22.4</c:v>
                </c:pt>
                <c:pt idx="7">
                  <c:v>22.85</c:v>
                </c:pt>
                <c:pt idx="8">
                  <c:v>22.45</c:v>
                </c:pt>
                <c:pt idx="9">
                  <c:v>23.09</c:v>
                </c:pt>
                <c:pt idx="10">
                  <c:v>23.37</c:v>
                </c:pt>
                <c:pt idx="11">
                  <c:v>23.0</c:v>
                </c:pt>
              </c:numCache>
            </c:numRef>
          </c:val>
          <c:smooth val="0"/>
        </c:ser>
        <c:ser>
          <c:idx val="2"/>
          <c:order val="2"/>
          <c:tx>
            <c:strRef>
              <c:f>Sheet1!$D$1</c:f>
              <c:strCache>
                <c:ptCount val="1"/>
                <c:pt idx="0">
                  <c:v>2011/12</c:v>
                </c:pt>
              </c:strCache>
            </c:strRef>
          </c:tx>
          <c:spPr>
            <a:ln w="13970" cap="rnd">
              <a:solidFill>
                <a:srgbClr val="2CA02C"/>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Sheet1!$D$2:$D$13</c:f>
              <c:numCache>
                <c:formatCode>General</c:formatCode>
                <c:ptCount val="12"/>
                <c:pt idx="0">
                  <c:v>22.84</c:v>
                </c:pt>
                <c:pt idx="1">
                  <c:v>22.92</c:v>
                </c:pt>
                <c:pt idx="2">
                  <c:v>23.0</c:v>
                </c:pt>
                <c:pt idx="3">
                  <c:v>23.57</c:v>
                </c:pt>
                <c:pt idx="4">
                  <c:v>22.96</c:v>
                </c:pt>
                <c:pt idx="5">
                  <c:v>23.14</c:v>
                </c:pt>
                <c:pt idx="6">
                  <c:v>22.52</c:v>
                </c:pt>
                <c:pt idx="7">
                  <c:v>22.9</c:v>
                </c:pt>
                <c:pt idx="8">
                  <c:v>22.6</c:v>
                </c:pt>
                <c:pt idx="9">
                  <c:v>23.02</c:v>
                </c:pt>
                <c:pt idx="10">
                  <c:v>23.38</c:v>
                </c:pt>
                <c:pt idx="11">
                  <c:v>23.36</c:v>
                </c:pt>
              </c:numCache>
            </c:numRef>
          </c:val>
          <c:smooth val="0"/>
        </c:ser>
        <c:ser>
          <c:idx val="3"/>
          <c:order val="3"/>
          <c:tx>
            <c:strRef>
              <c:f>Sheet1!$E$1</c:f>
              <c:strCache>
                <c:ptCount val="1"/>
                <c:pt idx="0">
                  <c:v>2020/21</c:v>
                </c:pt>
              </c:strCache>
            </c:strRef>
          </c:tx>
          <c:spPr>
            <a:ln w="13970" cap="rnd">
              <a:solidFill>
                <a:srgbClr val="9467BD"/>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Sheet1!$E$2:$E$13</c:f>
              <c:numCache>
                <c:formatCode>General</c:formatCode>
                <c:ptCount val="12"/>
                <c:pt idx="0">
                  <c:v>23.2</c:v>
                </c:pt>
                <c:pt idx="1">
                  <c:v>23.29</c:v>
                </c:pt>
                <c:pt idx="2">
                  <c:v>23.38</c:v>
                </c:pt>
                <c:pt idx="3">
                  <c:v>23.02</c:v>
                </c:pt>
                <c:pt idx="4">
                  <c:v>23.26</c:v>
                </c:pt>
                <c:pt idx="5">
                  <c:v>22.45</c:v>
                </c:pt>
                <c:pt idx="6">
                  <c:v>22.82</c:v>
                </c:pt>
                <c:pt idx="7">
                  <c:v>23.3</c:v>
                </c:pt>
                <c:pt idx="8">
                  <c:v>23.11</c:v>
                </c:pt>
                <c:pt idx="9">
                  <c:v>23.34</c:v>
                </c:pt>
                <c:pt idx="10">
                  <c:v>23.96</c:v>
                </c:pt>
                <c:pt idx="11">
                  <c:v>23.15</c:v>
                </c:pt>
              </c:numCache>
            </c:numRef>
          </c:val>
          <c:smooth val="0"/>
        </c:ser>
        <c:ser>
          <c:idx val="4"/>
          <c:order val="4"/>
          <c:tx>
            <c:strRef>
              <c:f>Sheet1!$F$1</c:f>
              <c:strCache>
                <c:ptCount val="1"/>
                <c:pt idx="0">
                  <c:v>2021/22</c:v>
                </c:pt>
              </c:strCache>
            </c:strRef>
          </c:tx>
          <c:spPr>
            <a:ln w="13970" cap="rnd">
              <a:solidFill>
                <a:srgbClr val="8C564B"/>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Sheet1!$F$2:$F$13</c:f>
              <c:numCache>
                <c:formatCode>General</c:formatCode>
                <c:ptCount val="12"/>
                <c:pt idx="0">
                  <c:v>22.97</c:v>
                </c:pt>
                <c:pt idx="1">
                  <c:v>23.06</c:v>
                </c:pt>
                <c:pt idx="2">
                  <c:v>23.31</c:v>
                </c:pt>
                <c:pt idx="3">
                  <c:v>23.28</c:v>
                </c:pt>
                <c:pt idx="4">
                  <c:v>22.69</c:v>
                </c:pt>
                <c:pt idx="5">
                  <c:v>23.17</c:v>
                </c:pt>
                <c:pt idx="6">
                  <c:v>23.29</c:v>
                </c:pt>
                <c:pt idx="7">
                  <c:v>22.81</c:v>
                </c:pt>
                <c:pt idx="8">
                  <c:v>23.23</c:v>
                </c:pt>
                <c:pt idx="9">
                  <c:v>23.57</c:v>
                </c:pt>
                <c:pt idx="10">
                  <c:v>23.8</c:v>
                </c:pt>
                <c:pt idx="11">
                  <c:v>22.97</c:v>
                </c:pt>
              </c:numCache>
            </c:numRef>
          </c:val>
          <c:smooth val="0"/>
        </c:ser>
        <c:ser>
          <c:idx val="5"/>
          <c:order val="5"/>
          <c:tx>
            <c:strRef>
              <c:f>Sheet1!$G$1</c:f>
              <c:strCache>
                <c:ptCount val="1"/>
                <c:pt idx="0">
                  <c:v>2022/23</c:v>
                </c:pt>
              </c:strCache>
            </c:strRef>
          </c:tx>
          <c:spPr>
            <a:ln w="13970" cap="rnd">
              <a:solidFill>
                <a:srgbClr val="E377C2"/>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Sheet1!$G$2:$G$13</c:f>
              <c:numCache>
                <c:formatCode>General</c:formatCode>
                <c:ptCount val="12"/>
                <c:pt idx="0">
                  <c:v>23.07</c:v>
                </c:pt>
                <c:pt idx="1">
                  <c:v>23.14</c:v>
                </c:pt>
                <c:pt idx="2">
                  <c:v>22.84</c:v>
                </c:pt>
                <c:pt idx="3">
                  <c:v>22.75</c:v>
                </c:pt>
                <c:pt idx="4">
                  <c:v>22.74</c:v>
                </c:pt>
                <c:pt idx="5">
                  <c:v>22.68</c:v>
                </c:pt>
                <c:pt idx="6">
                  <c:v>22.54</c:v>
                </c:pt>
                <c:pt idx="7">
                  <c:v>22.74</c:v>
                </c:pt>
                <c:pt idx="8">
                  <c:v>23.28</c:v>
                </c:pt>
                <c:pt idx="9">
                  <c:v>23.71</c:v>
                </c:pt>
                <c:pt idx="10">
                  <c:v>24.17</c:v>
                </c:pt>
                <c:pt idx="11">
                  <c:v>23.91</c:v>
                </c:pt>
              </c:numCache>
            </c:numRef>
          </c:val>
          <c:smooth val="0"/>
        </c:ser>
        <c:ser>
          <c:idx val="6"/>
          <c:order val="6"/>
          <c:tx>
            <c:strRef>
              <c:f>Sheet1!$H$1</c:f>
              <c:strCache>
                <c:ptCount val="1"/>
                <c:pt idx="0">
                  <c:v>Average</c:v>
                </c:pt>
              </c:strCache>
            </c:strRef>
          </c:tx>
          <c:spPr>
            <a:ln w="28575" cap="rnd">
              <a:solidFill>
                <a:srgbClr val="000000"/>
              </a:solidFill>
              <a:prstDash val="dash"/>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Sheet1!$H$2:$H$13</c:f>
              <c:numCache>
                <c:formatCode>General</c:formatCode>
                <c:ptCount val="12"/>
                <c:pt idx="0">
                  <c:v>23.01</c:v>
                </c:pt>
                <c:pt idx="1">
                  <c:v>23.0</c:v>
                </c:pt>
                <c:pt idx="2">
                  <c:v>23.05</c:v>
                </c:pt>
                <c:pt idx="3">
                  <c:v>23.06</c:v>
                </c:pt>
                <c:pt idx="4">
                  <c:v>22.85</c:v>
                </c:pt>
                <c:pt idx="5">
                  <c:v>22.71</c:v>
                </c:pt>
                <c:pt idx="6">
                  <c:v>22.75</c:v>
                </c:pt>
                <c:pt idx="7">
                  <c:v>22.83</c:v>
                </c:pt>
                <c:pt idx="8">
                  <c:v>22.88</c:v>
                </c:pt>
                <c:pt idx="9">
                  <c:v>23.32</c:v>
                </c:pt>
                <c:pt idx="10">
                  <c:v>23.62</c:v>
                </c:pt>
                <c:pt idx="11">
                  <c:v>23.21</c:v>
                </c:pt>
              </c:numCache>
            </c:numRef>
          </c:val>
          <c:smooth val="0"/>
        </c:ser>
        <c:marker val="1"/>
        <c:axId val="60010"/>
        <c:axId val="60020"/>
      </c:lineChart>
      <c:catAx>
        <c:axId val="60010"/>
        <c:scaling>
          <c:orientation val="minMax"/>
        </c:scaling>
        <c:delete val="0"/>
        <c:axPos val="b"/>
        <c:numFmt formatCode="General" sourceLinked="0"/>
        <c:majorTickMark val="none"/>
        <c:minorTickMark val="none"/>
        <c:tickLblPos val="low"/>
        <c:spPr>
          <a:ln w="9525">
            <a:solidFill>
              <a:srgbClr val="B7C0C5"/>
            </a:solidFill>
          </a:ln>
        </c:spPr>
        <c:txPr>
          <a:bodyPr/>
          <a:lstStyle/>
          <a:p>
            <a:pPr>
              <a:defRPr sz="800" b="0">
                <a:solidFill>
                  <a:srgbClr val="5B6770"/>
                </a:solidFill>
                <a:latin typeface="Arial"/>
                <a:cs typeface="Arial"/>
              </a:defRPr>
            </a:pPr>
            <a:endParaRPr lang="fr-FR"/>
          </a:p>
        </c:txPr>
        <c:crossAx val="60020"/>
        <c:crosses val="autoZero"/>
        <c:auto val="1"/>
        <c:lblAlgn val="ctr"/>
        <c:lblOffset val="100"/>
        <c:noMultiLvlLbl val="0"/>
      </c:catAx>
      <c:valAx>
        <c:axId val="60020"/>
        <c:scaling>
          <c:orientation val="minMax"/>
          <c:max val="25.5"/>
          <c:min val="21.5"/>
        </c:scaling>
        <c:delete val="0"/>
        <c:axPos val="l"/>
        <c:majorGridlines>
          <c:spPr>
            <a:ln w="6350">
              <a:solidFill>
                <a:srgbClr val="E3E8EB"/>
              </a:solidFill>
            </a:ln>
          </c:spPr>
        </c:majorGridlines>
        <c:numFmt formatCode="0.0" sourceLinked="0"/>
        <c:majorTickMark val="none"/>
        <c:minorTickMark val="none"/>
        <c:tickLblPos val="low"/>
        <c:spPr>
          <a:ln w="6350">
            <a:solidFill>
              <a:srgbClr val="FFFFFF"/>
            </a:solidFill>
          </a:ln>
        </c:spPr>
        <c:txPr>
          <a:bodyPr/>
          <a:lstStyle/>
          <a:p>
            <a:pPr>
              <a:defRPr sz="800" b="0">
                <a:solidFill>
                  <a:srgbClr val="5B6770"/>
                </a:solidFill>
                <a:latin typeface="Arial"/>
                <a:cs typeface="Arial"/>
              </a:defRPr>
            </a:pPr>
            <a:endParaRPr lang="fr-FR"/>
          </a:p>
        </c:txPr>
        <c:crossAx val="60010"/>
        <c:crosses val="autoZero"/>
        <c:crossBetween val="between"/>
        <c:majorUnit val="0.5"/>
      </c:valAx>
    </c:plotArea>
    <c:plotVisOnly val="1"/>
    <c:dispBlanksAs val="gap"/>
  </c:chart>
  <c:spPr>
    <a:noFill/>
    <a:ln>
      <a:noFill/>
    </a:ln>
  </c:spPr>
  <c:txPr>
    <a:bodyPr/>
    <a:lstStyle/>
    <a:p>
      <a:pPr>
        <a:defRPr sz="1000" b="0">
          <a:solidFill>
            <a:srgbClr val="5B6770"/>
          </a:solidFill>
          <a:latin typeface="Arial"/>
          <a:cs typeface="Arial"/>
        </a:defRPr>
      </a:pPr>
      <a:endParaRPr lang="fr-FR"/>
    </a:p>
  </c:txPr>
</c:chartSpace>
</file>

<file path=ppt/charts/chart39.xml><?xml version="1.0" encoding="utf-8"?>
<c:chartSpace xmlns:c="http://schemas.openxmlformats.org/drawingml/2006/chart" xmlns:a="http://schemas.openxmlformats.org/drawingml/2006/main" xmlns:r="http://schemas.openxmlformats.org/officeDocument/2006/relationships">
  <c:roundedCorners val="0"/>
  <c:chart>
    <c:autoTitleDeleted val="1"/>
    <c:plotArea>
      <c:layout/>
      <c:lineChart>
        <c:grouping val="standard"/>
        <c:varyColors val="0"/>
        <c:ser>
          <c:idx val="0"/>
          <c:order val="0"/>
          <c:tx>
            <c:strRef>
              <c:f>Sheet1!$B$1</c:f>
              <c:strCache>
                <c:ptCount val="1"/>
                <c:pt idx="0">
                  <c:v>2007/08</c:v>
                </c:pt>
              </c:strCache>
            </c:strRef>
          </c:tx>
          <c:spPr>
            <a:ln w="13970" cap="rnd">
              <a:solidFill>
                <a:srgbClr val="1F77B4"/>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Sheet1!$B$2:$B$13</c:f>
              <c:numCache>
                <c:formatCode>General</c:formatCode>
                <c:ptCount val="12"/>
                <c:pt idx="0">
                  <c:v>170.0</c:v>
                </c:pt>
                <c:pt idx="1">
                  <c:v>53.0</c:v>
                </c:pt>
                <c:pt idx="2">
                  <c:v>164.0</c:v>
                </c:pt>
                <c:pt idx="3">
                  <c:v>175.0</c:v>
                </c:pt>
                <c:pt idx="4">
                  <c:v>259.0</c:v>
                </c:pt>
                <c:pt idx="5">
                  <c:v>345.0</c:v>
                </c:pt>
                <c:pt idx="6">
                  <c:v>199.0</c:v>
                </c:pt>
                <c:pt idx="7">
                  <c:v>148.0</c:v>
                </c:pt>
                <c:pt idx="8">
                  <c:v>350.0</c:v>
                </c:pt>
                <c:pt idx="9">
                  <c:v>286.0</c:v>
                </c:pt>
                <c:pt idx="10">
                  <c:v>58.0</c:v>
                </c:pt>
                <c:pt idx="11">
                  <c:v>74.0</c:v>
                </c:pt>
              </c:numCache>
            </c:numRef>
          </c:val>
          <c:smooth val="0"/>
        </c:ser>
        <c:ser>
          <c:idx val="1"/>
          <c:order val="1"/>
          <c:tx>
            <c:strRef>
              <c:f>Sheet1!$C$1</c:f>
              <c:strCache>
                <c:ptCount val="1"/>
                <c:pt idx="0">
                  <c:v>2010/11</c:v>
                </c:pt>
              </c:strCache>
            </c:strRef>
          </c:tx>
          <c:spPr>
            <a:ln w="13970" cap="rnd">
              <a:solidFill>
                <a:srgbClr val="FF7F0E"/>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Sheet1!$C$2:$C$13</c:f>
              <c:numCache>
                <c:formatCode>General</c:formatCode>
                <c:ptCount val="12"/>
                <c:pt idx="0">
                  <c:v>300.0</c:v>
                </c:pt>
                <c:pt idx="1">
                  <c:v>285.0</c:v>
                </c:pt>
                <c:pt idx="2">
                  <c:v>372.0</c:v>
                </c:pt>
                <c:pt idx="3">
                  <c:v>483.0</c:v>
                </c:pt>
                <c:pt idx="4">
                  <c:v>300.0</c:v>
                </c:pt>
                <c:pt idx="5">
                  <c:v>252.0</c:v>
                </c:pt>
                <c:pt idx="6">
                  <c:v>238.0</c:v>
                </c:pt>
                <c:pt idx="7">
                  <c:v>76.0</c:v>
                </c:pt>
                <c:pt idx="8">
                  <c:v>212.0</c:v>
                </c:pt>
                <c:pt idx="9">
                  <c:v>353.0</c:v>
                </c:pt>
                <c:pt idx="10">
                  <c:v>157.0</c:v>
                </c:pt>
                <c:pt idx="11">
                  <c:v>288.0</c:v>
                </c:pt>
              </c:numCache>
            </c:numRef>
          </c:val>
          <c:smooth val="0"/>
        </c:ser>
        <c:ser>
          <c:idx val="2"/>
          <c:order val="2"/>
          <c:tx>
            <c:strRef>
              <c:f>Sheet1!$D$1</c:f>
              <c:strCache>
                <c:ptCount val="1"/>
                <c:pt idx="0">
                  <c:v>2011/12</c:v>
                </c:pt>
              </c:strCache>
            </c:strRef>
          </c:tx>
          <c:spPr>
            <a:ln w="13970" cap="rnd">
              <a:solidFill>
                <a:srgbClr val="2CA02C"/>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Sheet1!$D$2:$D$13</c:f>
              <c:numCache>
                <c:formatCode>General</c:formatCode>
                <c:ptCount val="12"/>
                <c:pt idx="0">
                  <c:v>110.0</c:v>
                </c:pt>
                <c:pt idx="1">
                  <c:v>87.0</c:v>
                </c:pt>
                <c:pt idx="2">
                  <c:v>46.0</c:v>
                </c:pt>
                <c:pt idx="3">
                  <c:v>142.0</c:v>
                </c:pt>
                <c:pt idx="4">
                  <c:v>258.0</c:v>
                </c:pt>
                <c:pt idx="5">
                  <c:v>245.0</c:v>
                </c:pt>
                <c:pt idx="6">
                  <c:v>206.0</c:v>
                </c:pt>
                <c:pt idx="7">
                  <c:v>158.0</c:v>
                </c:pt>
                <c:pt idx="8">
                  <c:v>108.0</c:v>
                </c:pt>
                <c:pt idx="9">
                  <c:v>312.0</c:v>
                </c:pt>
                <c:pt idx="10">
                  <c:v>175.0</c:v>
                </c:pt>
                <c:pt idx="11">
                  <c:v>86.0</c:v>
                </c:pt>
              </c:numCache>
            </c:numRef>
          </c:val>
          <c:smooth val="0"/>
        </c:ser>
        <c:ser>
          <c:idx val="3"/>
          <c:order val="3"/>
          <c:tx>
            <c:strRef>
              <c:f>Sheet1!$E$1</c:f>
              <c:strCache>
                <c:ptCount val="1"/>
                <c:pt idx="0">
                  <c:v>2020/21</c:v>
                </c:pt>
              </c:strCache>
            </c:strRef>
          </c:tx>
          <c:spPr>
            <a:ln w="13970" cap="rnd">
              <a:solidFill>
                <a:srgbClr val="9467BD"/>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Sheet1!$E$2:$E$13</c:f>
              <c:numCache>
                <c:formatCode>General</c:formatCode>
                <c:ptCount val="12"/>
                <c:pt idx="0">
                  <c:v>120.0</c:v>
                </c:pt>
                <c:pt idx="1">
                  <c:v>125.0</c:v>
                </c:pt>
                <c:pt idx="2">
                  <c:v>259.0</c:v>
                </c:pt>
                <c:pt idx="3">
                  <c:v>506.0</c:v>
                </c:pt>
                <c:pt idx="4">
                  <c:v>458.0</c:v>
                </c:pt>
                <c:pt idx="5">
                  <c:v>368.0</c:v>
                </c:pt>
                <c:pt idx="6">
                  <c:v>513.0</c:v>
                </c:pt>
                <c:pt idx="7">
                  <c:v>257.0</c:v>
                </c:pt>
                <c:pt idx="8">
                  <c:v>274.0</c:v>
                </c:pt>
                <c:pt idx="9">
                  <c:v>159.0</c:v>
                </c:pt>
                <c:pt idx="10">
                  <c:v>392.0</c:v>
                </c:pt>
                <c:pt idx="11">
                  <c:v>218.0</c:v>
                </c:pt>
              </c:numCache>
            </c:numRef>
          </c:val>
          <c:smooth val="0"/>
        </c:ser>
        <c:ser>
          <c:idx val="4"/>
          <c:order val="4"/>
          <c:tx>
            <c:strRef>
              <c:f>Sheet1!$F$1</c:f>
              <c:strCache>
                <c:ptCount val="1"/>
                <c:pt idx="0">
                  <c:v>2021/22</c:v>
                </c:pt>
              </c:strCache>
            </c:strRef>
          </c:tx>
          <c:spPr>
            <a:ln w="13970" cap="rnd">
              <a:solidFill>
                <a:srgbClr val="8C564B"/>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Sheet1!$F$2:$F$13</c:f>
              <c:numCache>
                <c:formatCode>General</c:formatCode>
                <c:ptCount val="12"/>
                <c:pt idx="0">
                  <c:v>158.0</c:v>
                </c:pt>
                <c:pt idx="1">
                  <c:v>235.0</c:v>
                </c:pt>
                <c:pt idx="2">
                  <c:v>287.0</c:v>
                </c:pt>
                <c:pt idx="3">
                  <c:v>399.0</c:v>
                </c:pt>
                <c:pt idx="4">
                  <c:v>191.0</c:v>
                </c:pt>
                <c:pt idx="5">
                  <c:v>283.0</c:v>
                </c:pt>
                <c:pt idx="6">
                  <c:v>202.0</c:v>
                </c:pt>
                <c:pt idx="7">
                  <c:v>199.0</c:v>
                </c:pt>
                <c:pt idx="8">
                  <c:v>156.0</c:v>
                </c:pt>
                <c:pt idx="9">
                  <c:v>242.0</c:v>
                </c:pt>
                <c:pt idx="10">
                  <c:v>278.0</c:v>
                </c:pt>
                <c:pt idx="11">
                  <c:v>445.0</c:v>
                </c:pt>
              </c:numCache>
            </c:numRef>
          </c:val>
          <c:smooth val="0"/>
        </c:ser>
        <c:ser>
          <c:idx val="5"/>
          <c:order val="5"/>
          <c:tx>
            <c:strRef>
              <c:f>Sheet1!$G$1</c:f>
              <c:strCache>
                <c:ptCount val="1"/>
                <c:pt idx="0">
                  <c:v>2022/23</c:v>
                </c:pt>
              </c:strCache>
            </c:strRef>
          </c:tx>
          <c:spPr>
            <a:ln w="13970" cap="rnd">
              <a:solidFill>
                <a:srgbClr val="E377C2"/>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Sheet1!$G$2:$G$13</c:f>
              <c:numCache>
                <c:formatCode>General</c:formatCode>
                <c:ptCount val="12"/>
                <c:pt idx="0">
                  <c:v>288.0</c:v>
                </c:pt>
                <c:pt idx="1">
                  <c:v>519.0</c:v>
                </c:pt>
                <c:pt idx="2">
                  <c:v>349.0</c:v>
                </c:pt>
                <c:pt idx="3">
                  <c:v>504.0</c:v>
                </c:pt>
                <c:pt idx="4">
                  <c:v>447.0</c:v>
                </c:pt>
                <c:pt idx="5">
                  <c:v>293.0</c:v>
                </c:pt>
                <c:pt idx="6">
                  <c:v>268.0</c:v>
                </c:pt>
                <c:pt idx="7">
                  <c:v>145.0</c:v>
                </c:pt>
                <c:pt idx="8">
                  <c:v>334.0</c:v>
                </c:pt>
                <c:pt idx="9">
                  <c:v>294.0</c:v>
                </c:pt>
                <c:pt idx="10">
                  <c:v>88.0</c:v>
                </c:pt>
                <c:pt idx="11">
                  <c:v>115.0</c:v>
                </c:pt>
              </c:numCache>
            </c:numRef>
          </c:val>
          <c:smooth val="0"/>
        </c:ser>
        <c:ser>
          <c:idx val="6"/>
          <c:order val="6"/>
          <c:tx>
            <c:strRef>
              <c:f>Sheet1!$H$1</c:f>
              <c:strCache>
                <c:ptCount val="1"/>
                <c:pt idx="0">
                  <c:v>Average</c:v>
                </c:pt>
              </c:strCache>
            </c:strRef>
          </c:tx>
          <c:spPr>
            <a:ln w="28575" cap="rnd">
              <a:solidFill>
                <a:srgbClr val="000000"/>
              </a:solidFill>
              <a:prstDash val="dash"/>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Sheet1!$H$2:$H$13</c:f>
              <c:numCache>
                <c:formatCode>General</c:formatCode>
                <c:ptCount val="12"/>
                <c:pt idx="0">
                  <c:v>191.0</c:v>
                </c:pt>
                <c:pt idx="1">
                  <c:v>217.0</c:v>
                </c:pt>
                <c:pt idx="2">
                  <c:v>246.0</c:v>
                </c:pt>
                <c:pt idx="3">
                  <c:v>368.0</c:v>
                </c:pt>
                <c:pt idx="4">
                  <c:v>319.0</c:v>
                </c:pt>
                <c:pt idx="5">
                  <c:v>298.0</c:v>
                </c:pt>
                <c:pt idx="6">
                  <c:v>271.0</c:v>
                </c:pt>
                <c:pt idx="7">
                  <c:v>164.0</c:v>
                </c:pt>
                <c:pt idx="8">
                  <c:v>239.0</c:v>
                </c:pt>
                <c:pt idx="9">
                  <c:v>274.0</c:v>
                </c:pt>
                <c:pt idx="10">
                  <c:v>191.0</c:v>
                </c:pt>
                <c:pt idx="11">
                  <c:v>204.0</c:v>
                </c:pt>
              </c:numCache>
            </c:numRef>
          </c:val>
          <c:smooth val="0"/>
        </c:ser>
        <c:marker val="1"/>
        <c:axId val="60010"/>
        <c:axId val="60020"/>
      </c:lineChart>
      <c:catAx>
        <c:axId val="60010"/>
        <c:scaling>
          <c:orientation val="minMax"/>
        </c:scaling>
        <c:delete val="0"/>
        <c:axPos val="b"/>
        <c:numFmt formatCode="General" sourceLinked="0"/>
        <c:majorTickMark val="none"/>
        <c:minorTickMark val="none"/>
        <c:tickLblPos val="low"/>
        <c:spPr>
          <a:ln w="9525">
            <a:solidFill>
              <a:srgbClr val="B7C0C5"/>
            </a:solidFill>
          </a:ln>
        </c:spPr>
        <c:txPr>
          <a:bodyPr/>
          <a:lstStyle/>
          <a:p>
            <a:pPr>
              <a:defRPr sz="800" b="0">
                <a:solidFill>
                  <a:srgbClr val="5B6770"/>
                </a:solidFill>
                <a:latin typeface="Arial"/>
                <a:cs typeface="Arial"/>
              </a:defRPr>
            </a:pPr>
            <a:endParaRPr lang="fr-FR"/>
          </a:p>
        </c:txPr>
        <c:crossAx val="60020"/>
        <c:crosses val="autoZero"/>
        <c:auto val="1"/>
        <c:lblAlgn val="ctr"/>
        <c:lblOffset val="100"/>
        <c:noMultiLvlLbl val="0"/>
      </c:catAx>
      <c:valAx>
        <c:axId val="60020"/>
        <c:scaling>
          <c:orientation val="minMax"/>
          <c:max val="900"/>
          <c:min val="0"/>
        </c:scaling>
        <c:delete val="0"/>
        <c:axPos val="l"/>
        <c:majorGridlines>
          <c:spPr>
            <a:ln w="6350">
              <a:solidFill>
                <a:srgbClr val="E3E8EB"/>
              </a:solidFill>
            </a:ln>
          </c:spPr>
        </c:majorGridlines>
        <c:numFmt formatCode="0" sourceLinked="0"/>
        <c:majorTickMark val="none"/>
        <c:minorTickMark val="none"/>
        <c:tickLblPos val="low"/>
        <c:spPr>
          <a:ln w="6350">
            <a:solidFill>
              <a:srgbClr val="FFFFFF"/>
            </a:solidFill>
          </a:ln>
        </c:spPr>
        <c:txPr>
          <a:bodyPr/>
          <a:lstStyle/>
          <a:p>
            <a:pPr>
              <a:defRPr sz="800" b="0">
                <a:solidFill>
                  <a:srgbClr val="5B6770"/>
                </a:solidFill>
                <a:latin typeface="Arial"/>
                <a:cs typeface="Arial"/>
              </a:defRPr>
            </a:pPr>
            <a:endParaRPr lang="fr-FR"/>
          </a:p>
        </c:txPr>
        <c:crossAx val="60010"/>
        <c:crosses val="autoZero"/>
        <c:crossBetween val="between"/>
        <c:majorUnit val="200"/>
      </c:valAx>
    </c:plotArea>
    <c:legend>
      <c:legendPos val="b"/>
      <c:overlay val="0"/>
      <c:txPr>
        <a:bodyPr/>
        <a:lstStyle/>
        <a:p>
          <a:pPr>
            <a:defRPr sz="700" b="0">
              <a:solidFill>
                <a:srgbClr val="1F2A30"/>
              </a:solidFill>
              <a:latin typeface="Arial"/>
              <a:cs typeface="Arial"/>
            </a:defRPr>
          </a:pPr>
          <a:endParaRPr lang="fr-FR"/>
        </a:p>
      </c:txPr>
    </c:legend>
    <c:plotVisOnly val="1"/>
    <c:dispBlanksAs val="gap"/>
  </c:chart>
  <c:spPr>
    <a:noFill/>
    <a:ln>
      <a:noFill/>
    </a:ln>
  </c:spPr>
  <c:txPr>
    <a:bodyPr/>
    <a:lstStyle/>
    <a:p>
      <a:pPr>
        <a:defRPr sz="1000" b="0">
          <a:solidFill>
            <a:srgbClr val="5B6770"/>
          </a:solidFill>
          <a:latin typeface="Arial"/>
          <a:cs typeface="Arial"/>
        </a:defRPr>
      </a:pPr>
      <a:endParaRPr lang="fr-FR"/>
    </a:p>
  </c:txPr>
</c:chartSpace>
</file>

<file path=ppt/charts/chart40.xml><?xml version="1.0" encoding="utf-8"?>
<c:chartSpace xmlns:c="http://schemas.openxmlformats.org/drawingml/2006/chart" xmlns:a="http://schemas.openxmlformats.org/drawingml/2006/main" xmlns:r="http://schemas.openxmlformats.org/officeDocument/2006/relationships">
  <c:roundedCorners val="0"/>
  <c:chart>
    <c:autoTitleDeleted val="1"/>
    <c:plotArea>
      <c:layout/>
      <c:lineChart>
        <c:grouping val="standard"/>
        <c:varyColors val="0"/>
        <c:ser>
          <c:idx val="0"/>
          <c:order val="0"/>
          <c:tx>
            <c:strRef>
              <c:f>Sheet1!$B$1</c:f>
              <c:strCache>
                <c:ptCount val="1"/>
                <c:pt idx="0">
                  <c:v>2008/09</c:v>
                </c:pt>
              </c:strCache>
            </c:strRef>
          </c:tx>
          <c:spPr>
            <a:ln w="13970" cap="rnd">
              <a:solidFill>
                <a:srgbClr val="1F77B4"/>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Sheet1!$B$2:$B$13</c:f>
              <c:numCache>
                <c:formatCode>General</c:formatCode>
                <c:ptCount val="12"/>
                <c:pt idx="0">
                  <c:v>22.62</c:v>
                </c:pt>
                <c:pt idx="1">
                  <c:v>23.07</c:v>
                </c:pt>
                <c:pt idx="2">
                  <c:v>23.0</c:v>
                </c:pt>
                <c:pt idx="3">
                  <c:v>23.37</c:v>
                </c:pt>
                <c:pt idx="4">
                  <c:v>22.92</c:v>
                </c:pt>
                <c:pt idx="5">
                  <c:v>22.63</c:v>
                </c:pt>
                <c:pt idx="6">
                  <c:v>22.66</c:v>
                </c:pt>
                <c:pt idx="7">
                  <c:v>22.51</c:v>
                </c:pt>
                <c:pt idx="8">
                  <c:v>22.89</c:v>
                </c:pt>
                <c:pt idx="9">
                  <c:v>23.51</c:v>
                </c:pt>
                <c:pt idx="10">
                  <c:v>23.38</c:v>
                </c:pt>
                <c:pt idx="11">
                  <c:v>23.11</c:v>
                </c:pt>
              </c:numCache>
            </c:numRef>
          </c:val>
          <c:smooth val="0"/>
        </c:ser>
        <c:ser>
          <c:idx val="1"/>
          <c:order val="1"/>
          <c:tx>
            <c:strRef>
              <c:f>Sheet1!$C$1</c:f>
              <c:strCache>
                <c:ptCount val="1"/>
                <c:pt idx="0">
                  <c:v>2012/13</c:v>
                </c:pt>
              </c:strCache>
            </c:strRef>
          </c:tx>
          <c:spPr>
            <a:ln w="13970" cap="rnd">
              <a:solidFill>
                <a:srgbClr val="FF7F0E"/>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Sheet1!$C$2:$C$13</c:f>
              <c:numCache>
                <c:formatCode>General</c:formatCode>
                <c:ptCount val="12"/>
                <c:pt idx="0">
                  <c:v>22.84</c:v>
                </c:pt>
                <c:pt idx="1">
                  <c:v>23.1</c:v>
                </c:pt>
                <c:pt idx="2">
                  <c:v>23.06</c:v>
                </c:pt>
                <c:pt idx="3">
                  <c:v>23.54</c:v>
                </c:pt>
                <c:pt idx="4">
                  <c:v>23.23</c:v>
                </c:pt>
                <c:pt idx="5">
                  <c:v>22.75</c:v>
                </c:pt>
                <c:pt idx="6">
                  <c:v>22.64</c:v>
                </c:pt>
                <c:pt idx="7">
                  <c:v>22.66</c:v>
                </c:pt>
                <c:pt idx="8">
                  <c:v>23.64</c:v>
                </c:pt>
                <c:pt idx="9">
                  <c:v>23.37</c:v>
                </c:pt>
                <c:pt idx="10">
                  <c:v>23.69</c:v>
                </c:pt>
                <c:pt idx="11">
                  <c:v>22.96</c:v>
                </c:pt>
              </c:numCache>
            </c:numRef>
          </c:val>
          <c:smooth val="0"/>
        </c:ser>
        <c:ser>
          <c:idx val="2"/>
          <c:order val="2"/>
          <c:tx>
            <c:strRef>
              <c:f>Sheet1!$D$1</c:f>
              <c:strCache>
                <c:ptCount val="1"/>
                <c:pt idx="0">
                  <c:v>2013/14</c:v>
                </c:pt>
              </c:strCache>
            </c:strRef>
          </c:tx>
          <c:spPr>
            <a:ln w="13970" cap="rnd">
              <a:solidFill>
                <a:srgbClr val="2CA02C"/>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Sheet1!$D$2:$D$13</c:f>
              <c:numCache>
                <c:formatCode>General</c:formatCode>
                <c:ptCount val="12"/>
                <c:pt idx="0">
                  <c:v>22.47</c:v>
                </c:pt>
                <c:pt idx="1">
                  <c:v>22.61</c:v>
                </c:pt>
                <c:pt idx="2">
                  <c:v>22.83</c:v>
                </c:pt>
                <c:pt idx="3">
                  <c:v>23.16</c:v>
                </c:pt>
                <c:pt idx="4">
                  <c:v>22.74</c:v>
                </c:pt>
                <c:pt idx="5">
                  <c:v>22.68</c:v>
                </c:pt>
                <c:pt idx="6">
                  <c:v>22.62</c:v>
                </c:pt>
                <c:pt idx="7">
                  <c:v>23.21</c:v>
                </c:pt>
                <c:pt idx="8">
                  <c:v>23.78</c:v>
                </c:pt>
                <c:pt idx="9">
                  <c:v>23.26</c:v>
                </c:pt>
                <c:pt idx="10">
                  <c:v>23.98</c:v>
                </c:pt>
                <c:pt idx="11">
                  <c:v>23.44</c:v>
                </c:pt>
              </c:numCache>
            </c:numRef>
          </c:val>
          <c:smooth val="0"/>
        </c:ser>
        <c:ser>
          <c:idx val="3"/>
          <c:order val="3"/>
          <c:tx>
            <c:strRef>
              <c:f>Sheet1!$E$1</c:f>
              <c:strCache>
                <c:ptCount val="1"/>
                <c:pt idx="0">
                  <c:v>2014/15</c:v>
                </c:pt>
              </c:strCache>
            </c:strRef>
          </c:tx>
          <c:spPr>
            <a:ln w="13970" cap="rnd">
              <a:solidFill>
                <a:srgbClr val="9467BD"/>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Sheet1!$E$2:$E$13</c:f>
              <c:numCache>
                <c:formatCode>General</c:formatCode>
                <c:ptCount val="12"/>
                <c:pt idx="0">
                  <c:v>22.91</c:v>
                </c:pt>
                <c:pt idx="1">
                  <c:v>23.05</c:v>
                </c:pt>
                <c:pt idx="2">
                  <c:v>23.05</c:v>
                </c:pt>
                <c:pt idx="3">
                  <c:v>23.43</c:v>
                </c:pt>
                <c:pt idx="4">
                  <c:v>23.09</c:v>
                </c:pt>
                <c:pt idx="5">
                  <c:v>22.65</c:v>
                </c:pt>
                <c:pt idx="6">
                  <c:v>22.62</c:v>
                </c:pt>
                <c:pt idx="7">
                  <c:v>23.05</c:v>
                </c:pt>
                <c:pt idx="8">
                  <c:v>23.13</c:v>
                </c:pt>
                <c:pt idx="9">
                  <c:v>23.03</c:v>
                </c:pt>
                <c:pt idx="10">
                  <c:v>23.7</c:v>
                </c:pt>
                <c:pt idx="11">
                  <c:v>23.55</c:v>
                </c:pt>
              </c:numCache>
            </c:numRef>
          </c:val>
          <c:smooth val="0"/>
        </c:ser>
        <c:ser>
          <c:idx val="4"/>
          <c:order val="4"/>
          <c:tx>
            <c:strRef>
              <c:f>Sheet1!$F$1</c:f>
              <c:strCache>
                <c:ptCount val="1"/>
                <c:pt idx="0">
                  <c:v>2016/17</c:v>
                </c:pt>
              </c:strCache>
            </c:strRef>
          </c:tx>
          <c:spPr>
            <a:ln w="13970" cap="rnd">
              <a:solidFill>
                <a:srgbClr val="8C564B"/>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Sheet1!$F$2:$F$13</c:f>
              <c:numCache>
                <c:formatCode>General</c:formatCode>
                <c:ptCount val="12"/>
                <c:pt idx="0">
                  <c:v>23.33</c:v>
                </c:pt>
                <c:pt idx="1">
                  <c:v>22.95</c:v>
                </c:pt>
                <c:pt idx="2">
                  <c:v>22.95</c:v>
                </c:pt>
                <c:pt idx="3">
                  <c:v>22.61</c:v>
                </c:pt>
                <c:pt idx="4">
                  <c:v>22.89</c:v>
                </c:pt>
                <c:pt idx="5">
                  <c:v>22.47</c:v>
                </c:pt>
                <c:pt idx="6">
                  <c:v>22.59</c:v>
                </c:pt>
                <c:pt idx="7">
                  <c:v>22.62</c:v>
                </c:pt>
                <c:pt idx="8">
                  <c:v>23.09</c:v>
                </c:pt>
                <c:pt idx="9">
                  <c:v>23.18</c:v>
                </c:pt>
                <c:pt idx="10">
                  <c:v>23.97</c:v>
                </c:pt>
                <c:pt idx="11">
                  <c:v>23.33</c:v>
                </c:pt>
              </c:numCache>
            </c:numRef>
          </c:val>
          <c:smooth val="0"/>
        </c:ser>
        <c:ser>
          <c:idx val="5"/>
          <c:order val="5"/>
          <c:tx>
            <c:strRef>
              <c:f>Sheet1!$G$1</c:f>
              <c:strCache>
                <c:ptCount val="1"/>
                <c:pt idx="0">
                  <c:v>2017/18</c:v>
                </c:pt>
              </c:strCache>
            </c:strRef>
          </c:tx>
          <c:spPr>
            <a:ln w="13970" cap="rnd">
              <a:solidFill>
                <a:srgbClr val="E377C2"/>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Sheet1!$G$2:$G$13</c:f>
              <c:numCache>
                <c:formatCode>General</c:formatCode>
                <c:ptCount val="12"/>
                <c:pt idx="0">
                  <c:v>22.96</c:v>
                </c:pt>
                <c:pt idx="1">
                  <c:v>23.07</c:v>
                </c:pt>
                <c:pt idx="2">
                  <c:v>23.27</c:v>
                </c:pt>
                <c:pt idx="3">
                  <c:v>23.24</c:v>
                </c:pt>
                <c:pt idx="4">
                  <c:v>23.02</c:v>
                </c:pt>
                <c:pt idx="5">
                  <c:v>23.0</c:v>
                </c:pt>
                <c:pt idx="6">
                  <c:v>22.19</c:v>
                </c:pt>
                <c:pt idx="7">
                  <c:v>23.09</c:v>
                </c:pt>
                <c:pt idx="8">
                  <c:v>23.16</c:v>
                </c:pt>
                <c:pt idx="9">
                  <c:v>23.78</c:v>
                </c:pt>
                <c:pt idx="10">
                  <c:v>23.89</c:v>
                </c:pt>
                <c:pt idx="11">
                  <c:v>23.26</c:v>
                </c:pt>
              </c:numCache>
            </c:numRef>
          </c:val>
          <c:smooth val="0"/>
        </c:ser>
        <c:ser>
          <c:idx val="6"/>
          <c:order val="6"/>
          <c:tx>
            <c:strRef>
              <c:f>Sheet1!$H$1</c:f>
              <c:strCache>
                <c:ptCount val="1"/>
                <c:pt idx="0">
                  <c:v>2019/20</c:v>
                </c:pt>
              </c:strCache>
            </c:strRef>
          </c:tx>
          <c:spPr>
            <a:ln w="13970" cap="rnd">
              <a:solidFill>
                <a:srgbClr val="17BECF"/>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Sheet1!$H$2:$H$13</c:f>
              <c:numCache>
                <c:formatCode>General</c:formatCode>
                <c:ptCount val="12"/>
                <c:pt idx="0">
                  <c:v>23.08</c:v>
                </c:pt>
                <c:pt idx="1">
                  <c:v>22.84</c:v>
                </c:pt>
                <c:pt idx="2">
                  <c:v>23.23</c:v>
                </c:pt>
                <c:pt idx="3">
                  <c:v>23.82</c:v>
                </c:pt>
                <c:pt idx="4">
                  <c:v>24.55</c:v>
                </c:pt>
                <c:pt idx="5">
                  <c:v>23.64</c:v>
                </c:pt>
                <c:pt idx="6">
                  <c:v>23.9</c:v>
                </c:pt>
                <c:pt idx="7">
                  <c:v>23.96</c:v>
                </c:pt>
                <c:pt idx="8">
                  <c:v>23.77</c:v>
                </c:pt>
                <c:pt idx="9">
                  <c:v>23.93</c:v>
                </c:pt>
                <c:pt idx="10">
                  <c:v>23.98</c:v>
                </c:pt>
                <c:pt idx="11">
                  <c:v>23.53</c:v>
                </c:pt>
              </c:numCache>
            </c:numRef>
          </c:val>
          <c:smooth val="0"/>
        </c:ser>
        <c:ser>
          <c:idx val="7"/>
          <c:order val="7"/>
          <c:tx>
            <c:strRef>
              <c:f>Sheet1!$I$1</c:f>
              <c:strCache>
                <c:ptCount val="1"/>
                <c:pt idx="0">
                  <c:v>2024/25</c:v>
                </c:pt>
              </c:strCache>
            </c:strRef>
          </c:tx>
          <c:spPr>
            <a:ln w="13970" cap="rnd">
              <a:solidFill>
                <a:srgbClr val="BCBD22"/>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Sheet1!$I$2:$I$13</c:f>
              <c:numCache>
                <c:formatCode>General</c:formatCode>
                <c:ptCount val="12"/>
                <c:pt idx="0">
                  <c:v>23.83</c:v>
                </c:pt>
                <c:pt idx="1">
                  <c:v>23.79</c:v>
                </c:pt>
                <c:pt idx="2">
                  <c:v>23.99</c:v>
                </c:pt>
                <c:pt idx="3">
                  <c:v>24.29</c:v>
                </c:pt>
                <c:pt idx="4">
                  <c:v>23.48</c:v>
                </c:pt>
                <c:pt idx="5">
                  <c:v>23.16</c:v>
                </c:pt>
                <c:pt idx="6">
                  <c:v>23.21</c:v>
                </c:pt>
                <c:pt idx="7">
                  <c:v>23.41</c:v>
                </c:pt>
                <c:pt idx="8">
                  <c:v>23.59</c:v>
                </c:pt>
                <c:pt idx="9">
                  <c:v>23.56</c:v>
                </c:pt>
                <c:pt idx="10">
                  <c:v>23.88</c:v>
                </c:pt>
                <c:pt idx="11">
                  <c:v>23.34</c:v>
                </c:pt>
              </c:numCache>
            </c:numRef>
          </c:val>
          <c:smooth val="0"/>
        </c:ser>
        <c:ser>
          <c:idx val="8"/>
          <c:order val="8"/>
          <c:tx>
            <c:strRef>
              <c:f>Sheet1!$J$1</c:f>
              <c:strCache>
                <c:ptCount val="1"/>
                <c:pt idx="0">
                  <c:v>2025/26</c:v>
                </c:pt>
              </c:strCache>
            </c:strRef>
          </c:tx>
          <c:spPr>
            <a:ln w="13970" cap="rnd">
              <a:solidFill>
                <a:srgbClr val="7F7F7F"/>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Sheet1!$J$2:$J$13</c:f>
              <c:numCache>
                <c:formatCode>General</c:formatCode>
                <c:ptCount val="12"/>
                <c:pt idx="0">
                  <c:v>23.2</c:v>
                </c:pt>
                <c:pt idx="1">
                  <c:v>23.07</c:v>
                </c:pt>
                <c:pt idx="2">
                  <c:v>23.32</c:v>
                </c:pt>
                <c:pt idx="3">
                  <c:v>23.29</c:v>
                </c:pt>
                <c:pt idx="4">
                  <c:v>22.88</c:v>
                </c:pt>
                <c:pt idx="5">
                  <c:v>22.94</c:v>
                </c:pt>
                <c:pt idx="6">
                  <c:v>22.9</c:v>
                </c:pt>
                <c:pt idx="7">
                  <c:v>23.08</c:v>
                </c:pt>
                <c:pt idx="8">
                  <c:v>23.54</c:v>
                </c:pt>
                <c:pt idx="9">
                  <c:v>23.87</c:v>
                </c:pt>
                <c:pt idx="10">
                  <c:v>23.98</c:v>
                </c:pt>
                <c:pt idx="11">
                  <c:v>23.78</c:v>
                </c:pt>
              </c:numCache>
            </c:numRef>
          </c:val>
          <c:smooth val="0"/>
        </c:ser>
        <c:ser>
          <c:idx val="9"/>
          <c:order val="9"/>
          <c:tx>
            <c:strRef>
              <c:f>Sheet1!$K$1</c:f>
              <c:strCache>
                <c:ptCount val="1"/>
                <c:pt idx="0">
                  <c:v>Average</c:v>
                </c:pt>
              </c:strCache>
            </c:strRef>
          </c:tx>
          <c:spPr>
            <a:ln w="28575" cap="rnd">
              <a:solidFill>
                <a:srgbClr val="000000"/>
              </a:solidFill>
              <a:prstDash val="dash"/>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Sheet1!$K$2:$K$13</c:f>
              <c:numCache>
                <c:formatCode>General</c:formatCode>
                <c:ptCount val="12"/>
                <c:pt idx="0">
                  <c:v>23.03</c:v>
                </c:pt>
                <c:pt idx="1">
                  <c:v>23.06</c:v>
                </c:pt>
                <c:pt idx="2">
                  <c:v>23.19</c:v>
                </c:pt>
                <c:pt idx="3">
                  <c:v>23.42</c:v>
                </c:pt>
                <c:pt idx="4">
                  <c:v>23.2</c:v>
                </c:pt>
                <c:pt idx="5">
                  <c:v>22.88</c:v>
                </c:pt>
                <c:pt idx="6">
                  <c:v>22.81</c:v>
                </c:pt>
                <c:pt idx="7">
                  <c:v>23.07</c:v>
                </c:pt>
                <c:pt idx="8">
                  <c:v>23.4</c:v>
                </c:pt>
                <c:pt idx="9">
                  <c:v>23.5</c:v>
                </c:pt>
                <c:pt idx="10">
                  <c:v>23.83</c:v>
                </c:pt>
                <c:pt idx="11">
                  <c:v>23.37</c:v>
                </c:pt>
              </c:numCache>
            </c:numRef>
          </c:val>
          <c:smooth val="0"/>
        </c:ser>
        <c:marker val="1"/>
        <c:axId val="60010"/>
        <c:axId val="60020"/>
      </c:lineChart>
      <c:catAx>
        <c:axId val="60010"/>
        <c:scaling>
          <c:orientation val="minMax"/>
        </c:scaling>
        <c:delete val="0"/>
        <c:axPos val="b"/>
        <c:numFmt formatCode="General" sourceLinked="0"/>
        <c:majorTickMark val="none"/>
        <c:minorTickMark val="none"/>
        <c:tickLblPos val="low"/>
        <c:spPr>
          <a:ln w="9525">
            <a:solidFill>
              <a:srgbClr val="B7C0C5"/>
            </a:solidFill>
          </a:ln>
        </c:spPr>
        <c:txPr>
          <a:bodyPr/>
          <a:lstStyle/>
          <a:p>
            <a:pPr>
              <a:defRPr sz="800" b="0">
                <a:solidFill>
                  <a:srgbClr val="5B6770"/>
                </a:solidFill>
                <a:latin typeface="Arial"/>
                <a:cs typeface="Arial"/>
              </a:defRPr>
            </a:pPr>
            <a:endParaRPr lang="fr-FR"/>
          </a:p>
        </c:txPr>
        <c:crossAx val="60020"/>
        <c:crosses val="autoZero"/>
        <c:auto val="1"/>
        <c:lblAlgn val="ctr"/>
        <c:lblOffset val="100"/>
        <c:noMultiLvlLbl val="0"/>
      </c:catAx>
      <c:valAx>
        <c:axId val="60020"/>
        <c:scaling>
          <c:orientation val="minMax"/>
          <c:max val="25.5"/>
          <c:min val="21.5"/>
        </c:scaling>
        <c:delete val="0"/>
        <c:axPos val="l"/>
        <c:majorGridlines>
          <c:spPr>
            <a:ln w="6350">
              <a:solidFill>
                <a:srgbClr val="E3E8EB"/>
              </a:solidFill>
            </a:ln>
          </c:spPr>
        </c:majorGridlines>
        <c:numFmt formatCode="0.0" sourceLinked="0"/>
        <c:majorTickMark val="none"/>
        <c:minorTickMark val="none"/>
        <c:tickLblPos val="low"/>
        <c:spPr>
          <a:ln w="6350">
            <a:solidFill>
              <a:srgbClr val="FFFFFF"/>
            </a:solidFill>
          </a:ln>
        </c:spPr>
        <c:txPr>
          <a:bodyPr/>
          <a:lstStyle/>
          <a:p>
            <a:pPr>
              <a:defRPr sz="800" b="0">
                <a:solidFill>
                  <a:srgbClr val="5B6770"/>
                </a:solidFill>
                <a:latin typeface="Arial"/>
                <a:cs typeface="Arial"/>
              </a:defRPr>
            </a:pPr>
            <a:endParaRPr lang="fr-FR"/>
          </a:p>
        </c:txPr>
        <c:crossAx val="60010"/>
        <c:crosses val="autoZero"/>
        <c:crossBetween val="between"/>
        <c:majorUnit val="0.5"/>
      </c:valAx>
    </c:plotArea>
    <c:plotVisOnly val="1"/>
    <c:dispBlanksAs val="gap"/>
  </c:chart>
  <c:spPr>
    <a:noFill/>
    <a:ln>
      <a:noFill/>
    </a:ln>
  </c:spPr>
  <c:txPr>
    <a:bodyPr/>
    <a:lstStyle/>
    <a:p>
      <a:pPr>
        <a:defRPr sz="1000" b="0">
          <a:solidFill>
            <a:srgbClr val="5B6770"/>
          </a:solidFill>
          <a:latin typeface="Arial"/>
          <a:cs typeface="Arial"/>
        </a:defRPr>
      </a:pPr>
      <a:endParaRPr lang="fr-FR"/>
    </a:p>
  </c:txPr>
</c:chartSpace>
</file>

<file path=ppt/charts/chart41.xml><?xml version="1.0" encoding="utf-8"?>
<c:chartSpace xmlns:c="http://schemas.openxmlformats.org/drawingml/2006/chart" xmlns:a="http://schemas.openxmlformats.org/drawingml/2006/main" xmlns:r="http://schemas.openxmlformats.org/officeDocument/2006/relationships">
  <c:roundedCorners val="0"/>
  <c:chart>
    <c:autoTitleDeleted val="1"/>
    <c:plotArea>
      <c:layout/>
      <c:lineChart>
        <c:grouping val="standard"/>
        <c:varyColors val="0"/>
        <c:ser>
          <c:idx val="0"/>
          <c:order val="0"/>
          <c:tx>
            <c:strRef>
              <c:f>Sheet1!$B$1</c:f>
              <c:strCache>
                <c:ptCount val="1"/>
                <c:pt idx="0">
                  <c:v>2008/09</c:v>
                </c:pt>
              </c:strCache>
            </c:strRef>
          </c:tx>
          <c:spPr>
            <a:ln w="13970" cap="rnd">
              <a:solidFill>
                <a:srgbClr val="1F77B4"/>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Sheet1!$B$2:$B$13</c:f>
              <c:numCache>
                <c:formatCode>General</c:formatCode>
                <c:ptCount val="12"/>
                <c:pt idx="0">
                  <c:v>48.0</c:v>
                </c:pt>
                <c:pt idx="1">
                  <c:v>191.0</c:v>
                </c:pt>
                <c:pt idx="2">
                  <c:v>168.0</c:v>
                </c:pt>
                <c:pt idx="3">
                  <c:v>209.0</c:v>
                </c:pt>
                <c:pt idx="4">
                  <c:v>536.0</c:v>
                </c:pt>
                <c:pt idx="5">
                  <c:v>630.0</c:v>
                </c:pt>
                <c:pt idx="6">
                  <c:v>305.0</c:v>
                </c:pt>
                <c:pt idx="7">
                  <c:v>160.0</c:v>
                </c:pt>
                <c:pt idx="8">
                  <c:v>246.0</c:v>
                </c:pt>
                <c:pt idx="9">
                  <c:v>371.0</c:v>
                </c:pt>
                <c:pt idx="10">
                  <c:v>126.0</c:v>
                </c:pt>
                <c:pt idx="11">
                  <c:v>192.0</c:v>
                </c:pt>
              </c:numCache>
            </c:numRef>
          </c:val>
          <c:smooth val="0"/>
        </c:ser>
        <c:ser>
          <c:idx val="1"/>
          <c:order val="1"/>
          <c:tx>
            <c:strRef>
              <c:f>Sheet1!$C$1</c:f>
              <c:strCache>
                <c:ptCount val="1"/>
                <c:pt idx="0">
                  <c:v>2012/13</c:v>
                </c:pt>
              </c:strCache>
            </c:strRef>
          </c:tx>
          <c:spPr>
            <a:ln w="13970" cap="rnd">
              <a:solidFill>
                <a:srgbClr val="FF7F0E"/>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Sheet1!$C$2:$C$13</c:f>
              <c:numCache>
                <c:formatCode>General</c:formatCode>
                <c:ptCount val="12"/>
                <c:pt idx="0">
                  <c:v>130.0</c:v>
                </c:pt>
                <c:pt idx="1">
                  <c:v>150.0</c:v>
                </c:pt>
                <c:pt idx="2">
                  <c:v>48.0</c:v>
                </c:pt>
                <c:pt idx="3">
                  <c:v>290.0</c:v>
                </c:pt>
                <c:pt idx="4">
                  <c:v>420.0</c:v>
                </c:pt>
                <c:pt idx="5">
                  <c:v>426.0</c:v>
                </c:pt>
                <c:pt idx="6">
                  <c:v>372.0</c:v>
                </c:pt>
                <c:pt idx="7">
                  <c:v>289.0</c:v>
                </c:pt>
                <c:pt idx="8">
                  <c:v>232.0</c:v>
                </c:pt>
                <c:pt idx="9">
                  <c:v>206.0</c:v>
                </c:pt>
                <c:pt idx="10">
                  <c:v>254.0</c:v>
                </c:pt>
                <c:pt idx="11">
                  <c:v>173.0</c:v>
                </c:pt>
              </c:numCache>
            </c:numRef>
          </c:val>
          <c:smooth val="0"/>
        </c:ser>
        <c:ser>
          <c:idx val="2"/>
          <c:order val="2"/>
          <c:tx>
            <c:strRef>
              <c:f>Sheet1!$D$1</c:f>
              <c:strCache>
                <c:ptCount val="1"/>
                <c:pt idx="0">
                  <c:v>2013/14</c:v>
                </c:pt>
              </c:strCache>
            </c:strRef>
          </c:tx>
          <c:spPr>
            <a:ln w="13970" cap="rnd">
              <a:solidFill>
                <a:srgbClr val="2CA02C"/>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Sheet1!$D$2:$D$13</c:f>
              <c:numCache>
                <c:formatCode>General</c:formatCode>
                <c:ptCount val="12"/>
                <c:pt idx="0">
                  <c:v>377.0</c:v>
                </c:pt>
                <c:pt idx="1">
                  <c:v>149.0</c:v>
                </c:pt>
                <c:pt idx="2">
                  <c:v>288.0</c:v>
                </c:pt>
                <c:pt idx="3">
                  <c:v>240.0</c:v>
                </c:pt>
                <c:pt idx="4">
                  <c:v>443.0</c:v>
                </c:pt>
                <c:pt idx="5">
                  <c:v>294.0</c:v>
                </c:pt>
                <c:pt idx="6">
                  <c:v>282.0</c:v>
                </c:pt>
                <c:pt idx="7">
                  <c:v>166.0</c:v>
                </c:pt>
                <c:pt idx="8">
                  <c:v>197.0</c:v>
                </c:pt>
                <c:pt idx="9">
                  <c:v>374.0</c:v>
                </c:pt>
                <c:pt idx="10">
                  <c:v>300.0</c:v>
                </c:pt>
                <c:pt idx="11">
                  <c:v>138.0</c:v>
                </c:pt>
              </c:numCache>
            </c:numRef>
          </c:val>
          <c:smooth val="0"/>
        </c:ser>
        <c:ser>
          <c:idx val="3"/>
          <c:order val="3"/>
          <c:tx>
            <c:strRef>
              <c:f>Sheet1!$E$1</c:f>
              <c:strCache>
                <c:ptCount val="1"/>
                <c:pt idx="0">
                  <c:v>2014/15</c:v>
                </c:pt>
              </c:strCache>
            </c:strRef>
          </c:tx>
          <c:spPr>
            <a:ln w="13970" cap="rnd">
              <a:solidFill>
                <a:srgbClr val="9467BD"/>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Sheet1!$E$2:$E$13</c:f>
              <c:numCache>
                <c:formatCode>General</c:formatCode>
                <c:ptCount val="12"/>
                <c:pt idx="0">
                  <c:v>121.0</c:v>
                </c:pt>
                <c:pt idx="1">
                  <c:v>297.0</c:v>
                </c:pt>
                <c:pt idx="2">
                  <c:v>69.0</c:v>
                </c:pt>
                <c:pt idx="3">
                  <c:v>118.0</c:v>
                </c:pt>
                <c:pt idx="4">
                  <c:v>486.0</c:v>
                </c:pt>
                <c:pt idx="5">
                  <c:v>238.0</c:v>
                </c:pt>
                <c:pt idx="6">
                  <c:v>377.0</c:v>
                </c:pt>
                <c:pt idx="7">
                  <c:v>300.0</c:v>
                </c:pt>
                <c:pt idx="8">
                  <c:v>199.0</c:v>
                </c:pt>
                <c:pt idx="9">
                  <c:v>355.0</c:v>
                </c:pt>
                <c:pt idx="10">
                  <c:v>85.0</c:v>
                </c:pt>
                <c:pt idx="11">
                  <c:v>165.0</c:v>
                </c:pt>
              </c:numCache>
            </c:numRef>
          </c:val>
          <c:smooth val="0"/>
        </c:ser>
        <c:ser>
          <c:idx val="4"/>
          <c:order val="4"/>
          <c:tx>
            <c:strRef>
              <c:f>Sheet1!$F$1</c:f>
              <c:strCache>
                <c:ptCount val="1"/>
                <c:pt idx="0">
                  <c:v>2016/17</c:v>
                </c:pt>
              </c:strCache>
            </c:strRef>
          </c:tx>
          <c:spPr>
            <a:ln w="13970" cap="rnd">
              <a:solidFill>
                <a:srgbClr val="8C564B"/>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Sheet1!$F$2:$F$13</c:f>
              <c:numCache>
                <c:formatCode>General</c:formatCode>
                <c:ptCount val="12"/>
                <c:pt idx="0">
                  <c:v>123.0</c:v>
                </c:pt>
                <c:pt idx="1">
                  <c:v>402.0</c:v>
                </c:pt>
                <c:pt idx="2">
                  <c:v>157.0</c:v>
                </c:pt>
                <c:pt idx="3">
                  <c:v>253.0</c:v>
                </c:pt>
                <c:pt idx="4">
                  <c:v>551.0</c:v>
                </c:pt>
                <c:pt idx="5">
                  <c:v>220.0</c:v>
                </c:pt>
                <c:pt idx="6">
                  <c:v>279.0</c:v>
                </c:pt>
                <c:pt idx="7">
                  <c:v>389.0</c:v>
                </c:pt>
                <c:pt idx="8">
                  <c:v>264.0</c:v>
                </c:pt>
                <c:pt idx="9">
                  <c:v>280.0</c:v>
                </c:pt>
                <c:pt idx="10">
                  <c:v>284.0</c:v>
                </c:pt>
                <c:pt idx="11">
                  <c:v>148.0</c:v>
                </c:pt>
              </c:numCache>
            </c:numRef>
          </c:val>
          <c:smooth val="0"/>
        </c:ser>
        <c:ser>
          <c:idx val="5"/>
          <c:order val="5"/>
          <c:tx>
            <c:strRef>
              <c:f>Sheet1!$G$1</c:f>
              <c:strCache>
                <c:ptCount val="1"/>
                <c:pt idx="0">
                  <c:v>2017/18</c:v>
                </c:pt>
              </c:strCache>
            </c:strRef>
          </c:tx>
          <c:spPr>
            <a:ln w="13970" cap="rnd">
              <a:solidFill>
                <a:srgbClr val="E377C2"/>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Sheet1!$G$2:$G$13</c:f>
              <c:numCache>
                <c:formatCode>General</c:formatCode>
                <c:ptCount val="12"/>
                <c:pt idx="0">
                  <c:v>116.0</c:v>
                </c:pt>
                <c:pt idx="1">
                  <c:v>295.0</c:v>
                </c:pt>
                <c:pt idx="2">
                  <c:v>383.0</c:v>
                </c:pt>
                <c:pt idx="3">
                  <c:v>297.0</c:v>
                </c:pt>
                <c:pt idx="4">
                  <c:v>350.0</c:v>
                </c:pt>
                <c:pt idx="5">
                  <c:v>300.0</c:v>
                </c:pt>
                <c:pt idx="6">
                  <c:v>176.0</c:v>
                </c:pt>
                <c:pt idx="7">
                  <c:v>228.0</c:v>
                </c:pt>
                <c:pt idx="8">
                  <c:v>276.0</c:v>
                </c:pt>
                <c:pt idx="9">
                  <c:v>244.0</c:v>
                </c:pt>
                <c:pt idx="10">
                  <c:v>272.0</c:v>
                </c:pt>
                <c:pt idx="11">
                  <c:v>174.0</c:v>
                </c:pt>
              </c:numCache>
            </c:numRef>
          </c:val>
          <c:smooth val="0"/>
        </c:ser>
        <c:ser>
          <c:idx val="6"/>
          <c:order val="6"/>
          <c:tx>
            <c:strRef>
              <c:f>Sheet1!$H$1</c:f>
              <c:strCache>
                <c:ptCount val="1"/>
                <c:pt idx="0">
                  <c:v>2019/20</c:v>
                </c:pt>
              </c:strCache>
            </c:strRef>
          </c:tx>
          <c:spPr>
            <a:ln w="13970" cap="rnd">
              <a:solidFill>
                <a:srgbClr val="17BECF"/>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Sheet1!$H$2:$H$13</c:f>
              <c:numCache>
                <c:formatCode>General</c:formatCode>
                <c:ptCount val="12"/>
                <c:pt idx="0">
                  <c:v>172.0</c:v>
                </c:pt>
                <c:pt idx="1">
                  <c:v>47.0</c:v>
                </c:pt>
                <c:pt idx="2">
                  <c:v>97.0</c:v>
                </c:pt>
                <c:pt idx="3">
                  <c:v>57.0</c:v>
                </c:pt>
                <c:pt idx="4">
                  <c:v>93.0</c:v>
                </c:pt>
                <c:pt idx="5">
                  <c:v>336.0</c:v>
                </c:pt>
                <c:pt idx="6">
                  <c:v>422.0</c:v>
                </c:pt>
                <c:pt idx="7">
                  <c:v>251.0</c:v>
                </c:pt>
                <c:pt idx="8">
                  <c:v>456.0</c:v>
                </c:pt>
                <c:pt idx="9">
                  <c:v>450.0</c:v>
                </c:pt>
                <c:pt idx="10">
                  <c:v>217.0</c:v>
                </c:pt>
                <c:pt idx="11">
                  <c:v>234.0</c:v>
                </c:pt>
              </c:numCache>
            </c:numRef>
          </c:val>
          <c:smooth val="0"/>
        </c:ser>
        <c:ser>
          <c:idx val="7"/>
          <c:order val="7"/>
          <c:tx>
            <c:strRef>
              <c:f>Sheet1!$I$1</c:f>
              <c:strCache>
                <c:ptCount val="1"/>
                <c:pt idx="0">
                  <c:v>2024/25</c:v>
                </c:pt>
              </c:strCache>
            </c:strRef>
          </c:tx>
          <c:spPr>
            <a:ln w="13970" cap="rnd">
              <a:solidFill>
                <a:srgbClr val="BCBD22"/>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Sheet1!$I$2:$I$13</c:f>
              <c:numCache>
                <c:formatCode>General</c:formatCode>
                <c:ptCount val="12"/>
                <c:pt idx="0">
                  <c:v>195.0</c:v>
                </c:pt>
                <c:pt idx="1">
                  <c:v>46.0</c:v>
                </c:pt>
                <c:pt idx="2">
                  <c:v>120.0</c:v>
                </c:pt>
                <c:pt idx="3">
                  <c:v>115.0</c:v>
                </c:pt>
                <c:pt idx="4">
                  <c:v>304.0</c:v>
                </c:pt>
                <c:pt idx="5">
                  <c:v>376.0</c:v>
                </c:pt>
                <c:pt idx="6">
                  <c:v>317.0</c:v>
                </c:pt>
                <c:pt idx="7">
                  <c:v>263.0</c:v>
                </c:pt>
                <c:pt idx="8">
                  <c:v>343.0</c:v>
                </c:pt>
                <c:pt idx="9">
                  <c:v>229.0</c:v>
                </c:pt>
                <c:pt idx="10">
                  <c:v>147.0</c:v>
                </c:pt>
                <c:pt idx="11">
                  <c:v>149.0</c:v>
                </c:pt>
              </c:numCache>
            </c:numRef>
          </c:val>
          <c:smooth val="0"/>
        </c:ser>
        <c:ser>
          <c:idx val="8"/>
          <c:order val="8"/>
          <c:tx>
            <c:strRef>
              <c:f>Sheet1!$J$1</c:f>
              <c:strCache>
                <c:ptCount val="1"/>
                <c:pt idx="0">
                  <c:v>2025/26</c:v>
                </c:pt>
              </c:strCache>
            </c:strRef>
          </c:tx>
          <c:spPr>
            <a:ln w="13970" cap="rnd">
              <a:solidFill>
                <a:srgbClr val="7F7F7F"/>
              </a:solidFill>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Sheet1!$J$2:$J$13</c:f>
              <c:numCache>
                <c:formatCode>General</c:formatCode>
                <c:ptCount val="12"/>
                <c:pt idx="0">
                  <c:v>174.0</c:v>
                </c:pt>
                <c:pt idx="1">
                  <c:v>530.0</c:v>
                </c:pt>
                <c:pt idx="2">
                  <c:v>466.0</c:v>
                </c:pt>
                <c:pt idx="3">
                  <c:v>389.0</c:v>
                </c:pt>
                <c:pt idx="4">
                  <c:v>518.0</c:v>
                </c:pt>
                <c:pt idx="5">
                  <c:v>379.0</c:v>
                </c:pt>
                <c:pt idx="6">
                  <c:v>388.0</c:v>
                </c:pt>
                <c:pt idx="7">
                  <c:v>338.0</c:v>
                </c:pt>
                <c:pt idx="8">
                  <c:v>218.0</c:v>
                </c:pt>
                <c:pt idx="9">
                  <c:v>428.0</c:v>
                </c:pt>
                <c:pt idx="10">
                  <c:v>364.0</c:v>
                </c:pt>
                <c:pt idx="11">
                  <c:v>134.0</c:v>
                </c:pt>
              </c:numCache>
            </c:numRef>
          </c:val>
          <c:smooth val="0"/>
        </c:ser>
        <c:ser>
          <c:idx val="9"/>
          <c:order val="9"/>
          <c:tx>
            <c:strRef>
              <c:f>Sheet1!$K$1</c:f>
              <c:strCache>
                <c:ptCount val="1"/>
                <c:pt idx="0">
                  <c:v>Average</c:v>
                </c:pt>
              </c:strCache>
            </c:strRef>
          </c:tx>
          <c:spPr>
            <a:ln w="28575" cap="rnd">
              <a:solidFill>
                <a:srgbClr val="000000"/>
              </a:solidFill>
              <a:prstDash val="dash"/>
              <a:round/>
            </a:ln>
          </c:spPr>
          <c:marker>
            <c:symbol val="none"/>
          </c:marker>
          <c:cat>
            <c:strRef>
              <c:f>Sheet1!$A$2:$A$13</c:f>
              <c:strCache>
                <c:ptCount val="12"/>
                <c:pt idx="0">
                  <c:v>Jul</c:v>
                </c:pt>
                <c:pt idx="1">
                  <c:v>Aug</c:v>
                </c:pt>
                <c:pt idx="2">
                  <c:v>Sep</c:v>
                </c:pt>
                <c:pt idx="3">
                  <c:v>Oct</c:v>
                </c:pt>
                <c:pt idx="4">
                  <c:v>Nov</c:v>
                </c:pt>
                <c:pt idx="5">
                  <c:v>Dec</c:v>
                </c:pt>
                <c:pt idx="6">
                  <c:v>Jan</c:v>
                </c:pt>
                <c:pt idx="7">
                  <c:v>Feb</c:v>
                </c:pt>
                <c:pt idx="8">
                  <c:v>Mar</c:v>
                </c:pt>
                <c:pt idx="9">
                  <c:v>Apr</c:v>
                </c:pt>
                <c:pt idx="10">
                  <c:v>May</c:v>
                </c:pt>
                <c:pt idx="11">
                  <c:v>Jun</c:v>
                </c:pt>
              </c:strCache>
            </c:strRef>
          </c:cat>
          <c:val>
            <c:numRef>
              <c:f>Sheet1!$K$2:$K$13</c:f>
              <c:numCache>
                <c:formatCode>General</c:formatCode>
                <c:ptCount val="12"/>
                <c:pt idx="0">
                  <c:v>162.0</c:v>
                </c:pt>
                <c:pt idx="1">
                  <c:v>234.0</c:v>
                </c:pt>
                <c:pt idx="2">
                  <c:v>200.0</c:v>
                </c:pt>
                <c:pt idx="3">
                  <c:v>219.0</c:v>
                </c:pt>
                <c:pt idx="4">
                  <c:v>411.0</c:v>
                </c:pt>
                <c:pt idx="5">
                  <c:v>355.0</c:v>
                </c:pt>
                <c:pt idx="6">
                  <c:v>324.0</c:v>
                </c:pt>
                <c:pt idx="7">
                  <c:v>265.0</c:v>
                </c:pt>
                <c:pt idx="8">
                  <c:v>270.0</c:v>
                </c:pt>
                <c:pt idx="9">
                  <c:v>326.0</c:v>
                </c:pt>
                <c:pt idx="10">
                  <c:v>228.0</c:v>
                </c:pt>
                <c:pt idx="11">
                  <c:v>167.0</c:v>
                </c:pt>
              </c:numCache>
            </c:numRef>
          </c:val>
          <c:smooth val="0"/>
        </c:ser>
        <c:marker val="1"/>
        <c:axId val="60010"/>
        <c:axId val="60020"/>
      </c:lineChart>
      <c:catAx>
        <c:axId val="60010"/>
        <c:scaling>
          <c:orientation val="minMax"/>
        </c:scaling>
        <c:delete val="0"/>
        <c:axPos val="b"/>
        <c:numFmt formatCode="General" sourceLinked="0"/>
        <c:majorTickMark val="none"/>
        <c:minorTickMark val="none"/>
        <c:tickLblPos val="low"/>
        <c:spPr>
          <a:ln w="9525">
            <a:solidFill>
              <a:srgbClr val="B7C0C5"/>
            </a:solidFill>
          </a:ln>
        </c:spPr>
        <c:txPr>
          <a:bodyPr/>
          <a:lstStyle/>
          <a:p>
            <a:pPr>
              <a:defRPr sz="800" b="0">
                <a:solidFill>
                  <a:srgbClr val="5B6770"/>
                </a:solidFill>
                <a:latin typeface="Arial"/>
                <a:cs typeface="Arial"/>
              </a:defRPr>
            </a:pPr>
            <a:endParaRPr lang="fr-FR"/>
          </a:p>
        </c:txPr>
        <c:crossAx val="60020"/>
        <c:crosses val="autoZero"/>
        <c:auto val="1"/>
        <c:lblAlgn val="ctr"/>
        <c:lblOffset val="100"/>
        <c:noMultiLvlLbl val="0"/>
      </c:catAx>
      <c:valAx>
        <c:axId val="60020"/>
        <c:scaling>
          <c:orientation val="minMax"/>
          <c:max val="900"/>
          <c:min val="0"/>
        </c:scaling>
        <c:delete val="0"/>
        <c:axPos val="l"/>
        <c:majorGridlines>
          <c:spPr>
            <a:ln w="6350">
              <a:solidFill>
                <a:srgbClr val="E3E8EB"/>
              </a:solidFill>
            </a:ln>
          </c:spPr>
        </c:majorGridlines>
        <c:numFmt formatCode="0" sourceLinked="0"/>
        <c:majorTickMark val="none"/>
        <c:minorTickMark val="none"/>
        <c:tickLblPos val="low"/>
        <c:spPr>
          <a:ln w="6350">
            <a:solidFill>
              <a:srgbClr val="FFFFFF"/>
            </a:solidFill>
          </a:ln>
        </c:spPr>
        <c:txPr>
          <a:bodyPr/>
          <a:lstStyle/>
          <a:p>
            <a:pPr>
              <a:defRPr sz="800" b="0">
                <a:solidFill>
                  <a:srgbClr val="5B6770"/>
                </a:solidFill>
                <a:latin typeface="Arial"/>
                <a:cs typeface="Arial"/>
              </a:defRPr>
            </a:pPr>
            <a:endParaRPr lang="fr-FR"/>
          </a:p>
        </c:txPr>
        <c:crossAx val="60010"/>
        <c:crosses val="autoZero"/>
        <c:crossBetween val="between"/>
        <c:majorUnit val="200"/>
      </c:valAx>
    </c:plotArea>
    <c:legend>
      <c:legendPos val="b"/>
      <c:overlay val="0"/>
      <c:txPr>
        <a:bodyPr/>
        <a:lstStyle/>
        <a:p>
          <a:pPr>
            <a:defRPr sz="700" b="0">
              <a:solidFill>
                <a:srgbClr val="1F2A30"/>
              </a:solidFill>
              <a:latin typeface="Arial"/>
              <a:cs typeface="Arial"/>
            </a:defRPr>
          </a:pPr>
          <a:endParaRPr lang="fr-FR"/>
        </a:p>
      </c:txPr>
    </c:legend>
    <c:plotVisOnly val="1"/>
    <c:dispBlanksAs val="gap"/>
  </c:chart>
  <c:spPr>
    <a:noFill/>
    <a:ln>
      <a:noFill/>
    </a:ln>
  </c:spPr>
  <c:txPr>
    <a:bodyPr/>
    <a:lstStyle/>
    <a:p>
      <a:pPr>
        <a:defRPr sz="1000" b="0">
          <a:solidFill>
            <a:srgbClr val="5B6770"/>
          </a:solidFill>
          <a:latin typeface="Arial"/>
          <a:cs typeface="Arial"/>
        </a:defRPr>
      </a:pPr>
      <a:endParaRPr lang="fr-FR"/>
    </a:p>
  </c:txPr>
</c:chartSpace>
</file>

<file path=ppt/charts/chart42.xml><?xml version="1.0" encoding="utf-8"?>
<c:chartSpace xmlns:c="http://schemas.openxmlformats.org/drawingml/2006/chart" xmlns:a="http://schemas.openxmlformats.org/drawingml/2006/main" xmlns:r="http://schemas.openxmlformats.org/officeDocument/2006/relationships">
  <c:roundedCorners val="0"/>
  <c:chart>
    <c:autoTitleDeleted val="1"/>
    <c:plotArea>
      <c:layout/>
      <c:barChart>
        <c:barDir val="col"/>
        <c:grouping val="clustered"/>
        <c:varyColors val="0"/>
        <c:ser>
          <c:idx val="0"/>
          <c:order val="0"/>
          <c:tx>
            <c:strRef>
              <c:f>Sheet1!$B$1</c:f>
              <c:strCache>
                <c:ptCount val="1"/>
                <c:pt idx="0">
                  <c:v>El Niño</c:v>
                </c:pt>
              </c:strCache>
            </c:strRef>
          </c:tx>
          <c:spPr>
            <a:solidFill>
              <a:srgbClr val="ED7D31"/>
            </a:solidFill>
          </c:spPr>
          <c:invertIfNegative val="0"/>
          <c:dLbls>
            <c:numFmt formatCode="+0.0;-0.0;0.0" sourceLinked="0"/>
            <c:spPr>
              <a:noFill/>
              <a:ln>
                <a:noFill/>
              </a:ln>
            </c:spPr>
            <c:txPr>
              <a:bodyPr/>
              <a:lstStyle/>
              <a:p>
                <a:pPr>
                  <a:defRPr sz="700" b="1">
                    <a:solidFill>
                      <a:srgbClr val="1F2A30"/>
                    </a:solidFill>
                    <a:latin typeface="Arial"/>
                    <a:cs typeface="Arial"/>
                  </a:defRPr>
                </a:pPr>
                <a:endParaRPr lang="fr-FR"/>
              </a:p>
            </c:txPr>
            <c:dLblPos val="outEnd"/>
            <c:showLegendKey val="0"/>
            <c:showVal val="1"/>
            <c:showCatName val="0"/>
            <c:showSerName val="0"/>
            <c:showPercent val="0"/>
            <c:showBubbleSize val="0"/>
          </c:dLbls>
          <c:cat>
            <c:strRef>
              <c:f>Sheet1!$A$2:$A$21</c:f>
              <c:strCache>
                <c:ptCount val="20"/>
                <c:pt idx="0">
                  <c:v>2006/07</c:v>
                </c:pt>
                <c:pt idx="1">
                  <c:v>2007/08</c:v>
                </c:pt>
                <c:pt idx="2">
                  <c:v>2008/09</c:v>
                </c:pt>
                <c:pt idx="3">
                  <c:v>2009/10</c:v>
                </c:pt>
                <c:pt idx="4">
                  <c:v>2010/11</c:v>
                </c:pt>
                <c:pt idx="5">
                  <c:v>2011/12</c:v>
                </c:pt>
                <c:pt idx="6">
                  <c:v>2012/13</c:v>
                </c:pt>
                <c:pt idx="7">
                  <c:v>2013/14</c:v>
                </c:pt>
                <c:pt idx="8">
                  <c:v>2014/15</c:v>
                </c:pt>
                <c:pt idx="9">
                  <c:v>2015/16</c:v>
                </c:pt>
                <c:pt idx="10">
                  <c:v>2016/17</c:v>
                </c:pt>
                <c:pt idx="11">
                  <c:v>2017/18</c:v>
                </c:pt>
                <c:pt idx="12">
                  <c:v>2018/19</c:v>
                </c:pt>
                <c:pt idx="13">
                  <c:v>2019/20</c:v>
                </c:pt>
                <c:pt idx="14">
                  <c:v>2020/21</c:v>
                </c:pt>
                <c:pt idx="15">
                  <c:v>2021/22</c:v>
                </c:pt>
                <c:pt idx="16">
                  <c:v>2022/23</c:v>
                </c:pt>
                <c:pt idx="17">
                  <c:v>2023/24</c:v>
                </c:pt>
                <c:pt idx="18">
                  <c:v>2024/25</c:v>
                </c:pt>
                <c:pt idx="19">
                  <c:v>2025/26</c:v>
                </c:pt>
              </c:strCache>
            </c:strRef>
          </c:cat>
          <c:val>
            <c:numRef>
              <c:f>Sheet1!$B$2:$B$21</c:f>
              <c:numCache>
                <c:formatCode>General</c:formatCode>
                <c:ptCount val="20"/>
                <c:pt idx="0">
                  <c:v>0.13</c:v>
                </c:pt>
                <c:pt idx="3">
                  <c:v>0.41</c:v>
                </c:pt>
                <c:pt idx="9">
                  <c:v>0.6</c:v>
                </c:pt>
                <c:pt idx="12">
                  <c:v>0.18</c:v>
                </c:pt>
                <c:pt idx="17">
                  <c:v>0.99</c:v>
                </c:pt>
              </c:numCache>
            </c:numRef>
          </c:val>
        </c:ser>
        <c:ser>
          <c:idx val="1"/>
          <c:order val="1"/>
          <c:tx>
            <c:strRef>
              <c:f>Sheet1!$C$1</c:f>
              <c:strCache>
                <c:ptCount val="1"/>
                <c:pt idx="0">
                  <c:v>La Niña</c:v>
                </c:pt>
              </c:strCache>
            </c:strRef>
          </c:tx>
          <c:spPr>
            <a:solidFill>
              <a:srgbClr val="2E75B6"/>
            </a:solidFill>
          </c:spPr>
          <c:invertIfNegative val="0"/>
          <c:dLbls>
            <c:numFmt formatCode="+0.0;-0.0;0.0" sourceLinked="0"/>
            <c:spPr>
              <a:noFill/>
              <a:ln>
                <a:noFill/>
              </a:ln>
            </c:spPr>
            <c:txPr>
              <a:bodyPr/>
              <a:lstStyle/>
              <a:p>
                <a:pPr>
                  <a:defRPr sz="700" b="1">
                    <a:solidFill>
                      <a:srgbClr val="1F2A30"/>
                    </a:solidFill>
                    <a:latin typeface="Arial"/>
                    <a:cs typeface="Arial"/>
                  </a:defRPr>
                </a:pPr>
                <a:endParaRPr lang="fr-FR"/>
              </a:p>
            </c:txPr>
            <c:dLblPos val="outEnd"/>
            <c:showLegendKey val="0"/>
            <c:showVal val="1"/>
            <c:showCatName val="0"/>
            <c:showSerName val="0"/>
            <c:showPercent val="0"/>
            <c:showBubbleSize val="0"/>
          </c:dLbls>
          <c:cat>
            <c:strRef>
              <c:f>Sheet1!$A$2:$A$21</c:f>
              <c:strCache>
                <c:ptCount val="20"/>
                <c:pt idx="0">
                  <c:v>2006/07</c:v>
                </c:pt>
                <c:pt idx="1">
                  <c:v>2007/08</c:v>
                </c:pt>
                <c:pt idx="2">
                  <c:v>2008/09</c:v>
                </c:pt>
                <c:pt idx="3">
                  <c:v>2009/10</c:v>
                </c:pt>
                <c:pt idx="4">
                  <c:v>2010/11</c:v>
                </c:pt>
                <c:pt idx="5">
                  <c:v>2011/12</c:v>
                </c:pt>
                <c:pt idx="6">
                  <c:v>2012/13</c:v>
                </c:pt>
                <c:pt idx="7">
                  <c:v>2013/14</c:v>
                </c:pt>
                <c:pt idx="8">
                  <c:v>2014/15</c:v>
                </c:pt>
                <c:pt idx="9">
                  <c:v>2015/16</c:v>
                </c:pt>
                <c:pt idx="10">
                  <c:v>2016/17</c:v>
                </c:pt>
                <c:pt idx="11">
                  <c:v>2017/18</c:v>
                </c:pt>
                <c:pt idx="12">
                  <c:v>2018/19</c:v>
                </c:pt>
                <c:pt idx="13">
                  <c:v>2019/20</c:v>
                </c:pt>
                <c:pt idx="14">
                  <c:v>2020/21</c:v>
                </c:pt>
                <c:pt idx="15">
                  <c:v>2021/22</c:v>
                </c:pt>
                <c:pt idx="16">
                  <c:v>2022/23</c:v>
                </c:pt>
                <c:pt idx="17">
                  <c:v>2023/24</c:v>
                </c:pt>
                <c:pt idx="18">
                  <c:v>2024/25</c:v>
                </c:pt>
                <c:pt idx="19">
                  <c:v>2025/26</c:v>
                </c:pt>
              </c:strCache>
            </c:strRef>
          </c:cat>
          <c:val>
            <c:numRef>
              <c:f>Sheet1!$C$2:$C$21</c:f>
              <c:numCache>
                <c:formatCode>General</c:formatCode>
                <c:ptCount val="20"/>
                <c:pt idx="1">
                  <c:v>-0.17</c:v>
                </c:pt>
                <c:pt idx="4">
                  <c:v>-0.41</c:v>
                </c:pt>
                <c:pt idx="5">
                  <c:v>0.21</c:v>
                </c:pt>
                <c:pt idx="14">
                  <c:v>-0.73</c:v>
                </c:pt>
                <c:pt idx="15">
                  <c:v>0.02</c:v>
                </c:pt>
                <c:pt idx="16">
                  <c:v>-0.16</c:v>
                </c:pt>
              </c:numCache>
            </c:numRef>
          </c:val>
        </c:ser>
        <c:ser>
          <c:idx val="2"/>
          <c:order val="2"/>
          <c:tx>
            <c:strRef>
              <c:f>Sheet1!$D$1</c:f>
              <c:strCache>
                <c:ptCount val="1"/>
                <c:pt idx="0">
                  <c:v>Neutral</c:v>
                </c:pt>
              </c:strCache>
            </c:strRef>
          </c:tx>
          <c:spPr>
            <a:solidFill>
              <a:srgbClr val="7F7F7F"/>
            </a:solidFill>
          </c:spPr>
          <c:invertIfNegative val="0"/>
          <c:dLbls>
            <c:numFmt formatCode="+0.0;-0.0;0.0" sourceLinked="0"/>
            <c:spPr>
              <a:noFill/>
              <a:ln>
                <a:noFill/>
              </a:ln>
            </c:spPr>
            <c:txPr>
              <a:bodyPr/>
              <a:lstStyle/>
              <a:p>
                <a:pPr>
                  <a:defRPr sz="700" b="1">
                    <a:solidFill>
                      <a:srgbClr val="1F2A30"/>
                    </a:solidFill>
                    <a:latin typeface="Arial"/>
                    <a:cs typeface="Arial"/>
                  </a:defRPr>
                </a:pPr>
                <a:endParaRPr lang="fr-FR"/>
              </a:p>
            </c:txPr>
            <c:dLblPos val="outEnd"/>
            <c:showLegendKey val="0"/>
            <c:showVal val="1"/>
            <c:showCatName val="0"/>
            <c:showSerName val="0"/>
            <c:showPercent val="0"/>
            <c:showBubbleSize val="0"/>
          </c:dLbls>
          <c:cat>
            <c:strRef>
              <c:f>Sheet1!$A$2:$A$21</c:f>
              <c:strCache>
                <c:ptCount val="20"/>
                <c:pt idx="0">
                  <c:v>2006/07</c:v>
                </c:pt>
                <c:pt idx="1">
                  <c:v>2007/08</c:v>
                </c:pt>
                <c:pt idx="2">
                  <c:v>2008/09</c:v>
                </c:pt>
                <c:pt idx="3">
                  <c:v>2009/10</c:v>
                </c:pt>
                <c:pt idx="4">
                  <c:v>2010/11</c:v>
                </c:pt>
                <c:pt idx="5">
                  <c:v>2011/12</c:v>
                </c:pt>
                <c:pt idx="6">
                  <c:v>2012/13</c:v>
                </c:pt>
                <c:pt idx="7">
                  <c:v>2013/14</c:v>
                </c:pt>
                <c:pt idx="8">
                  <c:v>2014/15</c:v>
                </c:pt>
                <c:pt idx="9">
                  <c:v>2015/16</c:v>
                </c:pt>
                <c:pt idx="10">
                  <c:v>2016/17</c:v>
                </c:pt>
                <c:pt idx="11">
                  <c:v>2017/18</c:v>
                </c:pt>
                <c:pt idx="12">
                  <c:v>2018/19</c:v>
                </c:pt>
                <c:pt idx="13">
                  <c:v>2019/20</c:v>
                </c:pt>
                <c:pt idx="14">
                  <c:v>2020/21</c:v>
                </c:pt>
                <c:pt idx="15">
                  <c:v>2021/22</c:v>
                </c:pt>
                <c:pt idx="16">
                  <c:v>2022/23</c:v>
                </c:pt>
                <c:pt idx="17">
                  <c:v>2023/24</c:v>
                </c:pt>
                <c:pt idx="18">
                  <c:v>2024/25</c:v>
                </c:pt>
                <c:pt idx="19">
                  <c:v>2025/26</c:v>
                </c:pt>
              </c:strCache>
            </c:strRef>
          </c:cat>
          <c:val>
            <c:numRef>
              <c:f>Sheet1!$D$2:$D$21</c:f>
              <c:numCache>
                <c:formatCode>General</c:formatCode>
                <c:ptCount val="20"/>
                <c:pt idx="2">
                  <c:v>-0.15</c:v>
                </c:pt>
                <c:pt idx="6">
                  <c:v>0.13</c:v>
                </c:pt>
                <c:pt idx="7">
                  <c:v>-0.25</c:v>
                </c:pt>
                <c:pt idx="8">
                  <c:v>0.25</c:v>
                </c:pt>
                <c:pt idx="10">
                  <c:v>-0.66</c:v>
                </c:pt>
                <c:pt idx="11">
                  <c:v>0.03</c:v>
                </c:pt>
                <c:pt idx="13">
                  <c:v>0.56</c:v>
                </c:pt>
                <c:pt idx="18">
                  <c:v>-0.13</c:v>
                </c:pt>
                <c:pt idx="19">
                  <c:v>-0.65</c:v>
                </c:pt>
              </c:numCache>
            </c:numRef>
          </c:val>
        </c:ser>
        <c:gapWidth val="35"/>
        <c:overlap val="100"/>
        <c:axId val="50010"/>
        <c:axId val="50020"/>
      </c:barChart>
      <c:catAx>
        <c:axId val="50010"/>
        <c:scaling>
          <c:orientation val="minMax"/>
        </c:scaling>
        <c:delete val="0"/>
        <c:axPos val="b"/>
        <c:numFmt formatCode="General" sourceLinked="0"/>
        <c:majorTickMark val="none"/>
        <c:minorTickMark val="none"/>
        <c:tickLblPos val="low"/>
        <c:spPr>
          <a:ln w="9525">
            <a:solidFill>
              <a:srgbClr val="B7C0C5"/>
            </a:solidFill>
          </a:ln>
        </c:spPr>
        <c:txPr>
          <a:bodyPr/>
          <a:lstStyle/>
          <a:p>
            <a:pPr>
              <a:defRPr sz="800" b="0">
                <a:solidFill>
                  <a:srgbClr val="5B6770"/>
                </a:solidFill>
                <a:latin typeface="Arial"/>
                <a:cs typeface="Arial"/>
              </a:defRPr>
            </a:pPr>
            <a:endParaRPr lang="fr-FR"/>
          </a:p>
        </c:txPr>
        <c:crossAx val="50020"/>
        <c:crosses val="autoZero"/>
        <c:auto val="1"/>
        <c:lblAlgn val="ctr"/>
        <c:lblOffset val="100"/>
        <c:tickLblSkip val="2"/>
        <c:noMultiLvlLbl val="0"/>
      </c:catAx>
      <c:valAx>
        <c:axId val="50020"/>
        <c:scaling>
          <c:orientation val="minMax"/>
          <c:max val="1.0"/>
          <c:min val="-0.8"/>
        </c:scaling>
        <c:delete val="0"/>
        <c:axPos val="l"/>
        <c:majorGridlines>
          <c:spPr>
            <a:ln w="6350">
              <a:solidFill>
                <a:srgbClr val="E3E8EB"/>
              </a:solidFill>
            </a:ln>
          </c:spPr>
        </c:majorGridlines>
        <c:numFmt formatCode="0.0" sourceLinked="0"/>
        <c:majorTickMark val="none"/>
        <c:minorTickMark val="none"/>
        <c:tickLblPos val="low"/>
        <c:spPr>
          <a:ln w="6350">
            <a:solidFill>
              <a:srgbClr val="FFFFFF"/>
            </a:solidFill>
          </a:ln>
        </c:spPr>
        <c:txPr>
          <a:bodyPr/>
          <a:lstStyle/>
          <a:p>
            <a:pPr>
              <a:defRPr sz="800" b="0">
                <a:solidFill>
                  <a:srgbClr val="5B6770"/>
                </a:solidFill>
                <a:latin typeface="Arial"/>
                <a:cs typeface="Arial"/>
              </a:defRPr>
            </a:pPr>
            <a:endParaRPr lang="fr-FR"/>
          </a:p>
        </c:txPr>
        <c:crossAx val="50010"/>
        <c:crosses val="autoZero"/>
        <c:crossBetween val="between"/>
        <c:majorUnit val="0.2"/>
      </c:valAx>
    </c:plotArea>
    <c:legend>
      <c:legendPos val="b"/>
      <c:overlay val="0"/>
      <c:txPr>
        <a:bodyPr/>
        <a:lstStyle/>
        <a:p>
          <a:pPr>
            <a:defRPr sz="800" b="0">
              <a:solidFill>
                <a:srgbClr val="1F2A30"/>
              </a:solidFill>
              <a:latin typeface="Arial"/>
              <a:cs typeface="Arial"/>
            </a:defRPr>
          </a:pPr>
          <a:endParaRPr lang="fr-FR"/>
        </a:p>
      </c:txPr>
    </c:legend>
    <c:plotVisOnly val="1"/>
    <c:dispBlanksAs val="gap"/>
  </c:chart>
  <c:spPr>
    <a:noFill/>
    <a:ln>
      <a:noFill/>
    </a:ln>
  </c:spPr>
  <c:txPr>
    <a:bodyPr/>
    <a:lstStyle/>
    <a:p>
      <a:pPr>
        <a:defRPr sz="1000" b="0">
          <a:solidFill>
            <a:srgbClr val="5B6770"/>
          </a:solidFill>
          <a:latin typeface="Arial"/>
          <a:cs typeface="Arial"/>
        </a:defRPr>
      </a:pPr>
      <a:endParaRPr lang="fr-FR"/>
    </a:p>
  </c:txPr>
</c:chartSpace>
</file>

<file path=ppt/charts/chart43.xml><?xml version="1.0" encoding="utf-8"?>
<c:chartSpace xmlns:c="http://schemas.openxmlformats.org/drawingml/2006/chart" xmlns:a="http://schemas.openxmlformats.org/drawingml/2006/main" xmlns:r="http://schemas.openxmlformats.org/officeDocument/2006/relationships">
  <c:roundedCorners val="0"/>
  <c:chart>
    <c:autoTitleDeleted val="1"/>
    <c:plotArea>
      <c:layout/>
      <c:barChart>
        <c:barDir val="col"/>
        <c:grouping val="clustered"/>
        <c:varyColors val="0"/>
        <c:ser>
          <c:idx val="0"/>
          <c:order val="0"/>
          <c:tx>
            <c:strRef>
              <c:f>Sheet1!$B$1</c:f>
              <c:strCache>
                <c:ptCount val="1"/>
                <c:pt idx="0">
                  <c:v>El Niño</c:v>
                </c:pt>
              </c:strCache>
            </c:strRef>
          </c:tx>
          <c:spPr>
            <a:solidFill>
              <a:srgbClr val="ED7D31"/>
            </a:solidFill>
          </c:spPr>
          <c:invertIfNegative val="0"/>
          <c:dLbls>
            <c:numFmt formatCode="+0;-0;0" sourceLinked="0"/>
            <c:spPr>
              <a:noFill/>
              <a:ln>
                <a:noFill/>
              </a:ln>
            </c:spPr>
            <c:txPr>
              <a:bodyPr/>
              <a:lstStyle/>
              <a:p>
                <a:pPr>
                  <a:defRPr sz="700" b="1">
                    <a:solidFill>
                      <a:srgbClr val="1F2A30"/>
                    </a:solidFill>
                    <a:latin typeface="Arial"/>
                    <a:cs typeface="Arial"/>
                  </a:defRPr>
                </a:pPr>
                <a:endParaRPr lang="fr-FR"/>
              </a:p>
            </c:txPr>
            <c:dLblPos val="outEnd"/>
            <c:showLegendKey val="0"/>
            <c:showVal val="1"/>
            <c:showCatName val="0"/>
            <c:showSerName val="0"/>
            <c:showPercent val="0"/>
            <c:showBubbleSize val="0"/>
          </c:dLbls>
          <c:cat>
            <c:strRef>
              <c:f>Sheet1!$A$2:$A$21</c:f>
              <c:strCache>
                <c:ptCount val="20"/>
                <c:pt idx="0">
                  <c:v>2006/07</c:v>
                </c:pt>
                <c:pt idx="1">
                  <c:v>2007/08</c:v>
                </c:pt>
                <c:pt idx="2">
                  <c:v>2008/09</c:v>
                </c:pt>
                <c:pt idx="3">
                  <c:v>2009/10</c:v>
                </c:pt>
                <c:pt idx="4">
                  <c:v>2010/11</c:v>
                </c:pt>
                <c:pt idx="5">
                  <c:v>2011/12</c:v>
                </c:pt>
                <c:pt idx="6">
                  <c:v>2012/13</c:v>
                </c:pt>
                <c:pt idx="7">
                  <c:v>2013/14</c:v>
                </c:pt>
                <c:pt idx="8">
                  <c:v>2014/15</c:v>
                </c:pt>
                <c:pt idx="9">
                  <c:v>2015/16</c:v>
                </c:pt>
                <c:pt idx="10">
                  <c:v>2016/17</c:v>
                </c:pt>
                <c:pt idx="11">
                  <c:v>2017/18</c:v>
                </c:pt>
                <c:pt idx="12">
                  <c:v>2018/19</c:v>
                </c:pt>
                <c:pt idx="13">
                  <c:v>2019/20</c:v>
                </c:pt>
                <c:pt idx="14">
                  <c:v>2020/21</c:v>
                </c:pt>
                <c:pt idx="15">
                  <c:v>2021/22</c:v>
                </c:pt>
                <c:pt idx="16">
                  <c:v>2022/23</c:v>
                </c:pt>
                <c:pt idx="17">
                  <c:v>2023/24</c:v>
                </c:pt>
                <c:pt idx="18">
                  <c:v>2024/25</c:v>
                </c:pt>
                <c:pt idx="19">
                  <c:v>2025/26</c:v>
                </c:pt>
              </c:strCache>
            </c:strRef>
          </c:cat>
          <c:val>
            <c:numRef>
              <c:f>Sheet1!$B$2:$B$21</c:f>
              <c:numCache>
                <c:formatCode>General</c:formatCode>
                <c:ptCount val="20"/>
                <c:pt idx="0">
                  <c:v>-31.1</c:v>
                </c:pt>
                <c:pt idx="3">
                  <c:v>-4.8</c:v>
                </c:pt>
                <c:pt idx="9">
                  <c:v>-10.2</c:v>
                </c:pt>
                <c:pt idx="12">
                  <c:v>-3.2</c:v>
                </c:pt>
                <c:pt idx="17">
                  <c:v>-27.6</c:v>
                </c:pt>
              </c:numCache>
            </c:numRef>
          </c:val>
        </c:ser>
        <c:ser>
          <c:idx val="1"/>
          <c:order val="1"/>
          <c:tx>
            <c:strRef>
              <c:f>Sheet1!$C$1</c:f>
              <c:strCache>
                <c:ptCount val="1"/>
                <c:pt idx="0">
                  <c:v>La Niña</c:v>
                </c:pt>
              </c:strCache>
            </c:strRef>
          </c:tx>
          <c:spPr>
            <a:solidFill>
              <a:srgbClr val="2E75B6"/>
            </a:solidFill>
          </c:spPr>
          <c:invertIfNegative val="0"/>
          <c:dLbls>
            <c:numFmt formatCode="+0;-0;0" sourceLinked="0"/>
            <c:spPr>
              <a:noFill/>
              <a:ln>
                <a:noFill/>
              </a:ln>
            </c:spPr>
            <c:txPr>
              <a:bodyPr/>
              <a:lstStyle/>
              <a:p>
                <a:pPr>
                  <a:defRPr sz="700" b="1">
                    <a:solidFill>
                      <a:srgbClr val="1F2A30"/>
                    </a:solidFill>
                    <a:latin typeface="Arial"/>
                    <a:cs typeface="Arial"/>
                  </a:defRPr>
                </a:pPr>
                <a:endParaRPr lang="fr-FR"/>
              </a:p>
            </c:txPr>
            <c:dLblPos val="outEnd"/>
            <c:showLegendKey val="0"/>
            <c:showVal val="1"/>
            <c:showCatName val="0"/>
            <c:showSerName val="0"/>
            <c:showPercent val="0"/>
            <c:showBubbleSize val="0"/>
          </c:dLbls>
          <c:cat>
            <c:strRef>
              <c:f>Sheet1!$A$2:$A$21</c:f>
              <c:strCache>
                <c:ptCount val="20"/>
                <c:pt idx="0">
                  <c:v>2006/07</c:v>
                </c:pt>
                <c:pt idx="1">
                  <c:v>2007/08</c:v>
                </c:pt>
                <c:pt idx="2">
                  <c:v>2008/09</c:v>
                </c:pt>
                <c:pt idx="3">
                  <c:v>2009/10</c:v>
                </c:pt>
                <c:pt idx="4">
                  <c:v>2010/11</c:v>
                </c:pt>
                <c:pt idx="5">
                  <c:v>2011/12</c:v>
                </c:pt>
                <c:pt idx="6">
                  <c:v>2012/13</c:v>
                </c:pt>
                <c:pt idx="7">
                  <c:v>2013/14</c:v>
                </c:pt>
                <c:pt idx="8">
                  <c:v>2014/15</c:v>
                </c:pt>
                <c:pt idx="9">
                  <c:v>2015/16</c:v>
                </c:pt>
                <c:pt idx="10">
                  <c:v>2016/17</c:v>
                </c:pt>
                <c:pt idx="11">
                  <c:v>2017/18</c:v>
                </c:pt>
                <c:pt idx="12">
                  <c:v>2018/19</c:v>
                </c:pt>
                <c:pt idx="13">
                  <c:v>2019/20</c:v>
                </c:pt>
                <c:pt idx="14">
                  <c:v>2020/21</c:v>
                </c:pt>
                <c:pt idx="15">
                  <c:v>2021/22</c:v>
                </c:pt>
                <c:pt idx="16">
                  <c:v>2022/23</c:v>
                </c:pt>
                <c:pt idx="17">
                  <c:v>2023/24</c:v>
                </c:pt>
                <c:pt idx="18">
                  <c:v>2024/25</c:v>
                </c:pt>
                <c:pt idx="19">
                  <c:v>2025/26</c:v>
                </c:pt>
              </c:strCache>
            </c:strRef>
          </c:cat>
          <c:val>
            <c:numRef>
              <c:f>Sheet1!$C$2:$C$21</c:f>
              <c:numCache>
                <c:formatCode>General</c:formatCode>
                <c:ptCount val="20"/>
                <c:pt idx="1">
                  <c:v>7.4</c:v>
                </c:pt>
                <c:pt idx="4">
                  <c:v>18.8</c:v>
                </c:pt>
                <c:pt idx="5">
                  <c:v>-33.5</c:v>
                </c:pt>
                <c:pt idx="14">
                  <c:v>39.3</c:v>
                </c:pt>
                <c:pt idx="15">
                  <c:v>-12.7</c:v>
                </c:pt>
                <c:pt idx="16">
                  <c:v>19.0</c:v>
                </c:pt>
              </c:numCache>
            </c:numRef>
          </c:val>
        </c:ser>
        <c:ser>
          <c:idx val="2"/>
          <c:order val="2"/>
          <c:tx>
            <c:strRef>
              <c:f>Sheet1!$D$1</c:f>
              <c:strCache>
                <c:ptCount val="1"/>
                <c:pt idx="0">
                  <c:v>Neutral</c:v>
                </c:pt>
              </c:strCache>
            </c:strRef>
          </c:tx>
          <c:spPr>
            <a:solidFill>
              <a:srgbClr val="7F7F7F"/>
            </a:solidFill>
          </c:spPr>
          <c:invertIfNegative val="0"/>
          <c:dLbls>
            <c:numFmt formatCode="+0;-0;0" sourceLinked="0"/>
            <c:spPr>
              <a:noFill/>
              <a:ln>
                <a:noFill/>
              </a:ln>
            </c:spPr>
            <c:txPr>
              <a:bodyPr/>
              <a:lstStyle/>
              <a:p>
                <a:pPr>
                  <a:defRPr sz="700" b="1">
                    <a:solidFill>
                      <a:srgbClr val="1F2A30"/>
                    </a:solidFill>
                    <a:latin typeface="Arial"/>
                    <a:cs typeface="Arial"/>
                  </a:defRPr>
                </a:pPr>
                <a:endParaRPr lang="fr-FR"/>
              </a:p>
            </c:txPr>
            <c:dLblPos val="outEnd"/>
            <c:showLegendKey val="0"/>
            <c:showVal val="1"/>
            <c:showCatName val="0"/>
            <c:showSerName val="0"/>
            <c:showPercent val="0"/>
            <c:showBubbleSize val="0"/>
          </c:dLbls>
          <c:cat>
            <c:strRef>
              <c:f>Sheet1!$A$2:$A$21</c:f>
              <c:strCache>
                <c:ptCount val="20"/>
                <c:pt idx="0">
                  <c:v>2006/07</c:v>
                </c:pt>
                <c:pt idx="1">
                  <c:v>2007/08</c:v>
                </c:pt>
                <c:pt idx="2">
                  <c:v>2008/09</c:v>
                </c:pt>
                <c:pt idx="3">
                  <c:v>2009/10</c:v>
                </c:pt>
                <c:pt idx="4">
                  <c:v>2010/11</c:v>
                </c:pt>
                <c:pt idx="5">
                  <c:v>2011/12</c:v>
                </c:pt>
                <c:pt idx="6">
                  <c:v>2012/13</c:v>
                </c:pt>
                <c:pt idx="7">
                  <c:v>2013/14</c:v>
                </c:pt>
                <c:pt idx="8">
                  <c:v>2014/15</c:v>
                </c:pt>
                <c:pt idx="9">
                  <c:v>2015/16</c:v>
                </c:pt>
                <c:pt idx="10">
                  <c:v>2016/17</c:v>
                </c:pt>
                <c:pt idx="11">
                  <c:v>2017/18</c:v>
                </c:pt>
                <c:pt idx="12">
                  <c:v>2018/19</c:v>
                </c:pt>
                <c:pt idx="13">
                  <c:v>2019/20</c:v>
                </c:pt>
                <c:pt idx="14">
                  <c:v>2020/21</c:v>
                </c:pt>
                <c:pt idx="15">
                  <c:v>2021/22</c:v>
                </c:pt>
                <c:pt idx="16">
                  <c:v>2022/23</c:v>
                </c:pt>
                <c:pt idx="17">
                  <c:v>2023/24</c:v>
                </c:pt>
                <c:pt idx="18">
                  <c:v>2024/25</c:v>
                </c:pt>
                <c:pt idx="19">
                  <c:v>2025/26</c:v>
                </c:pt>
              </c:strCache>
            </c:strRef>
          </c:cat>
          <c:val>
            <c:numRef>
              <c:f>Sheet1!$D$2:$D$21</c:f>
              <c:numCache>
                <c:formatCode>General</c:formatCode>
                <c:ptCount val="20"/>
                <c:pt idx="2">
                  <c:v>18.3</c:v>
                </c:pt>
                <c:pt idx="6">
                  <c:v>42.1</c:v>
                </c:pt>
                <c:pt idx="7">
                  <c:v>5.0</c:v>
                </c:pt>
                <c:pt idx="8">
                  <c:v>-12.2</c:v>
                </c:pt>
                <c:pt idx="10">
                  <c:v>20.3</c:v>
                </c:pt>
                <c:pt idx="11">
                  <c:v>-5.6</c:v>
                </c:pt>
                <c:pt idx="13">
                  <c:v>-13.1</c:v>
                </c:pt>
                <c:pt idx="18">
                  <c:v>17.0</c:v>
                </c:pt>
                <c:pt idx="19">
                  <c:v>12.9</c:v>
                </c:pt>
              </c:numCache>
            </c:numRef>
          </c:val>
        </c:ser>
        <c:gapWidth val="35"/>
        <c:overlap val="100"/>
        <c:axId val="50010"/>
        <c:axId val="50020"/>
      </c:barChart>
      <c:catAx>
        <c:axId val="50010"/>
        <c:scaling>
          <c:orientation val="minMax"/>
        </c:scaling>
        <c:delete val="0"/>
        <c:axPos val="b"/>
        <c:numFmt formatCode="General" sourceLinked="0"/>
        <c:majorTickMark val="none"/>
        <c:minorTickMark val="none"/>
        <c:tickLblPos val="low"/>
        <c:spPr>
          <a:ln w="9525">
            <a:solidFill>
              <a:srgbClr val="B7C0C5"/>
            </a:solidFill>
          </a:ln>
        </c:spPr>
        <c:txPr>
          <a:bodyPr/>
          <a:lstStyle/>
          <a:p>
            <a:pPr>
              <a:defRPr sz="800" b="0">
                <a:solidFill>
                  <a:srgbClr val="5B6770"/>
                </a:solidFill>
                <a:latin typeface="Arial"/>
                <a:cs typeface="Arial"/>
              </a:defRPr>
            </a:pPr>
            <a:endParaRPr lang="fr-FR"/>
          </a:p>
        </c:txPr>
        <c:crossAx val="50020"/>
        <c:crosses val="autoZero"/>
        <c:auto val="1"/>
        <c:lblAlgn val="ctr"/>
        <c:lblOffset val="100"/>
        <c:tickLblSkip val="2"/>
        <c:noMultiLvlLbl val="0"/>
      </c:catAx>
      <c:valAx>
        <c:axId val="50020"/>
        <c:scaling>
          <c:orientation val="minMax"/>
          <c:max val="60"/>
          <c:min val="-40"/>
        </c:scaling>
        <c:delete val="0"/>
        <c:axPos val="l"/>
        <c:majorGridlines>
          <c:spPr>
            <a:ln w="6350">
              <a:solidFill>
                <a:srgbClr val="E3E8EB"/>
              </a:solidFill>
            </a:ln>
          </c:spPr>
        </c:majorGridlines>
        <c:numFmt formatCode="0" sourceLinked="0"/>
        <c:majorTickMark val="none"/>
        <c:minorTickMark val="none"/>
        <c:tickLblPos val="low"/>
        <c:spPr>
          <a:ln w="6350">
            <a:solidFill>
              <a:srgbClr val="FFFFFF"/>
            </a:solidFill>
          </a:ln>
        </c:spPr>
        <c:txPr>
          <a:bodyPr/>
          <a:lstStyle/>
          <a:p>
            <a:pPr>
              <a:defRPr sz="800" b="0">
                <a:solidFill>
                  <a:srgbClr val="5B6770"/>
                </a:solidFill>
                <a:latin typeface="Arial"/>
                <a:cs typeface="Arial"/>
              </a:defRPr>
            </a:pPr>
            <a:endParaRPr lang="fr-FR"/>
          </a:p>
        </c:txPr>
        <c:crossAx val="50010"/>
        <c:crosses val="autoZero"/>
        <c:crossBetween val="between"/>
        <c:majorUnit val="20"/>
      </c:valAx>
    </c:plotArea>
    <c:legend>
      <c:legendPos val="b"/>
      <c:overlay val="0"/>
      <c:txPr>
        <a:bodyPr/>
        <a:lstStyle/>
        <a:p>
          <a:pPr>
            <a:defRPr sz="800" b="0">
              <a:solidFill>
                <a:srgbClr val="1F2A30"/>
              </a:solidFill>
              <a:latin typeface="Arial"/>
              <a:cs typeface="Arial"/>
            </a:defRPr>
          </a:pPr>
          <a:endParaRPr lang="fr-FR"/>
        </a:p>
      </c:txPr>
    </c:legend>
    <c:plotVisOnly val="1"/>
    <c:dispBlanksAs val="gap"/>
  </c:chart>
  <c:spPr>
    <a:noFill/>
    <a:ln>
      <a:noFill/>
    </a:ln>
  </c:spPr>
  <c:txPr>
    <a:bodyPr/>
    <a:lstStyle/>
    <a:p>
      <a:pPr>
        <a:defRPr sz="1000" b="0">
          <a:solidFill>
            <a:srgbClr val="5B6770"/>
          </a:solidFill>
          <a:latin typeface="Arial"/>
          <a:cs typeface="Arial"/>
        </a:defRPr>
      </a:pPr>
      <a:endParaRPr lang="fr-FR"/>
    </a:p>
  </c:txPr>
</c:chartSpace>
</file>

<file path=ppt/charts/chart44.xml><?xml version="1.0" encoding="utf-8"?>
<c:chartSpace xmlns:c="http://schemas.openxmlformats.org/drawingml/2006/chart" xmlns:a="http://schemas.openxmlformats.org/drawingml/2006/main" xmlns:r="http://schemas.openxmlformats.org/officeDocument/2006/relationships">
  <c:roundedCorners val="0"/>
  <c:chart>
    <c:autoTitleDeleted val="1"/>
    <c:plotArea>
      <c:layout/>
      <c:lineChart>
        <c:grouping val="standard"/>
        <c:varyColors val="0"/>
        <c:ser>
          <c:idx val="0"/>
          <c:order val="0"/>
          <c:tx>
            <c:strRef>
              <c:f>Sheet1!$B$1</c:f>
              <c:strCache>
                <c:ptCount val="1"/>
                <c:pt idx="0">
                  <c:v>NASA POWER</c:v>
                </c:pt>
              </c:strCache>
            </c:strRef>
          </c:tx>
          <c:spPr>
            <a:ln w="25400" cap="rnd">
              <a:solidFill>
                <a:srgbClr val="2E75B6"/>
              </a:solidFill>
              <a:round/>
            </a:ln>
          </c:spPr>
          <c:marker>
            <c:symbol val="none"/>
          </c:marker>
          <c:cat>
            <c:strRef>
              <c:f>Sheet1!$A$2:$A$46</c:f>
              <c:strCache>
                <c:ptCount val="45"/>
                <c:pt idx="0">
                  <c:v>1981</c:v>
                </c:pt>
                <c:pt idx="1">
                  <c:v>1982</c:v>
                </c:pt>
                <c:pt idx="2">
                  <c:v>1983</c:v>
                </c:pt>
                <c:pt idx="3">
                  <c:v>1984</c:v>
                </c:pt>
                <c:pt idx="4">
                  <c:v>1985</c:v>
                </c:pt>
                <c:pt idx="5">
                  <c:v>1986</c:v>
                </c:pt>
                <c:pt idx="6">
                  <c:v>1987</c:v>
                </c:pt>
                <c:pt idx="7">
                  <c:v>1988</c:v>
                </c:pt>
                <c:pt idx="8">
                  <c:v>1989</c:v>
                </c:pt>
                <c:pt idx="9">
                  <c:v>1990</c:v>
                </c:pt>
                <c:pt idx="10">
                  <c:v>1991</c:v>
                </c:pt>
                <c:pt idx="11">
                  <c:v>1992</c:v>
                </c:pt>
                <c:pt idx="12">
                  <c:v>1993</c:v>
                </c:pt>
                <c:pt idx="13">
                  <c:v>1994</c:v>
                </c:pt>
                <c:pt idx="14">
                  <c:v>1995</c:v>
                </c:pt>
                <c:pt idx="15">
                  <c:v>1996</c:v>
                </c:pt>
                <c:pt idx="16">
                  <c:v>1997</c:v>
                </c:pt>
                <c:pt idx="17">
                  <c:v>1998</c:v>
                </c:pt>
                <c:pt idx="18">
                  <c:v>1999</c:v>
                </c:pt>
                <c:pt idx="19">
                  <c:v>2000</c:v>
                </c:pt>
                <c:pt idx="20">
                  <c:v>2001</c:v>
                </c:pt>
                <c:pt idx="21">
                  <c:v>2002</c:v>
                </c:pt>
                <c:pt idx="22">
                  <c:v>2003</c:v>
                </c:pt>
                <c:pt idx="23">
                  <c:v>2004</c:v>
                </c:pt>
                <c:pt idx="24">
                  <c:v>2005</c:v>
                </c:pt>
                <c:pt idx="25">
                  <c:v>2006</c:v>
                </c:pt>
                <c:pt idx="26">
                  <c:v>2007</c:v>
                </c:pt>
                <c:pt idx="27">
                  <c:v>2008</c:v>
                </c:pt>
                <c:pt idx="28">
                  <c:v>2009</c:v>
                </c:pt>
                <c:pt idx="29">
                  <c:v>2010</c:v>
                </c:pt>
                <c:pt idx="30">
                  <c:v>2011</c:v>
                </c:pt>
                <c:pt idx="31">
                  <c:v>2012</c:v>
                </c:pt>
                <c:pt idx="32">
                  <c:v>2013</c:v>
                </c:pt>
                <c:pt idx="33">
                  <c:v>2014</c:v>
                </c:pt>
                <c:pt idx="34">
                  <c:v>2015</c:v>
                </c:pt>
                <c:pt idx="35">
                  <c:v>2016</c:v>
                </c:pt>
                <c:pt idx="36">
                  <c:v>2017</c:v>
                </c:pt>
                <c:pt idx="37">
                  <c:v>2018</c:v>
                </c:pt>
                <c:pt idx="38">
                  <c:v>2019</c:v>
                </c:pt>
                <c:pt idx="39">
                  <c:v>2020</c:v>
                </c:pt>
                <c:pt idx="40">
                  <c:v>2021</c:v>
                </c:pt>
                <c:pt idx="41">
                  <c:v>2022</c:v>
                </c:pt>
                <c:pt idx="42">
                  <c:v>2023</c:v>
                </c:pt>
                <c:pt idx="43">
                  <c:v>2024</c:v>
                </c:pt>
                <c:pt idx="44">
                  <c:v>2025</c:v>
                </c:pt>
              </c:strCache>
            </c:strRef>
          </c:cat>
          <c:val>
            <c:numRef>
              <c:f>Sheet1!$B$2:$B$46</c:f>
              <c:numCache>
                <c:formatCode>General</c:formatCode>
                <c:ptCount val="45"/>
                <c:pt idx="0">
                  <c:v>154</c:v>
                </c:pt>
                <c:pt idx="1">
                  <c:v>63</c:v>
                </c:pt>
                <c:pt idx="2">
                  <c:v>105</c:v>
                </c:pt>
                <c:pt idx="3">
                  <c:v>126</c:v>
                </c:pt>
                <c:pt idx="4">
                  <c:v>166</c:v>
                </c:pt>
                <c:pt idx="5">
                  <c:v>182</c:v>
                </c:pt>
                <c:pt idx="6">
                  <c:v>62</c:v>
                </c:pt>
                <c:pt idx="7">
                  <c:v>129</c:v>
                </c:pt>
                <c:pt idx="8">
                  <c:v>107</c:v>
                </c:pt>
                <c:pt idx="9">
                  <c:v>67</c:v>
                </c:pt>
                <c:pt idx="10">
                  <c:v>28</c:v>
                </c:pt>
                <c:pt idx="11">
                  <c:v>113</c:v>
                </c:pt>
                <c:pt idx="12">
                  <c:v>89</c:v>
                </c:pt>
                <c:pt idx="13">
                  <c:v>11</c:v>
                </c:pt>
                <c:pt idx="14">
                  <c:v>117</c:v>
                </c:pt>
                <c:pt idx="15">
                  <c:v>149</c:v>
                </c:pt>
                <c:pt idx="16">
                  <c:v>10</c:v>
                </c:pt>
                <c:pt idx="17">
                  <c:v>193</c:v>
                </c:pt>
                <c:pt idx="18">
                  <c:v>108</c:v>
                </c:pt>
                <c:pt idx="19">
                  <c:v>124</c:v>
                </c:pt>
                <c:pt idx="20">
                  <c:v>112</c:v>
                </c:pt>
                <c:pt idx="21">
                  <c:v>62</c:v>
                </c:pt>
                <c:pt idx="22">
                  <c:v>102</c:v>
                </c:pt>
                <c:pt idx="23">
                  <c:v>76</c:v>
                </c:pt>
                <c:pt idx="24">
                  <c:v>155</c:v>
                </c:pt>
                <c:pt idx="25">
                  <c:v>64</c:v>
                </c:pt>
                <c:pt idx="26">
                  <c:v>84</c:v>
                </c:pt>
                <c:pt idx="27">
                  <c:v>93</c:v>
                </c:pt>
                <c:pt idx="28">
                  <c:v>100</c:v>
                </c:pt>
                <c:pt idx="29">
                  <c:v>206</c:v>
                </c:pt>
                <c:pt idx="30">
                  <c:v>79</c:v>
                </c:pt>
                <c:pt idx="31">
                  <c:v>83</c:v>
                </c:pt>
                <c:pt idx="32">
                  <c:v>159</c:v>
                </c:pt>
                <c:pt idx="33">
                  <c:v>87</c:v>
                </c:pt>
                <c:pt idx="34">
                  <c:v>43</c:v>
                </c:pt>
                <c:pt idx="35">
                  <c:v>133</c:v>
                </c:pt>
                <c:pt idx="36">
                  <c:v>113</c:v>
                </c:pt>
                <c:pt idx="37">
                  <c:v>94</c:v>
                </c:pt>
                <c:pt idx="38">
                  <c:v>52</c:v>
                </c:pt>
                <c:pt idx="39">
                  <c:v>159</c:v>
                </c:pt>
                <c:pt idx="40">
                  <c:v>139</c:v>
                </c:pt>
                <c:pt idx="41">
                  <c:v>198</c:v>
                </c:pt>
                <c:pt idx="42">
                  <c:v>70</c:v>
                </c:pt>
                <c:pt idx="43">
                  <c:v>83</c:v>
                </c:pt>
                <c:pt idx="44">
                  <c:v>176</c:v>
                </c:pt>
              </c:numCache>
            </c:numRef>
          </c:val>
          <c:smooth val="0"/>
        </c:ser>
        <c:ser>
          <c:idx val="1"/>
          <c:order val="1"/>
          <c:tx>
            <c:strRef>
              <c:f>Sheet1!$C$1</c:f>
              <c:strCache>
                <c:ptCount val="1"/>
                <c:pt idx="0">
                  <c:v>Rain gauges (GPCC)</c:v>
                </c:pt>
              </c:strCache>
            </c:strRef>
          </c:tx>
          <c:spPr>
            <a:ln w="25400" cap="rnd">
              <a:solidFill>
                <a:srgbClr val="ED7D31"/>
              </a:solidFill>
              <a:round/>
            </a:ln>
          </c:spPr>
          <c:marker>
            <c:symbol val="none"/>
          </c:marker>
          <c:cat>
            <c:strRef>
              <c:f>Sheet1!$A$2:$A$46</c:f>
              <c:strCache>
                <c:ptCount val="45"/>
                <c:pt idx="0">
                  <c:v>1981</c:v>
                </c:pt>
                <c:pt idx="1">
                  <c:v>1982</c:v>
                </c:pt>
                <c:pt idx="2">
                  <c:v>1983</c:v>
                </c:pt>
                <c:pt idx="3">
                  <c:v>1984</c:v>
                </c:pt>
                <c:pt idx="4">
                  <c:v>1985</c:v>
                </c:pt>
                <c:pt idx="5">
                  <c:v>1986</c:v>
                </c:pt>
                <c:pt idx="6">
                  <c:v>1987</c:v>
                </c:pt>
                <c:pt idx="7">
                  <c:v>1988</c:v>
                </c:pt>
                <c:pt idx="8">
                  <c:v>1989</c:v>
                </c:pt>
                <c:pt idx="9">
                  <c:v>1990</c:v>
                </c:pt>
                <c:pt idx="10">
                  <c:v>1991</c:v>
                </c:pt>
                <c:pt idx="11">
                  <c:v>1992</c:v>
                </c:pt>
                <c:pt idx="12">
                  <c:v>1993</c:v>
                </c:pt>
                <c:pt idx="13">
                  <c:v>1994</c:v>
                </c:pt>
                <c:pt idx="14">
                  <c:v>1995</c:v>
                </c:pt>
                <c:pt idx="15">
                  <c:v>1996</c:v>
                </c:pt>
                <c:pt idx="16">
                  <c:v>1997</c:v>
                </c:pt>
                <c:pt idx="17">
                  <c:v>1998</c:v>
                </c:pt>
                <c:pt idx="18">
                  <c:v>1999</c:v>
                </c:pt>
                <c:pt idx="19">
                  <c:v>2000</c:v>
                </c:pt>
                <c:pt idx="20">
                  <c:v>2001</c:v>
                </c:pt>
                <c:pt idx="21">
                  <c:v>2002</c:v>
                </c:pt>
                <c:pt idx="22">
                  <c:v>2003</c:v>
                </c:pt>
                <c:pt idx="23">
                  <c:v>2004</c:v>
                </c:pt>
                <c:pt idx="24">
                  <c:v>2005</c:v>
                </c:pt>
                <c:pt idx="25">
                  <c:v>2006</c:v>
                </c:pt>
                <c:pt idx="26">
                  <c:v>2007</c:v>
                </c:pt>
                <c:pt idx="27">
                  <c:v>2008</c:v>
                </c:pt>
                <c:pt idx="28">
                  <c:v>2009</c:v>
                </c:pt>
                <c:pt idx="29">
                  <c:v>2010</c:v>
                </c:pt>
                <c:pt idx="30">
                  <c:v>2011</c:v>
                </c:pt>
                <c:pt idx="31">
                  <c:v>2012</c:v>
                </c:pt>
                <c:pt idx="32">
                  <c:v>2013</c:v>
                </c:pt>
                <c:pt idx="33">
                  <c:v>2014</c:v>
                </c:pt>
                <c:pt idx="34">
                  <c:v>2015</c:v>
                </c:pt>
                <c:pt idx="35">
                  <c:v>2016</c:v>
                </c:pt>
                <c:pt idx="36">
                  <c:v>2017</c:v>
                </c:pt>
                <c:pt idx="37">
                  <c:v>2018</c:v>
                </c:pt>
                <c:pt idx="38">
                  <c:v>2019</c:v>
                </c:pt>
                <c:pt idx="39">
                  <c:v>2020</c:v>
                </c:pt>
                <c:pt idx="40">
                  <c:v>2021</c:v>
                </c:pt>
                <c:pt idx="41">
                  <c:v>2022</c:v>
                </c:pt>
                <c:pt idx="42">
                  <c:v>2023</c:v>
                </c:pt>
                <c:pt idx="43">
                  <c:v>2024</c:v>
                </c:pt>
                <c:pt idx="44">
                  <c:v>2025</c:v>
                </c:pt>
              </c:strCache>
            </c:strRef>
          </c:cat>
          <c:val>
            <c:numRef>
              <c:f>Sheet1!$C$2:$C$46</c:f>
              <c:numCache>
                <c:formatCode>General</c:formatCode>
                <c:ptCount val="45"/>
                <c:pt idx="0">
                  <c:v>117</c:v>
                </c:pt>
                <c:pt idx="1">
                  <c:v>76</c:v>
                </c:pt>
                <c:pt idx="2">
                  <c:v>80</c:v>
                </c:pt>
                <c:pt idx="3">
                  <c:v>147</c:v>
                </c:pt>
                <c:pt idx="4">
                  <c:v>128</c:v>
                </c:pt>
                <c:pt idx="5">
                  <c:v>173</c:v>
                </c:pt>
                <c:pt idx="6">
                  <c:v>85</c:v>
                </c:pt>
                <c:pt idx="7">
                  <c:v>119</c:v>
                </c:pt>
                <c:pt idx="8">
                  <c:v>121</c:v>
                </c:pt>
                <c:pt idx="9">
                  <c:v>105</c:v>
                </c:pt>
                <c:pt idx="10">
                  <c:v>38</c:v>
                </c:pt>
                <c:pt idx="11">
                  <c:v>120</c:v>
                </c:pt>
                <c:pt idx="12">
                  <c:v>114</c:v>
                </c:pt>
                <c:pt idx="13">
                  <c:v>31</c:v>
                </c:pt>
                <c:pt idx="14">
                  <c:v>129</c:v>
                </c:pt>
                <c:pt idx="15">
                  <c:v>140</c:v>
                </c:pt>
                <c:pt idx="16">
                  <c:v>26</c:v>
                </c:pt>
                <c:pt idx="17">
                  <c:v>181</c:v>
                </c:pt>
                <c:pt idx="18">
                  <c:v>130</c:v>
                </c:pt>
                <c:pt idx="19">
                  <c:v>138</c:v>
                </c:pt>
                <c:pt idx="20">
                  <c:v>126</c:v>
                </c:pt>
                <c:pt idx="21">
                  <c:v>74</c:v>
                </c:pt>
                <c:pt idx="22">
                  <c:v>104</c:v>
                </c:pt>
                <c:pt idx="23">
                  <c:v>65</c:v>
                </c:pt>
                <c:pt idx="24">
                  <c:v>139</c:v>
                </c:pt>
                <c:pt idx="25">
                  <c:v>53</c:v>
                </c:pt>
                <c:pt idx="26">
                  <c:v>105</c:v>
                </c:pt>
                <c:pt idx="27">
                  <c:v>107</c:v>
                </c:pt>
                <c:pt idx="28">
                  <c:v>107</c:v>
                </c:pt>
                <c:pt idx="29">
                  <c:v>186</c:v>
                </c:pt>
                <c:pt idx="30">
                  <c:v>85</c:v>
                </c:pt>
                <c:pt idx="31">
                  <c:v>83</c:v>
                </c:pt>
                <c:pt idx="32">
                  <c:v>146</c:v>
                </c:pt>
                <c:pt idx="33">
                  <c:v>74</c:v>
                </c:pt>
                <c:pt idx="34">
                  <c:v>36</c:v>
                </c:pt>
                <c:pt idx="35">
                  <c:v>127</c:v>
                </c:pt>
                <c:pt idx="36">
                  <c:v>106</c:v>
                </c:pt>
                <c:pt idx="37">
                  <c:v>89</c:v>
                </c:pt>
                <c:pt idx="38">
                  <c:v>41</c:v>
                </c:pt>
                <c:pt idx="39">
                  <c:v>133</c:v>
                </c:pt>
                <c:pt idx="40">
                  <c:v>123</c:v>
                </c:pt>
                <c:pt idx="41">
                  <c:v>174</c:v>
                </c:pt>
                <c:pt idx="42">
                  <c:v>55</c:v>
                </c:pt>
                <c:pt idx="43">
                  <c:v>75</c:v>
                </c:pt>
                <c:pt idx="44">
                  <c:v>146</c:v>
                </c:pt>
              </c:numCache>
            </c:numRef>
          </c:val>
          <c:smooth val="0"/>
        </c:ser>
        <c:ser>
          <c:idx val="2"/>
          <c:order val="2"/>
          <c:tx>
            <c:strRef>
              <c:f>Sheet1!$D$1</c:f>
              <c:strCache>
                <c:ptCount val="1"/>
                <c:pt idx="0">
                  <c:v>Normal = 100</c:v>
                </c:pt>
              </c:strCache>
            </c:strRef>
          </c:tx>
          <c:spPr>
            <a:ln w="12700" cap="rnd">
              <a:solidFill>
                <a:srgbClr val="000000"/>
              </a:solidFill>
              <a:prstDash val="dash"/>
              <a:round/>
            </a:ln>
          </c:spPr>
          <c:marker>
            <c:symbol val="none"/>
          </c:marker>
          <c:cat>
            <c:strRef>
              <c:f>Sheet1!$A$2:$A$46</c:f>
              <c:strCache>
                <c:ptCount val="45"/>
                <c:pt idx="0">
                  <c:v>1981</c:v>
                </c:pt>
                <c:pt idx="1">
                  <c:v>1982</c:v>
                </c:pt>
                <c:pt idx="2">
                  <c:v>1983</c:v>
                </c:pt>
                <c:pt idx="3">
                  <c:v>1984</c:v>
                </c:pt>
                <c:pt idx="4">
                  <c:v>1985</c:v>
                </c:pt>
                <c:pt idx="5">
                  <c:v>1986</c:v>
                </c:pt>
                <c:pt idx="6">
                  <c:v>1987</c:v>
                </c:pt>
                <c:pt idx="7">
                  <c:v>1988</c:v>
                </c:pt>
                <c:pt idx="8">
                  <c:v>1989</c:v>
                </c:pt>
                <c:pt idx="9">
                  <c:v>1990</c:v>
                </c:pt>
                <c:pt idx="10">
                  <c:v>1991</c:v>
                </c:pt>
                <c:pt idx="11">
                  <c:v>1992</c:v>
                </c:pt>
                <c:pt idx="12">
                  <c:v>1993</c:v>
                </c:pt>
                <c:pt idx="13">
                  <c:v>1994</c:v>
                </c:pt>
                <c:pt idx="14">
                  <c:v>1995</c:v>
                </c:pt>
                <c:pt idx="15">
                  <c:v>1996</c:v>
                </c:pt>
                <c:pt idx="16">
                  <c:v>1997</c:v>
                </c:pt>
                <c:pt idx="17">
                  <c:v>1998</c:v>
                </c:pt>
                <c:pt idx="18">
                  <c:v>1999</c:v>
                </c:pt>
                <c:pt idx="19">
                  <c:v>2000</c:v>
                </c:pt>
                <c:pt idx="20">
                  <c:v>2001</c:v>
                </c:pt>
                <c:pt idx="21">
                  <c:v>2002</c:v>
                </c:pt>
                <c:pt idx="22">
                  <c:v>2003</c:v>
                </c:pt>
                <c:pt idx="23">
                  <c:v>2004</c:v>
                </c:pt>
                <c:pt idx="24">
                  <c:v>2005</c:v>
                </c:pt>
                <c:pt idx="25">
                  <c:v>2006</c:v>
                </c:pt>
                <c:pt idx="26">
                  <c:v>2007</c:v>
                </c:pt>
                <c:pt idx="27">
                  <c:v>2008</c:v>
                </c:pt>
                <c:pt idx="28">
                  <c:v>2009</c:v>
                </c:pt>
                <c:pt idx="29">
                  <c:v>2010</c:v>
                </c:pt>
                <c:pt idx="30">
                  <c:v>2011</c:v>
                </c:pt>
                <c:pt idx="31">
                  <c:v>2012</c:v>
                </c:pt>
                <c:pt idx="32">
                  <c:v>2013</c:v>
                </c:pt>
                <c:pt idx="33">
                  <c:v>2014</c:v>
                </c:pt>
                <c:pt idx="34">
                  <c:v>2015</c:v>
                </c:pt>
                <c:pt idx="35">
                  <c:v>2016</c:v>
                </c:pt>
                <c:pt idx="36">
                  <c:v>2017</c:v>
                </c:pt>
                <c:pt idx="37">
                  <c:v>2018</c:v>
                </c:pt>
                <c:pt idx="38">
                  <c:v>2019</c:v>
                </c:pt>
                <c:pt idx="39">
                  <c:v>2020</c:v>
                </c:pt>
                <c:pt idx="40">
                  <c:v>2021</c:v>
                </c:pt>
                <c:pt idx="41">
                  <c:v>2022</c:v>
                </c:pt>
                <c:pt idx="42">
                  <c:v>2023</c:v>
                </c:pt>
                <c:pt idx="43">
                  <c:v>2024</c:v>
                </c:pt>
                <c:pt idx="44">
                  <c:v>2025</c:v>
                </c:pt>
              </c:strCache>
            </c:strRef>
          </c:cat>
          <c:val>
            <c:numRef>
              <c:f>Sheet1!$D$2:$D$46</c:f>
              <c:numCache>
                <c:formatCode>General</c:formatCode>
                <c:ptCount val="45"/>
                <c:pt idx="0">
                  <c:v>100</c:v>
                </c:pt>
                <c:pt idx="1">
                  <c:v>100</c:v>
                </c:pt>
                <c:pt idx="2">
                  <c:v>100</c:v>
                </c:pt>
                <c:pt idx="3">
                  <c:v>100</c:v>
                </c:pt>
                <c:pt idx="4">
                  <c:v>100</c:v>
                </c:pt>
                <c:pt idx="5">
                  <c:v>100</c:v>
                </c:pt>
                <c:pt idx="6">
                  <c:v>100</c:v>
                </c:pt>
                <c:pt idx="7">
                  <c:v>100</c:v>
                </c:pt>
                <c:pt idx="8">
                  <c:v>100</c:v>
                </c:pt>
                <c:pt idx="9">
                  <c:v>100</c:v>
                </c:pt>
                <c:pt idx="10">
                  <c:v>100</c:v>
                </c:pt>
                <c:pt idx="11">
                  <c:v>100</c:v>
                </c:pt>
                <c:pt idx="12">
                  <c:v>100</c:v>
                </c:pt>
                <c:pt idx="13">
                  <c:v>100</c:v>
                </c:pt>
                <c:pt idx="14">
                  <c:v>100</c:v>
                </c:pt>
                <c:pt idx="15">
                  <c:v>100</c:v>
                </c:pt>
                <c:pt idx="16">
                  <c:v>100</c:v>
                </c:pt>
                <c:pt idx="17">
                  <c:v>100</c:v>
                </c:pt>
                <c:pt idx="18">
                  <c:v>100</c:v>
                </c:pt>
                <c:pt idx="19">
                  <c:v>100</c:v>
                </c:pt>
                <c:pt idx="20">
                  <c:v>100</c:v>
                </c:pt>
                <c:pt idx="21">
                  <c:v>100</c:v>
                </c:pt>
                <c:pt idx="22">
                  <c:v>100</c:v>
                </c:pt>
                <c:pt idx="23">
                  <c:v>100</c:v>
                </c:pt>
                <c:pt idx="24">
                  <c:v>100</c:v>
                </c:pt>
                <c:pt idx="25">
                  <c:v>100</c:v>
                </c:pt>
                <c:pt idx="26">
                  <c:v>100</c:v>
                </c:pt>
                <c:pt idx="27">
                  <c:v>100</c:v>
                </c:pt>
                <c:pt idx="28">
                  <c:v>100</c:v>
                </c:pt>
                <c:pt idx="29">
                  <c:v>100</c:v>
                </c:pt>
                <c:pt idx="30">
                  <c:v>100</c:v>
                </c:pt>
                <c:pt idx="31">
                  <c:v>100</c:v>
                </c:pt>
                <c:pt idx="32">
                  <c:v>100</c:v>
                </c:pt>
                <c:pt idx="33">
                  <c:v>100</c:v>
                </c:pt>
                <c:pt idx="34">
                  <c:v>100</c:v>
                </c:pt>
                <c:pt idx="35">
                  <c:v>100</c:v>
                </c:pt>
                <c:pt idx="36">
                  <c:v>100</c:v>
                </c:pt>
                <c:pt idx="37">
                  <c:v>100</c:v>
                </c:pt>
                <c:pt idx="38">
                  <c:v>100</c:v>
                </c:pt>
                <c:pt idx="39">
                  <c:v>100</c:v>
                </c:pt>
                <c:pt idx="40">
                  <c:v>100</c:v>
                </c:pt>
                <c:pt idx="41">
                  <c:v>100</c:v>
                </c:pt>
                <c:pt idx="42">
                  <c:v>100</c:v>
                </c:pt>
                <c:pt idx="43">
                  <c:v>100</c:v>
                </c:pt>
                <c:pt idx="44">
                  <c:v>100</c:v>
                </c:pt>
              </c:numCache>
            </c:numRef>
          </c:val>
          <c:smooth val="0"/>
        </c:ser>
        <c:marker val="1"/>
        <c:axId val="60010"/>
        <c:axId val="60020"/>
      </c:lineChart>
      <c:catAx>
        <c:axId val="60010"/>
        <c:scaling>
          <c:orientation val="minMax"/>
        </c:scaling>
        <c:delete val="0"/>
        <c:axPos val="b"/>
        <c:numFmt formatCode="General" sourceLinked="0"/>
        <c:majorTickMark val="none"/>
        <c:minorTickMark val="none"/>
        <c:tickLblPos val="low"/>
        <c:spPr>
          <a:ln w="9525">
            <a:solidFill>
              <a:srgbClr val="B7C0C5"/>
            </a:solidFill>
          </a:ln>
        </c:spPr>
        <c:txPr>
          <a:bodyPr/>
          <a:lstStyle/>
          <a:p>
            <a:pPr>
              <a:defRPr sz="800" b="0">
                <a:solidFill>
                  <a:srgbClr val="5B6770"/>
                </a:solidFill>
                <a:latin typeface="Arial"/>
                <a:cs typeface="Arial"/>
              </a:defRPr>
            </a:pPr>
            <a:endParaRPr lang="fr-FR"/>
          </a:p>
        </c:txPr>
        <c:crossAx val="60020"/>
        <c:crosses val="autoZero"/>
        <c:auto val="1"/>
        <c:lblAlgn val="ctr"/>
        <c:lblOffset val="100"/>
        <c:tickLblSkip val="4"/>
        <c:noMultiLvlLbl val="0"/>
      </c:catAx>
      <c:valAx>
        <c:axId val="60020"/>
        <c:scaling>
          <c:orientation val="minMax"/>
          <c:max val="250"/>
          <c:min val="0"/>
        </c:scaling>
        <c:delete val="0"/>
        <c:axPos val="l"/>
        <c:majorGridlines>
          <c:spPr>
            <a:ln w="6350">
              <a:solidFill>
                <a:srgbClr val="E3E8EB"/>
              </a:solidFill>
            </a:ln>
          </c:spPr>
        </c:majorGridlines>
        <c:numFmt formatCode="0" sourceLinked="0"/>
        <c:majorTickMark val="none"/>
        <c:minorTickMark val="none"/>
        <c:tickLblPos val="low"/>
        <c:spPr>
          <a:ln w="6350">
            <a:solidFill>
              <a:srgbClr val="FFFFFF"/>
            </a:solidFill>
          </a:ln>
        </c:spPr>
        <c:txPr>
          <a:bodyPr/>
          <a:lstStyle/>
          <a:p>
            <a:pPr>
              <a:defRPr sz="800" b="0">
                <a:solidFill>
                  <a:srgbClr val="5B6770"/>
                </a:solidFill>
                <a:latin typeface="Arial"/>
                <a:cs typeface="Arial"/>
              </a:defRPr>
            </a:pPr>
            <a:endParaRPr lang="fr-FR"/>
          </a:p>
        </c:txPr>
        <c:crossAx val="60010"/>
        <c:crosses val="autoZero"/>
        <c:crossBetween val="between"/>
        <c:majorUnit val="50"/>
      </c:valAx>
    </c:plotArea>
    <c:legend>
      <c:legendPos val="b"/>
      <c:overlay val="0"/>
      <c:txPr>
        <a:bodyPr/>
        <a:lstStyle/>
        <a:p>
          <a:pPr>
            <a:defRPr sz="900" b="0">
              <a:solidFill>
                <a:srgbClr val="1F2A30"/>
              </a:solidFill>
              <a:latin typeface="Arial"/>
              <a:cs typeface="Arial"/>
            </a:defRPr>
          </a:pPr>
          <a:endParaRPr lang="fr-FR"/>
        </a:p>
      </c:txPr>
    </c:legend>
    <c:plotVisOnly val="1"/>
    <c:dispBlanksAs val="gap"/>
  </c:chart>
  <c:spPr>
    <a:noFill/>
    <a:ln>
      <a:noFill/>
    </a:ln>
  </c:spPr>
  <c:txPr>
    <a:bodyPr/>
    <a:lstStyle/>
    <a:p>
      <a:pPr>
        <a:defRPr sz="1000" b="0">
          <a:solidFill>
            <a:srgbClr val="5B6770"/>
          </a:solidFill>
          <a:latin typeface="Arial"/>
          <a:cs typeface="Arial"/>
        </a:defRPr>
      </a:pPr>
      <a:endParaRPr lang="fr-FR"/>
    </a:p>
  </c:txPr>
</c:chartSpace>
</file>

<file path=ppt/charts/chart45.xml><?xml version="1.0" encoding="utf-8"?>
<c:chartSpace xmlns:c="http://schemas.openxmlformats.org/drawingml/2006/chart" xmlns:a="http://schemas.openxmlformats.org/drawingml/2006/main" xmlns:r="http://schemas.openxmlformats.org/officeDocument/2006/relationships">
  <c:roundedCorners val="0"/>
  <c:chart>
    <c:autoTitleDeleted val="1"/>
    <c:plotArea>
      <c:layout/>
      <c:barChart>
        <c:barDir val="col"/>
        <c:grouping val="clustered"/>
        <c:varyColors val="0"/>
        <c:ser>
          <c:idx val="0"/>
          <c:order val="0"/>
          <c:tx>
            <c:strRef>
              <c:f>Sheet1!$B$1</c:f>
              <c:strCache>
                <c:ptCount val="1"/>
                <c:pt idx="0">
                  <c:v>NASA POWER (1981–2025)</c:v>
                </c:pt>
              </c:strCache>
            </c:strRef>
          </c:tx>
          <c:spPr>
            <a:solidFill>
              <a:srgbClr val="2E75B6"/>
            </a:solidFill>
          </c:spPr>
          <c:invertIfNegative val="0"/>
          <c:dLbls>
            <c:numFmt formatCode="0" sourceLinked="0"/>
            <c:spPr>
              <a:noFill/>
              <a:ln>
                <a:noFill/>
              </a:ln>
            </c:spPr>
            <c:txPr>
              <a:bodyPr/>
              <a:lstStyle/>
              <a:p>
                <a:pPr>
                  <a:defRPr sz="1000" b="1">
                    <a:solidFill>
                      <a:srgbClr val="1F2A30"/>
                    </a:solidFill>
                    <a:latin typeface="Arial"/>
                    <a:cs typeface="Arial"/>
                  </a:defRPr>
                </a:pPr>
                <a:endParaRPr lang="fr-FR"/>
              </a:p>
            </c:txPr>
            <c:dLblPos val="outEnd"/>
            <c:showLegendKey val="0"/>
            <c:showVal val="1"/>
            <c:showCatName val="0"/>
            <c:showSerName val="0"/>
            <c:showPercent val="0"/>
            <c:showBubbleSize val="0"/>
          </c:dLbls>
          <c:cat>
            <c:strRef>
              <c:f>Sheet1!$A$2:$A$6</c:f>
              <c:strCache>
                <c:ptCount val="5"/>
                <c:pt idx="0">
                  <c:v>La Niña</c:v>
                </c:pt>
                <c:pt idx="1">
                  <c:v>Neutral</c:v>
                </c:pt>
                <c:pt idx="2">
                  <c:v>El Niño</c:v>
                </c:pt>
                <c:pt idx="3">
                  <c:v>IOD negative</c:v>
                </c:pt>
                <c:pt idx="4">
                  <c:v>IOD positive</c:v>
                </c:pt>
              </c:strCache>
            </c:strRef>
          </c:cat>
          <c:val>
            <c:numRef>
              <c:f>Sheet1!$B$2:$B$6</c:f>
              <c:numCache>
                <c:formatCode>General</c:formatCode>
                <c:ptCount val="5"/>
                <c:pt idx="0">
                  <c:v>136</c:v>
                </c:pt>
                <c:pt idx="1">
                  <c:v>115</c:v>
                </c:pt>
                <c:pt idx="2">
                  <c:v>67</c:v>
                </c:pt>
                <c:pt idx="3">
                  <c:v>145</c:v>
                </c:pt>
                <c:pt idx="4">
                  <c:v>51</c:v>
                </c:pt>
              </c:numCache>
            </c:numRef>
          </c:val>
        </c:ser>
        <c:ser>
          <c:idx val="1"/>
          <c:order val="1"/>
          <c:tx>
            <c:strRef>
              <c:f>Sheet1!$C$1</c:f>
              <c:strCache>
                <c:ptCount val="1"/>
                <c:pt idx="0">
                  <c:v>Rain gauges GPCC (1981–2019)</c:v>
                </c:pt>
              </c:strCache>
            </c:strRef>
          </c:tx>
          <c:spPr>
            <a:solidFill>
              <a:srgbClr val="ED7D31"/>
            </a:solidFill>
          </c:spPr>
          <c:invertIfNegative val="0"/>
          <c:dLbls>
            <c:numFmt formatCode="0" sourceLinked="0"/>
            <c:spPr>
              <a:noFill/>
              <a:ln>
                <a:noFill/>
              </a:ln>
            </c:spPr>
            <c:txPr>
              <a:bodyPr/>
              <a:lstStyle/>
              <a:p>
                <a:pPr>
                  <a:defRPr sz="1000" b="1">
                    <a:solidFill>
                      <a:srgbClr val="1F2A30"/>
                    </a:solidFill>
                    <a:latin typeface="Arial"/>
                    <a:cs typeface="Arial"/>
                  </a:defRPr>
                </a:pPr>
                <a:endParaRPr lang="fr-FR"/>
              </a:p>
            </c:txPr>
            <c:dLblPos val="outEnd"/>
            <c:showLegendKey val="0"/>
            <c:showVal val="1"/>
            <c:showCatName val="0"/>
            <c:showSerName val="0"/>
            <c:showPercent val="0"/>
            <c:showBubbleSize val="0"/>
          </c:dLbls>
          <c:cat>
            <c:strRef>
              <c:f>Sheet1!$A$2:$A$6</c:f>
              <c:strCache>
                <c:ptCount val="5"/>
                <c:pt idx="0">
                  <c:v>La Niña</c:v>
                </c:pt>
                <c:pt idx="1">
                  <c:v>Neutral</c:v>
                </c:pt>
                <c:pt idx="2">
                  <c:v>El Niño</c:v>
                </c:pt>
                <c:pt idx="3">
                  <c:v>IOD negative</c:v>
                </c:pt>
                <c:pt idx="4">
                  <c:v>IOD positive</c:v>
                </c:pt>
              </c:strCache>
            </c:strRef>
          </c:cat>
          <c:val>
            <c:numRef>
              <c:f>Sheet1!$C$2:$C$6</c:f>
              <c:numCache>
                <c:formatCode>General</c:formatCode>
                <c:ptCount val="5"/>
                <c:pt idx="0">
                  <c:v>130</c:v>
                </c:pt>
                <c:pt idx="1">
                  <c:v>112</c:v>
                </c:pt>
                <c:pt idx="2">
                  <c:v>71</c:v>
                </c:pt>
                <c:pt idx="3">
                  <c:v>139</c:v>
                </c:pt>
                <c:pt idx="4">
                  <c:v>50</c:v>
                </c:pt>
              </c:numCache>
            </c:numRef>
          </c:val>
        </c:ser>
        <c:gapWidth val="70"/>
        <c:overlap val="-5"/>
        <c:axId val="50010"/>
        <c:axId val="50020"/>
      </c:barChart>
      <c:catAx>
        <c:axId val="50010"/>
        <c:scaling>
          <c:orientation val="minMax"/>
        </c:scaling>
        <c:delete val="0"/>
        <c:axPos val="b"/>
        <c:numFmt formatCode="General" sourceLinked="0"/>
        <c:majorTickMark val="none"/>
        <c:minorTickMark val="none"/>
        <c:tickLblPos val="low"/>
        <c:spPr>
          <a:ln w="9525">
            <a:solidFill>
              <a:srgbClr val="B7C0C5"/>
            </a:solidFill>
          </a:ln>
        </c:spPr>
        <c:txPr>
          <a:bodyPr/>
          <a:lstStyle/>
          <a:p>
            <a:pPr>
              <a:defRPr sz="800" b="0">
                <a:solidFill>
                  <a:srgbClr val="5B6770"/>
                </a:solidFill>
                <a:latin typeface="Arial"/>
                <a:cs typeface="Arial"/>
              </a:defRPr>
            </a:pPr>
            <a:endParaRPr lang="fr-FR"/>
          </a:p>
        </c:txPr>
        <c:crossAx val="50020"/>
        <c:crosses val="autoZero"/>
        <c:auto val="1"/>
        <c:lblAlgn val="ctr"/>
        <c:lblOffset val="100"/>
        <c:noMultiLvlLbl val="0"/>
      </c:catAx>
      <c:valAx>
        <c:axId val="50020"/>
        <c:scaling>
          <c:orientation val="minMax"/>
          <c:max val="175"/>
          <c:min val="0"/>
        </c:scaling>
        <c:delete val="0"/>
        <c:axPos val="l"/>
        <c:majorGridlines>
          <c:spPr>
            <a:ln w="6350">
              <a:solidFill>
                <a:srgbClr val="E3E8EB"/>
              </a:solidFill>
            </a:ln>
          </c:spPr>
        </c:majorGridlines>
        <c:numFmt formatCode="0" sourceLinked="0"/>
        <c:majorTickMark val="none"/>
        <c:minorTickMark val="none"/>
        <c:tickLblPos val="low"/>
        <c:spPr>
          <a:ln w="6350">
            <a:solidFill>
              <a:srgbClr val="FFFFFF"/>
            </a:solidFill>
          </a:ln>
        </c:spPr>
        <c:txPr>
          <a:bodyPr/>
          <a:lstStyle/>
          <a:p>
            <a:pPr>
              <a:defRPr sz="800" b="0">
                <a:solidFill>
                  <a:srgbClr val="5B6770"/>
                </a:solidFill>
                <a:latin typeface="Arial"/>
                <a:cs typeface="Arial"/>
              </a:defRPr>
            </a:pPr>
            <a:endParaRPr lang="fr-FR"/>
          </a:p>
        </c:txPr>
        <c:crossAx val="50010"/>
        <c:crosses val="autoZero"/>
        <c:crossBetween val="between"/>
        <c:majorUnit val="25"/>
      </c:valAx>
    </c:plotArea>
    <c:legend>
      <c:legendPos val="b"/>
      <c:overlay val="0"/>
      <c:txPr>
        <a:bodyPr/>
        <a:lstStyle/>
        <a:p>
          <a:pPr>
            <a:defRPr sz="800" b="0">
              <a:solidFill>
                <a:srgbClr val="1F2A30"/>
              </a:solidFill>
              <a:latin typeface="Arial"/>
              <a:cs typeface="Arial"/>
            </a:defRPr>
          </a:pPr>
          <a:endParaRPr lang="fr-FR"/>
        </a:p>
      </c:txPr>
    </c:legend>
    <c:plotVisOnly val="1"/>
    <c:dispBlanksAs val="gap"/>
  </c:chart>
  <c:spPr>
    <a:noFill/>
    <a:ln>
      <a:noFill/>
    </a:ln>
  </c:spPr>
  <c:txPr>
    <a:bodyPr/>
    <a:lstStyle/>
    <a:p>
      <a:pPr>
        <a:defRPr sz="1000" b="0">
          <a:solidFill>
            <a:srgbClr val="5B6770"/>
          </a:solidFill>
          <a:latin typeface="Arial"/>
          <a:cs typeface="Arial"/>
        </a:defRPr>
      </a:pPr>
      <a:endParaRPr lang="fr-FR"/>
    </a:p>
  </c:txPr>
</c:chartSpace>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marL="0" algn="l" defTabSz="914400" rtl="0" eaLnBrk="1" latinLnBrk="0" hangingPunct="1">
        <a:defRPr sz="1800" kern="1200">
          <a:solidFill>
            <a:schemeClr val="tx1"/>
          </a:solidFill>
          <a:latin typeface="+mn-lt"/>
          <a:ea typeface="+mn-ea"/>
          <a:cs typeface="+mn-cs"/>
        </a:defRPr>
      </a:lvl1pPr>
    </p:titleStyle>
    <p:bodyStyle>
      <a:lvl1pPr marL="0" algn="l" defTabSz="914400" rtl="0" eaLnBrk="1" latinLnBrk="0" hangingPunct="1">
        <a:defRPr sz="1800" kern="1200">
          <a:solidFill>
            <a:schemeClr val="tx1"/>
          </a:solidFill>
          <a:latin typeface="+mn-lt"/>
          <a:ea typeface="+mn-ea"/>
          <a:cs typeface="+mn-cs"/>
        </a:defRPr>
      </a:lvl1pPr>
    </p:bodyStyle>
    <p:otherStyle>
      <a:lvl1pPr marL="0" algn="l" defTabSz="914400" rtl="0" eaLnBrk="1" latinLnBrk="0" hangingPunct="1">
        <a:defRPr sz="1800" kern="1200">
          <a:solidFill>
            <a:schemeClr val="tx1"/>
          </a:solidFill>
          <a:latin typeface="+mn-lt"/>
          <a:ea typeface="+mn-ea"/>
          <a:cs typeface="+mn-cs"/>
        </a:defRPr>
      </a:lvl1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2.xml"/><Relationship Id="rId3" Type="http://schemas.openxmlformats.org/officeDocument/2006/relationships/chart" Target="../charts/chart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4.xml"/><Relationship Id="rId3" Type="http://schemas.openxmlformats.org/officeDocument/2006/relationships/chart" Target="../charts/chart5.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6.xml"/><Relationship Id="rId3" Type="http://schemas.openxmlformats.org/officeDocument/2006/relationships/chart" Target="../charts/chart7.xml"/><Relationship Id="rId4" Type="http://schemas.openxmlformats.org/officeDocument/2006/relationships/chart" Target="../charts/chart8.xml"/><Relationship Id="rId5" Type="http://schemas.openxmlformats.org/officeDocument/2006/relationships/chart" Target="../charts/chart9.xml"/><Relationship Id="rId6" Type="http://schemas.openxmlformats.org/officeDocument/2006/relationships/chart" Target="../charts/chart10.xml"/><Relationship Id="rId7" Type="http://schemas.openxmlformats.org/officeDocument/2006/relationships/chart" Target="../charts/chart1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12.xml"/><Relationship Id="rId3" Type="http://schemas.openxmlformats.org/officeDocument/2006/relationships/chart" Target="../charts/chart13.xml"/><Relationship Id="rId4" Type="http://schemas.openxmlformats.org/officeDocument/2006/relationships/chart" Target="../charts/chart14.xml"/><Relationship Id="rId5" Type="http://schemas.openxmlformats.org/officeDocument/2006/relationships/chart" Target="../charts/chart15.xml"/><Relationship Id="rId6" Type="http://schemas.openxmlformats.org/officeDocument/2006/relationships/chart" Target="../charts/chart16.xml"/><Relationship Id="rId7" Type="http://schemas.openxmlformats.org/officeDocument/2006/relationships/chart" Target="../charts/chart17.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18.xml"/><Relationship Id="rId3" Type="http://schemas.openxmlformats.org/officeDocument/2006/relationships/chart" Target="../charts/chart19.xml"/><Relationship Id="rId4" Type="http://schemas.openxmlformats.org/officeDocument/2006/relationships/chart" Target="../charts/chart20.xml"/><Relationship Id="rId5" Type="http://schemas.openxmlformats.org/officeDocument/2006/relationships/chart" Target="../charts/chart21.xml"/><Relationship Id="rId6" Type="http://schemas.openxmlformats.org/officeDocument/2006/relationships/chart" Target="../charts/chart22.xml"/><Relationship Id="rId7" Type="http://schemas.openxmlformats.org/officeDocument/2006/relationships/chart" Target="../charts/chart23.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24.xml"/><Relationship Id="rId3" Type="http://schemas.openxmlformats.org/officeDocument/2006/relationships/chart" Target="../charts/chart25.xml"/><Relationship Id="rId4" Type="http://schemas.openxmlformats.org/officeDocument/2006/relationships/chart" Target="../charts/chart26.xml"/><Relationship Id="rId5" Type="http://schemas.openxmlformats.org/officeDocument/2006/relationships/chart" Target="../charts/chart27.xml"/><Relationship Id="rId6" Type="http://schemas.openxmlformats.org/officeDocument/2006/relationships/chart" Target="../charts/chart28.xml"/><Relationship Id="rId7" Type="http://schemas.openxmlformats.org/officeDocument/2006/relationships/chart" Target="../charts/chart29.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30.xml"/><Relationship Id="rId3" Type="http://schemas.openxmlformats.org/officeDocument/2006/relationships/chart" Target="../charts/chart31.xml"/><Relationship Id="rId4" Type="http://schemas.openxmlformats.org/officeDocument/2006/relationships/chart" Target="../charts/chart32.xml"/><Relationship Id="rId5" Type="http://schemas.openxmlformats.org/officeDocument/2006/relationships/chart" Target="../charts/chart33.xml"/><Relationship Id="rId6" Type="http://schemas.openxmlformats.org/officeDocument/2006/relationships/chart" Target="../charts/chart34.xml"/><Relationship Id="rId7" Type="http://schemas.openxmlformats.org/officeDocument/2006/relationships/chart" Target="../charts/chart35.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36.xml"/><Relationship Id="rId3" Type="http://schemas.openxmlformats.org/officeDocument/2006/relationships/chart" Target="../charts/chart37.xml"/><Relationship Id="rId4" Type="http://schemas.openxmlformats.org/officeDocument/2006/relationships/chart" Target="../charts/chart38.xml"/><Relationship Id="rId5" Type="http://schemas.openxmlformats.org/officeDocument/2006/relationships/chart" Target="../charts/chart39.xml"/><Relationship Id="rId6" Type="http://schemas.openxmlformats.org/officeDocument/2006/relationships/chart" Target="../charts/chart40.xml"/><Relationship Id="rId7" Type="http://schemas.openxmlformats.org/officeDocument/2006/relationships/chart" Target="../charts/chart4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42.xml"/><Relationship Id="rId3" Type="http://schemas.openxmlformats.org/officeDocument/2006/relationships/chart" Target="../charts/chart43.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44.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4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3"/>
          <p:cNvSpPr txBox="1"/>
          <p:nvPr/>
        </p:nvSpPr>
        <p:spPr>
          <a:xfrm>
            <a:off x="731520" y="2103120"/>
            <a:ext cx="10515600" cy="91440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3200" b="1" dirty="0">
                <a:solidFill>
                  <a:srgbClr val="1F3864"/>
                </a:solidFill>
                <a:latin typeface="Arial"/>
                <a:cs typeface="Arial"/>
              </a:rPr>
              <a:t>Indonesia Robusta: weather, ENSO and the 2027/28 crop</a:t>
            </a:r>
          </a:p>
        </p:txBody>
      </p:sp>
      <p:sp>
        <p:nvSpPr>
          <p:cNvPr id="4" name="TextBox 4"/>
          <p:cNvSpPr txBox="1"/>
          <p:nvPr/>
        </p:nvSpPr>
        <p:spPr>
          <a:xfrm>
            <a:off x="731520" y="3063240"/>
            <a:ext cx="10515600" cy="82296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1500" dirty="0">
                <a:solidFill>
                  <a:srgbClr val="404040"/>
                </a:solidFill>
                <a:latin typeface="Arial"/>
                <a:cs typeface="Arial"/>
              </a:rPr>
              <a:t>South Sumatra, Lampung and Bengkulu robusta belt · USDA PSD production · NASA POWER weather checked against GPCC rain gauges</a:t>
            </a:r>
          </a:p>
        </p:txBody>
      </p:sp>
      <p:sp>
        <p:nvSpPr>
          <p:cNvPr id="5" name="TextBox 5"/>
          <p:cNvSpPr txBox="1"/>
          <p:nvPr/>
        </p:nvSpPr>
        <p:spPr>
          <a:xfrm>
            <a:off x="731520" y="4023360"/>
            <a:ext cx="10515600" cy="36576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1200" dirty="0">
                <a:solidFill>
                  <a:srgbClr val="7F7F7F"/>
                </a:solidFill>
                <a:latin typeface="Arial"/>
                <a:cs typeface="Arial"/>
              </a:rPr>
              <a:t>24 September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3"/>
          <p:cNvSpPr txBox="1"/>
          <p:nvPr/>
        </p:nvSpPr>
        <p:spPr>
          <a:xfrm>
            <a:off x="411480" y="201168"/>
            <a:ext cx="11338560" cy="50292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2400" b="1" dirty="0">
                <a:solidFill>
                  <a:srgbClr val="1F3864"/>
                </a:solidFill>
                <a:latin typeface="Arial"/>
                <a:cs typeface="Arial"/>
              </a:rPr>
              <a:t>Indonesia Robusta production and ENSO</a:t>
            </a:r>
          </a:p>
        </p:txBody>
      </p:sp>
      <p:sp>
        <p:nvSpPr>
          <p:cNvPr id="4" name="TextBox 4"/>
          <p:cNvSpPr txBox="1"/>
          <p:nvPr/>
        </p:nvSpPr>
        <p:spPr>
          <a:xfrm>
            <a:off x="685800" y="713232"/>
            <a:ext cx="10881360" cy="758952"/>
          </a:xfrm>
          <a:prstGeom prst="rect">
            <a:avLst/>
          </a:prstGeom>
          <a:noFill/>
          <a:ln>
            <a:noFill/>
          </a:ln>
        </p:spPr>
        <p:txBody>
          <a:bodyPr wrap="square" lIns="0" tIns="0" rIns="0" bIns="0" anchor="t" rtlCol="0">
            <a:noAutofit/>
          </a:bodyPr>
          <a:lstStyle/>
          <a:p>
            <a:pPr algn="l" marL="201168" indent="-201168">
              <a:spcBef>
                <a:spcPts val="0"/>
              </a:spcBef>
              <a:spcAft>
                <a:spcPts val="100"/>
              </a:spcAft>
              <a:buFont typeface="Arial"/>
              <a:buChar char="•"/>
            </a:pPr>
            <a:r>
              <a:rPr lang="en-GB" sz="1050" dirty="0">
                <a:solidFill>
                  <a:srgbClr val="262626"/>
                </a:solidFill>
                <a:highlight>
                  <a:srgbClr val="FFFF00"/>
                </a:highlight>
                <a:latin typeface="Arial"/>
                <a:cs typeface="Arial"/>
              </a:rPr>
              <a:t>After La Niña flowering years, output fell in 6 of 10 crops (median −1.9 %); the two worst crops followed La Niña: 2011/12 (−16 %) and 2023/24 (−28 %)</a:t>
            </a:r>
          </a:p>
          <a:p>
            <a:pPr algn="l" marL="201168" indent="-201168">
              <a:spcBef>
                <a:spcPts val="0"/>
              </a:spcBef>
              <a:spcAft>
                <a:spcPts val="100"/>
              </a:spcAft>
              <a:buFont typeface="Arial"/>
              <a:buChar char="•"/>
            </a:pPr>
            <a:r>
              <a:rPr lang="en-GB" sz="1050" dirty="0">
                <a:solidFill>
                  <a:srgbClr val="262626"/>
                </a:solidFill>
                <a:highlight>
                  <a:srgbClr val="FFFF00"/>
                </a:highlight>
                <a:latin typeface="Arial"/>
                <a:cs typeface="Arial"/>
              </a:rPr>
              <a:t>After El Niño flowering years: median +2.0 %; the loss came with the extreme 2015 drought (2016/17 −12 %)</a:t>
            </a:r>
          </a:p>
          <a:p>
            <a:pPr algn="l" marL="201168" indent="-201168">
              <a:spcBef>
                <a:spcPts val="0"/>
              </a:spcBef>
              <a:spcAft>
                <a:spcPts val="100"/>
              </a:spcAft>
              <a:buFont typeface="Arial"/>
              <a:buChar char="•"/>
            </a:pPr>
            <a:r>
              <a:rPr lang="en-GB" sz="1050" dirty="0">
                <a:solidFill>
                  <a:srgbClr val="262626"/>
                </a:solidFill>
                <a:highlight>
                  <a:srgbClr val="FFFF00"/>
                </a:highlight>
                <a:latin typeface="Arial"/>
                <a:cs typeface="Arial"/>
              </a:rPr>
              <a:t>2026: El Niño (ONI Jun–Aug +1.8) and a positive IOD likely → 2027/28 forecast ≈ 10.2 M bags (±1.0)</a:t>
            </a:r>
          </a:p>
        </p:txBody>
      </p:sp>
      <p:sp>
        <p:nvSpPr>
          <p:cNvPr id="5" name="TextBox 5"/>
          <p:cNvSpPr txBox="1"/>
          <p:nvPr/>
        </p:nvSpPr>
        <p:spPr>
          <a:xfrm>
            <a:off x="411480" y="6510528"/>
            <a:ext cx="8229600" cy="27432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750" dirty="0">
                <a:solidFill>
                  <a:srgbClr val="7F7F7F"/>
                </a:solidFill>
                <a:latin typeface="Arial"/>
                <a:cs typeface="Arial"/>
              </a:rPr>
              <a:t>Sources: USDA PSD (production, marketing year Apr–Mar; flowering the year before); NOAA CPC ONI. YoY by flowering-year phase, 1991–2026. 2027/28F: area × yield method, research note.</a:t>
            </a:r>
          </a:p>
        </p:txBody>
      </p:sp>
      <p:graphicFrame>
        <p:nvGraphicFramePr>
          <p:cNvPr id="6" name="Table 6"/>
          <p:cNvGraphicFramePr>
            <a:graphicFrameLocks noGrp="1"/>
          </p:cNvGraphicFramePr>
          <p:nvPr/>
        </p:nvGraphicFramePr>
        <p:xfrm>
          <a:off x="411480" y="1572768"/>
          <a:ext cx="11283696" cy="822960"/>
        </p:xfrm>
        <a:graphic>
          <a:graphicData uri="http://schemas.openxmlformats.org/drawingml/2006/table">
            <a:tbl>
              <a:tblPr firstRow="1" bandRow="0"/>
              <a:tblGrid>
                <a:gridCol w="914400"/>
                <a:gridCol w="576072"/>
                <a:gridCol w="576072"/>
                <a:gridCol w="576072"/>
                <a:gridCol w="576072"/>
                <a:gridCol w="576072"/>
                <a:gridCol w="576072"/>
                <a:gridCol w="576072"/>
                <a:gridCol w="576072"/>
                <a:gridCol w="576072"/>
                <a:gridCol w="576072"/>
                <a:gridCol w="576072"/>
                <a:gridCol w="576072"/>
                <a:gridCol w="576072"/>
                <a:gridCol w="576072"/>
                <a:gridCol w="576072"/>
                <a:gridCol w="576072"/>
                <a:gridCol w="576072"/>
                <a:gridCol w="576072"/>
              </a:tblGrid>
              <a:tr h="274320">
                <a:tc>
                  <a:txBody>
                    <a:bodyPr/>
                    <a:lstStyle/>
                    <a:p>
                      <a:pPr algn="l" marL="0" indent="0">
                        <a:spcBef>
                          <a:spcPts val="0"/>
                        </a:spcBef>
                        <a:spcAft>
                          <a:spcPts val="0"/>
                        </a:spcAft>
                        <a:buNone/>
                      </a:pPr>
                      <a:r>
                        <a:rPr lang="en-GB" sz="800" b="1" dirty="0">
                          <a:solidFill>
                            <a:srgbClr val="FFFFFF"/>
                          </a:solidFill>
                          <a:latin typeface="Arial"/>
                          <a:cs typeface="Arial"/>
                        </a:rPr>
                        <a:t>Marketing year</a:t>
                      </a:r>
                    </a:p>
                  </a:txBody>
                  <a:tcPr marL="73152" marR="73152" marT="27432" marB="27432" anchor="ctr">
                    <a:lnL w="0">
                      <a:noFill/>
                    </a:lnL>
                    <a:lnR w="0">
                      <a:noFill/>
                    </a:lnR>
                    <a:lnT w="6350">
                      <a:solidFill>
                        <a:srgbClr val="D5DDE1"/>
                      </a:solidFill>
                    </a:lnT>
                    <a:lnB w="6350">
                      <a:solidFill>
                        <a:srgbClr val="D5DDE1"/>
                      </a:solidFill>
                    </a:lnB>
                    <a:solidFill>
                      <a:srgbClr val="1F3864"/>
                    </a:solidFill>
                  </a:tcPr>
                </a:tc>
                <a:tc>
                  <a:txBody>
                    <a:bodyPr/>
                    <a:lstStyle/>
                    <a:p>
                      <a:pPr algn="ctr" marL="0" indent="0">
                        <a:spcBef>
                          <a:spcPts val="0"/>
                        </a:spcBef>
                        <a:spcAft>
                          <a:spcPts val="0"/>
                        </a:spcAft>
                        <a:buNone/>
                      </a:pPr>
                      <a:r>
                        <a:rPr lang="en-GB" sz="800" b="1" dirty="0">
                          <a:solidFill>
                            <a:srgbClr val="FFFFFF"/>
                          </a:solidFill>
                          <a:latin typeface="Arial"/>
                          <a:cs typeface="Arial"/>
                        </a:rPr>
                        <a:t>2010/11</a:t>
                      </a:r>
                    </a:p>
                  </a:txBody>
                  <a:tcPr marL="73152" marR="73152" marT="27432" marB="27432" anchor="ctr">
                    <a:lnL w="0">
                      <a:noFill/>
                    </a:lnL>
                    <a:lnR w="0">
                      <a:noFill/>
                    </a:lnR>
                    <a:lnT w="6350">
                      <a:solidFill>
                        <a:srgbClr val="D5DDE1"/>
                      </a:solidFill>
                    </a:lnT>
                    <a:lnB w="6350">
                      <a:solidFill>
                        <a:srgbClr val="D5DDE1"/>
                      </a:solidFill>
                    </a:lnB>
                    <a:solidFill>
                      <a:srgbClr val="1F3864"/>
                    </a:solidFill>
                  </a:tcPr>
                </a:tc>
                <a:tc>
                  <a:txBody>
                    <a:bodyPr/>
                    <a:lstStyle/>
                    <a:p>
                      <a:pPr algn="ctr" marL="0" indent="0">
                        <a:spcBef>
                          <a:spcPts val="0"/>
                        </a:spcBef>
                        <a:spcAft>
                          <a:spcPts val="0"/>
                        </a:spcAft>
                        <a:buNone/>
                      </a:pPr>
                      <a:r>
                        <a:rPr lang="en-GB" sz="800" b="1" dirty="0">
                          <a:solidFill>
                            <a:srgbClr val="FFFFFF"/>
                          </a:solidFill>
                          <a:latin typeface="Arial"/>
                          <a:cs typeface="Arial"/>
                        </a:rPr>
                        <a:t>2011/12</a:t>
                      </a:r>
                    </a:p>
                  </a:txBody>
                  <a:tcPr marL="73152" marR="73152" marT="27432" marB="27432" anchor="ctr">
                    <a:lnL w="0">
                      <a:noFill/>
                    </a:lnL>
                    <a:lnR w="0">
                      <a:noFill/>
                    </a:lnR>
                    <a:lnT w="6350">
                      <a:solidFill>
                        <a:srgbClr val="D5DDE1"/>
                      </a:solidFill>
                    </a:lnT>
                    <a:lnB w="6350">
                      <a:solidFill>
                        <a:srgbClr val="D5DDE1"/>
                      </a:solidFill>
                    </a:lnB>
                    <a:solidFill>
                      <a:srgbClr val="1F3864"/>
                    </a:solidFill>
                  </a:tcPr>
                </a:tc>
                <a:tc>
                  <a:txBody>
                    <a:bodyPr/>
                    <a:lstStyle/>
                    <a:p>
                      <a:pPr algn="ctr" marL="0" indent="0">
                        <a:spcBef>
                          <a:spcPts val="0"/>
                        </a:spcBef>
                        <a:spcAft>
                          <a:spcPts val="0"/>
                        </a:spcAft>
                        <a:buNone/>
                      </a:pPr>
                      <a:r>
                        <a:rPr lang="en-GB" sz="800" b="1" dirty="0">
                          <a:solidFill>
                            <a:srgbClr val="FFFFFF"/>
                          </a:solidFill>
                          <a:latin typeface="Arial"/>
                          <a:cs typeface="Arial"/>
                        </a:rPr>
                        <a:t>2012/13</a:t>
                      </a:r>
                    </a:p>
                  </a:txBody>
                  <a:tcPr marL="73152" marR="73152" marT="27432" marB="27432" anchor="ctr">
                    <a:lnL w="0">
                      <a:noFill/>
                    </a:lnL>
                    <a:lnR w="0">
                      <a:noFill/>
                    </a:lnR>
                    <a:lnT w="6350">
                      <a:solidFill>
                        <a:srgbClr val="D5DDE1"/>
                      </a:solidFill>
                    </a:lnT>
                    <a:lnB w="6350">
                      <a:solidFill>
                        <a:srgbClr val="D5DDE1"/>
                      </a:solidFill>
                    </a:lnB>
                    <a:solidFill>
                      <a:srgbClr val="1F3864"/>
                    </a:solidFill>
                  </a:tcPr>
                </a:tc>
                <a:tc>
                  <a:txBody>
                    <a:bodyPr/>
                    <a:lstStyle/>
                    <a:p>
                      <a:pPr algn="ctr" marL="0" indent="0">
                        <a:spcBef>
                          <a:spcPts val="0"/>
                        </a:spcBef>
                        <a:spcAft>
                          <a:spcPts val="0"/>
                        </a:spcAft>
                        <a:buNone/>
                      </a:pPr>
                      <a:r>
                        <a:rPr lang="en-GB" sz="800" b="1" dirty="0">
                          <a:solidFill>
                            <a:srgbClr val="FFFFFF"/>
                          </a:solidFill>
                          <a:latin typeface="Arial"/>
                          <a:cs typeface="Arial"/>
                        </a:rPr>
                        <a:t>2013/14</a:t>
                      </a:r>
                    </a:p>
                  </a:txBody>
                  <a:tcPr marL="73152" marR="73152" marT="27432" marB="27432" anchor="ctr">
                    <a:lnL w="0">
                      <a:noFill/>
                    </a:lnL>
                    <a:lnR w="0">
                      <a:noFill/>
                    </a:lnR>
                    <a:lnT w="6350">
                      <a:solidFill>
                        <a:srgbClr val="D5DDE1"/>
                      </a:solidFill>
                    </a:lnT>
                    <a:lnB w="6350">
                      <a:solidFill>
                        <a:srgbClr val="D5DDE1"/>
                      </a:solidFill>
                    </a:lnB>
                    <a:solidFill>
                      <a:srgbClr val="1F3864"/>
                    </a:solidFill>
                  </a:tcPr>
                </a:tc>
                <a:tc>
                  <a:txBody>
                    <a:bodyPr/>
                    <a:lstStyle/>
                    <a:p>
                      <a:pPr algn="ctr" marL="0" indent="0">
                        <a:spcBef>
                          <a:spcPts val="0"/>
                        </a:spcBef>
                        <a:spcAft>
                          <a:spcPts val="0"/>
                        </a:spcAft>
                        <a:buNone/>
                      </a:pPr>
                      <a:r>
                        <a:rPr lang="en-GB" sz="800" b="1" dirty="0">
                          <a:solidFill>
                            <a:srgbClr val="FFFFFF"/>
                          </a:solidFill>
                          <a:latin typeface="Arial"/>
                          <a:cs typeface="Arial"/>
                        </a:rPr>
                        <a:t>2014/15</a:t>
                      </a:r>
                    </a:p>
                  </a:txBody>
                  <a:tcPr marL="73152" marR="73152" marT="27432" marB="27432" anchor="ctr">
                    <a:lnL w="0">
                      <a:noFill/>
                    </a:lnL>
                    <a:lnR w="0">
                      <a:noFill/>
                    </a:lnR>
                    <a:lnT w="6350">
                      <a:solidFill>
                        <a:srgbClr val="D5DDE1"/>
                      </a:solidFill>
                    </a:lnT>
                    <a:lnB w="6350">
                      <a:solidFill>
                        <a:srgbClr val="D5DDE1"/>
                      </a:solidFill>
                    </a:lnB>
                    <a:solidFill>
                      <a:srgbClr val="1F3864"/>
                    </a:solidFill>
                  </a:tcPr>
                </a:tc>
                <a:tc>
                  <a:txBody>
                    <a:bodyPr/>
                    <a:lstStyle/>
                    <a:p>
                      <a:pPr algn="ctr" marL="0" indent="0">
                        <a:spcBef>
                          <a:spcPts val="0"/>
                        </a:spcBef>
                        <a:spcAft>
                          <a:spcPts val="0"/>
                        </a:spcAft>
                        <a:buNone/>
                      </a:pPr>
                      <a:r>
                        <a:rPr lang="en-GB" sz="800" b="1" dirty="0">
                          <a:solidFill>
                            <a:srgbClr val="FFFFFF"/>
                          </a:solidFill>
                          <a:latin typeface="Arial"/>
                          <a:cs typeface="Arial"/>
                        </a:rPr>
                        <a:t>2015/16</a:t>
                      </a:r>
                    </a:p>
                  </a:txBody>
                  <a:tcPr marL="73152" marR="73152" marT="27432" marB="27432" anchor="ctr">
                    <a:lnL w="0">
                      <a:noFill/>
                    </a:lnL>
                    <a:lnR w="0">
                      <a:noFill/>
                    </a:lnR>
                    <a:lnT w="6350">
                      <a:solidFill>
                        <a:srgbClr val="D5DDE1"/>
                      </a:solidFill>
                    </a:lnT>
                    <a:lnB w="6350">
                      <a:solidFill>
                        <a:srgbClr val="D5DDE1"/>
                      </a:solidFill>
                    </a:lnB>
                    <a:solidFill>
                      <a:srgbClr val="1F3864"/>
                    </a:solidFill>
                  </a:tcPr>
                </a:tc>
                <a:tc>
                  <a:txBody>
                    <a:bodyPr/>
                    <a:lstStyle/>
                    <a:p>
                      <a:pPr algn="ctr" marL="0" indent="0">
                        <a:spcBef>
                          <a:spcPts val="0"/>
                        </a:spcBef>
                        <a:spcAft>
                          <a:spcPts val="0"/>
                        </a:spcAft>
                        <a:buNone/>
                      </a:pPr>
                      <a:r>
                        <a:rPr lang="en-GB" sz="800" b="1" dirty="0">
                          <a:solidFill>
                            <a:srgbClr val="FFFFFF"/>
                          </a:solidFill>
                          <a:latin typeface="Arial"/>
                          <a:cs typeface="Arial"/>
                        </a:rPr>
                        <a:t>2016/17</a:t>
                      </a:r>
                    </a:p>
                  </a:txBody>
                  <a:tcPr marL="73152" marR="73152" marT="27432" marB="27432" anchor="ctr">
                    <a:lnL w="0">
                      <a:noFill/>
                    </a:lnL>
                    <a:lnR w="0">
                      <a:noFill/>
                    </a:lnR>
                    <a:lnT w="6350">
                      <a:solidFill>
                        <a:srgbClr val="D5DDE1"/>
                      </a:solidFill>
                    </a:lnT>
                    <a:lnB w="6350">
                      <a:solidFill>
                        <a:srgbClr val="D5DDE1"/>
                      </a:solidFill>
                    </a:lnB>
                    <a:solidFill>
                      <a:srgbClr val="1F3864"/>
                    </a:solidFill>
                  </a:tcPr>
                </a:tc>
                <a:tc>
                  <a:txBody>
                    <a:bodyPr/>
                    <a:lstStyle/>
                    <a:p>
                      <a:pPr algn="ctr" marL="0" indent="0">
                        <a:spcBef>
                          <a:spcPts val="0"/>
                        </a:spcBef>
                        <a:spcAft>
                          <a:spcPts val="0"/>
                        </a:spcAft>
                        <a:buNone/>
                      </a:pPr>
                      <a:r>
                        <a:rPr lang="en-GB" sz="800" b="1" dirty="0">
                          <a:solidFill>
                            <a:srgbClr val="FFFFFF"/>
                          </a:solidFill>
                          <a:latin typeface="Arial"/>
                          <a:cs typeface="Arial"/>
                        </a:rPr>
                        <a:t>2017/18</a:t>
                      </a:r>
                    </a:p>
                  </a:txBody>
                  <a:tcPr marL="73152" marR="73152" marT="27432" marB="27432" anchor="ctr">
                    <a:lnL w="0">
                      <a:noFill/>
                    </a:lnL>
                    <a:lnR w="0">
                      <a:noFill/>
                    </a:lnR>
                    <a:lnT w="6350">
                      <a:solidFill>
                        <a:srgbClr val="D5DDE1"/>
                      </a:solidFill>
                    </a:lnT>
                    <a:lnB w="6350">
                      <a:solidFill>
                        <a:srgbClr val="D5DDE1"/>
                      </a:solidFill>
                    </a:lnB>
                    <a:solidFill>
                      <a:srgbClr val="1F3864"/>
                    </a:solidFill>
                  </a:tcPr>
                </a:tc>
                <a:tc>
                  <a:txBody>
                    <a:bodyPr/>
                    <a:lstStyle/>
                    <a:p>
                      <a:pPr algn="ctr" marL="0" indent="0">
                        <a:spcBef>
                          <a:spcPts val="0"/>
                        </a:spcBef>
                        <a:spcAft>
                          <a:spcPts val="0"/>
                        </a:spcAft>
                        <a:buNone/>
                      </a:pPr>
                      <a:r>
                        <a:rPr lang="en-GB" sz="800" b="1" dirty="0">
                          <a:solidFill>
                            <a:srgbClr val="FFFFFF"/>
                          </a:solidFill>
                          <a:latin typeface="Arial"/>
                          <a:cs typeface="Arial"/>
                        </a:rPr>
                        <a:t>2018/19</a:t>
                      </a:r>
                    </a:p>
                  </a:txBody>
                  <a:tcPr marL="73152" marR="73152" marT="27432" marB="27432" anchor="ctr">
                    <a:lnL w="0">
                      <a:noFill/>
                    </a:lnL>
                    <a:lnR w="0">
                      <a:noFill/>
                    </a:lnR>
                    <a:lnT w="6350">
                      <a:solidFill>
                        <a:srgbClr val="D5DDE1"/>
                      </a:solidFill>
                    </a:lnT>
                    <a:lnB w="6350">
                      <a:solidFill>
                        <a:srgbClr val="D5DDE1"/>
                      </a:solidFill>
                    </a:lnB>
                    <a:solidFill>
                      <a:srgbClr val="1F3864"/>
                    </a:solidFill>
                  </a:tcPr>
                </a:tc>
                <a:tc>
                  <a:txBody>
                    <a:bodyPr/>
                    <a:lstStyle/>
                    <a:p>
                      <a:pPr algn="ctr" marL="0" indent="0">
                        <a:spcBef>
                          <a:spcPts val="0"/>
                        </a:spcBef>
                        <a:spcAft>
                          <a:spcPts val="0"/>
                        </a:spcAft>
                        <a:buNone/>
                      </a:pPr>
                      <a:r>
                        <a:rPr lang="en-GB" sz="800" b="1" dirty="0">
                          <a:solidFill>
                            <a:srgbClr val="FFFFFF"/>
                          </a:solidFill>
                          <a:latin typeface="Arial"/>
                          <a:cs typeface="Arial"/>
                        </a:rPr>
                        <a:t>2019/20</a:t>
                      </a:r>
                    </a:p>
                  </a:txBody>
                  <a:tcPr marL="73152" marR="73152" marT="27432" marB="27432" anchor="ctr">
                    <a:lnL w="0">
                      <a:noFill/>
                    </a:lnL>
                    <a:lnR w="0">
                      <a:noFill/>
                    </a:lnR>
                    <a:lnT w="6350">
                      <a:solidFill>
                        <a:srgbClr val="D5DDE1"/>
                      </a:solidFill>
                    </a:lnT>
                    <a:lnB w="6350">
                      <a:solidFill>
                        <a:srgbClr val="D5DDE1"/>
                      </a:solidFill>
                    </a:lnB>
                    <a:solidFill>
                      <a:srgbClr val="1F3864"/>
                    </a:solidFill>
                  </a:tcPr>
                </a:tc>
                <a:tc>
                  <a:txBody>
                    <a:bodyPr/>
                    <a:lstStyle/>
                    <a:p>
                      <a:pPr algn="ctr" marL="0" indent="0">
                        <a:spcBef>
                          <a:spcPts val="0"/>
                        </a:spcBef>
                        <a:spcAft>
                          <a:spcPts val="0"/>
                        </a:spcAft>
                        <a:buNone/>
                      </a:pPr>
                      <a:r>
                        <a:rPr lang="en-GB" sz="800" b="1" dirty="0">
                          <a:solidFill>
                            <a:srgbClr val="FFFFFF"/>
                          </a:solidFill>
                          <a:latin typeface="Arial"/>
                          <a:cs typeface="Arial"/>
                        </a:rPr>
                        <a:t>2020/21</a:t>
                      </a:r>
                    </a:p>
                  </a:txBody>
                  <a:tcPr marL="73152" marR="73152" marT="27432" marB="27432" anchor="ctr">
                    <a:lnL w="0">
                      <a:noFill/>
                    </a:lnL>
                    <a:lnR w="0">
                      <a:noFill/>
                    </a:lnR>
                    <a:lnT w="6350">
                      <a:solidFill>
                        <a:srgbClr val="D5DDE1"/>
                      </a:solidFill>
                    </a:lnT>
                    <a:lnB w="6350">
                      <a:solidFill>
                        <a:srgbClr val="D5DDE1"/>
                      </a:solidFill>
                    </a:lnB>
                    <a:solidFill>
                      <a:srgbClr val="1F3864"/>
                    </a:solidFill>
                  </a:tcPr>
                </a:tc>
                <a:tc>
                  <a:txBody>
                    <a:bodyPr/>
                    <a:lstStyle/>
                    <a:p>
                      <a:pPr algn="ctr" marL="0" indent="0">
                        <a:spcBef>
                          <a:spcPts val="0"/>
                        </a:spcBef>
                        <a:spcAft>
                          <a:spcPts val="0"/>
                        </a:spcAft>
                        <a:buNone/>
                      </a:pPr>
                      <a:r>
                        <a:rPr lang="en-GB" sz="800" b="1" dirty="0">
                          <a:solidFill>
                            <a:srgbClr val="FFFFFF"/>
                          </a:solidFill>
                          <a:latin typeface="Arial"/>
                          <a:cs typeface="Arial"/>
                        </a:rPr>
                        <a:t>2021/22</a:t>
                      </a:r>
                    </a:p>
                  </a:txBody>
                  <a:tcPr marL="73152" marR="73152" marT="27432" marB="27432" anchor="ctr">
                    <a:lnL w="0">
                      <a:noFill/>
                    </a:lnL>
                    <a:lnR w="0">
                      <a:noFill/>
                    </a:lnR>
                    <a:lnT w="6350">
                      <a:solidFill>
                        <a:srgbClr val="D5DDE1"/>
                      </a:solidFill>
                    </a:lnT>
                    <a:lnB w="6350">
                      <a:solidFill>
                        <a:srgbClr val="D5DDE1"/>
                      </a:solidFill>
                    </a:lnB>
                    <a:solidFill>
                      <a:srgbClr val="1F3864"/>
                    </a:solidFill>
                  </a:tcPr>
                </a:tc>
                <a:tc>
                  <a:txBody>
                    <a:bodyPr/>
                    <a:lstStyle/>
                    <a:p>
                      <a:pPr algn="ctr" marL="0" indent="0">
                        <a:spcBef>
                          <a:spcPts val="0"/>
                        </a:spcBef>
                        <a:spcAft>
                          <a:spcPts val="0"/>
                        </a:spcAft>
                        <a:buNone/>
                      </a:pPr>
                      <a:r>
                        <a:rPr lang="en-GB" sz="800" b="1" dirty="0">
                          <a:solidFill>
                            <a:srgbClr val="FFFFFF"/>
                          </a:solidFill>
                          <a:latin typeface="Arial"/>
                          <a:cs typeface="Arial"/>
                        </a:rPr>
                        <a:t>2022/23</a:t>
                      </a:r>
                    </a:p>
                  </a:txBody>
                  <a:tcPr marL="73152" marR="73152" marT="27432" marB="27432" anchor="ctr">
                    <a:lnL w="0">
                      <a:noFill/>
                    </a:lnL>
                    <a:lnR w="0">
                      <a:noFill/>
                    </a:lnR>
                    <a:lnT w="6350">
                      <a:solidFill>
                        <a:srgbClr val="D5DDE1"/>
                      </a:solidFill>
                    </a:lnT>
                    <a:lnB w="6350">
                      <a:solidFill>
                        <a:srgbClr val="D5DDE1"/>
                      </a:solidFill>
                    </a:lnB>
                    <a:solidFill>
                      <a:srgbClr val="1F3864"/>
                    </a:solidFill>
                  </a:tcPr>
                </a:tc>
                <a:tc>
                  <a:txBody>
                    <a:bodyPr/>
                    <a:lstStyle/>
                    <a:p>
                      <a:pPr algn="ctr" marL="0" indent="0">
                        <a:spcBef>
                          <a:spcPts val="0"/>
                        </a:spcBef>
                        <a:spcAft>
                          <a:spcPts val="0"/>
                        </a:spcAft>
                        <a:buNone/>
                      </a:pPr>
                      <a:r>
                        <a:rPr lang="en-GB" sz="800" b="1" dirty="0">
                          <a:solidFill>
                            <a:srgbClr val="FFFFFF"/>
                          </a:solidFill>
                          <a:latin typeface="Arial"/>
                          <a:cs typeface="Arial"/>
                        </a:rPr>
                        <a:t>2023/24</a:t>
                      </a:r>
                    </a:p>
                  </a:txBody>
                  <a:tcPr marL="73152" marR="73152" marT="27432" marB="27432" anchor="ctr">
                    <a:lnL w="0">
                      <a:noFill/>
                    </a:lnL>
                    <a:lnR w="0">
                      <a:noFill/>
                    </a:lnR>
                    <a:lnT w="6350">
                      <a:solidFill>
                        <a:srgbClr val="D5DDE1"/>
                      </a:solidFill>
                    </a:lnT>
                    <a:lnB w="6350">
                      <a:solidFill>
                        <a:srgbClr val="D5DDE1"/>
                      </a:solidFill>
                    </a:lnB>
                    <a:solidFill>
                      <a:srgbClr val="1F3864"/>
                    </a:solidFill>
                  </a:tcPr>
                </a:tc>
                <a:tc>
                  <a:txBody>
                    <a:bodyPr/>
                    <a:lstStyle/>
                    <a:p>
                      <a:pPr algn="ctr" marL="0" indent="0">
                        <a:spcBef>
                          <a:spcPts val="0"/>
                        </a:spcBef>
                        <a:spcAft>
                          <a:spcPts val="0"/>
                        </a:spcAft>
                        <a:buNone/>
                      </a:pPr>
                      <a:r>
                        <a:rPr lang="en-GB" sz="800" b="1" dirty="0">
                          <a:solidFill>
                            <a:srgbClr val="FFFFFF"/>
                          </a:solidFill>
                          <a:latin typeface="Arial"/>
                          <a:cs typeface="Arial"/>
                        </a:rPr>
                        <a:t>2024/25</a:t>
                      </a:r>
                    </a:p>
                  </a:txBody>
                  <a:tcPr marL="73152" marR="73152" marT="27432" marB="27432" anchor="ctr">
                    <a:lnL w="0">
                      <a:noFill/>
                    </a:lnL>
                    <a:lnR w="0">
                      <a:noFill/>
                    </a:lnR>
                    <a:lnT w="6350">
                      <a:solidFill>
                        <a:srgbClr val="D5DDE1"/>
                      </a:solidFill>
                    </a:lnT>
                    <a:lnB w="6350">
                      <a:solidFill>
                        <a:srgbClr val="D5DDE1"/>
                      </a:solidFill>
                    </a:lnB>
                    <a:solidFill>
                      <a:srgbClr val="1F3864"/>
                    </a:solidFill>
                  </a:tcPr>
                </a:tc>
                <a:tc>
                  <a:txBody>
                    <a:bodyPr/>
                    <a:lstStyle/>
                    <a:p>
                      <a:pPr algn="ctr" marL="0" indent="0">
                        <a:spcBef>
                          <a:spcPts val="0"/>
                        </a:spcBef>
                        <a:spcAft>
                          <a:spcPts val="0"/>
                        </a:spcAft>
                        <a:buNone/>
                      </a:pPr>
                      <a:r>
                        <a:rPr lang="en-GB" sz="800" b="1" dirty="0">
                          <a:solidFill>
                            <a:srgbClr val="FFFFFF"/>
                          </a:solidFill>
                          <a:latin typeface="Arial"/>
                          <a:cs typeface="Arial"/>
                        </a:rPr>
                        <a:t>2025/26</a:t>
                      </a:r>
                    </a:p>
                  </a:txBody>
                  <a:tcPr marL="73152" marR="73152" marT="27432" marB="27432" anchor="ctr">
                    <a:lnL w="0">
                      <a:noFill/>
                    </a:lnL>
                    <a:lnR w="0">
                      <a:noFill/>
                    </a:lnR>
                    <a:lnT w="6350">
                      <a:solidFill>
                        <a:srgbClr val="D5DDE1"/>
                      </a:solidFill>
                    </a:lnT>
                    <a:lnB w="6350">
                      <a:solidFill>
                        <a:srgbClr val="D5DDE1"/>
                      </a:solidFill>
                    </a:lnB>
                    <a:solidFill>
                      <a:srgbClr val="1F3864"/>
                    </a:solidFill>
                  </a:tcPr>
                </a:tc>
                <a:tc>
                  <a:txBody>
                    <a:bodyPr/>
                    <a:lstStyle/>
                    <a:p>
                      <a:pPr algn="ctr" marL="0" indent="0">
                        <a:spcBef>
                          <a:spcPts val="0"/>
                        </a:spcBef>
                        <a:spcAft>
                          <a:spcPts val="0"/>
                        </a:spcAft>
                        <a:buNone/>
                      </a:pPr>
                      <a:r>
                        <a:rPr lang="en-GB" sz="800" b="1" dirty="0">
                          <a:solidFill>
                            <a:srgbClr val="FFFFFF"/>
                          </a:solidFill>
                          <a:latin typeface="Arial"/>
                          <a:cs typeface="Arial"/>
                        </a:rPr>
                        <a:t>2026/27</a:t>
                      </a:r>
                    </a:p>
                  </a:txBody>
                  <a:tcPr marL="73152" marR="73152" marT="27432" marB="27432" anchor="ctr">
                    <a:lnL w="0">
                      <a:noFill/>
                    </a:lnL>
                    <a:lnR w="0">
                      <a:noFill/>
                    </a:lnR>
                    <a:lnT w="6350">
                      <a:solidFill>
                        <a:srgbClr val="D5DDE1"/>
                      </a:solidFill>
                    </a:lnT>
                    <a:lnB w="6350">
                      <a:solidFill>
                        <a:srgbClr val="D5DDE1"/>
                      </a:solidFill>
                    </a:lnB>
                    <a:solidFill>
                      <a:srgbClr val="1F3864"/>
                    </a:solidFill>
                  </a:tcPr>
                </a:tc>
                <a:tc>
                  <a:txBody>
                    <a:bodyPr/>
                    <a:lstStyle/>
                    <a:p>
                      <a:pPr algn="ctr" marL="0" indent="0">
                        <a:spcBef>
                          <a:spcPts val="0"/>
                        </a:spcBef>
                        <a:spcAft>
                          <a:spcPts val="0"/>
                        </a:spcAft>
                        <a:buNone/>
                      </a:pPr>
                      <a:r>
                        <a:rPr lang="en-GB" sz="800" b="1" dirty="0">
                          <a:solidFill>
                            <a:srgbClr val="FFFFFF"/>
                          </a:solidFill>
                          <a:latin typeface="Arial"/>
                          <a:cs typeface="Arial"/>
                        </a:rPr>
                        <a:t>2027/28F</a:t>
                      </a:r>
                    </a:p>
                  </a:txBody>
                  <a:tcPr marL="73152" marR="73152" marT="27432" marB="27432" anchor="ctr">
                    <a:lnL w="0">
                      <a:noFill/>
                    </a:lnL>
                    <a:lnR w="0">
                      <a:noFill/>
                    </a:lnR>
                    <a:lnT w="6350">
                      <a:solidFill>
                        <a:srgbClr val="D5DDE1"/>
                      </a:solidFill>
                    </a:lnT>
                    <a:lnB w="6350">
                      <a:solidFill>
                        <a:srgbClr val="D5DDE1"/>
                      </a:solidFill>
                    </a:lnB>
                    <a:solidFill>
                      <a:srgbClr val="1F3864"/>
                    </a:solidFill>
                  </a:tcPr>
                </a:tc>
              </a:tr>
              <a:tr h="274320">
                <a:tc>
                  <a:txBody>
                    <a:bodyPr/>
                    <a:lstStyle/>
                    <a:p>
                      <a:pPr algn="l" marL="0" indent="0">
                        <a:spcBef>
                          <a:spcPts val="0"/>
                        </a:spcBef>
                        <a:spcAft>
                          <a:spcPts val="0"/>
                        </a:spcAft>
                        <a:buNone/>
                      </a:pPr>
                      <a:r>
                        <a:rPr lang="en-GB" sz="900" b="1" dirty="0">
                          <a:solidFill>
                            <a:srgbClr val="1F2A30"/>
                          </a:solidFill>
                          <a:latin typeface="Arial"/>
                          <a:cs typeface="Arial"/>
                        </a:rPr>
                        <a:t>M bags</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1F2A30"/>
                          </a:solidFill>
                          <a:latin typeface="Arial"/>
                          <a:cs typeface="Arial"/>
                        </a:rPr>
                        <a:t>7.95</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1F2A30"/>
                          </a:solidFill>
                          <a:latin typeface="Arial"/>
                          <a:cs typeface="Arial"/>
                        </a:rPr>
                        <a:t>6.67</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1F2A30"/>
                          </a:solidFill>
                          <a:latin typeface="Arial"/>
                          <a:cs typeface="Arial"/>
                        </a:rPr>
                        <a:t>9.90</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1F2A30"/>
                          </a:solidFill>
                          <a:latin typeface="Arial"/>
                          <a:cs typeface="Arial"/>
                        </a:rPr>
                        <a:t>10.00</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1F2A30"/>
                          </a:solidFill>
                          <a:latin typeface="Arial"/>
                          <a:cs typeface="Arial"/>
                        </a:rPr>
                        <a:t>9.20</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1F2A30"/>
                          </a:solidFill>
                          <a:latin typeface="Arial"/>
                          <a:cs typeface="Arial"/>
                        </a:rPr>
                        <a:t>10.60</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1F2A30"/>
                          </a:solidFill>
                          <a:latin typeface="Arial"/>
                          <a:cs typeface="Arial"/>
                        </a:rPr>
                        <a:t>9.30</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1F2A30"/>
                          </a:solidFill>
                          <a:latin typeface="Arial"/>
                          <a:cs typeface="Arial"/>
                        </a:rPr>
                        <a:t>9.40</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1F2A30"/>
                          </a:solidFill>
                          <a:latin typeface="Arial"/>
                          <a:cs typeface="Arial"/>
                        </a:rPr>
                        <a:t>9.40</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1F2A30"/>
                          </a:solidFill>
                          <a:latin typeface="Arial"/>
                          <a:cs typeface="Arial"/>
                        </a:rPr>
                        <a:t>9.45</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1F2A30"/>
                          </a:solidFill>
                          <a:latin typeface="Arial"/>
                          <a:cs typeface="Arial"/>
                        </a:rPr>
                        <a:t>9.40</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1F2A30"/>
                          </a:solidFill>
                          <a:latin typeface="Arial"/>
                          <a:cs typeface="Arial"/>
                        </a:rPr>
                        <a:t>9.30</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1F2A30"/>
                          </a:solidFill>
                          <a:latin typeface="Arial"/>
                          <a:cs typeface="Arial"/>
                        </a:rPr>
                        <a:t>9.50</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1F2A30"/>
                          </a:solidFill>
                          <a:latin typeface="Arial"/>
                          <a:cs typeface="Arial"/>
                        </a:rPr>
                        <a:t>6.80</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1F2A30"/>
                          </a:solidFill>
                          <a:latin typeface="Arial"/>
                          <a:cs typeface="Arial"/>
                        </a:rPr>
                        <a:t>9.30</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1F2A30"/>
                          </a:solidFill>
                          <a:latin typeface="Arial"/>
                          <a:cs typeface="Arial"/>
                        </a:rPr>
                        <a:t>11.00</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1F2A30"/>
                          </a:solidFill>
                          <a:latin typeface="Arial"/>
                          <a:cs typeface="Arial"/>
                        </a:rPr>
                        <a:t>10.00</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b="1" dirty="0">
                          <a:solidFill>
                            <a:srgbClr val="1F2A30"/>
                          </a:solidFill>
                          <a:latin typeface="Arial"/>
                          <a:cs typeface="Arial"/>
                        </a:rPr>
                        <a:t>10.20</a:t>
                      </a:r>
                    </a:p>
                  </a:txBody>
                  <a:tcPr marL="73152" marR="73152" marT="27432" marB="27432" anchor="ctr">
                    <a:lnL w="0">
                      <a:noFill/>
                    </a:lnL>
                    <a:lnR w="0">
                      <a:noFill/>
                    </a:lnR>
                    <a:lnT w="6350">
                      <a:solidFill>
                        <a:srgbClr val="D5DDE1"/>
                      </a:solidFill>
                    </a:lnT>
                    <a:lnB w="6350">
                      <a:solidFill>
                        <a:srgbClr val="D5DDE1"/>
                      </a:solidFill>
                    </a:lnB>
                    <a:solidFill>
                      <a:srgbClr val="DDEBF7"/>
                    </a:solidFill>
                  </a:tcPr>
                </a:tc>
              </a:tr>
              <a:tr h="274320">
                <a:tc>
                  <a:txBody>
                    <a:bodyPr/>
                    <a:lstStyle/>
                    <a:p>
                      <a:pPr algn="l" marL="0" indent="0">
                        <a:spcBef>
                          <a:spcPts val="0"/>
                        </a:spcBef>
                        <a:spcAft>
                          <a:spcPts val="0"/>
                        </a:spcAft>
                        <a:buNone/>
                      </a:pPr>
                      <a:r>
                        <a:rPr lang="en-GB" sz="900" b="1" dirty="0">
                          <a:solidFill>
                            <a:srgbClr val="1F2A30"/>
                          </a:solidFill>
                          <a:latin typeface="Arial"/>
                          <a:cs typeface="Arial"/>
                        </a:rPr>
                        <a:t>YoY %</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C00000"/>
                          </a:solidFill>
                          <a:latin typeface="Arial"/>
                          <a:cs typeface="Arial"/>
                        </a:rPr>
                        <a:t>-11.7 %</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C00000"/>
                          </a:solidFill>
                          <a:latin typeface="Arial"/>
                          <a:cs typeface="Arial"/>
                        </a:rPr>
                        <a:t>-16.1 %</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00A050"/>
                          </a:solidFill>
                          <a:latin typeface="Arial"/>
                          <a:cs typeface="Arial"/>
                        </a:rPr>
                        <a:t>+48.4 %</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00A050"/>
                          </a:solidFill>
                          <a:latin typeface="Arial"/>
                          <a:cs typeface="Arial"/>
                        </a:rPr>
                        <a:t>+1.0 %</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C00000"/>
                          </a:solidFill>
                          <a:latin typeface="Arial"/>
                          <a:cs typeface="Arial"/>
                        </a:rPr>
                        <a:t>-8.0 %</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00A050"/>
                          </a:solidFill>
                          <a:latin typeface="Arial"/>
                          <a:cs typeface="Arial"/>
                        </a:rPr>
                        <a:t>+15.2 %</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C00000"/>
                          </a:solidFill>
                          <a:latin typeface="Arial"/>
                          <a:cs typeface="Arial"/>
                        </a:rPr>
                        <a:t>-12.3 %</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00A050"/>
                          </a:solidFill>
                          <a:latin typeface="Arial"/>
                          <a:cs typeface="Arial"/>
                        </a:rPr>
                        <a:t>+1.1 %</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00A050"/>
                          </a:solidFill>
                          <a:latin typeface="Arial"/>
                          <a:cs typeface="Arial"/>
                        </a:rPr>
                        <a:t>0.0 %</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00A050"/>
                          </a:solidFill>
                          <a:latin typeface="Arial"/>
                          <a:cs typeface="Arial"/>
                        </a:rPr>
                        <a:t>+0.5 %</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C00000"/>
                          </a:solidFill>
                          <a:latin typeface="Arial"/>
                          <a:cs typeface="Arial"/>
                        </a:rPr>
                        <a:t>-0.5 %</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C00000"/>
                          </a:solidFill>
                          <a:latin typeface="Arial"/>
                          <a:cs typeface="Arial"/>
                        </a:rPr>
                        <a:t>-1.1 %</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00A050"/>
                          </a:solidFill>
                          <a:latin typeface="Arial"/>
                          <a:cs typeface="Arial"/>
                        </a:rPr>
                        <a:t>+2.2 %</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C00000"/>
                          </a:solidFill>
                          <a:latin typeface="Arial"/>
                          <a:cs typeface="Arial"/>
                        </a:rPr>
                        <a:t>-28.4 %</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00A050"/>
                          </a:solidFill>
                          <a:latin typeface="Arial"/>
                          <a:cs typeface="Arial"/>
                        </a:rPr>
                        <a:t>+36.8 %</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00A050"/>
                          </a:solidFill>
                          <a:latin typeface="Arial"/>
                          <a:cs typeface="Arial"/>
                        </a:rPr>
                        <a:t>+18.3 %</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C00000"/>
                          </a:solidFill>
                          <a:latin typeface="Arial"/>
                          <a:cs typeface="Arial"/>
                        </a:rPr>
                        <a:t>-9.1 %</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00A050"/>
                          </a:solidFill>
                          <a:latin typeface="Arial"/>
                          <a:cs typeface="Arial"/>
                        </a:rPr>
                        <a:t>+2.0 %</a:t>
                      </a:r>
                    </a:p>
                  </a:txBody>
                  <a:tcPr marL="73152" marR="73152" marT="27432" marB="27432" anchor="ctr">
                    <a:lnL w="0">
                      <a:noFill/>
                    </a:lnL>
                    <a:lnR w="0">
                      <a:noFill/>
                    </a:lnR>
                    <a:lnT w="6350">
                      <a:solidFill>
                        <a:srgbClr val="D5DDE1"/>
                      </a:solidFill>
                    </a:lnT>
                    <a:lnB w="6350">
                      <a:solidFill>
                        <a:srgbClr val="D5DDE1"/>
                      </a:solidFill>
                    </a:lnB>
                    <a:solidFill>
                      <a:srgbClr val="DDEBF7"/>
                    </a:solidFill>
                  </a:tcPr>
                </a:tc>
              </a:tr>
            </a:tbl>
          </a:graphicData>
        </a:graphic>
      </p:graphicFrame>
      <p:sp>
        <p:nvSpPr>
          <p:cNvPr id="7" name="TextBox 7"/>
          <p:cNvSpPr txBox="1"/>
          <p:nvPr/>
        </p:nvSpPr>
        <p:spPr>
          <a:xfrm>
            <a:off x="411480" y="2542032"/>
            <a:ext cx="8229600" cy="32004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1300" b="1" dirty="0">
                <a:solidFill>
                  <a:srgbClr val="1F3864"/>
                </a:solidFill>
                <a:latin typeface="Arial"/>
                <a:cs typeface="Arial"/>
              </a:rPr>
              <a:t>ONI (°C)   El Niño ≥ +0.5  /  La Niña ≤ −0.5</a:t>
            </a:r>
          </a:p>
        </p:txBody>
      </p:sp>
      <p:graphicFrame>
        <p:nvGraphicFramePr>
          <p:cNvPr id="8" name="Chart 8"/>
          <p:cNvGraphicFramePr/>
          <p:nvPr/>
        </p:nvGraphicFramePr>
        <p:xfrm>
          <a:off x="320040" y="2788920"/>
          <a:ext cx="11521440" cy="3703320"/>
        </p:xfrm>
        <a:graphic>
          <a:graphicData uri="http://schemas.openxmlformats.org/drawingml/2006/chart">
            <c:chart xmlns:c="http://schemas.openxmlformats.org/drawingml/2006/chart" r:id="rId2"/>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3"/>
          <p:cNvSpPr txBox="1"/>
          <p:nvPr/>
        </p:nvSpPr>
        <p:spPr>
          <a:xfrm>
            <a:off x="411480" y="201168"/>
            <a:ext cx="11338560" cy="50292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2400" b="1" dirty="0">
                <a:solidFill>
                  <a:srgbClr val="1F3864"/>
                </a:solidFill>
                <a:latin typeface="Arial"/>
                <a:cs typeface="Arial"/>
              </a:rPr>
              <a:t>Indonesia Crop Year 2027/28: Yield</a:t>
            </a:r>
          </a:p>
        </p:txBody>
      </p:sp>
      <p:sp>
        <p:nvSpPr>
          <p:cNvPr id="4" name="TextBox 4"/>
          <p:cNvSpPr txBox="1"/>
          <p:nvPr/>
        </p:nvSpPr>
        <p:spPr>
          <a:xfrm>
            <a:off x="685800" y="713232"/>
            <a:ext cx="10881360" cy="758952"/>
          </a:xfrm>
          <a:prstGeom prst="rect">
            <a:avLst/>
          </a:prstGeom>
          <a:noFill/>
          <a:ln>
            <a:noFill/>
          </a:ln>
        </p:spPr>
        <p:txBody>
          <a:bodyPr wrap="square" lIns="0" tIns="0" rIns="0" bIns="0" anchor="t" rtlCol="0">
            <a:noAutofit/>
          </a:bodyPr>
          <a:lstStyle/>
          <a:p>
            <a:pPr algn="l" marL="201168" indent="-201168">
              <a:spcBef>
                <a:spcPts val="0"/>
              </a:spcBef>
              <a:spcAft>
                <a:spcPts val="100"/>
              </a:spcAft>
              <a:buFont typeface="Arial"/>
              <a:buChar char="•"/>
            </a:pPr>
            <a:r>
              <a:rPr lang="en-GB" sz="1050" dirty="0">
                <a:solidFill>
                  <a:srgbClr val="262626"/>
                </a:solidFill>
                <a:highlight>
                  <a:srgbClr val="FFFF00"/>
                </a:highlight>
                <a:latin typeface="Arial"/>
                <a:cs typeface="Arial"/>
              </a:rPr>
              <a:t>Δ yield, average impact vs neighbouring crops (1991–2026): El Niño -1.1 %, La Niña -3.3 %, Neutral +3.1 %</a:t>
            </a:r>
          </a:p>
          <a:p>
            <a:pPr algn="l" marL="201168" indent="-201168">
              <a:spcBef>
                <a:spcPts val="0"/>
              </a:spcBef>
              <a:spcAft>
                <a:spcPts val="100"/>
              </a:spcAft>
              <a:buFont typeface="Arial"/>
              <a:buChar char="•"/>
            </a:pPr>
            <a:r>
              <a:rPr lang="en-GB" sz="1050" dirty="0">
                <a:solidFill>
                  <a:srgbClr val="262626"/>
                </a:solidFill>
                <a:highlight>
                  <a:srgbClr val="FFFF00"/>
                </a:highlight>
                <a:latin typeface="Arial"/>
                <a:cs typeface="Arial"/>
              </a:rPr>
              <a:t>ENSO alone explains little; what matters is the flowering rain: 3–5 towns with a flowering trigger → +4 %; none → −10 % (r = 0.47, p = 0.002)</a:t>
            </a:r>
          </a:p>
          <a:p>
            <a:pPr algn="l" marL="201168" indent="-201168">
              <a:spcBef>
                <a:spcPts val="0"/>
              </a:spcBef>
              <a:spcAft>
                <a:spcPts val="100"/>
              </a:spcAft>
              <a:buFont typeface="Arial"/>
              <a:buChar char="•"/>
            </a:pPr>
            <a:r>
              <a:rPr lang="en-GB" sz="1050" dirty="0">
                <a:solidFill>
                  <a:srgbClr val="262626"/>
                </a:solidFill>
                <a:highlight>
                  <a:srgbClr val="FFFF00"/>
                </a:highlight>
                <a:latin typeface="Arial"/>
                <a:cs typeface="Arial"/>
              </a:rPr>
              <a:t>2026 flowering: trigger rain in 4 of 5 towns (not yet Liwa) → no La Niña-type washout; risk = drought after flowering in Lampung</a:t>
            </a:r>
          </a:p>
        </p:txBody>
      </p:sp>
      <p:sp>
        <p:nvSpPr>
          <p:cNvPr id="5" name="TextBox 5"/>
          <p:cNvSpPr txBox="1"/>
          <p:nvPr/>
        </p:nvSpPr>
        <p:spPr>
          <a:xfrm>
            <a:off x="411480" y="6510528"/>
            <a:ext cx="8229600" cy="27432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750" dirty="0">
                <a:solidFill>
                  <a:srgbClr val="7F7F7F"/>
                </a:solidFill>
                <a:latin typeface="Arial"/>
                <a:cs typeface="Arial"/>
              </a:rPr>
              <a:t>Robusta production (USDA PSD) with area ~stable, used as a yield proxy. Colour = ENSO phase of the flowering year (ONI Aug–Nov). Neighbouring crops = median of the crops within ±3 years.</a:t>
            </a:r>
          </a:p>
        </p:txBody>
      </p:sp>
      <p:sp>
        <p:nvSpPr>
          <p:cNvPr id="6" name="TextBox 6"/>
          <p:cNvSpPr txBox="1"/>
          <p:nvPr/>
        </p:nvSpPr>
        <p:spPr>
          <a:xfrm>
            <a:off x="411480" y="1600200"/>
            <a:ext cx="5669280" cy="27432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1200" b="1" dirty="0">
                <a:solidFill>
                  <a:srgbClr val="1F3864"/>
                </a:solidFill>
                <a:latin typeface="Arial"/>
                <a:cs typeface="Arial"/>
              </a:rPr>
              <a:t>Production vs neighbouring crops (%)</a:t>
            </a:r>
          </a:p>
        </p:txBody>
      </p:sp>
      <p:graphicFrame>
        <p:nvGraphicFramePr>
          <p:cNvPr id="7" name="Chart 7"/>
          <p:cNvGraphicFramePr/>
          <p:nvPr/>
        </p:nvGraphicFramePr>
        <p:xfrm>
          <a:off x="320040" y="1847088"/>
          <a:ext cx="5806440" cy="4617720"/>
        </p:xfrm>
        <a:graphic>
          <a:graphicData uri="http://schemas.openxmlformats.org/drawingml/2006/chart">
            <c:chart xmlns:c="http://schemas.openxmlformats.org/drawingml/2006/chart" r:id="rId2"/>
          </a:graphicData>
        </a:graphic>
      </p:graphicFrame>
      <p:sp>
        <p:nvSpPr>
          <p:cNvPr id="8" name="TextBox 8"/>
          <p:cNvSpPr txBox="1"/>
          <p:nvPr/>
        </p:nvSpPr>
        <p:spPr>
          <a:xfrm>
            <a:off x="6263640" y="1600200"/>
            <a:ext cx="5669280" cy="27432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1200" b="1" dirty="0">
                <a:solidFill>
                  <a:srgbClr val="1F3864"/>
                </a:solidFill>
                <a:latin typeface="Arial"/>
                <a:cs typeface="Arial"/>
              </a:rPr>
              <a:t>Production, year-over-year change (%)</a:t>
            </a:r>
          </a:p>
        </p:txBody>
      </p:sp>
      <p:graphicFrame>
        <p:nvGraphicFramePr>
          <p:cNvPr id="9" name="Chart 9"/>
          <p:cNvGraphicFramePr/>
          <p:nvPr/>
        </p:nvGraphicFramePr>
        <p:xfrm>
          <a:off x="6172200" y="1847088"/>
          <a:ext cx="5806440" cy="4617720"/>
        </p:xfrm>
        <a:graphic>
          <a:graphicData uri="http://schemas.openxmlformats.org/drawingml/2006/chart">
            <c:chart xmlns:c="http://schemas.openxmlformats.org/drawingml/2006/chart" r:id="rId3"/>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3"/>
          <p:cNvSpPr txBox="1"/>
          <p:nvPr/>
        </p:nvSpPr>
        <p:spPr>
          <a:xfrm>
            <a:off x="411480" y="201168"/>
            <a:ext cx="11338560" cy="50292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2000" b="1" dirty="0">
                <a:solidFill>
                  <a:srgbClr val="1F3864"/>
                </a:solidFill>
                <a:latin typeface="Arial"/>
                <a:cs typeface="Arial"/>
              </a:rPr>
              <a:t>South Sumatra robusta belt | What El Niño and La Niña do to the weather</a:t>
            </a:r>
          </a:p>
        </p:txBody>
      </p:sp>
      <p:sp>
        <p:nvSpPr>
          <p:cNvPr id="4" name="TextBox 4"/>
          <p:cNvSpPr txBox="1"/>
          <p:nvPr/>
        </p:nvSpPr>
        <p:spPr>
          <a:xfrm>
            <a:off x="685800" y="713232"/>
            <a:ext cx="10881360" cy="758952"/>
          </a:xfrm>
          <a:prstGeom prst="rect">
            <a:avLst/>
          </a:prstGeom>
          <a:noFill/>
          <a:ln>
            <a:noFill/>
          </a:ln>
        </p:spPr>
        <p:txBody>
          <a:bodyPr wrap="square" lIns="0" tIns="0" rIns="0" bIns="0" anchor="t" rtlCol="0">
            <a:noAutofit/>
          </a:bodyPr>
          <a:lstStyle/>
          <a:p>
            <a:pPr algn="l" marL="201168" indent="-201168">
              <a:spcBef>
                <a:spcPts val="0"/>
              </a:spcBef>
              <a:spcAft>
                <a:spcPts val="100"/>
              </a:spcAft>
              <a:buFont typeface="Arial"/>
              <a:buChar char="•"/>
            </a:pPr>
            <a:r>
              <a:rPr lang="en-GB" sz="1050" dirty="0">
                <a:solidFill>
                  <a:srgbClr val="262626"/>
                </a:solidFill>
                <a:highlight>
                  <a:srgbClr val="FFFF00"/>
                </a:highlight>
                <a:latin typeface="Arial"/>
                <a:cs typeface="Arial"/>
              </a:rPr>
              <a:t>El Niño: rainfall 34 % below average in Jul–Oct, the dry season that sets flowering</a:t>
            </a:r>
          </a:p>
          <a:p>
            <a:pPr algn="l" marL="201168" indent="-201168">
              <a:spcBef>
                <a:spcPts val="0"/>
              </a:spcBef>
              <a:spcAft>
                <a:spcPts val="100"/>
              </a:spcAft>
              <a:buFont typeface="Arial"/>
              <a:buChar char="•"/>
            </a:pPr>
            <a:r>
              <a:rPr lang="en-GB" sz="1050" dirty="0">
                <a:solidFill>
                  <a:srgbClr val="262626"/>
                </a:solidFill>
                <a:highlight>
                  <a:srgbClr val="FFFF00"/>
                </a:highlight>
                <a:latin typeface="Arial"/>
                <a:cs typeface="Arial"/>
              </a:rPr>
              <a:t>La Niña: rainfall 40 % above average in Jul–Oct; temperatures slightly below average</a:t>
            </a:r>
          </a:p>
          <a:p>
            <a:pPr algn="l" marL="201168" indent="-201168">
              <a:spcBef>
                <a:spcPts val="0"/>
              </a:spcBef>
              <a:spcAft>
                <a:spcPts val="100"/>
              </a:spcAft>
              <a:buFont typeface="Arial"/>
              <a:buChar char="•"/>
            </a:pPr>
            <a:r>
              <a:rPr lang="en-GB" sz="1050" dirty="0">
                <a:solidFill>
                  <a:srgbClr val="262626"/>
                </a:solidFill>
                <a:highlight>
                  <a:srgbClr val="FFFF00"/>
                </a:highlight>
                <a:latin typeface="Arial"/>
                <a:cs typeface="Arial"/>
              </a:rPr>
              <a:t>Effects are strongest from July to November; in the wet season (Dec–Mar) ENSO changes little</a:t>
            </a:r>
          </a:p>
        </p:txBody>
      </p:sp>
      <p:sp>
        <p:nvSpPr>
          <p:cNvPr id="5" name="TextBox 5"/>
          <p:cNvSpPr txBox="1"/>
          <p:nvPr/>
        </p:nvSpPr>
        <p:spPr>
          <a:xfrm>
            <a:off x="411480" y="6510528"/>
            <a:ext cx="8229600" cy="27432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750" dirty="0">
                <a:solidFill>
                  <a:srgbClr val="7F7F7F"/>
                </a:solidFill>
                <a:latin typeface="Arial"/>
                <a:cs typeface="Arial"/>
              </a:rPr>
              <a:t>NASA POWER daily, mean of Pagar Alam, Lahat, Muaradua, Liwa and Kepahiang, 2000–2025. Each month classed by its own ONI value (NOAA CPC). Anomaly vs 2000–2025 average of the same month.</a:t>
            </a:r>
          </a:p>
        </p:txBody>
      </p:sp>
      <p:sp>
        <p:nvSpPr>
          <p:cNvPr id="6" name="TextBox 6"/>
          <p:cNvSpPr txBox="1"/>
          <p:nvPr/>
        </p:nvSpPr>
        <p:spPr>
          <a:xfrm>
            <a:off x="411480" y="1508760"/>
            <a:ext cx="5669280" cy="27432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1200" b="1" dirty="0">
                <a:solidFill>
                  <a:srgbClr val="1F3864"/>
                </a:solidFill>
                <a:latin typeface="Arial"/>
                <a:cs typeface="Arial"/>
              </a:rPr>
              <a:t>Rainfall anomaly vs 2000–2025 average (%)</a:t>
            </a:r>
          </a:p>
        </p:txBody>
      </p:sp>
      <p:graphicFrame>
        <p:nvGraphicFramePr>
          <p:cNvPr id="7" name="Chart 7"/>
          <p:cNvGraphicFramePr/>
          <p:nvPr/>
        </p:nvGraphicFramePr>
        <p:xfrm>
          <a:off x="320040" y="1755648"/>
          <a:ext cx="5806440" cy="4709160"/>
        </p:xfrm>
        <a:graphic>
          <a:graphicData uri="http://schemas.openxmlformats.org/drawingml/2006/chart">
            <c:chart xmlns:c="http://schemas.openxmlformats.org/drawingml/2006/chart" r:id="rId2"/>
          </a:graphicData>
        </a:graphic>
      </p:graphicFrame>
      <p:sp>
        <p:nvSpPr>
          <p:cNvPr id="8" name="TextBox 8"/>
          <p:cNvSpPr txBox="1"/>
          <p:nvPr/>
        </p:nvSpPr>
        <p:spPr>
          <a:xfrm>
            <a:off x="6263640" y="1508760"/>
            <a:ext cx="5669280" cy="27432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1200" b="1" dirty="0">
                <a:solidFill>
                  <a:srgbClr val="1F3864"/>
                </a:solidFill>
                <a:latin typeface="Arial"/>
                <a:cs typeface="Arial"/>
              </a:rPr>
              <a:t>Temperature anomaly vs 2000–2025 average (°C)</a:t>
            </a:r>
          </a:p>
        </p:txBody>
      </p:sp>
      <p:graphicFrame>
        <p:nvGraphicFramePr>
          <p:cNvPr id="9" name="Chart 9"/>
          <p:cNvGraphicFramePr/>
          <p:nvPr/>
        </p:nvGraphicFramePr>
        <p:xfrm>
          <a:off x="6172200" y="1755648"/>
          <a:ext cx="5806440" cy="4709160"/>
        </p:xfrm>
        <a:graphic>
          <a:graphicData uri="http://schemas.openxmlformats.org/drawingml/2006/chart">
            <c:chart xmlns:c="http://schemas.openxmlformats.org/drawingml/2006/chart" r:id="rId3"/>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3"/>
          <p:cNvSpPr txBox="1"/>
          <p:nvPr/>
        </p:nvSpPr>
        <p:spPr>
          <a:xfrm>
            <a:off x="411480" y="201168"/>
            <a:ext cx="11338560" cy="50292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2400" b="1" dirty="0">
                <a:solidFill>
                  <a:srgbClr val="1F3864"/>
                </a:solidFill>
                <a:latin typeface="Arial"/>
                <a:cs typeface="Arial"/>
              </a:rPr>
              <a:t>South Sumatra (mean of 3 towns) | Temperature and rainfall</a:t>
            </a:r>
          </a:p>
        </p:txBody>
      </p:sp>
      <p:sp>
        <p:nvSpPr>
          <p:cNvPr id="4" name="TextBox 4"/>
          <p:cNvSpPr txBox="1"/>
          <p:nvPr/>
        </p:nvSpPr>
        <p:spPr>
          <a:xfrm>
            <a:off x="411480" y="6510528"/>
            <a:ext cx="8229600" cy="27432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750" dirty="0">
                <a:solidFill>
                  <a:srgbClr val="7F7F7F"/>
                </a:solidFill>
                <a:latin typeface="Arial"/>
                <a:cs typeface="Arial"/>
              </a:rPr>
              <a:t>NASA POWER daily (T2M, PRECTOTCORR), mean of Pagar Alam, Lahat and Muaradua. Seasons July–June since 2006, classed by ONI Aug–Nov of the first year (±0.5). Black dashed = average of the seasons shown; red = 2026/27 so far (complete months only).</a:t>
            </a:r>
          </a:p>
        </p:txBody>
      </p:sp>
      <p:sp>
        <p:nvSpPr>
          <p:cNvPr id="5" name="TextBox 5"/>
          <p:cNvSpPr txBox="1"/>
          <p:nvPr/>
        </p:nvSpPr>
        <p:spPr>
          <a:xfrm>
            <a:off x="365760" y="713232"/>
            <a:ext cx="3749040" cy="292608"/>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1300" b="1" dirty="0">
                <a:solidFill>
                  <a:srgbClr val="ED7D31"/>
                </a:solidFill>
                <a:latin typeface="Arial"/>
                <a:cs typeface="Arial"/>
              </a:rPr>
              <a:t>El Niño (5 seasons)</a:t>
            </a:r>
          </a:p>
        </p:txBody>
      </p:sp>
      <p:sp>
        <p:nvSpPr>
          <p:cNvPr id="6" name="TextBox 6"/>
          <p:cNvSpPr txBox="1"/>
          <p:nvPr/>
        </p:nvSpPr>
        <p:spPr>
          <a:xfrm>
            <a:off x="365760" y="1024128"/>
            <a:ext cx="3749040" cy="22860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950" b="1" dirty="0">
                <a:solidFill>
                  <a:srgbClr val="404040"/>
                </a:solidFill>
                <a:latin typeface="Arial"/>
                <a:cs typeface="Arial"/>
              </a:rPr>
              <a:t>Mean temperature, °C</a:t>
            </a:r>
          </a:p>
        </p:txBody>
      </p:sp>
      <p:graphicFrame>
        <p:nvGraphicFramePr>
          <p:cNvPr id="7" name="Chart 7"/>
          <p:cNvGraphicFramePr/>
          <p:nvPr/>
        </p:nvGraphicFramePr>
        <p:xfrm>
          <a:off x="320040" y="1225296"/>
          <a:ext cx="3749040" cy="2487168"/>
        </p:xfrm>
        <a:graphic>
          <a:graphicData uri="http://schemas.openxmlformats.org/drawingml/2006/chart">
            <c:chart xmlns:c="http://schemas.openxmlformats.org/drawingml/2006/chart" r:id="rId2"/>
          </a:graphicData>
        </a:graphic>
      </p:graphicFrame>
      <p:sp>
        <p:nvSpPr>
          <p:cNvPr id="8" name="TextBox 8"/>
          <p:cNvSpPr txBox="1"/>
          <p:nvPr/>
        </p:nvSpPr>
        <p:spPr>
          <a:xfrm>
            <a:off x="365760" y="3767328"/>
            <a:ext cx="3749040" cy="22860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950" b="1" dirty="0">
                <a:solidFill>
                  <a:srgbClr val="404040"/>
                </a:solidFill>
                <a:latin typeface="Arial"/>
                <a:cs typeface="Arial"/>
              </a:rPr>
              <a:t>Monthly rainfall, mm</a:t>
            </a:r>
          </a:p>
        </p:txBody>
      </p:sp>
      <p:graphicFrame>
        <p:nvGraphicFramePr>
          <p:cNvPr id="9" name="Chart 9"/>
          <p:cNvGraphicFramePr/>
          <p:nvPr/>
        </p:nvGraphicFramePr>
        <p:xfrm>
          <a:off x="320040" y="3968496"/>
          <a:ext cx="3749040" cy="2432304"/>
        </p:xfrm>
        <a:graphic>
          <a:graphicData uri="http://schemas.openxmlformats.org/drawingml/2006/chart">
            <c:chart xmlns:c="http://schemas.openxmlformats.org/drawingml/2006/chart" r:id="rId3"/>
          </a:graphicData>
        </a:graphic>
      </p:graphicFrame>
      <p:sp>
        <p:nvSpPr>
          <p:cNvPr id="10" name="TextBox 10"/>
          <p:cNvSpPr txBox="1"/>
          <p:nvPr/>
        </p:nvSpPr>
        <p:spPr>
          <a:xfrm>
            <a:off x="4224528" y="713232"/>
            <a:ext cx="3749040" cy="292608"/>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1300" b="1" dirty="0">
                <a:solidFill>
                  <a:srgbClr val="2E75B6"/>
                </a:solidFill>
                <a:latin typeface="Arial"/>
                <a:cs typeface="Arial"/>
              </a:rPr>
              <a:t>La Niña (6 seasons)</a:t>
            </a:r>
          </a:p>
        </p:txBody>
      </p:sp>
      <p:sp>
        <p:nvSpPr>
          <p:cNvPr id="11" name="TextBox 11"/>
          <p:cNvSpPr txBox="1"/>
          <p:nvPr/>
        </p:nvSpPr>
        <p:spPr>
          <a:xfrm>
            <a:off x="4224528" y="1024128"/>
            <a:ext cx="3749040" cy="22860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950" b="1" dirty="0">
                <a:solidFill>
                  <a:srgbClr val="404040"/>
                </a:solidFill>
                <a:latin typeface="Arial"/>
                <a:cs typeface="Arial"/>
              </a:rPr>
              <a:t>Mean temperature, °C</a:t>
            </a:r>
          </a:p>
        </p:txBody>
      </p:sp>
      <p:graphicFrame>
        <p:nvGraphicFramePr>
          <p:cNvPr id="12" name="Chart 12"/>
          <p:cNvGraphicFramePr/>
          <p:nvPr/>
        </p:nvGraphicFramePr>
        <p:xfrm>
          <a:off x="4178808" y="1225296"/>
          <a:ext cx="3749040" cy="2487168"/>
        </p:xfrm>
        <a:graphic>
          <a:graphicData uri="http://schemas.openxmlformats.org/drawingml/2006/chart">
            <c:chart xmlns:c="http://schemas.openxmlformats.org/drawingml/2006/chart" r:id="rId4"/>
          </a:graphicData>
        </a:graphic>
      </p:graphicFrame>
      <p:sp>
        <p:nvSpPr>
          <p:cNvPr id="13" name="TextBox 13"/>
          <p:cNvSpPr txBox="1"/>
          <p:nvPr/>
        </p:nvSpPr>
        <p:spPr>
          <a:xfrm>
            <a:off x="4224528" y="3767328"/>
            <a:ext cx="3749040" cy="22860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950" b="1" dirty="0">
                <a:solidFill>
                  <a:srgbClr val="404040"/>
                </a:solidFill>
                <a:latin typeface="Arial"/>
                <a:cs typeface="Arial"/>
              </a:rPr>
              <a:t>Monthly rainfall, mm</a:t>
            </a:r>
          </a:p>
        </p:txBody>
      </p:sp>
      <p:graphicFrame>
        <p:nvGraphicFramePr>
          <p:cNvPr id="14" name="Chart 14"/>
          <p:cNvGraphicFramePr/>
          <p:nvPr/>
        </p:nvGraphicFramePr>
        <p:xfrm>
          <a:off x="4178808" y="3968496"/>
          <a:ext cx="3749040" cy="2432304"/>
        </p:xfrm>
        <a:graphic>
          <a:graphicData uri="http://schemas.openxmlformats.org/drawingml/2006/chart">
            <c:chart xmlns:c="http://schemas.openxmlformats.org/drawingml/2006/chart" r:id="rId5"/>
          </a:graphicData>
        </a:graphic>
      </p:graphicFrame>
      <p:sp>
        <p:nvSpPr>
          <p:cNvPr id="15" name="TextBox 15"/>
          <p:cNvSpPr txBox="1"/>
          <p:nvPr/>
        </p:nvSpPr>
        <p:spPr>
          <a:xfrm>
            <a:off x="8083296" y="713232"/>
            <a:ext cx="3749040" cy="292608"/>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1300" b="1" dirty="0">
                <a:solidFill>
                  <a:srgbClr val="7F7F7F"/>
                </a:solidFill>
                <a:latin typeface="Arial"/>
                <a:cs typeface="Arial"/>
              </a:rPr>
              <a:t>Neutral (9 seasons)</a:t>
            </a:r>
          </a:p>
        </p:txBody>
      </p:sp>
      <p:sp>
        <p:nvSpPr>
          <p:cNvPr id="16" name="TextBox 16"/>
          <p:cNvSpPr txBox="1"/>
          <p:nvPr/>
        </p:nvSpPr>
        <p:spPr>
          <a:xfrm>
            <a:off x="8083296" y="1024128"/>
            <a:ext cx="3749040" cy="22860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950" b="1" dirty="0">
                <a:solidFill>
                  <a:srgbClr val="404040"/>
                </a:solidFill>
                <a:latin typeface="Arial"/>
                <a:cs typeface="Arial"/>
              </a:rPr>
              <a:t>Mean temperature, °C</a:t>
            </a:r>
          </a:p>
        </p:txBody>
      </p:sp>
      <p:graphicFrame>
        <p:nvGraphicFramePr>
          <p:cNvPr id="17" name="Chart 17"/>
          <p:cNvGraphicFramePr/>
          <p:nvPr/>
        </p:nvGraphicFramePr>
        <p:xfrm>
          <a:off x="8037576" y="1225296"/>
          <a:ext cx="3749040" cy="2487168"/>
        </p:xfrm>
        <a:graphic>
          <a:graphicData uri="http://schemas.openxmlformats.org/drawingml/2006/chart">
            <c:chart xmlns:c="http://schemas.openxmlformats.org/drawingml/2006/chart" r:id="rId6"/>
          </a:graphicData>
        </a:graphic>
      </p:graphicFrame>
      <p:sp>
        <p:nvSpPr>
          <p:cNvPr id="18" name="TextBox 18"/>
          <p:cNvSpPr txBox="1"/>
          <p:nvPr/>
        </p:nvSpPr>
        <p:spPr>
          <a:xfrm>
            <a:off x="8083296" y="3767328"/>
            <a:ext cx="3749040" cy="22860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950" b="1" dirty="0">
                <a:solidFill>
                  <a:srgbClr val="404040"/>
                </a:solidFill>
                <a:latin typeface="Arial"/>
                <a:cs typeface="Arial"/>
              </a:rPr>
              <a:t>Monthly rainfall, mm</a:t>
            </a:r>
          </a:p>
        </p:txBody>
      </p:sp>
      <p:graphicFrame>
        <p:nvGraphicFramePr>
          <p:cNvPr id="19" name="Chart 19"/>
          <p:cNvGraphicFramePr/>
          <p:nvPr/>
        </p:nvGraphicFramePr>
        <p:xfrm>
          <a:off x="8037576" y="3968496"/>
          <a:ext cx="3749040" cy="2432304"/>
        </p:xfrm>
        <a:graphic>
          <a:graphicData uri="http://schemas.openxmlformats.org/drawingml/2006/chart">
            <c:chart xmlns:c="http://schemas.openxmlformats.org/drawingml/2006/chart" r:id="rId7"/>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3"/>
          <p:cNvSpPr txBox="1"/>
          <p:nvPr/>
        </p:nvSpPr>
        <p:spPr>
          <a:xfrm>
            <a:off x="411480" y="201168"/>
            <a:ext cx="11338560" cy="50292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2400" b="1" dirty="0">
                <a:solidFill>
                  <a:srgbClr val="1F3864"/>
                </a:solidFill>
                <a:latin typeface="Arial"/>
                <a:cs typeface="Arial"/>
              </a:rPr>
              <a:t>Pagar Alam | Temperature and rainfall</a:t>
            </a:r>
          </a:p>
        </p:txBody>
      </p:sp>
      <p:sp>
        <p:nvSpPr>
          <p:cNvPr id="4" name="TextBox 4"/>
          <p:cNvSpPr txBox="1"/>
          <p:nvPr/>
        </p:nvSpPr>
        <p:spPr>
          <a:xfrm>
            <a:off x="411480" y="6510528"/>
            <a:ext cx="8229600" cy="27432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750" dirty="0">
                <a:solidFill>
                  <a:srgbClr val="7F7F7F"/>
                </a:solidFill>
                <a:latin typeface="Arial"/>
                <a:cs typeface="Arial"/>
              </a:rPr>
              <a:t>NASA POWER daily (T2M, PRECTOTCORR), Pagar Alam (South Sumatra, highland). Seasons July–June since 2006, classed by ONI Aug–Nov of the first year (±0.5). Black dashed = average of the seasons shown; red = 2026/27 so far (complete months only).</a:t>
            </a:r>
          </a:p>
        </p:txBody>
      </p:sp>
      <p:sp>
        <p:nvSpPr>
          <p:cNvPr id="5" name="TextBox 5"/>
          <p:cNvSpPr txBox="1"/>
          <p:nvPr/>
        </p:nvSpPr>
        <p:spPr>
          <a:xfrm>
            <a:off x="365760" y="713232"/>
            <a:ext cx="3749040" cy="292608"/>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1300" b="1" dirty="0">
                <a:solidFill>
                  <a:srgbClr val="ED7D31"/>
                </a:solidFill>
                <a:latin typeface="Arial"/>
                <a:cs typeface="Arial"/>
              </a:rPr>
              <a:t>El Niño (5 seasons)</a:t>
            </a:r>
          </a:p>
        </p:txBody>
      </p:sp>
      <p:sp>
        <p:nvSpPr>
          <p:cNvPr id="6" name="TextBox 6"/>
          <p:cNvSpPr txBox="1"/>
          <p:nvPr/>
        </p:nvSpPr>
        <p:spPr>
          <a:xfrm>
            <a:off x="365760" y="1024128"/>
            <a:ext cx="3749040" cy="22860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950" b="1" dirty="0">
                <a:solidFill>
                  <a:srgbClr val="404040"/>
                </a:solidFill>
                <a:latin typeface="Arial"/>
                <a:cs typeface="Arial"/>
              </a:rPr>
              <a:t>Mean temperature, °C</a:t>
            </a:r>
          </a:p>
        </p:txBody>
      </p:sp>
      <p:graphicFrame>
        <p:nvGraphicFramePr>
          <p:cNvPr id="7" name="Chart 7"/>
          <p:cNvGraphicFramePr/>
          <p:nvPr/>
        </p:nvGraphicFramePr>
        <p:xfrm>
          <a:off x="320040" y="1225296"/>
          <a:ext cx="3749040" cy="2487168"/>
        </p:xfrm>
        <a:graphic>
          <a:graphicData uri="http://schemas.openxmlformats.org/drawingml/2006/chart">
            <c:chart xmlns:c="http://schemas.openxmlformats.org/drawingml/2006/chart" r:id="rId2"/>
          </a:graphicData>
        </a:graphic>
      </p:graphicFrame>
      <p:sp>
        <p:nvSpPr>
          <p:cNvPr id="8" name="TextBox 8"/>
          <p:cNvSpPr txBox="1"/>
          <p:nvPr/>
        </p:nvSpPr>
        <p:spPr>
          <a:xfrm>
            <a:off x="365760" y="3767328"/>
            <a:ext cx="3749040" cy="22860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950" b="1" dirty="0">
                <a:solidFill>
                  <a:srgbClr val="404040"/>
                </a:solidFill>
                <a:latin typeface="Arial"/>
                <a:cs typeface="Arial"/>
              </a:rPr>
              <a:t>Monthly rainfall, mm</a:t>
            </a:r>
          </a:p>
        </p:txBody>
      </p:sp>
      <p:graphicFrame>
        <p:nvGraphicFramePr>
          <p:cNvPr id="9" name="Chart 9"/>
          <p:cNvGraphicFramePr/>
          <p:nvPr/>
        </p:nvGraphicFramePr>
        <p:xfrm>
          <a:off x="320040" y="3968496"/>
          <a:ext cx="3749040" cy="2432304"/>
        </p:xfrm>
        <a:graphic>
          <a:graphicData uri="http://schemas.openxmlformats.org/drawingml/2006/chart">
            <c:chart xmlns:c="http://schemas.openxmlformats.org/drawingml/2006/chart" r:id="rId3"/>
          </a:graphicData>
        </a:graphic>
      </p:graphicFrame>
      <p:sp>
        <p:nvSpPr>
          <p:cNvPr id="10" name="TextBox 10"/>
          <p:cNvSpPr txBox="1"/>
          <p:nvPr/>
        </p:nvSpPr>
        <p:spPr>
          <a:xfrm>
            <a:off x="4224528" y="713232"/>
            <a:ext cx="3749040" cy="292608"/>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1300" b="1" dirty="0">
                <a:solidFill>
                  <a:srgbClr val="2E75B6"/>
                </a:solidFill>
                <a:latin typeface="Arial"/>
                <a:cs typeface="Arial"/>
              </a:rPr>
              <a:t>La Niña (6 seasons)</a:t>
            </a:r>
          </a:p>
        </p:txBody>
      </p:sp>
      <p:sp>
        <p:nvSpPr>
          <p:cNvPr id="11" name="TextBox 11"/>
          <p:cNvSpPr txBox="1"/>
          <p:nvPr/>
        </p:nvSpPr>
        <p:spPr>
          <a:xfrm>
            <a:off x="4224528" y="1024128"/>
            <a:ext cx="3749040" cy="22860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950" b="1" dirty="0">
                <a:solidFill>
                  <a:srgbClr val="404040"/>
                </a:solidFill>
                <a:latin typeface="Arial"/>
                <a:cs typeface="Arial"/>
              </a:rPr>
              <a:t>Mean temperature, °C</a:t>
            </a:r>
          </a:p>
        </p:txBody>
      </p:sp>
      <p:graphicFrame>
        <p:nvGraphicFramePr>
          <p:cNvPr id="12" name="Chart 12"/>
          <p:cNvGraphicFramePr/>
          <p:nvPr/>
        </p:nvGraphicFramePr>
        <p:xfrm>
          <a:off x="4178808" y="1225296"/>
          <a:ext cx="3749040" cy="2487168"/>
        </p:xfrm>
        <a:graphic>
          <a:graphicData uri="http://schemas.openxmlformats.org/drawingml/2006/chart">
            <c:chart xmlns:c="http://schemas.openxmlformats.org/drawingml/2006/chart" r:id="rId4"/>
          </a:graphicData>
        </a:graphic>
      </p:graphicFrame>
      <p:sp>
        <p:nvSpPr>
          <p:cNvPr id="13" name="TextBox 13"/>
          <p:cNvSpPr txBox="1"/>
          <p:nvPr/>
        </p:nvSpPr>
        <p:spPr>
          <a:xfrm>
            <a:off x="4224528" y="3767328"/>
            <a:ext cx="3749040" cy="22860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950" b="1" dirty="0">
                <a:solidFill>
                  <a:srgbClr val="404040"/>
                </a:solidFill>
                <a:latin typeface="Arial"/>
                <a:cs typeface="Arial"/>
              </a:rPr>
              <a:t>Monthly rainfall, mm</a:t>
            </a:r>
          </a:p>
        </p:txBody>
      </p:sp>
      <p:graphicFrame>
        <p:nvGraphicFramePr>
          <p:cNvPr id="14" name="Chart 14"/>
          <p:cNvGraphicFramePr/>
          <p:nvPr/>
        </p:nvGraphicFramePr>
        <p:xfrm>
          <a:off x="4178808" y="3968496"/>
          <a:ext cx="3749040" cy="2432304"/>
        </p:xfrm>
        <a:graphic>
          <a:graphicData uri="http://schemas.openxmlformats.org/drawingml/2006/chart">
            <c:chart xmlns:c="http://schemas.openxmlformats.org/drawingml/2006/chart" r:id="rId5"/>
          </a:graphicData>
        </a:graphic>
      </p:graphicFrame>
      <p:sp>
        <p:nvSpPr>
          <p:cNvPr id="15" name="TextBox 15"/>
          <p:cNvSpPr txBox="1"/>
          <p:nvPr/>
        </p:nvSpPr>
        <p:spPr>
          <a:xfrm>
            <a:off x="8083296" y="713232"/>
            <a:ext cx="3749040" cy="292608"/>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1300" b="1" dirty="0">
                <a:solidFill>
                  <a:srgbClr val="7F7F7F"/>
                </a:solidFill>
                <a:latin typeface="Arial"/>
                <a:cs typeface="Arial"/>
              </a:rPr>
              <a:t>Neutral (9 seasons)</a:t>
            </a:r>
          </a:p>
        </p:txBody>
      </p:sp>
      <p:sp>
        <p:nvSpPr>
          <p:cNvPr id="16" name="TextBox 16"/>
          <p:cNvSpPr txBox="1"/>
          <p:nvPr/>
        </p:nvSpPr>
        <p:spPr>
          <a:xfrm>
            <a:off x="8083296" y="1024128"/>
            <a:ext cx="3749040" cy="22860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950" b="1" dirty="0">
                <a:solidFill>
                  <a:srgbClr val="404040"/>
                </a:solidFill>
                <a:latin typeface="Arial"/>
                <a:cs typeface="Arial"/>
              </a:rPr>
              <a:t>Mean temperature, °C</a:t>
            </a:r>
          </a:p>
        </p:txBody>
      </p:sp>
      <p:graphicFrame>
        <p:nvGraphicFramePr>
          <p:cNvPr id="17" name="Chart 17"/>
          <p:cNvGraphicFramePr/>
          <p:nvPr/>
        </p:nvGraphicFramePr>
        <p:xfrm>
          <a:off x="8037576" y="1225296"/>
          <a:ext cx="3749040" cy="2487168"/>
        </p:xfrm>
        <a:graphic>
          <a:graphicData uri="http://schemas.openxmlformats.org/drawingml/2006/chart">
            <c:chart xmlns:c="http://schemas.openxmlformats.org/drawingml/2006/chart" r:id="rId6"/>
          </a:graphicData>
        </a:graphic>
      </p:graphicFrame>
      <p:sp>
        <p:nvSpPr>
          <p:cNvPr id="18" name="TextBox 18"/>
          <p:cNvSpPr txBox="1"/>
          <p:nvPr/>
        </p:nvSpPr>
        <p:spPr>
          <a:xfrm>
            <a:off x="8083296" y="3767328"/>
            <a:ext cx="3749040" cy="22860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950" b="1" dirty="0">
                <a:solidFill>
                  <a:srgbClr val="404040"/>
                </a:solidFill>
                <a:latin typeface="Arial"/>
                <a:cs typeface="Arial"/>
              </a:rPr>
              <a:t>Monthly rainfall, mm</a:t>
            </a:r>
          </a:p>
        </p:txBody>
      </p:sp>
      <p:graphicFrame>
        <p:nvGraphicFramePr>
          <p:cNvPr id="19" name="Chart 19"/>
          <p:cNvGraphicFramePr/>
          <p:nvPr/>
        </p:nvGraphicFramePr>
        <p:xfrm>
          <a:off x="8037576" y="3968496"/>
          <a:ext cx="3749040" cy="2432304"/>
        </p:xfrm>
        <a:graphic>
          <a:graphicData uri="http://schemas.openxmlformats.org/drawingml/2006/chart">
            <c:chart xmlns:c="http://schemas.openxmlformats.org/drawingml/2006/chart" r:id="rId7"/>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3"/>
          <p:cNvSpPr txBox="1"/>
          <p:nvPr/>
        </p:nvSpPr>
        <p:spPr>
          <a:xfrm>
            <a:off x="411480" y="201168"/>
            <a:ext cx="11338560" cy="50292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2400" b="1" dirty="0">
                <a:solidFill>
                  <a:srgbClr val="1F3864"/>
                </a:solidFill>
                <a:latin typeface="Arial"/>
                <a:cs typeface="Arial"/>
              </a:rPr>
              <a:t>Lahat | Temperature and rainfall</a:t>
            </a:r>
          </a:p>
        </p:txBody>
      </p:sp>
      <p:sp>
        <p:nvSpPr>
          <p:cNvPr id="4" name="TextBox 4"/>
          <p:cNvSpPr txBox="1"/>
          <p:nvPr/>
        </p:nvSpPr>
        <p:spPr>
          <a:xfrm>
            <a:off x="411480" y="6510528"/>
            <a:ext cx="8229600" cy="27432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750" dirty="0">
                <a:solidFill>
                  <a:srgbClr val="7F7F7F"/>
                </a:solidFill>
                <a:latin typeface="Arial"/>
                <a:cs typeface="Arial"/>
              </a:rPr>
              <a:t>NASA POWER daily (T2M, PRECTOTCORR), Lahat (South Sumatra, foothills). Seasons July–June since 2006, classed by ONI Aug–Nov of the first year (±0.5). Black dashed = average of the seasons shown; red = 2026/27 so far (complete months only).</a:t>
            </a:r>
          </a:p>
        </p:txBody>
      </p:sp>
      <p:sp>
        <p:nvSpPr>
          <p:cNvPr id="5" name="TextBox 5"/>
          <p:cNvSpPr txBox="1"/>
          <p:nvPr/>
        </p:nvSpPr>
        <p:spPr>
          <a:xfrm>
            <a:off x="365760" y="713232"/>
            <a:ext cx="3749040" cy="292608"/>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1300" b="1" dirty="0">
                <a:solidFill>
                  <a:srgbClr val="ED7D31"/>
                </a:solidFill>
                <a:latin typeface="Arial"/>
                <a:cs typeface="Arial"/>
              </a:rPr>
              <a:t>El Niño (5 seasons)</a:t>
            </a:r>
          </a:p>
        </p:txBody>
      </p:sp>
      <p:sp>
        <p:nvSpPr>
          <p:cNvPr id="6" name="TextBox 6"/>
          <p:cNvSpPr txBox="1"/>
          <p:nvPr/>
        </p:nvSpPr>
        <p:spPr>
          <a:xfrm>
            <a:off x="365760" y="1024128"/>
            <a:ext cx="3749040" cy="22860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950" b="1" dirty="0">
                <a:solidFill>
                  <a:srgbClr val="404040"/>
                </a:solidFill>
                <a:latin typeface="Arial"/>
                <a:cs typeface="Arial"/>
              </a:rPr>
              <a:t>Mean temperature, °C</a:t>
            </a:r>
          </a:p>
        </p:txBody>
      </p:sp>
      <p:graphicFrame>
        <p:nvGraphicFramePr>
          <p:cNvPr id="7" name="Chart 7"/>
          <p:cNvGraphicFramePr/>
          <p:nvPr/>
        </p:nvGraphicFramePr>
        <p:xfrm>
          <a:off x="320040" y="1225296"/>
          <a:ext cx="3749040" cy="2487168"/>
        </p:xfrm>
        <a:graphic>
          <a:graphicData uri="http://schemas.openxmlformats.org/drawingml/2006/chart">
            <c:chart xmlns:c="http://schemas.openxmlformats.org/drawingml/2006/chart" r:id="rId2"/>
          </a:graphicData>
        </a:graphic>
      </p:graphicFrame>
      <p:sp>
        <p:nvSpPr>
          <p:cNvPr id="8" name="TextBox 8"/>
          <p:cNvSpPr txBox="1"/>
          <p:nvPr/>
        </p:nvSpPr>
        <p:spPr>
          <a:xfrm>
            <a:off x="365760" y="3767328"/>
            <a:ext cx="3749040" cy="22860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950" b="1" dirty="0">
                <a:solidFill>
                  <a:srgbClr val="404040"/>
                </a:solidFill>
                <a:latin typeface="Arial"/>
                <a:cs typeface="Arial"/>
              </a:rPr>
              <a:t>Monthly rainfall, mm</a:t>
            </a:r>
          </a:p>
        </p:txBody>
      </p:sp>
      <p:graphicFrame>
        <p:nvGraphicFramePr>
          <p:cNvPr id="9" name="Chart 9"/>
          <p:cNvGraphicFramePr/>
          <p:nvPr/>
        </p:nvGraphicFramePr>
        <p:xfrm>
          <a:off x="320040" y="3968496"/>
          <a:ext cx="3749040" cy="2432304"/>
        </p:xfrm>
        <a:graphic>
          <a:graphicData uri="http://schemas.openxmlformats.org/drawingml/2006/chart">
            <c:chart xmlns:c="http://schemas.openxmlformats.org/drawingml/2006/chart" r:id="rId3"/>
          </a:graphicData>
        </a:graphic>
      </p:graphicFrame>
      <p:sp>
        <p:nvSpPr>
          <p:cNvPr id="10" name="TextBox 10"/>
          <p:cNvSpPr txBox="1"/>
          <p:nvPr/>
        </p:nvSpPr>
        <p:spPr>
          <a:xfrm>
            <a:off x="4224528" y="713232"/>
            <a:ext cx="3749040" cy="292608"/>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1300" b="1" dirty="0">
                <a:solidFill>
                  <a:srgbClr val="2E75B6"/>
                </a:solidFill>
                <a:latin typeface="Arial"/>
                <a:cs typeface="Arial"/>
              </a:rPr>
              <a:t>La Niña (6 seasons)</a:t>
            </a:r>
          </a:p>
        </p:txBody>
      </p:sp>
      <p:sp>
        <p:nvSpPr>
          <p:cNvPr id="11" name="TextBox 11"/>
          <p:cNvSpPr txBox="1"/>
          <p:nvPr/>
        </p:nvSpPr>
        <p:spPr>
          <a:xfrm>
            <a:off x="4224528" y="1024128"/>
            <a:ext cx="3749040" cy="22860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950" b="1" dirty="0">
                <a:solidFill>
                  <a:srgbClr val="404040"/>
                </a:solidFill>
                <a:latin typeface="Arial"/>
                <a:cs typeface="Arial"/>
              </a:rPr>
              <a:t>Mean temperature, °C</a:t>
            </a:r>
          </a:p>
        </p:txBody>
      </p:sp>
      <p:graphicFrame>
        <p:nvGraphicFramePr>
          <p:cNvPr id="12" name="Chart 12"/>
          <p:cNvGraphicFramePr/>
          <p:nvPr/>
        </p:nvGraphicFramePr>
        <p:xfrm>
          <a:off x="4178808" y="1225296"/>
          <a:ext cx="3749040" cy="2487168"/>
        </p:xfrm>
        <a:graphic>
          <a:graphicData uri="http://schemas.openxmlformats.org/drawingml/2006/chart">
            <c:chart xmlns:c="http://schemas.openxmlformats.org/drawingml/2006/chart" r:id="rId4"/>
          </a:graphicData>
        </a:graphic>
      </p:graphicFrame>
      <p:sp>
        <p:nvSpPr>
          <p:cNvPr id="13" name="TextBox 13"/>
          <p:cNvSpPr txBox="1"/>
          <p:nvPr/>
        </p:nvSpPr>
        <p:spPr>
          <a:xfrm>
            <a:off x="4224528" y="3767328"/>
            <a:ext cx="3749040" cy="22860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950" b="1" dirty="0">
                <a:solidFill>
                  <a:srgbClr val="404040"/>
                </a:solidFill>
                <a:latin typeface="Arial"/>
                <a:cs typeface="Arial"/>
              </a:rPr>
              <a:t>Monthly rainfall, mm</a:t>
            </a:r>
          </a:p>
        </p:txBody>
      </p:sp>
      <p:graphicFrame>
        <p:nvGraphicFramePr>
          <p:cNvPr id="14" name="Chart 14"/>
          <p:cNvGraphicFramePr/>
          <p:nvPr/>
        </p:nvGraphicFramePr>
        <p:xfrm>
          <a:off x="4178808" y="3968496"/>
          <a:ext cx="3749040" cy="2432304"/>
        </p:xfrm>
        <a:graphic>
          <a:graphicData uri="http://schemas.openxmlformats.org/drawingml/2006/chart">
            <c:chart xmlns:c="http://schemas.openxmlformats.org/drawingml/2006/chart" r:id="rId5"/>
          </a:graphicData>
        </a:graphic>
      </p:graphicFrame>
      <p:sp>
        <p:nvSpPr>
          <p:cNvPr id="15" name="TextBox 15"/>
          <p:cNvSpPr txBox="1"/>
          <p:nvPr/>
        </p:nvSpPr>
        <p:spPr>
          <a:xfrm>
            <a:off x="8083296" y="713232"/>
            <a:ext cx="3749040" cy="292608"/>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1300" b="1" dirty="0">
                <a:solidFill>
                  <a:srgbClr val="7F7F7F"/>
                </a:solidFill>
                <a:latin typeface="Arial"/>
                <a:cs typeface="Arial"/>
              </a:rPr>
              <a:t>Neutral (9 seasons)</a:t>
            </a:r>
          </a:p>
        </p:txBody>
      </p:sp>
      <p:sp>
        <p:nvSpPr>
          <p:cNvPr id="16" name="TextBox 16"/>
          <p:cNvSpPr txBox="1"/>
          <p:nvPr/>
        </p:nvSpPr>
        <p:spPr>
          <a:xfrm>
            <a:off x="8083296" y="1024128"/>
            <a:ext cx="3749040" cy="22860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950" b="1" dirty="0">
                <a:solidFill>
                  <a:srgbClr val="404040"/>
                </a:solidFill>
                <a:latin typeface="Arial"/>
                <a:cs typeface="Arial"/>
              </a:rPr>
              <a:t>Mean temperature, °C</a:t>
            </a:r>
          </a:p>
        </p:txBody>
      </p:sp>
      <p:graphicFrame>
        <p:nvGraphicFramePr>
          <p:cNvPr id="17" name="Chart 17"/>
          <p:cNvGraphicFramePr/>
          <p:nvPr/>
        </p:nvGraphicFramePr>
        <p:xfrm>
          <a:off x="8037576" y="1225296"/>
          <a:ext cx="3749040" cy="2487168"/>
        </p:xfrm>
        <a:graphic>
          <a:graphicData uri="http://schemas.openxmlformats.org/drawingml/2006/chart">
            <c:chart xmlns:c="http://schemas.openxmlformats.org/drawingml/2006/chart" r:id="rId6"/>
          </a:graphicData>
        </a:graphic>
      </p:graphicFrame>
      <p:sp>
        <p:nvSpPr>
          <p:cNvPr id="18" name="TextBox 18"/>
          <p:cNvSpPr txBox="1"/>
          <p:nvPr/>
        </p:nvSpPr>
        <p:spPr>
          <a:xfrm>
            <a:off x="8083296" y="3767328"/>
            <a:ext cx="3749040" cy="22860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950" b="1" dirty="0">
                <a:solidFill>
                  <a:srgbClr val="404040"/>
                </a:solidFill>
                <a:latin typeface="Arial"/>
                <a:cs typeface="Arial"/>
              </a:rPr>
              <a:t>Monthly rainfall, mm</a:t>
            </a:r>
          </a:p>
        </p:txBody>
      </p:sp>
      <p:graphicFrame>
        <p:nvGraphicFramePr>
          <p:cNvPr id="19" name="Chart 19"/>
          <p:cNvGraphicFramePr/>
          <p:nvPr/>
        </p:nvGraphicFramePr>
        <p:xfrm>
          <a:off x="8037576" y="3968496"/>
          <a:ext cx="3749040" cy="2432304"/>
        </p:xfrm>
        <a:graphic>
          <a:graphicData uri="http://schemas.openxmlformats.org/drawingml/2006/chart">
            <c:chart xmlns:c="http://schemas.openxmlformats.org/drawingml/2006/chart" r:id="rId7"/>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3"/>
          <p:cNvSpPr txBox="1"/>
          <p:nvPr/>
        </p:nvSpPr>
        <p:spPr>
          <a:xfrm>
            <a:off x="411480" y="201168"/>
            <a:ext cx="11338560" cy="50292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2400" b="1" dirty="0">
                <a:solidFill>
                  <a:srgbClr val="1F3864"/>
                </a:solidFill>
                <a:latin typeface="Arial"/>
                <a:cs typeface="Arial"/>
              </a:rPr>
              <a:t>Muaradua | Temperature and rainfall</a:t>
            </a:r>
          </a:p>
        </p:txBody>
      </p:sp>
      <p:sp>
        <p:nvSpPr>
          <p:cNvPr id="4" name="TextBox 4"/>
          <p:cNvSpPr txBox="1"/>
          <p:nvPr/>
        </p:nvSpPr>
        <p:spPr>
          <a:xfrm>
            <a:off x="411480" y="6510528"/>
            <a:ext cx="8229600" cy="27432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750" dirty="0">
                <a:solidFill>
                  <a:srgbClr val="7F7F7F"/>
                </a:solidFill>
                <a:latin typeface="Arial"/>
                <a:cs typeface="Arial"/>
              </a:rPr>
              <a:t>NASA POWER daily (T2M, PRECTOTCORR), Muaradua (South Sumatra (OKU Selatan), lowland–foothills). Seasons July–June since 2006, classed by ONI Aug–Nov of the first year (±0.5). Black dashed = average of the seasons shown; red = 2026/27 so far (complete months only).</a:t>
            </a:r>
          </a:p>
        </p:txBody>
      </p:sp>
      <p:sp>
        <p:nvSpPr>
          <p:cNvPr id="5" name="TextBox 5"/>
          <p:cNvSpPr txBox="1"/>
          <p:nvPr/>
        </p:nvSpPr>
        <p:spPr>
          <a:xfrm>
            <a:off x="365760" y="713232"/>
            <a:ext cx="3749040" cy="292608"/>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1300" b="1" dirty="0">
                <a:solidFill>
                  <a:srgbClr val="ED7D31"/>
                </a:solidFill>
                <a:latin typeface="Arial"/>
                <a:cs typeface="Arial"/>
              </a:rPr>
              <a:t>El Niño (5 seasons)</a:t>
            </a:r>
          </a:p>
        </p:txBody>
      </p:sp>
      <p:sp>
        <p:nvSpPr>
          <p:cNvPr id="6" name="TextBox 6"/>
          <p:cNvSpPr txBox="1"/>
          <p:nvPr/>
        </p:nvSpPr>
        <p:spPr>
          <a:xfrm>
            <a:off x="365760" y="1024128"/>
            <a:ext cx="3749040" cy="22860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950" b="1" dirty="0">
                <a:solidFill>
                  <a:srgbClr val="404040"/>
                </a:solidFill>
                <a:latin typeface="Arial"/>
                <a:cs typeface="Arial"/>
              </a:rPr>
              <a:t>Mean temperature, °C</a:t>
            </a:r>
          </a:p>
        </p:txBody>
      </p:sp>
      <p:graphicFrame>
        <p:nvGraphicFramePr>
          <p:cNvPr id="7" name="Chart 7"/>
          <p:cNvGraphicFramePr/>
          <p:nvPr/>
        </p:nvGraphicFramePr>
        <p:xfrm>
          <a:off x="320040" y="1225296"/>
          <a:ext cx="3749040" cy="2487168"/>
        </p:xfrm>
        <a:graphic>
          <a:graphicData uri="http://schemas.openxmlformats.org/drawingml/2006/chart">
            <c:chart xmlns:c="http://schemas.openxmlformats.org/drawingml/2006/chart" r:id="rId2"/>
          </a:graphicData>
        </a:graphic>
      </p:graphicFrame>
      <p:sp>
        <p:nvSpPr>
          <p:cNvPr id="8" name="TextBox 8"/>
          <p:cNvSpPr txBox="1"/>
          <p:nvPr/>
        </p:nvSpPr>
        <p:spPr>
          <a:xfrm>
            <a:off x="365760" y="3767328"/>
            <a:ext cx="3749040" cy="22860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950" b="1" dirty="0">
                <a:solidFill>
                  <a:srgbClr val="404040"/>
                </a:solidFill>
                <a:latin typeface="Arial"/>
                <a:cs typeface="Arial"/>
              </a:rPr>
              <a:t>Monthly rainfall, mm</a:t>
            </a:r>
          </a:p>
        </p:txBody>
      </p:sp>
      <p:graphicFrame>
        <p:nvGraphicFramePr>
          <p:cNvPr id="9" name="Chart 9"/>
          <p:cNvGraphicFramePr/>
          <p:nvPr/>
        </p:nvGraphicFramePr>
        <p:xfrm>
          <a:off x="320040" y="3968496"/>
          <a:ext cx="3749040" cy="2432304"/>
        </p:xfrm>
        <a:graphic>
          <a:graphicData uri="http://schemas.openxmlformats.org/drawingml/2006/chart">
            <c:chart xmlns:c="http://schemas.openxmlformats.org/drawingml/2006/chart" r:id="rId3"/>
          </a:graphicData>
        </a:graphic>
      </p:graphicFrame>
      <p:sp>
        <p:nvSpPr>
          <p:cNvPr id="10" name="TextBox 10"/>
          <p:cNvSpPr txBox="1"/>
          <p:nvPr/>
        </p:nvSpPr>
        <p:spPr>
          <a:xfrm>
            <a:off x="4224528" y="713232"/>
            <a:ext cx="3749040" cy="292608"/>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1300" b="1" dirty="0">
                <a:solidFill>
                  <a:srgbClr val="2E75B6"/>
                </a:solidFill>
                <a:latin typeface="Arial"/>
                <a:cs typeface="Arial"/>
              </a:rPr>
              <a:t>La Niña (6 seasons)</a:t>
            </a:r>
          </a:p>
        </p:txBody>
      </p:sp>
      <p:sp>
        <p:nvSpPr>
          <p:cNvPr id="11" name="TextBox 11"/>
          <p:cNvSpPr txBox="1"/>
          <p:nvPr/>
        </p:nvSpPr>
        <p:spPr>
          <a:xfrm>
            <a:off x="4224528" y="1024128"/>
            <a:ext cx="3749040" cy="22860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950" b="1" dirty="0">
                <a:solidFill>
                  <a:srgbClr val="404040"/>
                </a:solidFill>
                <a:latin typeface="Arial"/>
                <a:cs typeface="Arial"/>
              </a:rPr>
              <a:t>Mean temperature, °C</a:t>
            </a:r>
          </a:p>
        </p:txBody>
      </p:sp>
      <p:graphicFrame>
        <p:nvGraphicFramePr>
          <p:cNvPr id="12" name="Chart 12"/>
          <p:cNvGraphicFramePr/>
          <p:nvPr/>
        </p:nvGraphicFramePr>
        <p:xfrm>
          <a:off x="4178808" y="1225296"/>
          <a:ext cx="3749040" cy="2487168"/>
        </p:xfrm>
        <a:graphic>
          <a:graphicData uri="http://schemas.openxmlformats.org/drawingml/2006/chart">
            <c:chart xmlns:c="http://schemas.openxmlformats.org/drawingml/2006/chart" r:id="rId4"/>
          </a:graphicData>
        </a:graphic>
      </p:graphicFrame>
      <p:sp>
        <p:nvSpPr>
          <p:cNvPr id="13" name="TextBox 13"/>
          <p:cNvSpPr txBox="1"/>
          <p:nvPr/>
        </p:nvSpPr>
        <p:spPr>
          <a:xfrm>
            <a:off x="4224528" y="3767328"/>
            <a:ext cx="3749040" cy="22860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950" b="1" dirty="0">
                <a:solidFill>
                  <a:srgbClr val="404040"/>
                </a:solidFill>
                <a:latin typeface="Arial"/>
                <a:cs typeface="Arial"/>
              </a:rPr>
              <a:t>Monthly rainfall, mm</a:t>
            </a:r>
          </a:p>
        </p:txBody>
      </p:sp>
      <p:graphicFrame>
        <p:nvGraphicFramePr>
          <p:cNvPr id="14" name="Chart 14"/>
          <p:cNvGraphicFramePr/>
          <p:nvPr/>
        </p:nvGraphicFramePr>
        <p:xfrm>
          <a:off x="4178808" y="3968496"/>
          <a:ext cx="3749040" cy="2432304"/>
        </p:xfrm>
        <a:graphic>
          <a:graphicData uri="http://schemas.openxmlformats.org/drawingml/2006/chart">
            <c:chart xmlns:c="http://schemas.openxmlformats.org/drawingml/2006/chart" r:id="rId5"/>
          </a:graphicData>
        </a:graphic>
      </p:graphicFrame>
      <p:sp>
        <p:nvSpPr>
          <p:cNvPr id="15" name="TextBox 15"/>
          <p:cNvSpPr txBox="1"/>
          <p:nvPr/>
        </p:nvSpPr>
        <p:spPr>
          <a:xfrm>
            <a:off x="8083296" y="713232"/>
            <a:ext cx="3749040" cy="292608"/>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1300" b="1" dirty="0">
                <a:solidFill>
                  <a:srgbClr val="7F7F7F"/>
                </a:solidFill>
                <a:latin typeface="Arial"/>
                <a:cs typeface="Arial"/>
              </a:rPr>
              <a:t>Neutral (9 seasons)</a:t>
            </a:r>
          </a:p>
        </p:txBody>
      </p:sp>
      <p:sp>
        <p:nvSpPr>
          <p:cNvPr id="16" name="TextBox 16"/>
          <p:cNvSpPr txBox="1"/>
          <p:nvPr/>
        </p:nvSpPr>
        <p:spPr>
          <a:xfrm>
            <a:off x="8083296" y="1024128"/>
            <a:ext cx="3749040" cy="22860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950" b="1" dirty="0">
                <a:solidFill>
                  <a:srgbClr val="404040"/>
                </a:solidFill>
                <a:latin typeface="Arial"/>
                <a:cs typeface="Arial"/>
              </a:rPr>
              <a:t>Mean temperature, °C</a:t>
            </a:r>
          </a:p>
        </p:txBody>
      </p:sp>
      <p:graphicFrame>
        <p:nvGraphicFramePr>
          <p:cNvPr id="17" name="Chart 17"/>
          <p:cNvGraphicFramePr/>
          <p:nvPr/>
        </p:nvGraphicFramePr>
        <p:xfrm>
          <a:off x="8037576" y="1225296"/>
          <a:ext cx="3749040" cy="2487168"/>
        </p:xfrm>
        <a:graphic>
          <a:graphicData uri="http://schemas.openxmlformats.org/drawingml/2006/chart">
            <c:chart xmlns:c="http://schemas.openxmlformats.org/drawingml/2006/chart" r:id="rId6"/>
          </a:graphicData>
        </a:graphic>
      </p:graphicFrame>
      <p:sp>
        <p:nvSpPr>
          <p:cNvPr id="18" name="TextBox 18"/>
          <p:cNvSpPr txBox="1"/>
          <p:nvPr/>
        </p:nvSpPr>
        <p:spPr>
          <a:xfrm>
            <a:off x="8083296" y="3767328"/>
            <a:ext cx="3749040" cy="22860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950" b="1" dirty="0">
                <a:solidFill>
                  <a:srgbClr val="404040"/>
                </a:solidFill>
                <a:latin typeface="Arial"/>
                <a:cs typeface="Arial"/>
              </a:rPr>
              <a:t>Monthly rainfall, mm</a:t>
            </a:r>
          </a:p>
        </p:txBody>
      </p:sp>
      <p:graphicFrame>
        <p:nvGraphicFramePr>
          <p:cNvPr id="19" name="Chart 19"/>
          <p:cNvGraphicFramePr/>
          <p:nvPr/>
        </p:nvGraphicFramePr>
        <p:xfrm>
          <a:off x="8037576" y="3968496"/>
          <a:ext cx="3749040" cy="2432304"/>
        </p:xfrm>
        <a:graphic>
          <a:graphicData uri="http://schemas.openxmlformats.org/drawingml/2006/chart">
            <c:chart xmlns:c="http://schemas.openxmlformats.org/drawingml/2006/chart" r:id="rId7"/>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3"/>
          <p:cNvSpPr txBox="1"/>
          <p:nvPr/>
        </p:nvSpPr>
        <p:spPr>
          <a:xfrm>
            <a:off x="411480" y="201168"/>
            <a:ext cx="11338560" cy="50292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2400" b="1" dirty="0">
                <a:solidFill>
                  <a:srgbClr val="1F3864"/>
                </a:solidFill>
                <a:latin typeface="Arial"/>
                <a:cs typeface="Arial"/>
              </a:rPr>
              <a:t>Liwa | Temperature and rainfall</a:t>
            </a:r>
          </a:p>
        </p:txBody>
      </p:sp>
      <p:sp>
        <p:nvSpPr>
          <p:cNvPr id="4" name="TextBox 4"/>
          <p:cNvSpPr txBox="1"/>
          <p:nvPr/>
        </p:nvSpPr>
        <p:spPr>
          <a:xfrm>
            <a:off x="411480" y="6510528"/>
            <a:ext cx="8229600" cy="27432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750" dirty="0">
                <a:solidFill>
                  <a:srgbClr val="7F7F7F"/>
                </a:solidFill>
                <a:latin typeface="Arial"/>
                <a:cs typeface="Arial"/>
              </a:rPr>
              <a:t>NASA POWER daily (T2M, PRECTOTCORR), Liwa (Lampung (Lampung Barat)). Seasons July–June since 2006, classed by ONI Aug–Nov of the first year (±0.5). Black dashed = average of the seasons shown; red = 2026/27 so far (complete months only).</a:t>
            </a:r>
          </a:p>
        </p:txBody>
      </p:sp>
      <p:sp>
        <p:nvSpPr>
          <p:cNvPr id="5" name="TextBox 5"/>
          <p:cNvSpPr txBox="1"/>
          <p:nvPr/>
        </p:nvSpPr>
        <p:spPr>
          <a:xfrm>
            <a:off x="365760" y="713232"/>
            <a:ext cx="3749040" cy="292608"/>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1300" b="1" dirty="0">
                <a:solidFill>
                  <a:srgbClr val="ED7D31"/>
                </a:solidFill>
                <a:latin typeface="Arial"/>
                <a:cs typeface="Arial"/>
              </a:rPr>
              <a:t>El Niño (5 seasons)</a:t>
            </a:r>
          </a:p>
        </p:txBody>
      </p:sp>
      <p:sp>
        <p:nvSpPr>
          <p:cNvPr id="6" name="TextBox 6"/>
          <p:cNvSpPr txBox="1"/>
          <p:nvPr/>
        </p:nvSpPr>
        <p:spPr>
          <a:xfrm>
            <a:off x="365760" y="1024128"/>
            <a:ext cx="3749040" cy="22860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950" b="1" dirty="0">
                <a:solidFill>
                  <a:srgbClr val="404040"/>
                </a:solidFill>
                <a:latin typeface="Arial"/>
                <a:cs typeface="Arial"/>
              </a:rPr>
              <a:t>Mean temperature, °C</a:t>
            </a:r>
          </a:p>
        </p:txBody>
      </p:sp>
      <p:graphicFrame>
        <p:nvGraphicFramePr>
          <p:cNvPr id="7" name="Chart 7"/>
          <p:cNvGraphicFramePr/>
          <p:nvPr/>
        </p:nvGraphicFramePr>
        <p:xfrm>
          <a:off x="320040" y="1225296"/>
          <a:ext cx="3749040" cy="2487168"/>
        </p:xfrm>
        <a:graphic>
          <a:graphicData uri="http://schemas.openxmlformats.org/drawingml/2006/chart">
            <c:chart xmlns:c="http://schemas.openxmlformats.org/drawingml/2006/chart" r:id="rId2"/>
          </a:graphicData>
        </a:graphic>
      </p:graphicFrame>
      <p:sp>
        <p:nvSpPr>
          <p:cNvPr id="8" name="TextBox 8"/>
          <p:cNvSpPr txBox="1"/>
          <p:nvPr/>
        </p:nvSpPr>
        <p:spPr>
          <a:xfrm>
            <a:off x="365760" y="3767328"/>
            <a:ext cx="3749040" cy="22860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950" b="1" dirty="0">
                <a:solidFill>
                  <a:srgbClr val="404040"/>
                </a:solidFill>
                <a:latin typeface="Arial"/>
                <a:cs typeface="Arial"/>
              </a:rPr>
              <a:t>Monthly rainfall, mm</a:t>
            </a:r>
          </a:p>
        </p:txBody>
      </p:sp>
      <p:graphicFrame>
        <p:nvGraphicFramePr>
          <p:cNvPr id="9" name="Chart 9"/>
          <p:cNvGraphicFramePr/>
          <p:nvPr/>
        </p:nvGraphicFramePr>
        <p:xfrm>
          <a:off x="320040" y="3968496"/>
          <a:ext cx="3749040" cy="2432304"/>
        </p:xfrm>
        <a:graphic>
          <a:graphicData uri="http://schemas.openxmlformats.org/drawingml/2006/chart">
            <c:chart xmlns:c="http://schemas.openxmlformats.org/drawingml/2006/chart" r:id="rId3"/>
          </a:graphicData>
        </a:graphic>
      </p:graphicFrame>
      <p:sp>
        <p:nvSpPr>
          <p:cNvPr id="10" name="TextBox 10"/>
          <p:cNvSpPr txBox="1"/>
          <p:nvPr/>
        </p:nvSpPr>
        <p:spPr>
          <a:xfrm>
            <a:off x="4224528" y="713232"/>
            <a:ext cx="3749040" cy="292608"/>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1300" b="1" dirty="0">
                <a:solidFill>
                  <a:srgbClr val="2E75B6"/>
                </a:solidFill>
                <a:latin typeface="Arial"/>
                <a:cs typeface="Arial"/>
              </a:rPr>
              <a:t>La Niña (6 seasons)</a:t>
            </a:r>
          </a:p>
        </p:txBody>
      </p:sp>
      <p:sp>
        <p:nvSpPr>
          <p:cNvPr id="11" name="TextBox 11"/>
          <p:cNvSpPr txBox="1"/>
          <p:nvPr/>
        </p:nvSpPr>
        <p:spPr>
          <a:xfrm>
            <a:off x="4224528" y="1024128"/>
            <a:ext cx="3749040" cy="22860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950" b="1" dirty="0">
                <a:solidFill>
                  <a:srgbClr val="404040"/>
                </a:solidFill>
                <a:latin typeface="Arial"/>
                <a:cs typeface="Arial"/>
              </a:rPr>
              <a:t>Mean temperature, °C</a:t>
            </a:r>
          </a:p>
        </p:txBody>
      </p:sp>
      <p:graphicFrame>
        <p:nvGraphicFramePr>
          <p:cNvPr id="12" name="Chart 12"/>
          <p:cNvGraphicFramePr/>
          <p:nvPr/>
        </p:nvGraphicFramePr>
        <p:xfrm>
          <a:off x="4178808" y="1225296"/>
          <a:ext cx="3749040" cy="2487168"/>
        </p:xfrm>
        <a:graphic>
          <a:graphicData uri="http://schemas.openxmlformats.org/drawingml/2006/chart">
            <c:chart xmlns:c="http://schemas.openxmlformats.org/drawingml/2006/chart" r:id="rId4"/>
          </a:graphicData>
        </a:graphic>
      </p:graphicFrame>
      <p:sp>
        <p:nvSpPr>
          <p:cNvPr id="13" name="TextBox 13"/>
          <p:cNvSpPr txBox="1"/>
          <p:nvPr/>
        </p:nvSpPr>
        <p:spPr>
          <a:xfrm>
            <a:off x="4224528" y="3767328"/>
            <a:ext cx="3749040" cy="22860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950" b="1" dirty="0">
                <a:solidFill>
                  <a:srgbClr val="404040"/>
                </a:solidFill>
                <a:latin typeface="Arial"/>
                <a:cs typeface="Arial"/>
              </a:rPr>
              <a:t>Monthly rainfall, mm</a:t>
            </a:r>
          </a:p>
        </p:txBody>
      </p:sp>
      <p:graphicFrame>
        <p:nvGraphicFramePr>
          <p:cNvPr id="14" name="Chart 14"/>
          <p:cNvGraphicFramePr/>
          <p:nvPr/>
        </p:nvGraphicFramePr>
        <p:xfrm>
          <a:off x="4178808" y="3968496"/>
          <a:ext cx="3749040" cy="2432304"/>
        </p:xfrm>
        <a:graphic>
          <a:graphicData uri="http://schemas.openxmlformats.org/drawingml/2006/chart">
            <c:chart xmlns:c="http://schemas.openxmlformats.org/drawingml/2006/chart" r:id="rId5"/>
          </a:graphicData>
        </a:graphic>
      </p:graphicFrame>
      <p:sp>
        <p:nvSpPr>
          <p:cNvPr id="15" name="TextBox 15"/>
          <p:cNvSpPr txBox="1"/>
          <p:nvPr/>
        </p:nvSpPr>
        <p:spPr>
          <a:xfrm>
            <a:off x="8083296" y="713232"/>
            <a:ext cx="3749040" cy="292608"/>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1300" b="1" dirty="0">
                <a:solidFill>
                  <a:srgbClr val="7F7F7F"/>
                </a:solidFill>
                <a:latin typeface="Arial"/>
                <a:cs typeface="Arial"/>
              </a:rPr>
              <a:t>Neutral (9 seasons)</a:t>
            </a:r>
          </a:p>
        </p:txBody>
      </p:sp>
      <p:sp>
        <p:nvSpPr>
          <p:cNvPr id="16" name="TextBox 16"/>
          <p:cNvSpPr txBox="1"/>
          <p:nvPr/>
        </p:nvSpPr>
        <p:spPr>
          <a:xfrm>
            <a:off x="8083296" y="1024128"/>
            <a:ext cx="3749040" cy="22860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950" b="1" dirty="0">
                <a:solidFill>
                  <a:srgbClr val="404040"/>
                </a:solidFill>
                <a:latin typeface="Arial"/>
                <a:cs typeface="Arial"/>
              </a:rPr>
              <a:t>Mean temperature, °C</a:t>
            </a:r>
          </a:p>
        </p:txBody>
      </p:sp>
      <p:graphicFrame>
        <p:nvGraphicFramePr>
          <p:cNvPr id="17" name="Chart 17"/>
          <p:cNvGraphicFramePr/>
          <p:nvPr/>
        </p:nvGraphicFramePr>
        <p:xfrm>
          <a:off x="8037576" y="1225296"/>
          <a:ext cx="3749040" cy="2487168"/>
        </p:xfrm>
        <a:graphic>
          <a:graphicData uri="http://schemas.openxmlformats.org/drawingml/2006/chart">
            <c:chart xmlns:c="http://schemas.openxmlformats.org/drawingml/2006/chart" r:id="rId6"/>
          </a:graphicData>
        </a:graphic>
      </p:graphicFrame>
      <p:sp>
        <p:nvSpPr>
          <p:cNvPr id="18" name="TextBox 18"/>
          <p:cNvSpPr txBox="1"/>
          <p:nvPr/>
        </p:nvSpPr>
        <p:spPr>
          <a:xfrm>
            <a:off x="8083296" y="3767328"/>
            <a:ext cx="3749040" cy="22860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950" b="1" dirty="0">
                <a:solidFill>
                  <a:srgbClr val="404040"/>
                </a:solidFill>
                <a:latin typeface="Arial"/>
                <a:cs typeface="Arial"/>
              </a:rPr>
              <a:t>Monthly rainfall, mm</a:t>
            </a:r>
          </a:p>
        </p:txBody>
      </p:sp>
      <p:graphicFrame>
        <p:nvGraphicFramePr>
          <p:cNvPr id="19" name="Chart 19"/>
          <p:cNvGraphicFramePr/>
          <p:nvPr/>
        </p:nvGraphicFramePr>
        <p:xfrm>
          <a:off x="8037576" y="3968496"/>
          <a:ext cx="3749040" cy="2432304"/>
        </p:xfrm>
        <a:graphic>
          <a:graphicData uri="http://schemas.openxmlformats.org/drawingml/2006/chart">
            <c:chart xmlns:c="http://schemas.openxmlformats.org/drawingml/2006/chart" r:id="rId7"/>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3"/>
          <p:cNvSpPr txBox="1"/>
          <p:nvPr/>
        </p:nvSpPr>
        <p:spPr>
          <a:xfrm>
            <a:off x="411480" y="201168"/>
            <a:ext cx="11338560" cy="50292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2400" b="1" dirty="0">
                <a:solidFill>
                  <a:srgbClr val="1F3864"/>
                </a:solidFill>
                <a:latin typeface="Arial"/>
                <a:cs typeface="Arial"/>
              </a:rPr>
              <a:t>Kepahiang | Temperature and rainfall</a:t>
            </a:r>
          </a:p>
        </p:txBody>
      </p:sp>
      <p:sp>
        <p:nvSpPr>
          <p:cNvPr id="4" name="TextBox 4"/>
          <p:cNvSpPr txBox="1"/>
          <p:nvPr/>
        </p:nvSpPr>
        <p:spPr>
          <a:xfrm>
            <a:off x="411480" y="6510528"/>
            <a:ext cx="8229600" cy="27432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750" dirty="0">
                <a:solidFill>
                  <a:srgbClr val="7F7F7F"/>
                </a:solidFill>
                <a:latin typeface="Arial"/>
                <a:cs typeface="Arial"/>
              </a:rPr>
              <a:t>NASA POWER daily (T2M, PRECTOTCORR), Kepahiang (Bengkulu, highland). Seasons July–June since 2006, classed by ONI Aug–Nov of the first year (±0.5). Black dashed = average of the seasons shown; red = 2026/27 so far (complete months only).</a:t>
            </a:r>
          </a:p>
        </p:txBody>
      </p:sp>
      <p:sp>
        <p:nvSpPr>
          <p:cNvPr id="5" name="TextBox 5"/>
          <p:cNvSpPr txBox="1"/>
          <p:nvPr/>
        </p:nvSpPr>
        <p:spPr>
          <a:xfrm>
            <a:off x="365760" y="713232"/>
            <a:ext cx="3749040" cy="292608"/>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1300" b="1" dirty="0">
                <a:solidFill>
                  <a:srgbClr val="ED7D31"/>
                </a:solidFill>
                <a:latin typeface="Arial"/>
                <a:cs typeface="Arial"/>
              </a:rPr>
              <a:t>El Niño (5 seasons)</a:t>
            </a:r>
          </a:p>
        </p:txBody>
      </p:sp>
      <p:sp>
        <p:nvSpPr>
          <p:cNvPr id="6" name="TextBox 6"/>
          <p:cNvSpPr txBox="1"/>
          <p:nvPr/>
        </p:nvSpPr>
        <p:spPr>
          <a:xfrm>
            <a:off x="365760" y="1024128"/>
            <a:ext cx="3749040" cy="22860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950" b="1" dirty="0">
                <a:solidFill>
                  <a:srgbClr val="404040"/>
                </a:solidFill>
                <a:latin typeface="Arial"/>
                <a:cs typeface="Arial"/>
              </a:rPr>
              <a:t>Mean temperature, °C</a:t>
            </a:r>
          </a:p>
        </p:txBody>
      </p:sp>
      <p:graphicFrame>
        <p:nvGraphicFramePr>
          <p:cNvPr id="7" name="Chart 7"/>
          <p:cNvGraphicFramePr/>
          <p:nvPr/>
        </p:nvGraphicFramePr>
        <p:xfrm>
          <a:off x="320040" y="1225296"/>
          <a:ext cx="3749040" cy="2487168"/>
        </p:xfrm>
        <a:graphic>
          <a:graphicData uri="http://schemas.openxmlformats.org/drawingml/2006/chart">
            <c:chart xmlns:c="http://schemas.openxmlformats.org/drawingml/2006/chart" r:id="rId2"/>
          </a:graphicData>
        </a:graphic>
      </p:graphicFrame>
      <p:sp>
        <p:nvSpPr>
          <p:cNvPr id="8" name="TextBox 8"/>
          <p:cNvSpPr txBox="1"/>
          <p:nvPr/>
        </p:nvSpPr>
        <p:spPr>
          <a:xfrm>
            <a:off x="365760" y="3767328"/>
            <a:ext cx="3749040" cy="22860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950" b="1" dirty="0">
                <a:solidFill>
                  <a:srgbClr val="404040"/>
                </a:solidFill>
                <a:latin typeface="Arial"/>
                <a:cs typeface="Arial"/>
              </a:rPr>
              <a:t>Monthly rainfall, mm</a:t>
            </a:r>
          </a:p>
        </p:txBody>
      </p:sp>
      <p:graphicFrame>
        <p:nvGraphicFramePr>
          <p:cNvPr id="9" name="Chart 9"/>
          <p:cNvGraphicFramePr/>
          <p:nvPr/>
        </p:nvGraphicFramePr>
        <p:xfrm>
          <a:off x="320040" y="3968496"/>
          <a:ext cx="3749040" cy="2432304"/>
        </p:xfrm>
        <a:graphic>
          <a:graphicData uri="http://schemas.openxmlformats.org/drawingml/2006/chart">
            <c:chart xmlns:c="http://schemas.openxmlformats.org/drawingml/2006/chart" r:id="rId3"/>
          </a:graphicData>
        </a:graphic>
      </p:graphicFrame>
      <p:sp>
        <p:nvSpPr>
          <p:cNvPr id="10" name="TextBox 10"/>
          <p:cNvSpPr txBox="1"/>
          <p:nvPr/>
        </p:nvSpPr>
        <p:spPr>
          <a:xfrm>
            <a:off x="4224528" y="713232"/>
            <a:ext cx="3749040" cy="292608"/>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1300" b="1" dirty="0">
                <a:solidFill>
                  <a:srgbClr val="2E75B6"/>
                </a:solidFill>
                <a:latin typeface="Arial"/>
                <a:cs typeface="Arial"/>
              </a:rPr>
              <a:t>La Niña (6 seasons)</a:t>
            </a:r>
          </a:p>
        </p:txBody>
      </p:sp>
      <p:sp>
        <p:nvSpPr>
          <p:cNvPr id="11" name="TextBox 11"/>
          <p:cNvSpPr txBox="1"/>
          <p:nvPr/>
        </p:nvSpPr>
        <p:spPr>
          <a:xfrm>
            <a:off x="4224528" y="1024128"/>
            <a:ext cx="3749040" cy="22860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950" b="1" dirty="0">
                <a:solidFill>
                  <a:srgbClr val="404040"/>
                </a:solidFill>
                <a:latin typeface="Arial"/>
                <a:cs typeface="Arial"/>
              </a:rPr>
              <a:t>Mean temperature, °C</a:t>
            </a:r>
          </a:p>
        </p:txBody>
      </p:sp>
      <p:graphicFrame>
        <p:nvGraphicFramePr>
          <p:cNvPr id="12" name="Chart 12"/>
          <p:cNvGraphicFramePr/>
          <p:nvPr/>
        </p:nvGraphicFramePr>
        <p:xfrm>
          <a:off x="4178808" y="1225296"/>
          <a:ext cx="3749040" cy="2487168"/>
        </p:xfrm>
        <a:graphic>
          <a:graphicData uri="http://schemas.openxmlformats.org/drawingml/2006/chart">
            <c:chart xmlns:c="http://schemas.openxmlformats.org/drawingml/2006/chart" r:id="rId4"/>
          </a:graphicData>
        </a:graphic>
      </p:graphicFrame>
      <p:sp>
        <p:nvSpPr>
          <p:cNvPr id="13" name="TextBox 13"/>
          <p:cNvSpPr txBox="1"/>
          <p:nvPr/>
        </p:nvSpPr>
        <p:spPr>
          <a:xfrm>
            <a:off x="4224528" y="3767328"/>
            <a:ext cx="3749040" cy="22860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950" b="1" dirty="0">
                <a:solidFill>
                  <a:srgbClr val="404040"/>
                </a:solidFill>
                <a:latin typeface="Arial"/>
                <a:cs typeface="Arial"/>
              </a:rPr>
              <a:t>Monthly rainfall, mm</a:t>
            </a:r>
          </a:p>
        </p:txBody>
      </p:sp>
      <p:graphicFrame>
        <p:nvGraphicFramePr>
          <p:cNvPr id="14" name="Chart 14"/>
          <p:cNvGraphicFramePr/>
          <p:nvPr/>
        </p:nvGraphicFramePr>
        <p:xfrm>
          <a:off x="4178808" y="3968496"/>
          <a:ext cx="3749040" cy="2432304"/>
        </p:xfrm>
        <a:graphic>
          <a:graphicData uri="http://schemas.openxmlformats.org/drawingml/2006/chart">
            <c:chart xmlns:c="http://schemas.openxmlformats.org/drawingml/2006/chart" r:id="rId5"/>
          </a:graphicData>
        </a:graphic>
      </p:graphicFrame>
      <p:sp>
        <p:nvSpPr>
          <p:cNvPr id="15" name="TextBox 15"/>
          <p:cNvSpPr txBox="1"/>
          <p:nvPr/>
        </p:nvSpPr>
        <p:spPr>
          <a:xfrm>
            <a:off x="8083296" y="713232"/>
            <a:ext cx="3749040" cy="292608"/>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1300" b="1" dirty="0">
                <a:solidFill>
                  <a:srgbClr val="7F7F7F"/>
                </a:solidFill>
                <a:latin typeface="Arial"/>
                <a:cs typeface="Arial"/>
              </a:rPr>
              <a:t>Neutral (9 seasons)</a:t>
            </a:r>
          </a:p>
        </p:txBody>
      </p:sp>
      <p:sp>
        <p:nvSpPr>
          <p:cNvPr id="16" name="TextBox 16"/>
          <p:cNvSpPr txBox="1"/>
          <p:nvPr/>
        </p:nvSpPr>
        <p:spPr>
          <a:xfrm>
            <a:off x="8083296" y="1024128"/>
            <a:ext cx="3749040" cy="22860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950" b="1" dirty="0">
                <a:solidFill>
                  <a:srgbClr val="404040"/>
                </a:solidFill>
                <a:latin typeface="Arial"/>
                <a:cs typeface="Arial"/>
              </a:rPr>
              <a:t>Mean temperature, °C</a:t>
            </a:r>
          </a:p>
        </p:txBody>
      </p:sp>
      <p:graphicFrame>
        <p:nvGraphicFramePr>
          <p:cNvPr id="17" name="Chart 17"/>
          <p:cNvGraphicFramePr/>
          <p:nvPr/>
        </p:nvGraphicFramePr>
        <p:xfrm>
          <a:off x="8037576" y="1225296"/>
          <a:ext cx="3749040" cy="2487168"/>
        </p:xfrm>
        <a:graphic>
          <a:graphicData uri="http://schemas.openxmlformats.org/drawingml/2006/chart">
            <c:chart xmlns:c="http://schemas.openxmlformats.org/drawingml/2006/chart" r:id="rId6"/>
          </a:graphicData>
        </a:graphic>
      </p:graphicFrame>
      <p:sp>
        <p:nvSpPr>
          <p:cNvPr id="18" name="TextBox 18"/>
          <p:cNvSpPr txBox="1"/>
          <p:nvPr/>
        </p:nvSpPr>
        <p:spPr>
          <a:xfrm>
            <a:off x="8083296" y="3767328"/>
            <a:ext cx="3749040" cy="22860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950" b="1" dirty="0">
                <a:solidFill>
                  <a:srgbClr val="404040"/>
                </a:solidFill>
                <a:latin typeface="Arial"/>
                <a:cs typeface="Arial"/>
              </a:rPr>
              <a:t>Monthly rainfall, mm</a:t>
            </a:r>
          </a:p>
        </p:txBody>
      </p:sp>
      <p:graphicFrame>
        <p:nvGraphicFramePr>
          <p:cNvPr id="19" name="Chart 19"/>
          <p:cNvGraphicFramePr/>
          <p:nvPr/>
        </p:nvGraphicFramePr>
        <p:xfrm>
          <a:off x="8037576" y="3968496"/>
          <a:ext cx="3749040" cy="2432304"/>
        </p:xfrm>
        <a:graphic>
          <a:graphicData uri="http://schemas.openxmlformats.org/drawingml/2006/chart">
            <c:chart xmlns:c="http://schemas.openxmlformats.org/drawingml/2006/chart" r:id="rId7"/>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3"/>
          <p:cNvSpPr txBox="1"/>
          <p:nvPr/>
        </p:nvSpPr>
        <p:spPr>
          <a:xfrm>
            <a:off x="411480" y="201168"/>
            <a:ext cx="11338560" cy="50292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2000" b="1" dirty="0">
                <a:solidFill>
                  <a:srgbClr val="1F3864"/>
                </a:solidFill>
                <a:latin typeface="Arial"/>
                <a:cs typeface="Arial"/>
              </a:rPr>
              <a:t>South Sumatra | Temperature and rainfall, year on year (coffee year Apr–Mar)</a:t>
            </a:r>
          </a:p>
        </p:txBody>
      </p:sp>
      <p:sp>
        <p:nvSpPr>
          <p:cNvPr id="4" name="TextBox 4"/>
          <p:cNvSpPr txBox="1"/>
          <p:nvPr/>
        </p:nvSpPr>
        <p:spPr>
          <a:xfrm>
            <a:off x="685800" y="713232"/>
            <a:ext cx="10881360" cy="758952"/>
          </a:xfrm>
          <a:prstGeom prst="rect">
            <a:avLst/>
          </a:prstGeom>
          <a:noFill/>
          <a:ln>
            <a:noFill/>
          </a:ln>
        </p:spPr>
        <p:txBody>
          <a:bodyPr wrap="square" lIns="0" tIns="0" rIns="0" bIns="0" anchor="t" rtlCol="0">
            <a:noAutofit/>
          </a:bodyPr>
          <a:lstStyle/>
          <a:p>
            <a:pPr algn="l" marL="201168" indent="-201168">
              <a:spcBef>
                <a:spcPts val="0"/>
              </a:spcBef>
              <a:spcAft>
                <a:spcPts val="100"/>
              </a:spcAft>
              <a:buFont typeface="Arial"/>
              <a:buChar char="•"/>
            </a:pPr>
            <a:r>
              <a:rPr lang="en-GB" sz="1050" dirty="0">
                <a:solidFill>
                  <a:srgbClr val="262626"/>
                </a:solidFill>
                <a:highlight>
                  <a:srgbClr val="FFFF00"/>
                </a:highlight>
                <a:latin typeface="Arial"/>
                <a:cs typeface="Arial"/>
              </a:rPr>
              <a:t>El Niño years: rainfall -15 % on the previous coffee year on average; La Niña years: +6 %</a:t>
            </a:r>
          </a:p>
          <a:p>
            <a:pPr algn="l" marL="201168" indent="-201168">
              <a:spcBef>
                <a:spcPts val="0"/>
              </a:spcBef>
              <a:spcAft>
                <a:spcPts val="100"/>
              </a:spcAft>
              <a:buFont typeface="Arial"/>
              <a:buChar char="•"/>
            </a:pPr>
            <a:r>
              <a:rPr lang="en-GB" sz="1050" dirty="0">
                <a:solidFill>
                  <a:srgbClr val="262626"/>
                </a:solidFill>
                <a:highlight>
                  <a:srgbClr val="FFFF00"/>
                </a:highlight>
                <a:latin typeface="Arial"/>
                <a:cs typeface="Arial"/>
              </a:rPr>
              <a:t>Temperature: El Niño +0.46 °C, La Niña -0.21 °C on the previous year on average</a:t>
            </a:r>
          </a:p>
          <a:p>
            <a:pPr algn="l" marL="201168" indent="-201168">
              <a:spcBef>
                <a:spcPts val="0"/>
              </a:spcBef>
              <a:spcAft>
                <a:spcPts val="100"/>
              </a:spcAft>
              <a:buFont typeface="Arial"/>
              <a:buChar char="•"/>
            </a:pPr>
            <a:r>
              <a:rPr lang="en-GB" sz="1050" dirty="0">
                <a:solidFill>
                  <a:srgbClr val="262626"/>
                </a:solidFill>
                <a:highlight>
                  <a:srgbClr val="FFFF00"/>
                </a:highlight>
                <a:latin typeface="Arial"/>
                <a:cs typeface="Arial"/>
              </a:rPr>
              <a:t>2026/27 (El Niño) is not complete; Jun 1–Sep 19 rainfall: 79 % of normal at Pagar Alam, 35–57 % in Lahat, Muaradua and Liwa, 93 % at Kepahiang</a:t>
            </a:r>
          </a:p>
        </p:txBody>
      </p:sp>
      <p:sp>
        <p:nvSpPr>
          <p:cNvPr id="5" name="TextBox 5"/>
          <p:cNvSpPr txBox="1"/>
          <p:nvPr/>
        </p:nvSpPr>
        <p:spPr>
          <a:xfrm>
            <a:off x="411480" y="6510528"/>
            <a:ext cx="8229600" cy="27432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750" dirty="0">
                <a:solidFill>
                  <a:srgbClr val="7F7F7F"/>
                </a:solidFill>
                <a:latin typeface="Arial"/>
                <a:cs typeface="Arial"/>
              </a:rPr>
              <a:t>NASA POWER daily, mean of the 5 towns. Coffee year = USDA marketing year (April–March). Colour = ONI phase (Aug–Nov) of the year the coffee year starts.</a:t>
            </a:r>
          </a:p>
        </p:txBody>
      </p:sp>
      <p:sp>
        <p:nvSpPr>
          <p:cNvPr id="6" name="TextBox 6"/>
          <p:cNvSpPr txBox="1"/>
          <p:nvPr/>
        </p:nvSpPr>
        <p:spPr>
          <a:xfrm>
            <a:off x="411480" y="1600200"/>
            <a:ext cx="5669280" cy="27432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1200" b="1" dirty="0">
                <a:solidFill>
                  <a:srgbClr val="1F3864"/>
                </a:solidFill>
                <a:latin typeface="Arial"/>
                <a:cs typeface="Arial"/>
              </a:rPr>
              <a:t>Mean temperature, year-on-year (°C)</a:t>
            </a:r>
          </a:p>
        </p:txBody>
      </p:sp>
      <p:graphicFrame>
        <p:nvGraphicFramePr>
          <p:cNvPr id="7" name="Chart 7"/>
          <p:cNvGraphicFramePr/>
          <p:nvPr/>
        </p:nvGraphicFramePr>
        <p:xfrm>
          <a:off x="320040" y="1847088"/>
          <a:ext cx="5806440" cy="4617720"/>
        </p:xfrm>
        <a:graphic>
          <a:graphicData uri="http://schemas.openxmlformats.org/drawingml/2006/chart">
            <c:chart xmlns:c="http://schemas.openxmlformats.org/drawingml/2006/chart" r:id="rId2"/>
          </a:graphicData>
        </a:graphic>
      </p:graphicFrame>
      <p:sp>
        <p:nvSpPr>
          <p:cNvPr id="8" name="TextBox 8"/>
          <p:cNvSpPr txBox="1"/>
          <p:nvPr/>
        </p:nvSpPr>
        <p:spPr>
          <a:xfrm>
            <a:off x="6263640" y="1600200"/>
            <a:ext cx="5669280" cy="27432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1200" b="1" dirty="0">
                <a:solidFill>
                  <a:srgbClr val="1F3864"/>
                </a:solidFill>
                <a:latin typeface="Arial"/>
                <a:cs typeface="Arial"/>
              </a:rPr>
              <a:t>Rainfall, year-on-year (% on previous coffee year)</a:t>
            </a:r>
          </a:p>
        </p:txBody>
      </p:sp>
      <p:graphicFrame>
        <p:nvGraphicFramePr>
          <p:cNvPr id="9" name="Chart 9"/>
          <p:cNvGraphicFramePr/>
          <p:nvPr/>
        </p:nvGraphicFramePr>
        <p:xfrm>
          <a:off x="6172200" y="1847088"/>
          <a:ext cx="5806440" cy="4617720"/>
        </p:xfrm>
        <a:graphic>
          <a:graphicData uri="http://schemas.openxmlformats.org/drawingml/2006/chart">
            <c:chart xmlns:c="http://schemas.openxmlformats.org/drawingml/2006/chart" r:id="rId3"/>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3"/>
          <p:cNvSpPr txBox="1"/>
          <p:nvPr/>
        </p:nvSpPr>
        <p:spPr>
          <a:xfrm>
            <a:off x="411480" y="201168"/>
            <a:ext cx="11338560" cy="50292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2400" b="1" dirty="0">
                <a:solidFill>
                  <a:srgbClr val="1F3864"/>
                </a:solidFill>
                <a:latin typeface="Arial"/>
                <a:cs typeface="Arial"/>
              </a:rPr>
              <a:t>Rainfall check | NASA POWER vs rain gauges (GPCC)</a:t>
            </a:r>
          </a:p>
        </p:txBody>
      </p:sp>
      <p:sp>
        <p:nvSpPr>
          <p:cNvPr id="4" name="TextBox 4"/>
          <p:cNvSpPr txBox="1"/>
          <p:nvPr/>
        </p:nvSpPr>
        <p:spPr>
          <a:xfrm>
            <a:off x="685800" y="713232"/>
            <a:ext cx="10881360" cy="758952"/>
          </a:xfrm>
          <a:prstGeom prst="rect">
            <a:avLst/>
          </a:prstGeom>
          <a:noFill/>
          <a:ln>
            <a:noFill/>
          </a:ln>
        </p:spPr>
        <p:txBody>
          <a:bodyPr wrap="square" lIns="0" tIns="0" rIns="0" bIns="0" anchor="t" rtlCol="0">
            <a:noAutofit/>
          </a:bodyPr>
          <a:lstStyle/>
          <a:p>
            <a:pPr algn="l" marL="201168" indent="-201168">
              <a:spcBef>
                <a:spcPts val="0"/>
              </a:spcBef>
              <a:spcAft>
                <a:spcPts val="100"/>
              </a:spcAft>
              <a:buFont typeface="Arial"/>
              <a:buChar char="•"/>
            </a:pPr>
            <a:r>
              <a:rPr lang="en-GB" sz="1050" dirty="0">
                <a:solidFill>
                  <a:srgbClr val="262626"/>
                </a:solidFill>
                <a:highlight>
                  <a:srgbClr val="FFFF00"/>
                </a:highlight>
                <a:latin typeface="Arial"/>
                <a:cs typeface="Arial"/>
              </a:rPr>
              <a:t>June–October rainfall, 5-town mean: correlation 0.93 (1981–2019, GPCC 0.25°) and 0.99 (2012–2025, GPCC 1°); same wet/dry sign in 34 of 39 years</a:t>
            </a:r>
          </a:p>
          <a:p>
            <a:pPr algn="l" marL="201168" indent="-201168">
              <a:spcBef>
                <a:spcPts val="0"/>
              </a:spcBef>
              <a:spcAft>
                <a:spcPts val="100"/>
              </a:spcAft>
              <a:buFont typeface="Arial"/>
              <a:buChar char="•"/>
            </a:pPr>
            <a:r>
              <a:rPr lang="en-GB" sz="1050" dirty="0">
                <a:solidFill>
                  <a:srgbClr val="262626"/>
                </a:solidFill>
                <a:highlight>
                  <a:srgbClr val="FFFF00"/>
                </a:highlight>
                <a:latin typeface="Arial"/>
                <a:cs typeface="Arial"/>
              </a:rPr>
              <a:t>Confirmed: 2010, 2013, 2016, 2020–22, 2025 very wet; 1994, 1997, 2015, 2019, 2023 very dry; 2011 dry despite La Niña (NASA 79 %, gauges 85 %)</a:t>
            </a:r>
          </a:p>
          <a:p>
            <a:pPr algn="l" marL="201168" indent="-201168">
              <a:spcBef>
                <a:spcPts val="0"/>
              </a:spcBef>
              <a:spcAft>
                <a:spcPts val="100"/>
              </a:spcAft>
              <a:buFont typeface="Arial"/>
              <a:buChar char="•"/>
            </a:pPr>
            <a:r>
              <a:rPr lang="en-GB" sz="1050" dirty="0">
                <a:solidFill>
                  <a:srgbClr val="262626"/>
                </a:solidFill>
                <a:highlight>
                  <a:srgbClr val="FFFF00"/>
                </a:highlight>
                <a:latin typeface="Arial"/>
                <a:cs typeface="Arial"/>
              </a:rPr>
              <a:t>Only real disagreement: 2007 (NASA 84 %, gauges 105 %). Levels in mm differ by town: always compare % of normal, never raw mm across sources</a:t>
            </a:r>
          </a:p>
        </p:txBody>
      </p:sp>
      <p:sp>
        <p:nvSpPr>
          <p:cNvPr id="5" name="TextBox 5"/>
          <p:cNvSpPr txBox="1"/>
          <p:nvPr/>
        </p:nvSpPr>
        <p:spPr>
          <a:xfrm>
            <a:off x="411480" y="6510528"/>
            <a:ext cx="8229600" cy="27432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750" dirty="0">
                <a:solidFill>
                  <a:srgbClr val="7F7F7F"/>
                </a:solidFill>
                <a:latin typeface="Arial"/>
                <a:cs typeface="Arial"/>
              </a:rPr>
              <a:t>GPCC Full Data v2020 (0.25°, to 2019) and GPCC First Guess (1°, 2020–2025), via NOAA PSL; NASA POWER PRECTOTCORR. % of each source's own normal.</a:t>
            </a:r>
          </a:p>
        </p:txBody>
      </p:sp>
      <p:sp>
        <p:nvSpPr>
          <p:cNvPr id="6" name="TextBox 6"/>
          <p:cNvSpPr txBox="1"/>
          <p:nvPr/>
        </p:nvSpPr>
        <p:spPr>
          <a:xfrm>
            <a:off x="411480" y="1600200"/>
            <a:ext cx="7589520" cy="27432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1200" b="1" dirty="0">
                <a:solidFill>
                  <a:srgbClr val="1F3864"/>
                </a:solidFill>
                <a:latin typeface="Arial"/>
                <a:cs typeface="Arial"/>
              </a:rPr>
              <a:t>June–October rainfall, % of normal (mean of 5 towns)</a:t>
            </a:r>
          </a:p>
        </p:txBody>
      </p:sp>
      <p:graphicFrame>
        <p:nvGraphicFramePr>
          <p:cNvPr id="7" name="Chart 7"/>
          <p:cNvGraphicFramePr/>
          <p:nvPr/>
        </p:nvGraphicFramePr>
        <p:xfrm>
          <a:off x="320040" y="1847088"/>
          <a:ext cx="7772400" cy="4617720"/>
        </p:xfrm>
        <a:graphic>
          <a:graphicData uri="http://schemas.openxmlformats.org/drawingml/2006/chart">
            <c:chart xmlns:c="http://schemas.openxmlformats.org/drawingml/2006/chart" r:id="rId2"/>
          </a:graphicData>
        </a:graphic>
      </p:graphicFrame>
      <p:graphicFrame>
        <p:nvGraphicFramePr>
          <p:cNvPr id="8" name="Table 8"/>
          <p:cNvGraphicFramePr>
            <a:graphicFrameLocks noGrp="1"/>
          </p:cNvGraphicFramePr>
          <p:nvPr/>
        </p:nvGraphicFramePr>
        <p:xfrm>
          <a:off x="8275320" y="2011680"/>
          <a:ext cx="3611880" cy="2112264"/>
        </p:xfrm>
        <a:graphic>
          <a:graphicData uri="http://schemas.openxmlformats.org/drawingml/2006/table">
            <a:tbl>
              <a:tblPr firstRow="1" bandRow="0"/>
              <a:tblGrid>
                <a:gridCol w="1188720"/>
                <a:gridCol w="868680"/>
                <a:gridCol w="777240"/>
                <a:gridCol w="777240"/>
              </a:tblGrid>
              <a:tr h="301752">
                <a:tc>
                  <a:txBody>
                    <a:bodyPr/>
                    <a:lstStyle/>
                    <a:p>
                      <a:pPr algn="l" marL="0" indent="0">
                        <a:spcBef>
                          <a:spcPts val="0"/>
                        </a:spcBef>
                        <a:spcAft>
                          <a:spcPts val="0"/>
                        </a:spcAft>
                        <a:buNone/>
                      </a:pPr>
                      <a:r>
                        <a:rPr lang="en-GB" sz="900" b="1" dirty="0">
                          <a:solidFill>
                            <a:srgbClr val="FFFFFF"/>
                          </a:solidFill>
                          <a:latin typeface="Arial"/>
                          <a:cs typeface="Arial"/>
                        </a:rPr>
                        <a:t>Town</a:t>
                      </a:r>
                    </a:p>
                  </a:txBody>
                  <a:tcPr marL="73152" marR="73152" marT="27432" marB="27432" anchor="ctr">
                    <a:lnL w="0">
                      <a:noFill/>
                    </a:lnL>
                    <a:lnR w="0">
                      <a:noFill/>
                    </a:lnR>
                    <a:lnT w="6350">
                      <a:solidFill>
                        <a:srgbClr val="D5DDE1"/>
                      </a:solidFill>
                    </a:lnT>
                    <a:lnB w="6350">
                      <a:solidFill>
                        <a:srgbClr val="D5DDE1"/>
                      </a:solidFill>
                    </a:lnB>
                    <a:solidFill>
                      <a:srgbClr val="1F3864"/>
                    </a:solidFill>
                  </a:tcPr>
                </a:tc>
                <a:tc>
                  <a:txBody>
                    <a:bodyPr/>
                    <a:lstStyle/>
                    <a:p>
                      <a:pPr algn="ctr" marL="0" indent="0">
                        <a:spcBef>
                          <a:spcPts val="0"/>
                        </a:spcBef>
                        <a:spcAft>
                          <a:spcPts val="0"/>
                        </a:spcAft>
                        <a:buNone/>
                      </a:pPr>
                      <a:r>
                        <a:rPr lang="en-GB" sz="900" b="1" dirty="0">
                          <a:solidFill>
                            <a:srgbClr val="FFFFFF"/>
                          </a:solidFill>
                          <a:latin typeface="Arial"/>
                          <a:cs typeface="Arial"/>
                        </a:rPr>
                        <a:t>r 1981–2019</a:t>
                      </a:r>
                    </a:p>
                  </a:txBody>
                  <a:tcPr marL="73152" marR="73152" marT="27432" marB="27432" anchor="ctr">
                    <a:lnL w="0">
                      <a:noFill/>
                    </a:lnL>
                    <a:lnR w="0">
                      <a:noFill/>
                    </a:lnR>
                    <a:lnT w="6350">
                      <a:solidFill>
                        <a:srgbClr val="D5DDE1"/>
                      </a:solidFill>
                    </a:lnT>
                    <a:lnB w="6350">
                      <a:solidFill>
                        <a:srgbClr val="D5DDE1"/>
                      </a:solidFill>
                    </a:lnB>
                    <a:solidFill>
                      <a:srgbClr val="1F3864"/>
                    </a:solidFill>
                  </a:tcPr>
                </a:tc>
                <a:tc>
                  <a:txBody>
                    <a:bodyPr/>
                    <a:lstStyle/>
                    <a:p>
                      <a:pPr algn="ctr" marL="0" indent="0">
                        <a:spcBef>
                          <a:spcPts val="0"/>
                        </a:spcBef>
                        <a:spcAft>
                          <a:spcPts val="0"/>
                        </a:spcAft>
                        <a:buNone/>
                      </a:pPr>
                      <a:r>
                        <a:rPr lang="en-GB" sz="900" b="1" dirty="0">
                          <a:solidFill>
                            <a:srgbClr val="FFFFFF"/>
                          </a:solidFill>
                          <a:latin typeface="Arial"/>
                          <a:cs typeface="Arial"/>
                        </a:rPr>
                        <a:t>Same sign</a:t>
                      </a:r>
                    </a:p>
                  </a:txBody>
                  <a:tcPr marL="73152" marR="73152" marT="27432" marB="27432" anchor="ctr">
                    <a:lnL w="0">
                      <a:noFill/>
                    </a:lnL>
                    <a:lnR w="0">
                      <a:noFill/>
                    </a:lnR>
                    <a:lnT w="6350">
                      <a:solidFill>
                        <a:srgbClr val="D5DDE1"/>
                      </a:solidFill>
                    </a:lnT>
                    <a:lnB w="6350">
                      <a:solidFill>
                        <a:srgbClr val="D5DDE1"/>
                      </a:solidFill>
                    </a:lnB>
                    <a:solidFill>
                      <a:srgbClr val="1F3864"/>
                    </a:solidFill>
                  </a:tcPr>
                </a:tc>
                <a:tc>
                  <a:txBody>
                    <a:bodyPr/>
                    <a:lstStyle/>
                    <a:p>
                      <a:pPr algn="ctr" marL="0" indent="0">
                        <a:spcBef>
                          <a:spcPts val="0"/>
                        </a:spcBef>
                        <a:spcAft>
                          <a:spcPts val="0"/>
                        </a:spcAft>
                        <a:buNone/>
                      </a:pPr>
                      <a:r>
                        <a:rPr lang="en-GB" sz="900" b="1" dirty="0">
                          <a:solidFill>
                            <a:srgbClr val="FFFFFF"/>
                          </a:solidFill>
                          <a:latin typeface="Arial"/>
                          <a:cs typeface="Arial"/>
                        </a:rPr>
                        <a:t>r 2012–25</a:t>
                      </a:r>
                    </a:p>
                  </a:txBody>
                  <a:tcPr marL="73152" marR="73152" marT="27432" marB="27432" anchor="ctr">
                    <a:lnL w="0">
                      <a:noFill/>
                    </a:lnL>
                    <a:lnR w="0">
                      <a:noFill/>
                    </a:lnR>
                    <a:lnT w="6350">
                      <a:solidFill>
                        <a:srgbClr val="D5DDE1"/>
                      </a:solidFill>
                    </a:lnT>
                    <a:lnB w="6350">
                      <a:solidFill>
                        <a:srgbClr val="D5DDE1"/>
                      </a:solidFill>
                    </a:lnB>
                    <a:solidFill>
                      <a:srgbClr val="1F3864"/>
                    </a:solidFill>
                  </a:tcPr>
                </a:tc>
              </a:tr>
              <a:tr h="301752">
                <a:tc>
                  <a:txBody>
                    <a:bodyPr/>
                    <a:lstStyle/>
                    <a:p>
                      <a:pPr algn="l" marL="0" indent="0">
                        <a:spcBef>
                          <a:spcPts val="0"/>
                        </a:spcBef>
                        <a:spcAft>
                          <a:spcPts val="0"/>
                        </a:spcAft>
                        <a:buNone/>
                      </a:pPr>
                      <a:r>
                        <a:rPr lang="en-GB" sz="900" dirty="0">
                          <a:solidFill>
                            <a:srgbClr val="1F2A30"/>
                          </a:solidFill>
                          <a:latin typeface="Arial"/>
                          <a:cs typeface="Arial"/>
                        </a:rPr>
                        <a:t>Pagar Alam</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1F2A30"/>
                          </a:solidFill>
                          <a:latin typeface="Arial"/>
                          <a:cs typeface="Arial"/>
                        </a:rPr>
                        <a:t>0.86</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1F2A30"/>
                          </a:solidFill>
                          <a:latin typeface="Arial"/>
                          <a:cs typeface="Arial"/>
                        </a:rPr>
                        <a:t>31/39</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1F2A30"/>
                          </a:solidFill>
                          <a:latin typeface="Arial"/>
                          <a:cs typeface="Arial"/>
                        </a:rPr>
                        <a:t>0.97</a:t>
                      </a:r>
                    </a:p>
                  </a:txBody>
                  <a:tcPr marL="73152" marR="73152" marT="27432" marB="27432" anchor="ctr">
                    <a:lnL w="0">
                      <a:noFill/>
                    </a:lnL>
                    <a:lnR w="0">
                      <a:noFill/>
                    </a:lnR>
                    <a:lnT w="6350">
                      <a:solidFill>
                        <a:srgbClr val="D5DDE1"/>
                      </a:solidFill>
                    </a:lnT>
                    <a:lnB w="6350">
                      <a:solidFill>
                        <a:srgbClr val="D5DDE1"/>
                      </a:solidFill>
                    </a:lnB>
                    <a:noFill/>
                  </a:tcPr>
                </a:tc>
              </a:tr>
              <a:tr h="301752">
                <a:tc>
                  <a:txBody>
                    <a:bodyPr/>
                    <a:lstStyle/>
                    <a:p>
                      <a:pPr algn="l" marL="0" indent="0">
                        <a:spcBef>
                          <a:spcPts val="0"/>
                        </a:spcBef>
                        <a:spcAft>
                          <a:spcPts val="0"/>
                        </a:spcAft>
                        <a:buNone/>
                      </a:pPr>
                      <a:r>
                        <a:rPr lang="en-GB" sz="900" dirty="0">
                          <a:solidFill>
                            <a:srgbClr val="1F2A30"/>
                          </a:solidFill>
                          <a:latin typeface="Arial"/>
                          <a:cs typeface="Arial"/>
                        </a:rPr>
                        <a:t>Lahat</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1F2A30"/>
                          </a:solidFill>
                          <a:latin typeface="Arial"/>
                          <a:cs typeface="Arial"/>
                        </a:rPr>
                        <a:t>0.85</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1F2A30"/>
                          </a:solidFill>
                          <a:latin typeface="Arial"/>
                          <a:cs typeface="Arial"/>
                        </a:rPr>
                        <a:t>32/39</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1F2A30"/>
                          </a:solidFill>
                          <a:latin typeface="Arial"/>
                          <a:cs typeface="Arial"/>
                        </a:rPr>
                        <a:t>0.99</a:t>
                      </a:r>
                    </a:p>
                  </a:txBody>
                  <a:tcPr marL="73152" marR="73152" marT="27432" marB="27432" anchor="ctr">
                    <a:lnL w="0">
                      <a:noFill/>
                    </a:lnL>
                    <a:lnR w="0">
                      <a:noFill/>
                    </a:lnR>
                    <a:lnT w="6350">
                      <a:solidFill>
                        <a:srgbClr val="D5DDE1"/>
                      </a:solidFill>
                    </a:lnT>
                    <a:lnB w="6350">
                      <a:solidFill>
                        <a:srgbClr val="D5DDE1"/>
                      </a:solidFill>
                    </a:lnB>
                    <a:noFill/>
                  </a:tcPr>
                </a:tc>
              </a:tr>
              <a:tr h="301752">
                <a:tc>
                  <a:txBody>
                    <a:bodyPr/>
                    <a:lstStyle/>
                    <a:p>
                      <a:pPr algn="l" marL="0" indent="0">
                        <a:spcBef>
                          <a:spcPts val="0"/>
                        </a:spcBef>
                        <a:spcAft>
                          <a:spcPts val="0"/>
                        </a:spcAft>
                        <a:buNone/>
                      </a:pPr>
                      <a:r>
                        <a:rPr lang="en-GB" sz="900" dirty="0">
                          <a:solidFill>
                            <a:srgbClr val="1F2A30"/>
                          </a:solidFill>
                          <a:latin typeface="Arial"/>
                          <a:cs typeface="Arial"/>
                        </a:rPr>
                        <a:t>Muaradua</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1F2A30"/>
                          </a:solidFill>
                          <a:latin typeface="Arial"/>
                          <a:cs typeface="Arial"/>
                        </a:rPr>
                        <a:t>0.89</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1F2A30"/>
                          </a:solidFill>
                          <a:latin typeface="Arial"/>
                          <a:cs typeface="Arial"/>
                        </a:rPr>
                        <a:t>34/39</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1F2A30"/>
                          </a:solidFill>
                          <a:latin typeface="Arial"/>
                          <a:cs typeface="Arial"/>
                        </a:rPr>
                        <a:t>0.98</a:t>
                      </a:r>
                    </a:p>
                  </a:txBody>
                  <a:tcPr marL="73152" marR="73152" marT="27432" marB="27432" anchor="ctr">
                    <a:lnL w="0">
                      <a:noFill/>
                    </a:lnL>
                    <a:lnR w="0">
                      <a:noFill/>
                    </a:lnR>
                    <a:lnT w="6350">
                      <a:solidFill>
                        <a:srgbClr val="D5DDE1"/>
                      </a:solidFill>
                    </a:lnT>
                    <a:lnB w="6350">
                      <a:solidFill>
                        <a:srgbClr val="D5DDE1"/>
                      </a:solidFill>
                    </a:lnB>
                    <a:noFill/>
                  </a:tcPr>
                </a:tc>
              </a:tr>
              <a:tr h="301752">
                <a:tc>
                  <a:txBody>
                    <a:bodyPr/>
                    <a:lstStyle/>
                    <a:p>
                      <a:pPr algn="l" marL="0" indent="0">
                        <a:spcBef>
                          <a:spcPts val="0"/>
                        </a:spcBef>
                        <a:spcAft>
                          <a:spcPts val="0"/>
                        </a:spcAft>
                        <a:buNone/>
                      </a:pPr>
                      <a:r>
                        <a:rPr lang="en-GB" sz="900" dirty="0">
                          <a:solidFill>
                            <a:srgbClr val="1F2A30"/>
                          </a:solidFill>
                          <a:latin typeface="Arial"/>
                          <a:cs typeface="Arial"/>
                        </a:rPr>
                        <a:t>Liwa</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1F2A30"/>
                          </a:solidFill>
                          <a:latin typeface="Arial"/>
                          <a:cs typeface="Arial"/>
                        </a:rPr>
                        <a:t>0.93</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1F2A30"/>
                          </a:solidFill>
                          <a:latin typeface="Arial"/>
                          <a:cs typeface="Arial"/>
                        </a:rPr>
                        <a:t>37/39</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1F2A30"/>
                          </a:solidFill>
                          <a:latin typeface="Arial"/>
                          <a:cs typeface="Arial"/>
                        </a:rPr>
                        <a:t>0.96</a:t>
                      </a:r>
                    </a:p>
                  </a:txBody>
                  <a:tcPr marL="73152" marR="73152" marT="27432" marB="27432" anchor="ctr">
                    <a:lnL w="0">
                      <a:noFill/>
                    </a:lnL>
                    <a:lnR w="0">
                      <a:noFill/>
                    </a:lnR>
                    <a:lnT w="6350">
                      <a:solidFill>
                        <a:srgbClr val="D5DDE1"/>
                      </a:solidFill>
                    </a:lnT>
                    <a:lnB w="6350">
                      <a:solidFill>
                        <a:srgbClr val="D5DDE1"/>
                      </a:solidFill>
                    </a:lnB>
                    <a:noFill/>
                  </a:tcPr>
                </a:tc>
              </a:tr>
              <a:tr h="301752">
                <a:tc>
                  <a:txBody>
                    <a:bodyPr/>
                    <a:lstStyle/>
                    <a:p>
                      <a:pPr algn="l" marL="0" indent="0">
                        <a:spcBef>
                          <a:spcPts val="0"/>
                        </a:spcBef>
                        <a:spcAft>
                          <a:spcPts val="0"/>
                        </a:spcAft>
                        <a:buNone/>
                      </a:pPr>
                      <a:r>
                        <a:rPr lang="en-GB" sz="900" dirty="0">
                          <a:solidFill>
                            <a:srgbClr val="1F2A30"/>
                          </a:solidFill>
                          <a:latin typeface="Arial"/>
                          <a:cs typeface="Arial"/>
                        </a:rPr>
                        <a:t>Kepahiang</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1F2A30"/>
                          </a:solidFill>
                          <a:latin typeface="Arial"/>
                          <a:cs typeface="Arial"/>
                        </a:rPr>
                        <a:t>0.88</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1F2A30"/>
                          </a:solidFill>
                          <a:latin typeface="Arial"/>
                          <a:cs typeface="Arial"/>
                        </a:rPr>
                        <a:t>30/39</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1F2A30"/>
                          </a:solidFill>
                          <a:latin typeface="Arial"/>
                          <a:cs typeface="Arial"/>
                        </a:rPr>
                        <a:t>0.97</a:t>
                      </a:r>
                    </a:p>
                  </a:txBody>
                  <a:tcPr marL="73152" marR="73152" marT="27432" marB="27432" anchor="ctr">
                    <a:lnL w="0">
                      <a:noFill/>
                    </a:lnL>
                    <a:lnR w="0">
                      <a:noFill/>
                    </a:lnR>
                    <a:lnT w="6350">
                      <a:solidFill>
                        <a:srgbClr val="D5DDE1"/>
                      </a:solidFill>
                    </a:lnT>
                    <a:lnB w="6350">
                      <a:solidFill>
                        <a:srgbClr val="D5DDE1"/>
                      </a:solidFill>
                    </a:lnB>
                    <a:noFill/>
                  </a:tcPr>
                </a:tc>
              </a:tr>
              <a:tr h="301752">
                <a:tc>
                  <a:txBody>
                    <a:bodyPr/>
                    <a:lstStyle/>
                    <a:p>
                      <a:pPr algn="l" marL="0" indent="0">
                        <a:spcBef>
                          <a:spcPts val="0"/>
                        </a:spcBef>
                        <a:spcAft>
                          <a:spcPts val="0"/>
                        </a:spcAft>
                        <a:buNone/>
                      </a:pPr>
                      <a:r>
                        <a:rPr lang="en-GB" sz="900" b="1" dirty="0">
                          <a:solidFill>
                            <a:srgbClr val="1F2A30"/>
                          </a:solidFill>
                          <a:latin typeface="Arial"/>
                          <a:cs typeface="Arial"/>
                        </a:rPr>
                        <a:t>5-town mean</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b="1" dirty="0">
                          <a:solidFill>
                            <a:srgbClr val="1F2A30"/>
                          </a:solidFill>
                          <a:latin typeface="Arial"/>
                          <a:cs typeface="Arial"/>
                        </a:rPr>
                        <a:t>0.93</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b="1" dirty="0">
                          <a:solidFill>
                            <a:srgbClr val="1F2A30"/>
                          </a:solidFill>
                          <a:latin typeface="Arial"/>
                          <a:cs typeface="Arial"/>
                        </a:rPr>
                        <a:t>34/39</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b="1" dirty="0">
                          <a:solidFill>
                            <a:srgbClr val="1F2A30"/>
                          </a:solidFill>
                          <a:latin typeface="Arial"/>
                          <a:cs typeface="Arial"/>
                        </a:rPr>
                        <a:t>0.99</a:t>
                      </a:r>
                    </a:p>
                  </a:txBody>
                  <a:tcPr marL="73152" marR="73152" marT="27432" marB="27432" anchor="ctr">
                    <a:lnL w="0">
                      <a:noFill/>
                    </a:lnL>
                    <a:lnR w="0">
                      <a:noFill/>
                    </a:lnR>
                    <a:lnT w="6350">
                      <a:solidFill>
                        <a:srgbClr val="D5DDE1"/>
                      </a:solidFill>
                    </a:lnT>
                    <a:lnB w="6350">
                      <a:solidFill>
                        <a:srgbClr val="D5DDE1"/>
                      </a:solidFill>
                    </a:lnB>
                    <a:no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3"/>
          <p:cNvSpPr txBox="1"/>
          <p:nvPr/>
        </p:nvSpPr>
        <p:spPr>
          <a:xfrm>
            <a:off x="411480" y="201168"/>
            <a:ext cx="11338560" cy="50292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2000" b="1" dirty="0">
                <a:solidFill>
                  <a:srgbClr val="1F3864"/>
                </a:solidFill>
                <a:latin typeface="Arial"/>
                <a:cs typeface="Arial"/>
              </a:rPr>
              <a:t>Why 2011 was dry | The Indian Ocean Dipole matters as much as ENSO</a:t>
            </a:r>
          </a:p>
        </p:txBody>
      </p:sp>
      <p:sp>
        <p:nvSpPr>
          <p:cNvPr id="4" name="TextBox 4"/>
          <p:cNvSpPr txBox="1"/>
          <p:nvPr/>
        </p:nvSpPr>
        <p:spPr>
          <a:xfrm>
            <a:off x="685800" y="713232"/>
            <a:ext cx="10881360" cy="758952"/>
          </a:xfrm>
          <a:prstGeom prst="rect">
            <a:avLst/>
          </a:prstGeom>
          <a:noFill/>
          <a:ln>
            <a:noFill/>
          </a:ln>
        </p:spPr>
        <p:txBody>
          <a:bodyPr wrap="square" lIns="0" tIns="0" rIns="0" bIns="0" anchor="t" rtlCol="0">
            <a:noAutofit/>
          </a:bodyPr>
          <a:lstStyle/>
          <a:p>
            <a:pPr algn="l" marL="201168" indent="-201168">
              <a:spcBef>
                <a:spcPts val="0"/>
              </a:spcBef>
              <a:spcAft>
                <a:spcPts val="100"/>
              </a:spcAft>
              <a:buFont typeface="Arial"/>
              <a:buChar char="•"/>
            </a:pPr>
            <a:r>
              <a:rPr lang="en-GB" sz="1050" dirty="0">
                <a:solidFill>
                  <a:srgbClr val="262626"/>
                </a:solidFill>
                <a:highlight>
                  <a:srgbClr val="FFFF00"/>
                </a:highlight>
                <a:latin typeface="Arial"/>
                <a:cs typeface="Arial"/>
              </a:rPr>
              <a:t>La Niña: 136 % of normal Jun–Oct on average, but not always wet: 2011 was dry (IOD slightly positive)</a:t>
            </a:r>
          </a:p>
          <a:p>
            <a:pPr algn="l" marL="201168" indent="-201168">
              <a:spcBef>
                <a:spcPts val="0"/>
              </a:spcBef>
              <a:spcAft>
                <a:spcPts val="100"/>
              </a:spcAft>
              <a:buFont typeface="Arial"/>
              <a:buChar char="•"/>
            </a:pPr>
            <a:r>
              <a:rPr lang="en-GB" sz="1050" dirty="0">
                <a:solidFill>
                  <a:srgbClr val="262626"/>
                </a:solidFill>
                <a:highlight>
                  <a:srgbClr val="FFFF00"/>
                </a:highlight>
                <a:latin typeface="Arial"/>
                <a:cs typeface="Arial"/>
              </a:rPr>
              <a:t>All 8 positive-IOD dry seasons were dry (51 %); all 6 negative-IOD seasons were wet (145 %). Correlation: ONI −0.67, IOD −0.73</a:t>
            </a:r>
          </a:p>
          <a:p>
            <a:pPr algn="l" marL="201168" indent="-201168">
              <a:spcBef>
                <a:spcPts val="0"/>
              </a:spcBef>
              <a:spcAft>
                <a:spcPts val="100"/>
              </a:spcAft>
              <a:buFont typeface="Arial"/>
              <a:buChar char="•"/>
            </a:pPr>
            <a:r>
              <a:rPr lang="en-GB" sz="1050" dirty="0">
                <a:solidFill>
                  <a:srgbClr val="262626"/>
                </a:solidFill>
                <a:highlight>
                  <a:srgbClr val="FFFF00"/>
                </a:highlight>
                <a:latin typeface="Arial"/>
                <a:cs typeface="Arial"/>
              </a:rPr>
              <a:t>2026: El Niño + positive IOD likely (BOM, 15 Sep 2026) = the driest combination: 7 seasons since 1981, 51 % on average, from 10 % (1997) to 94 % (2018)</a:t>
            </a:r>
          </a:p>
        </p:txBody>
      </p:sp>
      <p:sp>
        <p:nvSpPr>
          <p:cNvPr id="5" name="TextBox 5"/>
          <p:cNvSpPr txBox="1"/>
          <p:nvPr/>
        </p:nvSpPr>
        <p:spPr>
          <a:xfrm>
            <a:off x="411480" y="6510528"/>
            <a:ext cx="8229600" cy="27432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750" dirty="0">
                <a:solidFill>
                  <a:srgbClr val="7F7F7F"/>
                </a:solidFill>
                <a:latin typeface="Arial"/>
                <a:cs typeface="Arial"/>
              </a:rPr>
              <a:t>June–October rainfall, mean of 5 towns, % of the 1991–2020 normal (NASA POWER 1981–2025; GPCC 1981–2019). Phases from ONI and DMI averaged Aug–Nov (±0.5 / ±0.4).</a:t>
            </a:r>
          </a:p>
        </p:txBody>
      </p:sp>
      <p:sp>
        <p:nvSpPr>
          <p:cNvPr id="6" name="TextBox 6"/>
          <p:cNvSpPr txBox="1"/>
          <p:nvPr/>
        </p:nvSpPr>
        <p:spPr>
          <a:xfrm>
            <a:off x="411480" y="1600200"/>
            <a:ext cx="5669280" cy="27432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GB" sz="1200" b="1" dirty="0">
                <a:solidFill>
                  <a:srgbClr val="1F3864"/>
                </a:solidFill>
                <a:latin typeface="Arial"/>
                <a:cs typeface="Arial"/>
              </a:rPr>
              <a:t>June–October rainfall by phase (% of normal)</a:t>
            </a:r>
          </a:p>
        </p:txBody>
      </p:sp>
      <p:graphicFrame>
        <p:nvGraphicFramePr>
          <p:cNvPr id="7" name="Chart 7"/>
          <p:cNvGraphicFramePr/>
          <p:nvPr/>
        </p:nvGraphicFramePr>
        <p:xfrm>
          <a:off x="320040" y="1847088"/>
          <a:ext cx="5806440" cy="4617720"/>
        </p:xfrm>
        <a:graphic>
          <a:graphicData uri="http://schemas.openxmlformats.org/drawingml/2006/chart">
            <c:chart xmlns:c="http://schemas.openxmlformats.org/drawingml/2006/chart" r:id="rId2"/>
          </a:graphicData>
        </a:graphic>
      </p:graphicFrame>
      <p:graphicFrame>
        <p:nvGraphicFramePr>
          <p:cNvPr id="8" name="Table 8"/>
          <p:cNvGraphicFramePr>
            <a:graphicFrameLocks noGrp="1"/>
          </p:cNvGraphicFramePr>
          <p:nvPr/>
        </p:nvGraphicFramePr>
        <p:xfrm>
          <a:off x="6263640" y="1874520"/>
          <a:ext cx="5577840" cy="3950208"/>
        </p:xfrm>
        <a:graphic>
          <a:graphicData uri="http://schemas.openxmlformats.org/drawingml/2006/table">
            <a:tbl>
              <a:tblPr firstRow="1" bandRow="0"/>
              <a:tblGrid>
                <a:gridCol w="502920"/>
                <a:gridCol w="731520"/>
                <a:gridCol w="1097280"/>
                <a:gridCol w="640080"/>
                <a:gridCol w="685800"/>
                <a:gridCol w="1920240"/>
              </a:tblGrid>
              <a:tr h="329184">
                <a:tc>
                  <a:txBody>
                    <a:bodyPr/>
                    <a:lstStyle/>
                    <a:p>
                      <a:pPr algn="l" marL="0" indent="0">
                        <a:spcBef>
                          <a:spcPts val="0"/>
                        </a:spcBef>
                        <a:spcAft>
                          <a:spcPts val="0"/>
                        </a:spcAft>
                        <a:buNone/>
                      </a:pPr>
                      <a:r>
                        <a:rPr lang="en-GB" sz="900" b="1" dirty="0">
                          <a:solidFill>
                            <a:srgbClr val="FFFFFF"/>
                          </a:solidFill>
                          <a:latin typeface="Arial"/>
                          <a:cs typeface="Arial"/>
                        </a:rPr>
                        <a:t>Year</a:t>
                      </a:r>
                    </a:p>
                  </a:txBody>
                  <a:tcPr marL="73152" marR="73152" marT="27432" marB="27432" anchor="ctr">
                    <a:lnL w="0">
                      <a:noFill/>
                    </a:lnL>
                    <a:lnR w="0">
                      <a:noFill/>
                    </a:lnR>
                    <a:lnT w="6350">
                      <a:solidFill>
                        <a:srgbClr val="D5DDE1"/>
                      </a:solidFill>
                    </a:lnT>
                    <a:lnB w="6350">
                      <a:solidFill>
                        <a:srgbClr val="D5DDE1"/>
                      </a:solidFill>
                    </a:lnB>
                    <a:solidFill>
                      <a:srgbClr val="1F3864"/>
                    </a:solidFill>
                  </a:tcPr>
                </a:tc>
                <a:tc>
                  <a:txBody>
                    <a:bodyPr/>
                    <a:lstStyle/>
                    <a:p>
                      <a:pPr algn="ctr" marL="0" indent="0">
                        <a:spcBef>
                          <a:spcPts val="0"/>
                        </a:spcBef>
                        <a:spcAft>
                          <a:spcPts val="0"/>
                        </a:spcAft>
                        <a:buNone/>
                      </a:pPr>
                      <a:r>
                        <a:rPr lang="en-GB" sz="900" b="1" dirty="0">
                          <a:solidFill>
                            <a:srgbClr val="FFFFFF"/>
                          </a:solidFill>
                          <a:latin typeface="Arial"/>
                          <a:cs typeface="Arial"/>
                        </a:rPr>
                        <a:t>ENSO</a:t>
                      </a:r>
                    </a:p>
                  </a:txBody>
                  <a:tcPr marL="73152" marR="73152" marT="27432" marB="27432" anchor="ctr">
                    <a:lnL w="0">
                      <a:noFill/>
                    </a:lnL>
                    <a:lnR w="0">
                      <a:noFill/>
                    </a:lnR>
                    <a:lnT w="6350">
                      <a:solidFill>
                        <a:srgbClr val="D5DDE1"/>
                      </a:solidFill>
                    </a:lnT>
                    <a:lnB w="6350">
                      <a:solidFill>
                        <a:srgbClr val="D5DDE1"/>
                      </a:solidFill>
                    </a:lnB>
                    <a:solidFill>
                      <a:srgbClr val="1F3864"/>
                    </a:solidFill>
                  </a:tcPr>
                </a:tc>
                <a:tc>
                  <a:txBody>
                    <a:bodyPr/>
                    <a:lstStyle/>
                    <a:p>
                      <a:pPr algn="ctr" marL="0" indent="0">
                        <a:spcBef>
                          <a:spcPts val="0"/>
                        </a:spcBef>
                        <a:spcAft>
                          <a:spcPts val="0"/>
                        </a:spcAft>
                        <a:buNone/>
                      </a:pPr>
                      <a:r>
                        <a:rPr lang="en-GB" sz="900" b="1" dirty="0">
                          <a:solidFill>
                            <a:srgbClr val="FFFFFF"/>
                          </a:solidFill>
                          <a:latin typeface="Arial"/>
                          <a:cs typeface="Arial"/>
                        </a:rPr>
                        <a:t>IOD</a:t>
                      </a:r>
                    </a:p>
                  </a:txBody>
                  <a:tcPr marL="73152" marR="73152" marT="27432" marB="27432" anchor="ctr">
                    <a:lnL w="0">
                      <a:noFill/>
                    </a:lnL>
                    <a:lnR w="0">
                      <a:noFill/>
                    </a:lnR>
                    <a:lnT w="6350">
                      <a:solidFill>
                        <a:srgbClr val="D5DDE1"/>
                      </a:solidFill>
                    </a:lnT>
                    <a:lnB w="6350">
                      <a:solidFill>
                        <a:srgbClr val="D5DDE1"/>
                      </a:solidFill>
                    </a:lnB>
                    <a:solidFill>
                      <a:srgbClr val="1F3864"/>
                    </a:solidFill>
                  </a:tcPr>
                </a:tc>
                <a:tc>
                  <a:txBody>
                    <a:bodyPr/>
                    <a:lstStyle/>
                    <a:p>
                      <a:pPr algn="ctr" marL="0" indent="0">
                        <a:spcBef>
                          <a:spcPts val="0"/>
                        </a:spcBef>
                        <a:spcAft>
                          <a:spcPts val="0"/>
                        </a:spcAft>
                        <a:buNone/>
                      </a:pPr>
                      <a:r>
                        <a:rPr lang="en-GB" sz="900" b="1" dirty="0">
                          <a:solidFill>
                            <a:srgbClr val="FFFFFF"/>
                          </a:solidFill>
                          <a:latin typeface="Arial"/>
                          <a:cs typeface="Arial"/>
                        </a:rPr>
                        <a:t>NASA</a:t>
                      </a:r>
                    </a:p>
                  </a:txBody>
                  <a:tcPr marL="73152" marR="73152" marT="27432" marB="27432" anchor="ctr">
                    <a:lnL w="0">
                      <a:noFill/>
                    </a:lnL>
                    <a:lnR w="0">
                      <a:noFill/>
                    </a:lnR>
                    <a:lnT w="6350">
                      <a:solidFill>
                        <a:srgbClr val="D5DDE1"/>
                      </a:solidFill>
                    </a:lnT>
                    <a:lnB w="6350">
                      <a:solidFill>
                        <a:srgbClr val="D5DDE1"/>
                      </a:solidFill>
                    </a:lnB>
                    <a:solidFill>
                      <a:srgbClr val="1F3864"/>
                    </a:solidFill>
                  </a:tcPr>
                </a:tc>
                <a:tc>
                  <a:txBody>
                    <a:bodyPr/>
                    <a:lstStyle/>
                    <a:p>
                      <a:pPr algn="ctr" marL="0" indent="0">
                        <a:spcBef>
                          <a:spcPts val="0"/>
                        </a:spcBef>
                        <a:spcAft>
                          <a:spcPts val="0"/>
                        </a:spcAft>
                        <a:buNone/>
                      </a:pPr>
                      <a:r>
                        <a:rPr lang="en-GB" sz="900" b="1" dirty="0">
                          <a:solidFill>
                            <a:srgbClr val="FFFFFF"/>
                          </a:solidFill>
                          <a:latin typeface="Arial"/>
                          <a:cs typeface="Arial"/>
                        </a:rPr>
                        <a:t>Gauges</a:t>
                      </a:r>
                    </a:p>
                  </a:txBody>
                  <a:tcPr marL="73152" marR="73152" marT="27432" marB="27432" anchor="ctr">
                    <a:lnL w="0">
                      <a:noFill/>
                    </a:lnL>
                    <a:lnR w="0">
                      <a:noFill/>
                    </a:lnR>
                    <a:lnT w="6350">
                      <a:solidFill>
                        <a:srgbClr val="D5DDE1"/>
                      </a:solidFill>
                    </a:lnT>
                    <a:lnB w="6350">
                      <a:solidFill>
                        <a:srgbClr val="D5DDE1"/>
                      </a:solidFill>
                    </a:lnB>
                    <a:solidFill>
                      <a:srgbClr val="1F3864"/>
                    </a:solidFill>
                  </a:tcPr>
                </a:tc>
                <a:tc>
                  <a:txBody>
                    <a:bodyPr/>
                    <a:lstStyle/>
                    <a:p>
                      <a:pPr algn="l" marL="0" indent="0">
                        <a:spcBef>
                          <a:spcPts val="0"/>
                        </a:spcBef>
                        <a:spcAft>
                          <a:spcPts val="0"/>
                        </a:spcAft>
                        <a:buNone/>
                      </a:pPr>
                      <a:r>
                        <a:rPr lang="en-GB" sz="900" b="1" dirty="0">
                          <a:solidFill>
                            <a:srgbClr val="FFFFFF"/>
                          </a:solidFill>
                          <a:latin typeface="Arial"/>
                          <a:cs typeface="Arial"/>
                        </a:rPr>
                        <a:t>Reading</a:t>
                      </a:r>
                    </a:p>
                  </a:txBody>
                  <a:tcPr marL="73152" marR="73152" marT="27432" marB="27432" anchor="ctr">
                    <a:lnL w="0">
                      <a:noFill/>
                    </a:lnL>
                    <a:lnR w="0">
                      <a:noFill/>
                    </a:lnR>
                    <a:lnT w="6350">
                      <a:solidFill>
                        <a:srgbClr val="D5DDE1"/>
                      </a:solidFill>
                    </a:lnT>
                    <a:lnB w="6350">
                      <a:solidFill>
                        <a:srgbClr val="D5DDE1"/>
                      </a:solidFill>
                    </a:lnB>
                    <a:solidFill>
                      <a:srgbClr val="1F3864"/>
                    </a:solidFill>
                  </a:tcPr>
                </a:tc>
              </a:tr>
              <a:tr h="329184">
                <a:tc>
                  <a:txBody>
                    <a:bodyPr/>
                    <a:lstStyle/>
                    <a:p>
                      <a:pPr algn="l" marL="0" indent="0">
                        <a:spcBef>
                          <a:spcPts val="0"/>
                        </a:spcBef>
                        <a:spcAft>
                          <a:spcPts val="0"/>
                        </a:spcAft>
                        <a:buNone/>
                      </a:pPr>
                      <a:r>
                        <a:rPr lang="en-GB" sz="900" b="1" dirty="0">
                          <a:solidFill>
                            <a:srgbClr val="1F2A30"/>
                          </a:solidFill>
                          <a:latin typeface="Arial"/>
                          <a:cs typeface="Arial"/>
                        </a:rPr>
                        <a:t>1997</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ED7D31"/>
                          </a:solidFill>
                          <a:latin typeface="Arial"/>
                          <a:cs typeface="Arial"/>
                        </a:rPr>
                        <a:t>El Niño</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1F2A30"/>
                          </a:solidFill>
                          <a:latin typeface="Arial"/>
                          <a:cs typeface="Arial"/>
                        </a:rPr>
                        <a:t>positive</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1F2A30"/>
                          </a:solidFill>
                          <a:latin typeface="Arial"/>
                          <a:cs typeface="Arial"/>
                        </a:rPr>
                        <a:t>10 %</a:t>
                      </a:r>
                    </a:p>
                  </a:txBody>
                  <a:tcPr marL="73152" marR="73152" marT="27432" marB="27432" anchor="ctr">
                    <a:lnL w="0">
                      <a:noFill/>
                    </a:lnL>
                    <a:lnR w="0">
                      <a:noFill/>
                    </a:lnR>
                    <a:lnT w="6350">
                      <a:solidFill>
                        <a:srgbClr val="D5DDE1"/>
                      </a:solidFill>
                    </a:lnT>
                    <a:lnB w="6350">
                      <a:solidFill>
                        <a:srgbClr val="D5DDE1"/>
                      </a:solidFill>
                    </a:lnB>
                    <a:solidFill>
                      <a:srgbClr val="FBE5D6"/>
                    </a:solidFill>
                  </a:tcPr>
                </a:tc>
                <a:tc>
                  <a:txBody>
                    <a:bodyPr/>
                    <a:lstStyle/>
                    <a:p>
                      <a:pPr algn="ctr" marL="0" indent="0">
                        <a:spcBef>
                          <a:spcPts val="0"/>
                        </a:spcBef>
                        <a:spcAft>
                          <a:spcPts val="0"/>
                        </a:spcAft>
                        <a:buNone/>
                      </a:pPr>
                      <a:r>
                        <a:rPr lang="en-GB" sz="900" dirty="0">
                          <a:solidFill>
                            <a:srgbClr val="1F2A30"/>
                          </a:solidFill>
                          <a:latin typeface="Arial"/>
                          <a:cs typeface="Arial"/>
                        </a:rPr>
                        <a:t>26 %</a:t>
                      </a:r>
                    </a:p>
                  </a:txBody>
                  <a:tcPr marL="73152" marR="73152" marT="27432" marB="27432" anchor="ctr">
                    <a:lnL w="0">
                      <a:noFill/>
                    </a:lnL>
                    <a:lnR w="0">
                      <a:noFill/>
                    </a:lnR>
                    <a:lnT w="6350">
                      <a:solidFill>
                        <a:srgbClr val="D5DDE1"/>
                      </a:solidFill>
                    </a:lnT>
                    <a:lnB w="6350">
                      <a:solidFill>
                        <a:srgbClr val="D5DDE1"/>
                      </a:solidFill>
                    </a:lnB>
                    <a:solidFill>
                      <a:srgbClr val="FBE5D6"/>
                    </a:solidFill>
                  </a:tcPr>
                </a:tc>
                <a:tc>
                  <a:txBody>
                    <a:bodyPr/>
                    <a:lstStyle/>
                    <a:p>
                      <a:pPr algn="l" marL="0" indent="0">
                        <a:spcBef>
                          <a:spcPts val="0"/>
                        </a:spcBef>
                        <a:spcAft>
                          <a:spcPts val="0"/>
                        </a:spcAft>
                        <a:buNone/>
                      </a:pPr>
                      <a:r>
                        <a:rPr lang="en-GB" sz="900" dirty="0">
                          <a:solidFill>
                            <a:srgbClr val="1F2A30"/>
                          </a:solidFill>
                          <a:latin typeface="Arial"/>
                          <a:cs typeface="Arial"/>
                        </a:rPr>
                        <a:t>Extreme drought</a:t>
                      </a:r>
                    </a:p>
                  </a:txBody>
                  <a:tcPr marL="73152" marR="73152" marT="27432" marB="27432" anchor="ctr">
                    <a:lnL w="0">
                      <a:noFill/>
                    </a:lnL>
                    <a:lnR w="0">
                      <a:noFill/>
                    </a:lnR>
                    <a:lnT w="6350">
                      <a:solidFill>
                        <a:srgbClr val="D5DDE1"/>
                      </a:solidFill>
                    </a:lnT>
                    <a:lnB w="6350">
                      <a:solidFill>
                        <a:srgbClr val="D5DDE1"/>
                      </a:solidFill>
                    </a:lnB>
                    <a:noFill/>
                  </a:tcPr>
                </a:tc>
              </a:tr>
              <a:tr h="329184">
                <a:tc>
                  <a:txBody>
                    <a:bodyPr/>
                    <a:lstStyle/>
                    <a:p>
                      <a:pPr algn="l" marL="0" indent="0">
                        <a:spcBef>
                          <a:spcPts val="0"/>
                        </a:spcBef>
                        <a:spcAft>
                          <a:spcPts val="0"/>
                        </a:spcAft>
                        <a:buNone/>
                      </a:pPr>
                      <a:r>
                        <a:rPr lang="en-GB" sz="900" b="1" dirty="0">
                          <a:solidFill>
                            <a:srgbClr val="1F2A30"/>
                          </a:solidFill>
                          <a:latin typeface="Arial"/>
                          <a:cs typeface="Arial"/>
                        </a:rPr>
                        <a:t>2007</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2E75B6"/>
                          </a:solidFill>
                          <a:latin typeface="Arial"/>
                          <a:cs typeface="Arial"/>
                        </a:rPr>
                        <a:t>La Niña</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1F2A30"/>
                          </a:solidFill>
                          <a:latin typeface="Arial"/>
                          <a:cs typeface="Arial"/>
                        </a:rPr>
                        <a:t>neutral</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1F2A30"/>
                          </a:solidFill>
                          <a:latin typeface="Arial"/>
                          <a:cs typeface="Arial"/>
                        </a:rPr>
                        <a:t>84 %</a:t>
                      </a:r>
                    </a:p>
                  </a:txBody>
                  <a:tcPr marL="73152" marR="73152" marT="27432" marB="27432" anchor="ctr">
                    <a:lnL w="0">
                      <a:noFill/>
                    </a:lnL>
                    <a:lnR w="0">
                      <a:noFill/>
                    </a:lnR>
                    <a:lnT w="6350">
                      <a:solidFill>
                        <a:srgbClr val="D5DDE1"/>
                      </a:solidFill>
                    </a:lnT>
                    <a:lnB w="6350">
                      <a:solidFill>
                        <a:srgbClr val="D5DDE1"/>
                      </a:solidFill>
                    </a:lnB>
                    <a:solidFill>
                      <a:srgbClr val="FBE5D6"/>
                    </a:solidFill>
                  </a:tcPr>
                </a:tc>
                <a:tc>
                  <a:txBody>
                    <a:bodyPr/>
                    <a:lstStyle/>
                    <a:p>
                      <a:pPr algn="ctr" marL="0" indent="0">
                        <a:spcBef>
                          <a:spcPts val="0"/>
                        </a:spcBef>
                        <a:spcAft>
                          <a:spcPts val="0"/>
                        </a:spcAft>
                        <a:buNone/>
                      </a:pPr>
                      <a:r>
                        <a:rPr lang="en-GB" sz="900" dirty="0">
                          <a:solidFill>
                            <a:srgbClr val="1F2A30"/>
                          </a:solidFill>
                          <a:latin typeface="Arial"/>
                          <a:cs typeface="Arial"/>
                        </a:rPr>
                        <a:t>105 %</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l" marL="0" indent="0">
                        <a:spcBef>
                          <a:spcPts val="0"/>
                        </a:spcBef>
                        <a:spcAft>
                          <a:spcPts val="0"/>
                        </a:spcAft>
                        <a:buNone/>
                      </a:pPr>
                      <a:r>
                        <a:rPr lang="en-GB" sz="900" dirty="0">
                          <a:solidFill>
                            <a:srgbClr val="1F2A30"/>
                          </a:solidFill>
                          <a:latin typeface="Arial"/>
                          <a:cs typeface="Arial"/>
                        </a:rPr>
                        <a:t>Uncertain</a:t>
                      </a:r>
                    </a:p>
                  </a:txBody>
                  <a:tcPr marL="73152" marR="73152" marT="27432" marB="27432" anchor="ctr">
                    <a:lnL w="0">
                      <a:noFill/>
                    </a:lnL>
                    <a:lnR w="0">
                      <a:noFill/>
                    </a:lnR>
                    <a:lnT w="6350">
                      <a:solidFill>
                        <a:srgbClr val="D5DDE1"/>
                      </a:solidFill>
                    </a:lnT>
                    <a:lnB w="6350">
                      <a:solidFill>
                        <a:srgbClr val="D5DDE1"/>
                      </a:solidFill>
                    </a:lnB>
                    <a:noFill/>
                  </a:tcPr>
                </a:tc>
              </a:tr>
              <a:tr h="329184">
                <a:tc>
                  <a:txBody>
                    <a:bodyPr/>
                    <a:lstStyle/>
                    <a:p>
                      <a:pPr algn="l" marL="0" indent="0">
                        <a:spcBef>
                          <a:spcPts val="0"/>
                        </a:spcBef>
                        <a:spcAft>
                          <a:spcPts val="0"/>
                        </a:spcAft>
                        <a:buNone/>
                      </a:pPr>
                      <a:r>
                        <a:rPr lang="en-GB" sz="900" b="1" dirty="0">
                          <a:solidFill>
                            <a:srgbClr val="1F2A30"/>
                          </a:solidFill>
                          <a:latin typeface="Arial"/>
                          <a:cs typeface="Arial"/>
                        </a:rPr>
                        <a:t>2010</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2E75B6"/>
                          </a:solidFill>
                          <a:latin typeface="Arial"/>
                          <a:cs typeface="Arial"/>
                        </a:rPr>
                        <a:t>La Niña</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1F2A30"/>
                          </a:solidFill>
                          <a:latin typeface="Arial"/>
                          <a:cs typeface="Arial"/>
                        </a:rPr>
                        <a:t>neutral</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1F2A30"/>
                          </a:solidFill>
                          <a:latin typeface="Arial"/>
                          <a:cs typeface="Arial"/>
                        </a:rPr>
                        <a:t>206 %</a:t>
                      </a:r>
                    </a:p>
                  </a:txBody>
                  <a:tcPr marL="73152" marR="73152" marT="27432" marB="27432" anchor="ctr">
                    <a:lnL w="0">
                      <a:noFill/>
                    </a:lnL>
                    <a:lnR w="0">
                      <a:noFill/>
                    </a:lnR>
                    <a:lnT w="6350">
                      <a:solidFill>
                        <a:srgbClr val="D5DDE1"/>
                      </a:solidFill>
                    </a:lnT>
                    <a:lnB w="6350">
                      <a:solidFill>
                        <a:srgbClr val="D5DDE1"/>
                      </a:solidFill>
                    </a:lnB>
                    <a:solidFill>
                      <a:srgbClr val="DDEBF7"/>
                    </a:solidFill>
                  </a:tcPr>
                </a:tc>
                <a:tc>
                  <a:txBody>
                    <a:bodyPr/>
                    <a:lstStyle/>
                    <a:p>
                      <a:pPr algn="ctr" marL="0" indent="0">
                        <a:spcBef>
                          <a:spcPts val="0"/>
                        </a:spcBef>
                        <a:spcAft>
                          <a:spcPts val="0"/>
                        </a:spcAft>
                        <a:buNone/>
                      </a:pPr>
                      <a:r>
                        <a:rPr lang="en-GB" sz="900" dirty="0">
                          <a:solidFill>
                            <a:srgbClr val="1F2A30"/>
                          </a:solidFill>
                          <a:latin typeface="Arial"/>
                          <a:cs typeface="Arial"/>
                        </a:rPr>
                        <a:t>186 %</a:t>
                      </a:r>
                    </a:p>
                  </a:txBody>
                  <a:tcPr marL="73152" marR="73152" marT="27432" marB="27432" anchor="ctr">
                    <a:lnL w="0">
                      <a:noFill/>
                    </a:lnL>
                    <a:lnR w="0">
                      <a:noFill/>
                    </a:lnR>
                    <a:lnT w="6350">
                      <a:solidFill>
                        <a:srgbClr val="D5DDE1"/>
                      </a:solidFill>
                    </a:lnT>
                    <a:lnB w="6350">
                      <a:solidFill>
                        <a:srgbClr val="D5DDE1"/>
                      </a:solidFill>
                    </a:lnB>
                    <a:solidFill>
                      <a:srgbClr val="DDEBF7"/>
                    </a:solidFill>
                  </a:tcPr>
                </a:tc>
                <a:tc>
                  <a:txBody>
                    <a:bodyPr/>
                    <a:lstStyle/>
                    <a:p>
                      <a:pPr algn="l" marL="0" indent="0">
                        <a:spcBef>
                          <a:spcPts val="0"/>
                        </a:spcBef>
                        <a:spcAft>
                          <a:spcPts val="0"/>
                        </a:spcAft>
                        <a:buNone/>
                      </a:pPr>
                      <a:r>
                        <a:rPr lang="en-GB" sz="900" dirty="0">
                          <a:solidFill>
                            <a:srgbClr val="1F2A30"/>
                          </a:solidFill>
                          <a:latin typeface="Arial"/>
                          <a:cs typeface="Arial"/>
                        </a:rPr>
                        <a:t>Very wet: 2011 crop lost</a:t>
                      </a:r>
                    </a:p>
                  </a:txBody>
                  <a:tcPr marL="73152" marR="73152" marT="27432" marB="27432" anchor="ctr">
                    <a:lnL w="0">
                      <a:noFill/>
                    </a:lnL>
                    <a:lnR w="0">
                      <a:noFill/>
                    </a:lnR>
                    <a:lnT w="6350">
                      <a:solidFill>
                        <a:srgbClr val="D5DDE1"/>
                      </a:solidFill>
                    </a:lnT>
                    <a:lnB w="6350">
                      <a:solidFill>
                        <a:srgbClr val="D5DDE1"/>
                      </a:solidFill>
                    </a:lnB>
                    <a:noFill/>
                  </a:tcPr>
                </a:tc>
              </a:tr>
              <a:tr h="329184">
                <a:tc>
                  <a:txBody>
                    <a:bodyPr/>
                    <a:lstStyle/>
                    <a:p>
                      <a:pPr algn="l" marL="0" indent="0">
                        <a:spcBef>
                          <a:spcPts val="0"/>
                        </a:spcBef>
                        <a:spcAft>
                          <a:spcPts val="0"/>
                        </a:spcAft>
                        <a:buNone/>
                      </a:pPr>
                      <a:r>
                        <a:rPr lang="en-GB" sz="900" b="1" dirty="0">
                          <a:solidFill>
                            <a:srgbClr val="1F2A30"/>
                          </a:solidFill>
                          <a:latin typeface="Arial"/>
                          <a:cs typeface="Arial"/>
                        </a:rPr>
                        <a:t>2011</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2E75B6"/>
                          </a:solidFill>
                          <a:latin typeface="Arial"/>
                          <a:cs typeface="Arial"/>
                        </a:rPr>
                        <a:t>La Niña</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1F2A30"/>
                          </a:solidFill>
                          <a:latin typeface="Arial"/>
                          <a:cs typeface="Arial"/>
                        </a:rPr>
                        <a:t>neutral (+0.31)</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1F2A30"/>
                          </a:solidFill>
                          <a:latin typeface="Arial"/>
                          <a:cs typeface="Arial"/>
                        </a:rPr>
                        <a:t>79 %</a:t>
                      </a:r>
                    </a:p>
                  </a:txBody>
                  <a:tcPr marL="73152" marR="73152" marT="27432" marB="27432" anchor="ctr">
                    <a:lnL w="0">
                      <a:noFill/>
                    </a:lnL>
                    <a:lnR w="0">
                      <a:noFill/>
                    </a:lnR>
                    <a:lnT w="6350">
                      <a:solidFill>
                        <a:srgbClr val="D5DDE1"/>
                      </a:solidFill>
                    </a:lnT>
                    <a:lnB w="6350">
                      <a:solidFill>
                        <a:srgbClr val="D5DDE1"/>
                      </a:solidFill>
                    </a:lnB>
                    <a:solidFill>
                      <a:srgbClr val="FBE5D6"/>
                    </a:solidFill>
                  </a:tcPr>
                </a:tc>
                <a:tc>
                  <a:txBody>
                    <a:bodyPr/>
                    <a:lstStyle/>
                    <a:p>
                      <a:pPr algn="ctr" marL="0" indent="0">
                        <a:spcBef>
                          <a:spcPts val="0"/>
                        </a:spcBef>
                        <a:spcAft>
                          <a:spcPts val="0"/>
                        </a:spcAft>
                        <a:buNone/>
                      </a:pPr>
                      <a:r>
                        <a:rPr lang="en-GB" sz="900" dirty="0">
                          <a:solidFill>
                            <a:srgbClr val="1F2A30"/>
                          </a:solidFill>
                          <a:latin typeface="Arial"/>
                          <a:cs typeface="Arial"/>
                        </a:rPr>
                        <a:t>85 %</a:t>
                      </a:r>
                    </a:p>
                  </a:txBody>
                  <a:tcPr marL="73152" marR="73152" marT="27432" marB="27432" anchor="ctr">
                    <a:lnL w="0">
                      <a:noFill/>
                    </a:lnL>
                    <a:lnR w="0">
                      <a:noFill/>
                    </a:lnR>
                    <a:lnT w="6350">
                      <a:solidFill>
                        <a:srgbClr val="D5DDE1"/>
                      </a:solidFill>
                    </a:lnT>
                    <a:lnB w="6350">
                      <a:solidFill>
                        <a:srgbClr val="D5DDE1"/>
                      </a:solidFill>
                    </a:lnB>
                    <a:solidFill>
                      <a:srgbClr val="FBE5D6"/>
                    </a:solidFill>
                  </a:tcPr>
                </a:tc>
                <a:tc>
                  <a:txBody>
                    <a:bodyPr/>
                    <a:lstStyle/>
                    <a:p>
                      <a:pPr algn="l" marL="0" indent="0">
                        <a:spcBef>
                          <a:spcPts val="0"/>
                        </a:spcBef>
                        <a:spcAft>
                          <a:spcPts val="0"/>
                        </a:spcAft>
                        <a:buNone/>
                      </a:pPr>
                      <a:r>
                        <a:rPr lang="en-GB" sz="900" dirty="0">
                          <a:solidFill>
                            <a:srgbClr val="1F2A30"/>
                          </a:solidFill>
                          <a:latin typeface="Arial"/>
                          <a:cs typeface="Arial"/>
                        </a:rPr>
                        <a:t>Dry despite La Niña</a:t>
                      </a:r>
                    </a:p>
                  </a:txBody>
                  <a:tcPr marL="73152" marR="73152" marT="27432" marB="27432" anchor="ctr">
                    <a:lnL w="0">
                      <a:noFill/>
                    </a:lnL>
                    <a:lnR w="0">
                      <a:noFill/>
                    </a:lnR>
                    <a:lnT w="6350">
                      <a:solidFill>
                        <a:srgbClr val="D5DDE1"/>
                      </a:solidFill>
                    </a:lnT>
                    <a:lnB w="6350">
                      <a:solidFill>
                        <a:srgbClr val="D5DDE1"/>
                      </a:solidFill>
                    </a:lnB>
                    <a:noFill/>
                  </a:tcPr>
                </a:tc>
              </a:tr>
              <a:tr h="329184">
                <a:tc>
                  <a:txBody>
                    <a:bodyPr/>
                    <a:lstStyle/>
                    <a:p>
                      <a:pPr algn="l" marL="0" indent="0">
                        <a:spcBef>
                          <a:spcPts val="0"/>
                        </a:spcBef>
                        <a:spcAft>
                          <a:spcPts val="0"/>
                        </a:spcAft>
                        <a:buNone/>
                      </a:pPr>
                      <a:r>
                        <a:rPr lang="en-GB" sz="900" b="1" dirty="0">
                          <a:solidFill>
                            <a:srgbClr val="1F2A30"/>
                          </a:solidFill>
                          <a:latin typeface="Arial"/>
                          <a:cs typeface="Arial"/>
                        </a:rPr>
                        <a:t>2013</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404040"/>
                          </a:solidFill>
                          <a:latin typeface="Arial"/>
                          <a:cs typeface="Arial"/>
                        </a:rPr>
                        <a:t>Neutral</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1F2A30"/>
                          </a:solidFill>
                          <a:latin typeface="Arial"/>
                          <a:cs typeface="Arial"/>
                        </a:rPr>
                        <a:t>neutral</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1F2A30"/>
                          </a:solidFill>
                          <a:latin typeface="Arial"/>
                          <a:cs typeface="Arial"/>
                        </a:rPr>
                        <a:t>159 %</a:t>
                      </a:r>
                    </a:p>
                  </a:txBody>
                  <a:tcPr marL="73152" marR="73152" marT="27432" marB="27432" anchor="ctr">
                    <a:lnL w="0">
                      <a:noFill/>
                    </a:lnL>
                    <a:lnR w="0">
                      <a:noFill/>
                    </a:lnR>
                    <a:lnT w="6350">
                      <a:solidFill>
                        <a:srgbClr val="D5DDE1"/>
                      </a:solidFill>
                    </a:lnT>
                    <a:lnB w="6350">
                      <a:solidFill>
                        <a:srgbClr val="D5DDE1"/>
                      </a:solidFill>
                    </a:lnB>
                    <a:solidFill>
                      <a:srgbClr val="DDEBF7"/>
                    </a:solidFill>
                  </a:tcPr>
                </a:tc>
                <a:tc>
                  <a:txBody>
                    <a:bodyPr/>
                    <a:lstStyle/>
                    <a:p>
                      <a:pPr algn="ctr" marL="0" indent="0">
                        <a:spcBef>
                          <a:spcPts val="0"/>
                        </a:spcBef>
                        <a:spcAft>
                          <a:spcPts val="0"/>
                        </a:spcAft>
                        <a:buNone/>
                      </a:pPr>
                      <a:r>
                        <a:rPr lang="en-GB" sz="900" dirty="0">
                          <a:solidFill>
                            <a:srgbClr val="1F2A30"/>
                          </a:solidFill>
                          <a:latin typeface="Arial"/>
                          <a:cs typeface="Arial"/>
                        </a:rPr>
                        <a:t>146 %</a:t>
                      </a:r>
                    </a:p>
                  </a:txBody>
                  <a:tcPr marL="73152" marR="73152" marT="27432" marB="27432" anchor="ctr">
                    <a:lnL w="0">
                      <a:noFill/>
                    </a:lnL>
                    <a:lnR w="0">
                      <a:noFill/>
                    </a:lnR>
                    <a:lnT w="6350">
                      <a:solidFill>
                        <a:srgbClr val="D5DDE1"/>
                      </a:solidFill>
                    </a:lnT>
                    <a:lnB w="6350">
                      <a:solidFill>
                        <a:srgbClr val="D5DDE1"/>
                      </a:solidFill>
                    </a:lnB>
                    <a:solidFill>
                      <a:srgbClr val="DDEBF7"/>
                    </a:solidFill>
                  </a:tcPr>
                </a:tc>
                <a:tc>
                  <a:txBody>
                    <a:bodyPr/>
                    <a:lstStyle/>
                    <a:p>
                      <a:pPr algn="l" marL="0" indent="0">
                        <a:spcBef>
                          <a:spcPts val="0"/>
                        </a:spcBef>
                        <a:spcAft>
                          <a:spcPts val="0"/>
                        </a:spcAft>
                        <a:buNone/>
                      </a:pPr>
                      <a:r>
                        <a:rPr lang="en-GB" sz="900" dirty="0">
                          <a:solidFill>
                            <a:srgbClr val="1F2A30"/>
                          </a:solidFill>
                          <a:latin typeface="Arial"/>
                          <a:cs typeface="Arial"/>
                        </a:rPr>
                        <a:t>Too wet</a:t>
                      </a:r>
                    </a:p>
                  </a:txBody>
                  <a:tcPr marL="73152" marR="73152" marT="27432" marB="27432" anchor="ctr">
                    <a:lnL w="0">
                      <a:noFill/>
                    </a:lnL>
                    <a:lnR w="0">
                      <a:noFill/>
                    </a:lnR>
                    <a:lnT w="6350">
                      <a:solidFill>
                        <a:srgbClr val="D5DDE1"/>
                      </a:solidFill>
                    </a:lnT>
                    <a:lnB w="6350">
                      <a:solidFill>
                        <a:srgbClr val="D5DDE1"/>
                      </a:solidFill>
                    </a:lnB>
                    <a:noFill/>
                  </a:tcPr>
                </a:tc>
              </a:tr>
              <a:tr h="329184">
                <a:tc>
                  <a:txBody>
                    <a:bodyPr/>
                    <a:lstStyle/>
                    <a:p>
                      <a:pPr algn="l" marL="0" indent="0">
                        <a:spcBef>
                          <a:spcPts val="0"/>
                        </a:spcBef>
                        <a:spcAft>
                          <a:spcPts val="0"/>
                        </a:spcAft>
                        <a:buNone/>
                      </a:pPr>
                      <a:r>
                        <a:rPr lang="en-GB" sz="900" b="1" dirty="0">
                          <a:solidFill>
                            <a:srgbClr val="1F2A30"/>
                          </a:solidFill>
                          <a:latin typeface="Arial"/>
                          <a:cs typeface="Arial"/>
                        </a:rPr>
                        <a:t>2015</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ED7D31"/>
                          </a:solidFill>
                          <a:latin typeface="Arial"/>
                          <a:cs typeface="Arial"/>
                        </a:rPr>
                        <a:t>El Niño</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1F2A30"/>
                          </a:solidFill>
                          <a:latin typeface="Arial"/>
                          <a:cs typeface="Arial"/>
                        </a:rPr>
                        <a:t>positive</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1F2A30"/>
                          </a:solidFill>
                          <a:latin typeface="Arial"/>
                          <a:cs typeface="Arial"/>
                        </a:rPr>
                        <a:t>43 %</a:t>
                      </a:r>
                    </a:p>
                  </a:txBody>
                  <a:tcPr marL="73152" marR="73152" marT="27432" marB="27432" anchor="ctr">
                    <a:lnL w="0">
                      <a:noFill/>
                    </a:lnL>
                    <a:lnR w="0">
                      <a:noFill/>
                    </a:lnR>
                    <a:lnT w="6350">
                      <a:solidFill>
                        <a:srgbClr val="D5DDE1"/>
                      </a:solidFill>
                    </a:lnT>
                    <a:lnB w="6350">
                      <a:solidFill>
                        <a:srgbClr val="D5DDE1"/>
                      </a:solidFill>
                    </a:lnB>
                    <a:solidFill>
                      <a:srgbClr val="FBE5D6"/>
                    </a:solidFill>
                  </a:tcPr>
                </a:tc>
                <a:tc>
                  <a:txBody>
                    <a:bodyPr/>
                    <a:lstStyle/>
                    <a:p>
                      <a:pPr algn="ctr" marL="0" indent="0">
                        <a:spcBef>
                          <a:spcPts val="0"/>
                        </a:spcBef>
                        <a:spcAft>
                          <a:spcPts val="0"/>
                        </a:spcAft>
                        <a:buNone/>
                      </a:pPr>
                      <a:r>
                        <a:rPr lang="en-GB" sz="900" dirty="0">
                          <a:solidFill>
                            <a:srgbClr val="1F2A30"/>
                          </a:solidFill>
                          <a:latin typeface="Arial"/>
                          <a:cs typeface="Arial"/>
                        </a:rPr>
                        <a:t>36 %</a:t>
                      </a:r>
                    </a:p>
                  </a:txBody>
                  <a:tcPr marL="73152" marR="73152" marT="27432" marB="27432" anchor="ctr">
                    <a:lnL w="0">
                      <a:noFill/>
                    </a:lnL>
                    <a:lnR w="0">
                      <a:noFill/>
                    </a:lnR>
                    <a:lnT w="6350">
                      <a:solidFill>
                        <a:srgbClr val="D5DDE1"/>
                      </a:solidFill>
                    </a:lnT>
                    <a:lnB w="6350">
                      <a:solidFill>
                        <a:srgbClr val="D5DDE1"/>
                      </a:solidFill>
                    </a:lnB>
                    <a:solidFill>
                      <a:srgbClr val="FBE5D6"/>
                    </a:solidFill>
                  </a:tcPr>
                </a:tc>
                <a:tc>
                  <a:txBody>
                    <a:bodyPr/>
                    <a:lstStyle/>
                    <a:p>
                      <a:pPr algn="l" marL="0" indent="0">
                        <a:spcBef>
                          <a:spcPts val="0"/>
                        </a:spcBef>
                        <a:spcAft>
                          <a:spcPts val="0"/>
                        </a:spcAft>
                        <a:buNone/>
                      </a:pPr>
                      <a:r>
                        <a:rPr lang="en-GB" sz="900" dirty="0">
                          <a:solidFill>
                            <a:srgbClr val="1F2A30"/>
                          </a:solidFill>
                          <a:latin typeface="Arial"/>
                          <a:cs typeface="Arial"/>
                        </a:rPr>
                        <a:t>Drought</a:t>
                      </a:r>
                    </a:p>
                  </a:txBody>
                  <a:tcPr marL="73152" marR="73152" marT="27432" marB="27432" anchor="ctr">
                    <a:lnL w="0">
                      <a:noFill/>
                    </a:lnL>
                    <a:lnR w="0">
                      <a:noFill/>
                    </a:lnR>
                    <a:lnT w="6350">
                      <a:solidFill>
                        <a:srgbClr val="D5DDE1"/>
                      </a:solidFill>
                    </a:lnT>
                    <a:lnB w="6350">
                      <a:solidFill>
                        <a:srgbClr val="D5DDE1"/>
                      </a:solidFill>
                    </a:lnB>
                    <a:noFill/>
                  </a:tcPr>
                </a:tc>
              </a:tr>
              <a:tr h="329184">
                <a:tc>
                  <a:txBody>
                    <a:bodyPr/>
                    <a:lstStyle/>
                    <a:p>
                      <a:pPr algn="l" marL="0" indent="0">
                        <a:spcBef>
                          <a:spcPts val="0"/>
                        </a:spcBef>
                        <a:spcAft>
                          <a:spcPts val="0"/>
                        </a:spcAft>
                        <a:buNone/>
                      </a:pPr>
                      <a:r>
                        <a:rPr lang="en-GB" sz="900" b="1" dirty="0">
                          <a:solidFill>
                            <a:srgbClr val="1F2A30"/>
                          </a:solidFill>
                          <a:latin typeface="Arial"/>
                          <a:cs typeface="Arial"/>
                        </a:rPr>
                        <a:t>2016</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404040"/>
                          </a:solidFill>
                          <a:latin typeface="Arial"/>
                          <a:cs typeface="Arial"/>
                        </a:rPr>
                        <a:t>Neutral</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1F2A30"/>
                          </a:solidFill>
                          <a:latin typeface="Arial"/>
                          <a:cs typeface="Arial"/>
                        </a:rPr>
                        <a:t>negative</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1F2A30"/>
                          </a:solidFill>
                          <a:latin typeface="Arial"/>
                          <a:cs typeface="Arial"/>
                        </a:rPr>
                        <a:t>133 %</a:t>
                      </a:r>
                    </a:p>
                  </a:txBody>
                  <a:tcPr marL="73152" marR="73152" marT="27432" marB="27432" anchor="ctr">
                    <a:lnL w="0">
                      <a:noFill/>
                    </a:lnL>
                    <a:lnR w="0">
                      <a:noFill/>
                    </a:lnR>
                    <a:lnT w="6350">
                      <a:solidFill>
                        <a:srgbClr val="D5DDE1"/>
                      </a:solidFill>
                    </a:lnT>
                    <a:lnB w="6350">
                      <a:solidFill>
                        <a:srgbClr val="D5DDE1"/>
                      </a:solidFill>
                    </a:lnB>
                    <a:solidFill>
                      <a:srgbClr val="DDEBF7"/>
                    </a:solidFill>
                  </a:tcPr>
                </a:tc>
                <a:tc>
                  <a:txBody>
                    <a:bodyPr/>
                    <a:lstStyle/>
                    <a:p>
                      <a:pPr algn="ctr" marL="0" indent="0">
                        <a:spcBef>
                          <a:spcPts val="0"/>
                        </a:spcBef>
                        <a:spcAft>
                          <a:spcPts val="0"/>
                        </a:spcAft>
                        <a:buNone/>
                      </a:pPr>
                      <a:r>
                        <a:rPr lang="en-GB" sz="900" dirty="0">
                          <a:solidFill>
                            <a:srgbClr val="1F2A30"/>
                          </a:solidFill>
                          <a:latin typeface="Arial"/>
                          <a:cs typeface="Arial"/>
                        </a:rPr>
                        <a:t>127 %</a:t>
                      </a:r>
                    </a:p>
                  </a:txBody>
                  <a:tcPr marL="73152" marR="73152" marT="27432" marB="27432" anchor="ctr">
                    <a:lnL w="0">
                      <a:noFill/>
                    </a:lnL>
                    <a:lnR w="0">
                      <a:noFill/>
                    </a:lnR>
                    <a:lnT w="6350">
                      <a:solidFill>
                        <a:srgbClr val="D5DDE1"/>
                      </a:solidFill>
                    </a:lnT>
                    <a:lnB w="6350">
                      <a:solidFill>
                        <a:srgbClr val="D5DDE1"/>
                      </a:solidFill>
                    </a:lnB>
                    <a:solidFill>
                      <a:srgbClr val="DDEBF7"/>
                    </a:solidFill>
                  </a:tcPr>
                </a:tc>
                <a:tc>
                  <a:txBody>
                    <a:bodyPr/>
                    <a:lstStyle/>
                    <a:p>
                      <a:pPr algn="l" marL="0" indent="0">
                        <a:spcBef>
                          <a:spcPts val="0"/>
                        </a:spcBef>
                        <a:spcAft>
                          <a:spcPts val="0"/>
                        </a:spcAft>
                        <a:buNone/>
                      </a:pPr>
                      <a:r>
                        <a:rPr lang="en-GB" sz="900" dirty="0">
                          <a:solidFill>
                            <a:srgbClr val="1F2A30"/>
                          </a:solidFill>
                          <a:latin typeface="Arial"/>
                          <a:cs typeface="Arial"/>
                        </a:rPr>
                        <a:t>Wet</a:t>
                      </a:r>
                    </a:p>
                  </a:txBody>
                  <a:tcPr marL="73152" marR="73152" marT="27432" marB="27432" anchor="ctr">
                    <a:lnL w="0">
                      <a:noFill/>
                    </a:lnL>
                    <a:lnR w="0">
                      <a:noFill/>
                    </a:lnR>
                    <a:lnT w="6350">
                      <a:solidFill>
                        <a:srgbClr val="D5DDE1"/>
                      </a:solidFill>
                    </a:lnT>
                    <a:lnB w="6350">
                      <a:solidFill>
                        <a:srgbClr val="D5DDE1"/>
                      </a:solidFill>
                    </a:lnB>
                    <a:noFill/>
                  </a:tcPr>
                </a:tc>
              </a:tr>
              <a:tr h="329184">
                <a:tc>
                  <a:txBody>
                    <a:bodyPr/>
                    <a:lstStyle/>
                    <a:p>
                      <a:pPr algn="l" marL="0" indent="0">
                        <a:spcBef>
                          <a:spcPts val="0"/>
                        </a:spcBef>
                        <a:spcAft>
                          <a:spcPts val="0"/>
                        </a:spcAft>
                        <a:buNone/>
                      </a:pPr>
                      <a:r>
                        <a:rPr lang="en-GB" sz="900" b="1" dirty="0">
                          <a:solidFill>
                            <a:srgbClr val="1F2A30"/>
                          </a:solidFill>
                          <a:latin typeface="Arial"/>
                          <a:cs typeface="Arial"/>
                        </a:rPr>
                        <a:t>2019</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404040"/>
                          </a:solidFill>
                          <a:latin typeface="Arial"/>
                          <a:cs typeface="Arial"/>
                        </a:rPr>
                        <a:t>Neutral</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1F2A30"/>
                          </a:solidFill>
                          <a:latin typeface="Arial"/>
                          <a:cs typeface="Arial"/>
                        </a:rPr>
                        <a:t>positive</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1F2A30"/>
                          </a:solidFill>
                          <a:latin typeface="Arial"/>
                          <a:cs typeface="Arial"/>
                        </a:rPr>
                        <a:t>52 %</a:t>
                      </a:r>
                    </a:p>
                  </a:txBody>
                  <a:tcPr marL="73152" marR="73152" marT="27432" marB="27432" anchor="ctr">
                    <a:lnL w="0">
                      <a:noFill/>
                    </a:lnL>
                    <a:lnR w="0">
                      <a:noFill/>
                    </a:lnR>
                    <a:lnT w="6350">
                      <a:solidFill>
                        <a:srgbClr val="D5DDE1"/>
                      </a:solidFill>
                    </a:lnT>
                    <a:lnB w="6350">
                      <a:solidFill>
                        <a:srgbClr val="D5DDE1"/>
                      </a:solidFill>
                    </a:lnB>
                    <a:solidFill>
                      <a:srgbClr val="FBE5D6"/>
                    </a:solidFill>
                  </a:tcPr>
                </a:tc>
                <a:tc>
                  <a:txBody>
                    <a:bodyPr/>
                    <a:lstStyle/>
                    <a:p>
                      <a:pPr algn="ctr" marL="0" indent="0">
                        <a:spcBef>
                          <a:spcPts val="0"/>
                        </a:spcBef>
                        <a:spcAft>
                          <a:spcPts val="0"/>
                        </a:spcAft>
                        <a:buNone/>
                      </a:pPr>
                      <a:r>
                        <a:rPr lang="en-GB" sz="900" dirty="0">
                          <a:solidFill>
                            <a:srgbClr val="1F2A30"/>
                          </a:solidFill>
                          <a:latin typeface="Arial"/>
                          <a:cs typeface="Arial"/>
                        </a:rPr>
                        <a:t>41 %</a:t>
                      </a:r>
                    </a:p>
                  </a:txBody>
                  <a:tcPr marL="73152" marR="73152" marT="27432" marB="27432" anchor="ctr">
                    <a:lnL w="0">
                      <a:noFill/>
                    </a:lnL>
                    <a:lnR w="0">
                      <a:noFill/>
                    </a:lnR>
                    <a:lnT w="6350">
                      <a:solidFill>
                        <a:srgbClr val="D5DDE1"/>
                      </a:solidFill>
                    </a:lnT>
                    <a:lnB w="6350">
                      <a:solidFill>
                        <a:srgbClr val="D5DDE1"/>
                      </a:solidFill>
                    </a:lnB>
                    <a:solidFill>
                      <a:srgbClr val="FBE5D6"/>
                    </a:solidFill>
                  </a:tcPr>
                </a:tc>
                <a:tc>
                  <a:txBody>
                    <a:bodyPr/>
                    <a:lstStyle/>
                    <a:p>
                      <a:pPr algn="l" marL="0" indent="0">
                        <a:spcBef>
                          <a:spcPts val="0"/>
                        </a:spcBef>
                        <a:spcAft>
                          <a:spcPts val="0"/>
                        </a:spcAft>
                        <a:buNone/>
                      </a:pPr>
                      <a:r>
                        <a:rPr lang="en-GB" sz="900" dirty="0">
                          <a:solidFill>
                            <a:srgbClr val="1F2A30"/>
                          </a:solidFill>
                          <a:latin typeface="Arial"/>
                          <a:cs typeface="Arial"/>
                        </a:rPr>
                        <a:t>Dry</a:t>
                      </a:r>
                    </a:p>
                  </a:txBody>
                  <a:tcPr marL="73152" marR="73152" marT="27432" marB="27432" anchor="ctr">
                    <a:lnL w="0">
                      <a:noFill/>
                    </a:lnL>
                    <a:lnR w="0">
                      <a:noFill/>
                    </a:lnR>
                    <a:lnT w="6350">
                      <a:solidFill>
                        <a:srgbClr val="D5DDE1"/>
                      </a:solidFill>
                    </a:lnT>
                    <a:lnB w="6350">
                      <a:solidFill>
                        <a:srgbClr val="D5DDE1"/>
                      </a:solidFill>
                    </a:lnB>
                    <a:noFill/>
                  </a:tcPr>
                </a:tc>
              </a:tr>
              <a:tr h="329184">
                <a:tc>
                  <a:txBody>
                    <a:bodyPr/>
                    <a:lstStyle/>
                    <a:p>
                      <a:pPr algn="l" marL="0" indent="0">
                        <a:spcBef>
                          <a:spcPts val="0"/>
                        </a:spcBef>
                        <a:spcAft>
                          <a:spcPts val="0"/>
                        </a:spcAft>
                        <a:buNone/>
                      </a:pPr>
                      <a:r>
                        <a:rPr lang="en-GB" sz="900" b="1" dirty="0">
                          <a:solidFill>
                            <a:srgbClr val="1F2A30"/>
                          </a:solidFill>
                          <a:latin typeface="Arial"/>
                          <a:cs typeface="Arial"/>
                        </a:rPr>
                        <a:t>2022</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2E75B6"/>
                          </a:solidFill>
                          <a:latin typeface="Arial"/>
                          <a:cs typeface="Arial"/>
                        </a:rPr>
                        <a:t>La Niña</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1F2A30"/>
                          </a:solidFill>
                          <a:latin typeface="Arial"/>
                          <a:cs typeface="Arial"/>
                        </a:rPr>
                        <a:t>neutral (−0.38)</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1F2A30"/>
                          </a:solidFill>
                          <a:latin typeface="Arial"/>
                          <a:cs typeface="Arial"/>
                        </a:rPr>
                        <a:t>198 %</a:t>
                      </a:r>
                    </a:p>
                  </a:txBody>
                  <a:tcPr marL="73152" marR="73152" marT="27432" marB="27432" anchor="ctr">
                    <a:lnL w="0">
                      <a:noFill/>
                    </a:lnL>
                    <a:lnR w="0">
                      <a:noFill/>
                    </a:lnR>
                    <a:lnT w="6350">
                      <a:solidFill>
                        <a:srgbClr val="D5DDE1"/>
                      </a:solidFill>
                    </a:lnT>
                    <a:lnB w="6350">
                      <a:solidFill>
                        <a:srgbClr val="D5DDE1"/>
                      </a:solidFill>
                    </a:lnB>
                    <a:solidFill>
                      <a:srgbClr val="DDEBF7"/>
                    </a:solidFill>
                  </a:tcPr>
                </a:tc>
                <a:tc>
                  <a:txBody>
                    <a:bodyPr/>
                    <a:lstStyle/>
                    <a:p>
                      <a:pPr algn="ctr" marL="0" indent="0">
                        <a:spcBef>
                          <a:spcPts val="0"/>
                        </a:spcBef>
                        <a:spcAft>
                          <a:spcPts val="0"/>
                        </a:spcAft>
                        <a:buNone/>
                      </a:pPr>
                      <a:r>
                        <a:rPr lang="en-GB" sz="900" dirty="0">
                          <a:solidFill>
                            <a:srgbClr val="1F2A30"/>
                          </a:solidFill>
                          <a:latin typeface="Arial"/>
                          <a:cs typeface="Arial"/>
                        </a:rPr>
                        <a:t>174 %</a:t>
                      </a:r>
                    </a:p>
                  </a:txBody>
                  <a:tcPr marL="73152" marR="73152" marT="27432" marB="27432" anchor="ctr">
                    <a:lnL w="0">
                      <a:noFill/>
                    </a:lnL>
                    <a:lnR w="0">
                      <a:noFill/>
                    </a:lnR>
                    <a:lnT w="6350">
                      <a:solidFill>
                        <a:srgbClr val="D5DDE1"/>
                      </a:solidFill>
                    </a:lnT>
                    <a:lnB w="6350">
                      <a:solidFill>
                        <a:srgbClr val="D5DDE1"/>
                      </a:solidFill>
                    </a:lnB>
                    <a:solidFill>
                      <a:srgbClr val="DDEBF7"/>
                    </a:solidFill>
                  </a:tcPr>
                </a:tc>
                <a:tc>
                  <a:txBody>
                    <a:bodyPr/>
                    <a:lstStyle/>
                    <a:p>
                      <a:pPr algn="l" marL="0" indent="0">
                        <a:spcBef>
                          <a:spcPts val="0"/>
                        </a:spcBef>
                        <a:spcAft>
                          <a:spcPts val="0"/>
                        </a:spcAft>
                        <a:buNone/>
                      </a:pPr>
                      <a:r>
                        <a:rPr lang="en-GB" sz="900" dirty="0">
                          <a:solidFill>
                            <a:srgbClr val="1F2A30"/>
                          </a:solidFill>
                          <a:latin typeface="Arial"/>
                          <a:cs typeface="Arial"/>
                        </a:rPr>
                        <a:t>Very wet</a:t>
                      </a:r>
                    </a:p>
                  </a:txBody>
                  <a:tcPr marL="73152" marR="73152" marT="27432" marB="27432" anchor="ctr">
                    <a:lnL w="0">
                      <a:noFill/>
                    </a:lnL>
                    <a:lnR w="0">
                      <a:noFill/>
                    </a:lnR>
                    <a:lnT w="6350">
                      <a:solidFill>
                        <a:srgbClr val="D5DDE1"/>
                      </a:solidFill>
                    </a:lnT>
                    <a:lnB w="6350">
                      <a:solidFill>
                        <a:srgbClr val="D5DDE1"/>
                      </a:solidFill>
                    </a:lnB>
                    <a:noFill/>
                  </a:tcPr>
                </a:tc>
              </a:tr>
              <a:tr h="329184">
                <a:tc>
                  <a:txBody>
                    <a:bodyPr/>
                    <a:lstStyle/>
                    <a:p>
                      <a:pPr algn="l" marL="0" indent="0">
                        <a:spcBef>
                          <a:spcPts val="0"/>
                        </a:spcBef>
                        <a:spcAft>
                          <a:spcPts val="0"/>
                        </a:spcAft>
                        <a:buNone/>
                      </a:pPr>
                      <a:r>
                        <a:rPr lang="en-GB" sz="900" b="1" dirty="0">
                          <a:solidFill>
                            <a:srgbClr val="1F2A30"/>
                          </a:solidFill>
                          <a:latin typeface="Arial"/>
                          <a:cs typeface="Arial"/>
                        </a:rPr>
                        <a:t>2023</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ED7D31"/>
                          </a:solidFill>
                          <a:latin typeface="Arial"/>
                          <a:cs typeface="Arial"/>
                        </a:rPr>
                        <a:t>El Niño</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1F2A30"/>
                          </a:solidFill>
                          <a:latin typeface="Arial"/>
                          <a:cs typeface="Arial"/>
                        </a:rPr>
                        <a:t>positive</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1F2A30"/>
                          </a:solidFill>
                          <a:latin typeface="Arial"/>
                          <a:cs typeface="Arial"/>
                        </a:rPr>
                        <a:t>70 %</a:t>
                      </a:r>
                    </a:p>
                  </a:txBody>
                  <a:tcPr marL="73152" marR="73152" marT="27432" marB="27432" anchor="ctr">
                    <a:lnL w="0">
                      <a:noFill/>
                    </a:lnL>
                    <a:lnR w="0">
                      <a:noFill/>
                    </a:lnR>
                    <a:lnT w="6350">
                      <a:solidFill>
                        <a:srgbClr val="D5DDE1"/>
                      </a:solidFill>
                    </a:lnT>
                    <a:lnB w="6350">
                      <a:solidFill>
                        <a:srgbClr val="D5DDE1"/>
                      </a:solidFill>
                    </a:lnB>
                    <a:solidFill>
                      <a:srgbClr val="FBE5D6"/>
                    </a:solidFill>
                  </a:tcPr>
                </a:tc>
                <a:tc>
                  <a:txBody>
                    <a:bodyPr/>
                    <a:lstStyle/>
                    <a:p>
                      <a:pPr algn="ctr" marL="0" indent="0">
                        <a:spcBef>
                          <a:spcPts val="0"/>
                        </a:spcBef>
                        <a:spcAft>
                          <a:spcPts val="0"/>
                        </a:spcAft>
                        <a:buNone/>
                      </a:pPr>
                      <a:r>
                        <a:rPr lang="en-GB" sz="900" dirty="0">
                          <a:solidFill>
                            <a:srgbClr val="1F2A30"/>
                          </a:solidFill>
                          <a:latin typeface="Arial"/>
                          <a:cs typeface="Arial"/>
                        </a:rPr>
                        <a:t>55 %</a:t>
                      </a:r>
                    </a:p>
                  </a:txBody>
                  <a:tcPr marL="73152" marR="73152" marT="27432" marB="27432" anchor="ctr">
                    <a:lnL w="0">
                      <a:noFill/>
                    </a:lnL>
                    <a:lnR w="0">
                      <a:noFill/>
                    </a:lnR>
                    <a:lnT w="6350">
                      <a:solidFill>
                        <a:srgbClr val="D5DDE1"/>
                      </a:solidFill>
                    </a:lnT>
                    <a:lnB w="6350">
                      <a:solidFill>
                        <a:srgbClr val="D5DDE1"/>
                      </a:solidFill>
                    </a:lnB>
                    <a:solidFill>
                      <a:srgbClr val="FBE5D6"/>
                    </a:solidFill>
                  </a:tcPr>
                </a:tc>
                <a:tc>
                  <a:txBody>
                    <a:bodyPr/>
                    <a:lstStyle/>
                    <a:p>
                      <a:pPr algn="l" marL="0" indent="0">
                        <a:spcBef>
                          <a:spcPts val="0"/>
                        </a:spcBef>
                        <a:spcAft>
                          <a:spcPts val="0"/>
                        </a:spcAft>
                        <a:buNone/>
                      </a:pPr>
                      <a:r>
                        <a:rPr lang="en-GB" sz="900" dirty="0">
                          <a:solidFill>
                            <a:srgbClr val="1F2A30"/>
                          </a:solidFill>
                          <a:latin typeface="Arial"/>
                          <a:cs typeface="Arial"/>
                        </a:rPr>
                        <a:t>Dry</a:t>
                      </a:r>
                    </a:p>
                  </a:txBody>
                  <a:tcPr marL="73152" marR="73152" marT="27432" marB="27432" anchor="ctr">
                    <a:lnL w="0">
                      <a:noFill/>
                    </a:lnL>
                    <a:lnR w="0">
                      <a:noFill/>
                    </a:lnR>
                    <a:lnT w="6350">
                      <a:solidFill>
                        <a:srgbClr val="D5DDE1"/>
                      </a:solidFill>
                    </a:lnT>
                    <a:lnB w="6350">
                      <a:solidFill>
                        <a:srgbClr val="D5DDE1"/>
                      </a:solidFill>
                    </a:lnB>
                    <a:noFill/>
                  </a:tcPr>
                </a:tc>
              </a:tr>
              <a:tr h="329184">
                <a:tc>
                  <a:txBody>
                    <a:bodyPr/>
                    <a:lstStyle/>
                    <a:p>
                      <a:pPr algn="l" marL="0" indent="0">
                        <a:spcBef>
                          <a:spcPts val="0"/>
                        </a:spcBef>
                        <a:spcAft>
                          <a:spcPts val="0"/>
                        </a:spcAft>
                        <a:buNone/>
                      </a:pPr>
                      <a:r>
                        <a:rPr lang="en-GB" sz="900" b="1" dirty="0">
                          <a:solidFill>
                            <a:srgbClr val="1F2A30"/>
                          </a:solidFill>
                          <a:latin typeface="Arial"/>
                          <a:cs typeface="Arial"/>
                        </a:rPr>
                        <a:t>2025</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404040"/>
                          </a:solidFill>
                          <a:latin typeface="Arial"/>
                          <a:cs typeface="Arial"/>
                        </a:rPr>
                        <a:t>Neutral</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1F2A30"/>
                          </a:solidFill>
                          <a:latin typeface="Arial"/>
                          <a:cs typeface="Arial"/>
                        </a:rPr>
                        <a:t>neutral (−0.40)</a:t>
                      </a:r>
                    </a:p>
                  </a:txBody>
                  <a:tcPr marL="73152" marR="73152" marT="27432" marB="27432" anchor="ctr">
                    <a:lnL w="0">
                      <a:noFill/>
                    </a:lnL>
                    <a:lnR w="0">
                      <a:noFill/>
                    </a:lnR>
                    <a:lnT w="6350">
                      <a:solidFill>
                        <a:srgbClr val="D5DDE1"/>
                      </a:solidFill>
                    </a:lnT>
                    <a:lnB w="6350">
                      <a:solidFill>
                        <a:srgbClr val="D5DDE1"/>
                      </a:solidFill>
                    </a:lnB>
                    <a:noFill/>
                  </a:tcPr>
                </a:tc>
                <a:tc>
                  <a:txBody>
                    <a:bodyPr/>
                    <a:lstStyle/>
                    <a:p>
                      <a:pPr algn="ctr" marL="0" indent="0">
                        <a:spcBef>
                          <a:spcPts val="0"/>
                        </a:spcBef>
                        <a:spcAft>
                          <a:spcPts val="0"/>
                        </a:spcAft>
                        <a:buNone/>
                      </a:pPr>
                      <a:r>
                        <a:rPr lang="en-GB" sz="900" dirty="0">
                          <a:solidFill>
                            <a:srgbClr val="1F2A30"/>
                          </a:solidFill>
                          <a:latin typeface="Arial"/>
                          <a:cs typeface="Arial"/>
                        </a:rPr>
                        <a:t>176 %</a:t>
                      </a:r>
                    </a:p>
                  </a:txBody>
                  <a:tcPr marL="73152" marR="73152" marT="27432" marB="27432" anchor="ctr">
                    <a:lnL w="0">
                      <a:noFill/>
                    </a:lnL>
                    <a:lnR w="0">
                      <a:noFill/>
                    </a:lnR>
                    <a:lnT w="6350">
                      <a:solidFill>
                        <a:srgbClr val="D5DDE1"/>
                      </a:solidFill>
                    </a:lnT>
                    <a:lnB w="6350">
                      <a:solidFill>
                        <a:srgbClr val="D5DDE1"/>
                      </a:solidFill>
                    </a:lnB>
                    <a:solidFill>
                      <a:srgbClr val="DDEBF7"/>
                    </a:solidFill>
                  </a:tcPr>
                </a:tc>
                <a:tc>
                  <a:txBody>
                    <a:bodyPr/>
                    <a:lstStyle/>
                    <a:p>
                      <a:pPr algn="ctr" marL="0" indent="0">
                        <a:spcBef>
                          <a:spcPts val="0"/>
                        </a:spcBef>
                        <a:spcAft>
                          <a:spcPts val="0"/>
                        </a:spcAft>
                        <a:buNone/>
                      </a:pPr>
                      <a:r>
                        <a:rPr lang="en-GB" sz="900" dirty="0">
                          <a:solidFill>
                            <a:srgbClr val="1F2A30"/>
                          </a:solidFill>
                          <a:latin typeface="Arial"/>
                          <a:cs typeface="Arial"/>
                        </a:rPr>
                        <a:t>146 %</a:t>
                      </a:r>
                    </a:p>
                  </a:txBody>
                  <a:tcPr marL="73152" marR="73152" marT="27432" marB="27432" anchor="ctr">
                    <a:lnL w="0">
                      <a:noFill/>
                    </a:lnL>
                    <a:lnR w="0">
                      <a:noFill/>
                    </a:lnR>
                    <a:lnT w="6350">
                      <a:solidFill>
                        <a:srgbClr val="D5DDE1"/>
                      </a:solidFill>
                    </a:lnT>
                    <a:lnB w="6350">
                      <a:solidFill>
                        <a:srgbClr val="D5DDE1"/>
                      </a:solidFill>
                    </a:lnB>
                    <a:solidFill>
                      <a:srgbClr val="DDEBF7"/>
                    </a:solidFill>
                  </a:tcPr>
                </a:tc>
                <a:tc>
                  <a:txBody>
                    <a:bodyPr/>
                    <a:lstStyle/>
                    <a:p>
                      <a:pPr algn="l" marL="0" indent="0">
                        <a:spcBef>
                          <a:spcPts val="0"/>
                        </a:spcBef>
                        <a:spcAft>
                          <a:spcPts val="0"/>
                        </a:spcAft>
                        <a:buNone/>
                      </a:pPr>
                      <a:r>
                        <a:rPr lang="en-GB" sz="900" dirty="0">
                          <a:solidFill>
                            <a:srgbClr val="1F2A30"/>
                          </a:solidFill>
                          <a:latin typeface="Arial"/>
                          <a:cs typeface="Arial"/>
                        </a:rPr>
                        <a:t>Very wet</a:t>
                      </a:r>
                    </a:p>
                  </a:txBody>
                  <a:tcPr marL="73152" marR="73152" marT="27432" marB="27432" anchor="ctr">
                    <a:lnL w="0">
                      <a:noFill/>
                    </a:lnL>
                    <a:lnR w="0">
                      <a:noFill/>
                    </a:lnR>
                    <a:lnT w="6350">
                      <a:solidFill>
                        <a:srgbClr val="D5DDE1"/>
                      </a:solidFill>
                    </a:lnT>
                    <a:lnB w="6350">
                      <a:solidFill>
                        <a:srgbClr val="D5DDE1"/>
                      </a:solidFill>
                    </a:lnB>
                    <a:noFill/>
                  </a:tcPr>
                </a:tc>
              </a:tr>
            </a:tbl>
          </a:graphicData>
        </a:graphic>
      </p:graphicFrame>
    </p:spTree>
  </p:cSld>
  <p:clrMapOvr>
    <a:masterClrMapping/>
  </p:clrMapOvr>
</p:sld>
</file>

<file path=ppt/theme/theme1.xml><?xml version="1.0" encoding="utf-8"?>
<a:theme xmlns:a="http://schemas.openxmlformats.org/drawingml/2006/main" name="Mousson">
  <a:themeElements>
    <a:clrScheme name="Mousson">
      <a:dk1>
        <a:srgbClr val="1F2A30"/>
      </a:dk1>
      <a:lt1>
        <a:srgbClr val="FFFFFF"/>
      </a:lt1>
      <a:dk2>
        <a:srgbClr val="123A46"/>
      </a:dk2>
      <a:lt2>
        <a:srgbClr val="EEF4F7"/>
      </a:lt2>
      <a:accent1>
        <a:srgbClr val="2F7FC1"/>
      </a:accent1>
      <a:accent2>
        <a:srgbClr val="D9622B"/>
      </a:accent2>
      <a:accent3>
        <a:srgbClr val="8C969B"/>
      </a:accent3>
      <a:accent4>
        <a:srgbClr val="1E9E6A"/>
      </a:accent4>
      <a:accent5>
        <a:srgbClr val="123A46"/>
      </a:accent5>
      <a:accent6>
        <a:srgbClr val="E8A33D"/>
      </a:accent6>
      <a:hlink>
        <a:srgbClr val="2F7FC1"/>
      </a:hlink>
      <a:folHlink>
        <a:srgbClr val="5B6770"/>
      </a:folHlink>
    </a:clrScheme>
    <a:fontScheme name="Mousson">
      <a:majorFont>
        <a:latin typeface="Cambria"/>
        <a:ea typeface=""/>
        <a:cs typeface=""/>
      </a:majorFont>
      <a:minorFont>
        <a:latin typeface="Arial"/>
        <a:ea typeface=""/>
        <a:cs typeface=""/>
      </a:minorFont>
    </a:fontScheme>
    <a:fmtScheme name="Mousson">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Microsoft Office PowerPoint</Application>
  <Slides>13</Slides>
</Properties>
</file>

<file path=docProps/core.xml><?xml version="1.0" encoding="utf-8"?>
<cp:coreProperties xmlns:cp="http://schemas.openxmlformats.org/package/2006/metadata/core-properties" xmlns:dc="http://purl.org/dc/elements/1.1/" xmlns:dcterms="http://purl.org/dc/terms/" xmlns:xsi="http://www.w3.org/2001/XMLSchema-instance">
  <dc:title>Indonesia Robusta: weather, ENSO and the 2027/28 crop</dc:title>
  <dc:language>fr-FR</dc:language>
</cp:coreProperties>
</file>