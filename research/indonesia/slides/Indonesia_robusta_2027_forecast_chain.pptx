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slides/slide8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s/slide9.xml" ContentType="application/vnd.openxmlformats-officedocument.presentationml.slide+xml"/>
  <Override PartName="/ppt/charts/chart9.xml" ContentType="application/vnd.openxmlformats-officedocument.drawingml.chart+xml"/>
  <Override PartName="/ppt/slides/slide10.xml" ContentType="application/vnd.openxmlformats-officedocument.presentationml.slide+xml"/>
  <Override PartName="/ppt/charts/chart10.xml" ContentType="application/vnd.openxmlformats-officedocument.drawingml.chart+xml"/>
  <Override PartName="/ppt/slides/slide11.xml" ContentType="application/vnd.openxmlformats-officedocument.presentationml.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slides/slide12.xml" ContentType="application/vnd.openxmlformats-officedocument.presentationml.slid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slides/slide13.xml" ContentType="application/vnd.openxmlformats-officedocument.presentationml.slide+xml"/>
  <Override PartName="/ppt/charts/chart15.xml" ContentType="application/vnd.openxmlformats-officedocument.drawingml.chart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charts/chart16.xml" ContentType="application/vnd.openxmlformats-officedocument.drawingml.char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theme" Target="theme/theme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>
        <c:manualLayout>
          <c:layoutTarget val="inner"/>
          <c:xMode val="edge"/>
          <c:yMode val="edge"/>
          <c:x val="0.06"/>
          <c:y val="0.04"/>
          <c:w val="0.93"/>
          <c:h val="0.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Coffee area (FAO)</c:v>
                </c:pt>
              </c:strCache>
            </c:strRef>
          </c:tx>
          <c:spPr>
            <a:solidFill>
              <a:srgbClr val="7B4A2D"/>
            </a:solidFill>
          </c:spPr>
          <c:invertIfNegative val="0"/>
          <c:dLbls>
            <c:numFmt formatCode=";;;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800" b="1">
                    <a:solidFill>
                      <a:srgbClr val="262626"/>
                    </a:solidFill>
                    <a:latin typeface="Arial"/>
                    <a:cs typeface="Arial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Sheet1!$A$2:$A$25</c:f>
              <c:strCache>
                <c:ptCount val="24"/>
                <c:pt idx="0">
                  <c:v>2001</c:v>
                </c:pt>
                <c:pt idx="1">
                  <c:v>2002</c:v>
                </c:pt>
                <c:pt idx="2">
                  <c:v>2003</c:v>
                </c:pt>
                <c:pt idx="3">
                  <c:v>2004</c:v>
                </c:pt>
                <c:pt idx="4">
                  <c:v>2005</c:v>
                </c:pt>
                <c:pt idx="5">
                  <c:v>2006</c:v>
                </c:pt>
                <c:pt idx="6">
                  <c:v>2007</c:v>
                </c:pt>
                <c:pt idx="7">
                  <c:v>2008</c:v>
                </c:pt>
                <c:pt idx="8">
                  <c:v>2009</c:v>
                </c:pt>
                <c:pt idx="9">
                  <c:v>2010</c:v>
                </c:pt>
                <c:pt idx="10">
                  <c:v>2011</c:v>
                </c:pt>
                <c:pt idx="11">
                  <c:v>2012</c:v>
                </c:pt>
                <c:pt idx="12">
                  <c:v>2013</c:v>
                </c:pt>
                <c:pt idx="13">
                  <c:v>2014</c:v>
                </c:pt>
                <c:pt idx="14">
                  <c:v>2015</c:v>
                </c:pt>
                <c:pt idx="15">
                  <c:v>2016</c:v>
                </c:pt>
                <c:pt idx="16">
                  <c:v>2017</c:v>
                </c:pt>
                <c:pt idx="17">
                  <c:v>2018</c:v>
                </c:pt>
                <c:pt idx="18">
                  <c:v>2019</c:v>
                </c:pt>
                <c:pt idx="19">
                  <c:v>2020</c:v>
                </c:pt>
                <c:pt idx="20">
                  <c:v>2021</c:v>
                </c:pt>
                <c:pt idx="21">
                  <c:v>2022</c:v>
                </c:pt>
                <c:pt idx="22">
                  <c:v>2023</c:v>
                </c:pt>
                <c:pt idx="23">
                  <c:v>2024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4.2</c:v>
                </c:pt>
                <c:pt idx="1">
                  <c:v>4.5</c:v>
                </c:pt>
                <c:pt idx="3">
                  <c:v>-5.6</c:v>
                </c:pt>
                <c:pt idx="4">
                  <c:v>-3.7</c:v>
                </c:pt>
                <c:pt idx="6">
                  <c:v>-1.0</c:v>
                </c:pt>
                <c:pt idx="8">
                  <c:v>-2.2</c:v>
                </c:pt>
                <c:pt idx="9">
                  <c:v>0.2</c:v>
                </c:pt>
                <c:pt idx="10">
                  <c:v>1.9</c:v>
                </c:pt>
                <c:pt idx="11">
                  <c:v>-4.6</c:v>
                </c:pt>
                <c:pt idx="12">
                  <c:v>0.6</c:v>
                </c:pt>
                <c:pt idx="13">
                  <c:v>-0.9</c:v>
                </c:pt>
                <c:pt idx="14">
                  <c:v>-0.0</c:v>
                </c:pt>
                <c:pt idx="15">
                  <c:v>-0.1</c:v>
                </c:pt>
                <c:pt idx="16">
                  <c:v>0.8</c:v>
                </c:pt>
                <c:pt idx="17">
                  <c:v>1.1</c:v>
                </c:pt>
                <c:pt idx="18">
                  <c:v>-0.6</c:v>
                </c:pt>
                <c:pt idx="19">
                  <c:v>0.4</c:v>
                </c:pt>
                <c:pt idx="20">
                  <c:v>2.3</c:v>
                </c:pt>
                <c:pt idx="21">
                  <c:v>-1.1</c:v>
                </c:pt>
                <c:pt idx="22">
                  <c:v>0.1</c:v>
                </c:pt>
                <c:pt idx="23">
                  <c:v>0.2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Cocoa area (FAO)</c:v>
                </c:pt>
              </c:strCache>
            </c:strRef>
          </c:tx>
          <c:spPr>
            <a:solidFill>
              <a:srgbClr val="E3A33B"/>
            </a:solidFill>
          </c:spPr>
          <c:invertIfNegative val="0"/>
          <c:dLbls>
            <c:numFmt formatCode=";;;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800" b="1">
                    <a:solidFill>
                      <a:srgbClr val="262626"/>
                    </a:solidFill>
                    <a:latin typeface="Arial"/>
                    <a:cs typeface="Arial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Sheet1!$A$2:$A$25</c:f>
              <c:strCache>
                <c:ptCount val="24"/>
                <c:pt idx="0">
                  <c:v>2001</c:v>
                </c:pt>
                <c:pt idx="1">
                  <c:v>2002</c:v>
                </c:pt>
                <c:pt idx="2">
                  <c:v>2003</c:v>
                </c:pt>
                <c:pt idx="3">
                  <c:v>2004</c:v>
                </c:pt>
                <c:pt idx="4">
                  <c:v>2005</c:v>
                </c:pt>
                <c:pt idx="5">
                  <c:v>2006</c:v>
                </c:pt>
                <c:pt idx="6">
                  <c:v>2007</c:v>
                </c:pt>
                <c:pt idx="7">
                  <c:v>2008</c:v>
                </c:pt>
                <c:pt idx="8">
                  <c:v>2009</c:v>
                </c:pt>
                <c:pt idx="9">
                  <c:v>2010</c:v>
                </c:pt>
                <c:pt idx="10">
                  <c:v>2011</c:v>
                </c:pt>
                <c:pt idx="11">
                  <c:v>2012</c:v>
                </c:pt>
                <c:pt idx="12">
                  <c:v>2013</c:v>
                </c:pt>
                <c:pt idx="13">
                  <c:v>2014</c:v>
                </c:pt>
                <c:pt idx="14">
                  <c:v>2015</c:v>
                </c:pt>
                <c:pt idx="15">
                  <c:v>2016</c:v>
                </c:pt>
                <c:pt idx="16">
                  <c:v>2017</c:v>
                </c:pt>
                <c:pt idx="17">
                  <c:v>2018</c:v>
                </c:pt>
                <c:pt idx="18">
                  <c:v>2019</c:v>
                </c:pt>
                <c:pt idx="19">
                  <c:v>2020</c:v>
                </c:pt>
                <c:pt idx="20">
                  <c:v>2021</c:v>
                </c:pt>
                <c:pt idx="21">
                  <c:v>2022</c:v>
                </c:pt>
                <c:pt idx="22">
                  <c:v>2023</c:v>
                </c:pt>
                <c:pt idx="23">
                  <c:v>2024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2.1</c:v>
                </c:pt>
                <c:pt idx="1">
                  <c:v>1.5</c:v>
                </c:pt>
                <c:pt idx="3">
                  <c:v>13.5</c:v>
                </c:pt>
                <c:pt idx="4">
                  <c:v>7.0</c:v>
                </c:pt>
                <c:pt idx="6">
                  <c:v>2.0</c:v>
                </c:pt>
                <c:pt idx="8">
                  <c:v>11.4</c:v>
                </c:pt>
                <c:pt idx="9">
                  <c:v>4.1</c:v>
                </c:pt>
                <c:pt idx="10">
                  <c:v>4.9</c:v>
                </c:pt>
                <c:pt idx="11">
                  <c:v>6.9</c:v>
                </c:pt>
                <c:pt idx="12">
                  <c:v>-6.1</c:v>
                </c:pt>
                <c:pt idx="13">
                  <c:v>-0.8</c:v>
                </c:pt>
                <c:pt idx="14">
                  <c:v>-1.0</c:v>
                </c:pt>
                <c:pt idx="15">
                  <c:v>-0.5</c:v>
                </c:pt>
                <c:pt idx="16">
                  <c:v>-2.5</c:v>
                </c:pt>
                <c:pt idx="17">
                  <c:v>-2.9</c:v>
                </c:pt>
                <c:pt idx="18">
                  <c:v>-3.1</c:v>
                </c:pt>
                <c:pt idx="19">
                  <c:v>-3.3</c:v>
                </c:pt>
                <c:pt idx="20">
                  <c:v>-5.8</c:v>
                </c:pt>
                <c:pt idx="21">
                  <c:v>0.0</c:v>
                </c:pt>
                <c:pt idx="22">
                  <c:v>-1.9</c:v>
                </c:pt>
                <c:pt idx="23">
                  <c:v>-0.5</c:v>
                </c:pt>
              </c:numCache>
            </c:numRef>
          </c:val>
        </c:ser>
        <c:gapWidth val="40"/>
        <c:overlap val="0"/>
        <c:axId val="50010"/>
        <c:axId val="5002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Robusta planted area (ministry)</c:v>
                </c:pt>
              </c:strCache>
            </c:strRef>
          </c:tx>
          <c:spPr>
            <a:ln w="28575" cap="rnd">
              <a:solidFill>
                <a:srgbClr val="2E75B6"/>
              </a:solidFill>
              <a:prstDash val="solid"/>
              <a:round/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2001</c:v>
                </c:pt>
                <c:pt idx="1">
                  <c:v>2002</c:v>
                </c:pt>
                <c:pt idx="2">
                  <c:v>2003</c:v>
                </c:pt>
                <c:pt idx="3">
                  <c:v>2004</c:v>
                </c:pt>
                <c:pt idx="4">
                  <c:v>2005</c:v>
                </c:pt>
                <c:pt idx="5">
                  <c:v>2006</c:v>
                </c:pt>
                <c:pt idx="6">
                  <c:v>2007</c:v>
                </c:pt>
                <c:pt idx="7">
                  <c:v>2008</c:v>
                </c:pt>
                <c:pt idx="8">
                  <c:v>2009</c:v>
                </c:pt>
                <c:pt idx="9">
                  <c:v>2010</c:v>
                </c:pt>
                <c:pt idx="10">
                  <c:v>2011</c:v>
                </c:pt>
                <c:pt idx="11">
                  <c:v>2012</c:v>
                </c:pt>
                <c:pt idx="12">
                  <c:v>2013</c:v>
                </c:pt>
                <c:pt idx="13">
                  <c:v>2014</c:v>
                </c:pt>
                <c:pt idx="14">
                  <c:v>2015</c:v>
                </c:pt>
                <c:pt idx="15">
                  <c:v>2016</c:v>
                </c:pt>
                <c:pt idx="16">
                  <c:v>2017</c:v>
                </c:pt>
                <c:pt idx="17">
                  <c:v>2018</c:v>
                </c:pt>
                <c:pt idx="18">
                  <c:v>2019</c:v>
                </c:pt>
                <c:pt idx="19">
                  <c:v>2020</c:v>
                </c:pt>
                <c:pt idx="20">
                  <c:v>2021</c:v>
                </c:pt>
                <c:pt idx="21">
                  <c:v>2022</c:v>
                </c:pt>
                <c:pt idx="22">
                  <c:v>2023</c:v>
                </c:pt>
                <c:pt idx="23">
                  <c:v>2024</c:v>
                </c:pt>
              </c:strCache>
            </c:strRef>
          </c:cat>
          <c:val>
            <c:numRef>
              <c:f>Sheet1!$D$2:$D$25</c:f>
              <c:numCache>
                <c:formatCode>General</c:formatCode>
                <c:ptCount val="24"/>
                <c:pt idx="4">
                  <c:v>-2.0</c:v>
                </c:pt>
                <c:pt idx="5">
                  <c:v>-2.0</c:v>
                </c:pt>
                <c:pt idx="6">
                  <c:v>-6.5</c:v>
                </c:pt>
                <c:pt idx="7">
                  <c:v>-4.7</c:v>
                </c:pt>
                <c:pt idx="8">
                  <c:v>-2.5</c:v>
                </c:pt>
                <c:pt idx="9">
                  <c:v>-2.7</c:v>
                </c:pt>
                <c:pt idx="10">
                  <c:v>-2.0</c:v>
                </c:pt>
                <c:pt idx="11">
                  <c:v>0.0</c:v>
                </c:pt>
                <c:pt idx="12">
                  <c:v>-2.6</c:v>
                </c:pt>
                <c:pt idx="13">
                  <c:v>-1.8</c:v>
                </c:pt>
                <c:pt idx="14">
                  <c:v>-0.0</c:v>
                </c:pt>
                <c:pt idx="15">
                  <c:v>0.9</c:v>
                </c:pt>
                <c:pt idx="16">
                  <c:v>-1.4</c:v>
                </c:pt>
                <c:pt idx="17">
                  <c:v>0.1</c:v>
                </c:pt>
                <c:pt idx="18">
                  <c:v>0.0</c:v>
                </c:pt>
                <c:pt idx="19">
                  <c:v>0.0</c:v>
                </c:pt>
                <c:pt idx="20">
                  <c:v>3.4</c:v>
                </c:pt>
                <c:pt idx="21">
                  <c:v>-0.0</c:v>
                </c:pt>
                <c:pt idx="22">
                  <c:v>0.7</c:v>
                </c:pt>
              </c:numCache>
            </c:numRef>
          </c:val>
          <c:smooth val="0"/>
        </c:ser>
        <c:marker val="1"/>
        <c:axId val="50010"/>
        <c:axId val="50020"/>
      </c:lineChart>
      <c:catAx>
        <c:axId val="5001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525">
            <a:solidFill>
              <a:srgbClr val="B7C0C5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50020"/>
        <c:crosses val="autoZero"/>
        <c:auto val="1"/>
        <c:lblAlgn val="ctr"/>
        <c:lblOffset val="100"/>
        <c:noMultiLvlLbl val="0"/>
      </c:catAx>
      <c:valAx>
        <c:axId val="50020"/>
        <c:scaling>
          <c:orientation val="minMax"/>
          <c:max val="15"/>
          <c:min val="-10"/>
        </c:scaling>
        <c:delete val="0"/>
        <c:axPos val="l"/>
        <c:majorGridlines>
          <c:spPr>
            <a:ln w="6350">
              <a:solidFill>
                <a:srgbClr val="E3E8EB"/>
              </a:solidFill>
            </a:ln>
          </c:spPr>
        </c:majorGridlines>
        <c:numFmt formatCode="+0;-0;0" sourceLinked="0"/>
        <c:majorTickMark val="none"/>
        <c:minorTickMark val="none"/>
        <c:tickLblPos val="low"/>
        <c:spPr>
          <a:ln w="6350">
            <a:solidFill>
              <a:srgbClr val="FFFFFF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50010"/>
        <c:crosses val="autoZero"/>
        <c:crossBetween val="between"/>
        <c:majorUnit val="5"/>
      </c:valAx>
    </c:plotArea>
    <c:legend>
      <c:legendPos val="b"/>
      <c:overlay val="0"/>
      <c:txPr>
        <a:bodyPr/>
        <a:lstStyle/>
        <a:p>
          <a:pPr>
            <a:defRPr sz="900" b="0">
              <a:solidFill>
                <a:srgbClr val="1F2A30"/>
              </a:solidFill>
              <a:latin typeface="Arial"/>
              <a:cs typeface="Arial"/>
            </a:defRPr>
          </a:pPr>
          <a:endParaRPr lang="fr-FR"/>
        </a:p>
      </c:txPr>
    </c:legend>
    <c:plotVisOnly val="1"/>
    <c:dispBlanksAs val="gap"/>
  </c:chart>
  <c:spPr>
    <a:noFill/>
    <a:ln>
      <a:noFill/>
    </a:ln>
  </c:spPr>
  <c:txPr>
    <a:bodyPr/>
    <a:lstStyle/>
    <a:p>
      <a:pPr>
        <a:defRPr sz="1000" b="0">
          <a:solidFill>
            <a:srgbClr val="5B6770"/>
          </a:solidFill>
          <a:latin typeface="Arial"/>
          <a:cs typeface="Arial"/>
        </a:defRPr>
      </a:pPr>
      <a:endParaRPr lang="fr-FR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>
        <c:manualLayout>
          <c:layoutTarget val="inner"/>
          <c:xMode val="edge"/>
          <c:yMode val="edge"/>
          <c:x val="0.06"/>
          <c:y val="0.04"/>
          <c:w val="0.93"/>
          <c:h val="0.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Coffee revenue per ha</c:v>
                </c:pt>
              </c:strCache>
            </c:strRef>
          </c:tx>
          <c:spPr>
            <a:solidFill>
              <a:srgbClr val="7B4A2D"/>
            </a:solidFill>
          </c:spPr>
          <c:invertIfNegative val="0"/>
          <c:dPt>
            <c:idx val="24"/>
            <c:invertIfNegative val="0"/>
            <c:bubble3D val="0"/>
            <c:spPr>
              <a:pattFill prst="wdUpDiag">
                <a:fgClr>
                  <a:srgbClr val="7B4A2D"/>
                </a:fgClr>
                <a:bgClr>
                  <a:srgbClr val="FFFFFF"/>
                </a:bgClr>
              </a:pattFill>
              <a:ln w="12700">
                <a:solidFill>
                  <a:srgbClr val="7B4A2D"/>
                </a:solidFill>
              </a:ln>
            </c:spPr>
          </c:dPt>
          <c:dPt>
            <c:idx val="25"/>
            <c:invertIfNegative val="0"/>
            <c:bubble3D val="0"/>
            <c:spPr>
              <a:pattFill prst="wdUpDiag">
                <a:fgClr>
                  <a:srgbClr val="7B4A2D"/>
                </a:fgClr>
                <a:bgClr>
                  <a:srgbClr val="FFFFFF"/>
                </a:bgClr>
              </a:pattFill>
              <a:ln w="12700">
                <a:solidFill>
                  <a:srgbClr val="7B4A2D"/>
                </a:solidFill>
              </a:ln>
            </c:spPr>
          </c:dPt>
          <c:dLbls>
            <c:numFmt formatCode=";;;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800" b="1">
                    <a:solidFill>
                      <a:srgbClr val="262626"/>
                    </a:solidFill>
                    <a:latin typeface="Arial"/>
                    <a:cs typeface="Arial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Sheet1!$A$2:$A$27</c:f>
              <c:strCache>
                <c:ptCount val="26"/>
                <c:pt idx="0">
                  <c:v>2001</c:v>
                </c:pt>
                <c:pt idx="1">
                  <c:v>2002</c:v>
                </c:pt>
                <c:pt idx="2">
                  <c:v>2003</c:v>
                </c:pt>
                <c:pt idx="3">
                  <c:v>2004</c:v>
                </c:pt>
                <c:pt idx="4">
                  <c:v>2005</c:v>
                </c:pt>
                <c:pt idx="5">
                  <c:v>2006</c:v>
                </c:pt>
                <c:pt idx="6">
                  <c:v>2007</c:v>
                </c:pt>
                <c:pt idx="7">
                  <c:v>2008</c:v>
                </c:pt>
                <c:pt idx="8">
                  <c:v>2009</c:v>
                </c:pt>
                <c:pt idx="9">
                  <c:v>2010</c:v>
                </c:pt>
                <c:pt idx="10">
                  <c:v>2011</c:v>
                </c:pt>
                <c:pt idx="11">
                  <c:v>2012</c:v>
                </c:pt>
                <c:pt idx="12">
                  <c:v>2013</c:v>
                </c:pt>
                <c:pt idx="13">
                  <c:v>2014</c:v>
                </c:pt>
                <c:pt idx="14">
                  <c:v>2015</c:v>
                </c:pt>
                <c:pt idx="15">
                  <c:v>2016</c:v>
                </c:pt>
                <c:pt idx="16">
                  <c:v>2017</c:v>
                </c:pt>
                <c:pt idx="17">
                  <c:v>2018</c:v>
                </c:pt>
                <c:pt idx="18">
                  <c:v>2019</c:v>
                </c:pt>
                <c:pt idx="19">
                  <c:v>2020</c:v>
                </c:pt>
                <c:pt idx="20">
                  <c:v>2021</c:v>
                </c:pt>
                <c:pt idx="21">
                  <c:v>2022</c:v>
                </c:pt>
                <c:pt idx="22">
                  <c:v>2023</c:v>
                </c:pt>
                <c:pt idx="23">
                  <c:v>2024</c:v>
                </c:pt>
                <c:pt idx="24">
                  <c:v>2025</c:v>
                </c:pt>
                <c:pt idx="25">
                  <c:v>2026</c:v>
                </c:pt>
              </c:strCache>
            </c: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-18.1</c:v>
                </c:pt>
                <c:pt idx="1">
                  <c:v>-12.7</c:v>
                </c:pt>
                <c:pt idx="2">
                  <c:v>9.7</c:v>
                </c:pt>
                <c:pt idx="3">
                  <c:v>1.3</c:v>
                </c:pt>
                <c:pt idx="4">
                  <c:v>4.7</c:v>
                </c:pt>
                <c:pt idx="5">
                  <c:v>33.0</c:v>
                </c:pt>
                <c:pt idx="6">
                  <c:v>40.7</c:v>
                </c:pt>
                <c:pt idx="7">
                  <c:v>21.3</c:v>
                </c:pt>
                <c:pt idx="8">
                  <c:v>-4.7</c:v>
                </c:pt>
                <c:pt idx="9">
                  <c:v>14.0</c:v>
                </c:pt>
                <c:pt idx="10">
                  <c:v>6.5</c:v>
                </c:pt>
                <c:pt idx="11">
                  <c:v>10.9</c:v>
                </c:pt>
                <c:pt idx="12">
                  <c:v>-12.1</c:v>
                </c:pt>
                <c:pt idx="13">
                  <c:v>-10.3</c:v>
                </c:pt>
                <c:pt idx="14">
                  <c:v>-3.8</c:v>
                </c:pt>
                <c:pt idx="15">
                  <c:v>4.3</c:v>
                </c:pt>
                <c:pt idx="16">
                  <c:v>38.7</c:v>
                </c:pt>
                <c:pt idx="17">
                  <c:v>0.1</c:v>
                </c:pt>
                <c:pt idx="18">
                  <c:v>-14.2</c:v>
                </c:pt>
                <c:pt idx="19">
                  <c:v>-7.6</c:v>
                </c:pt>
                <c:pt idx="20">
                  <c:v>1.4</c:v>
                </c:pt>
                <c:pt idx="21">
                  <c:v>3.5</c:v>
                </c:pt>
                <c:pt idx="22">
                  <c:v>13.4</c:v>
                </c:pt>
                <c:pt idx="23">
                  <c:v>53.3</c:v>
                </c:pt>
                <c:pt idx="24">
                  <c:v>33.5</c:v>
                </c:pt>
                <c:pt idx="25">
                  <c:v>-19.8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Cocoa revenue per ha</c:v>
                </c:pt>
              </c:strCache>
            </c:strRef>
          </c:tx>
          <c:spPr>
            <a:solidFill>
              <a:srgbClr val="E3A33B"/>
            </a:solidFill>
          </c:spPr>
          <c:invertIfNegative val="0"/>
          <c:dPt>
            <c:idx val="24"/>
            <c:invertIfNegative val="0"/>
            <c:bubble3D val="0"/>
            <c:spPr>
              <a:pattFill prst="wdUpDiag">
                <a:fgClr>
                  <a:srgbClr val="E3A33B"/>
                </a:fgClr>
                <a:bgClr>
                  <a:srgbClr val="FFFFFF"/>
                </a:bgClr>
              </a:pattFill>
              <a:ln w="12700">
                <a:solidFill>
                  <a:srgbClr val="E3A33B"/>
                </a:solidFill>
              </a:ln>
            </c:spPr>
          </c:dPt>
          <c:dPt>
            <c:idx val="25"/>
            <c:invertIfNegative val="0"/>
            <c:bubble3D val="0"/>
            <c:spPr>
              <a:pattFill prst="wdUpDiag">
                <a:fgClr>
                  <a:srgbClr val="E3A33B"/>
                </a:fgClr>
                <a:bgClr>
                  <a:srgbClr val="FFFFFF"/>
                </a:bgClr>
              </a:pattFill>
              <a:ln w="12700">
                <a:solidFill>
                  <a:srgbClr val="E3A33B"/>
                </a:solidFill>
              </a:ln>
            </c:spPr>
          </c:dPt>
          <c:dLbls>
            <c:numFmt formatCode=";;;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800" b="1">
                    <a:solidFill>
                      <a:srgbClr val="262626"/>
                    </a:solidFill>
                    <a:latin typeface="Arial"/>
                    <a:cs typeface="Arial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Sheet1!$A$2:$A$27</c:f>
              <c:strCache>
                <c:ptCount val="26"/>
                <c:pt idx="0">
                  <c:v>2001</c:v>
                </c:pt>
                <c:pt idx="1">
                  <c:v>2002</c:v>
                </c:pt>
                <c:pt idx="2">
                  <c:v>2003</c:v>
                </c:pt>
                <c:pt idx="3">
                  <c:v>2004</c:v>
                </c:pt>
                <c:pt idx="4">
                  <c:v>2005</c:v>
                </c:pt>
                <c:pt idx="5">
                  <c:v>2006</c:v>
                </c:pt>
                <c:pt idx="6">
                  <c:v>2007</c:v>
                </c:pt>
                <c:pt idx="7">
                  <c:v>2008</c:v>
                </c:pt>
                <c:pt idx="8">
                  <c:v>2009</c:v>
                </c:pt>
                <c:pt idx="9">
                  <c:v>2010</c:v>
                </c:pt>
                <c:pt idx="10">
                  <c:v>2011</c:v>
                </c:pt>
                <c:pt idx="11">
                  <c:v>2012</c:v>
                </c:pt>
                <c:pt idx="12">
                  <c:v>2013</c:v>
                </c:pt>
                <c:pt idx="13">
                  <c:v>2014</c:v>
                </c:pt>
                <c:pt idx="14">
                  <c:v>2015</c:v>
                </c:pt>
                <c:pt idx="15">
                  <c:v>2016</c:v>
                </c:pt>
                <c:pt idx="16">
                  <c:v>2017</c:v>
                </c:pt>
                <c:pt idx="17">
                  <c:v>2018</c:v>
                </c:pt>
                <c:pt idx="18">
                  <c:v>2019</c:v>
                </c:pt>
                <c:pt idx="19">
                  <c:v>2020</c:v>
                </c:pt>
                <c:pt idx="20">
                  <c:v>2021</c:v>
                </c:pt>
                <c:pt idx="21">
                  <c:v>2022</c:v>
                </c:pt>
                <c:pt idx="22">
                  <c:v>2023</c:v>
                </c:pt>
                <c:pt idx="23">
                  <c:v>2024</c:v>
                </c:pt>
                <c:pt idx="24">
                  <c:v>2025</c:v>
                </c:pt>
                <c:pt idx="25">
                  <c:v>2026</c:v>
                </c:pt>
              </c:strCache>
            </c:strRef>
          </c:cat>
          <c:val>
            <c:numRef>
              <c:f>Sheet1!$C$2:$C$27</c:f>
              <c:numCache>
                <c:formatCode>General</c:formatCode>
                <c:ptCount val="26"/>
                <c:pt idx="0">
                  <c:v>26.5</c:v>
                </c:pt>
                <c:pt idx="1">
                  <c:v>25.5</c:v>
                </c:pt>
                <c:pt idx="2">
                  <c:v>-4.9</c:v>
                </c:pt>
                <c:pt idx="3">
                  <c:v>-10.7</c:v>
                </c:pt>
                <c:pt idx="4">
                  <c:v>-6.1</c:v>
                </c:pt>
                <c:pt idx="5">
                  <c:v>38.3</c:v>
                </c:pt>
                <c:pt idx="6">
                  <c:v>12.1</c:v>
                </c:pt>
                <c:pt idx="7">
                  <c:v>-11.1</c:v>
                </c:pt>
                <c:pt idx="8">
                  <c:v>-1.3</c:v>
                </c:pt>
                <c:pt idx="9">
                  <c:v>31.2</c:v>
                </c:pt>
                <c:pt idx="10">
                  <c:v>-15.1</c:v>
                </c:pt>
                <c:pt idx="11">
                  <c:v>-13.7</c:v>
                </c:pt>
                <c:pt idx="12">
                  <c:v>-3.1</c:v>
                </c:pt>
                <c:pt idx="13">
                  <c:v>9.8</c:v>
                </c:pt>
                <c:pt idx="14">
                  <c:v>-27.0</c:v>
                </c:pt>
                <c:pt idx="15">
                  <c:v>19.3</c:v>
                </c:pt>
                <c:pt idx="16">
                  <c:v>-20.8</c:v>
                </c:pt>
                <c:pt idx="17">
                  <c:v>25.5</c:v>
                </c:pt>
                <c:pt idx="18">
                  <c:v>-12.8</c:v>
                </c:pt>
                <c:pt idx="19">
                  <c:v>7.0</c:v>
                </c:pt>
                <c:pt idx="20">
                  <c:v>0.1</c:v>
                </c:pt>
                <c:pt idx="21">
                  <c:v>-2.4</c:v>
                </c:pt>
                <c:pt idx="22">
                  <c:v>7.6</c:v>
                </c:pt>
                <c:pt idx="23">
                  <c:v>92.9</c:v>
                </c:pt>
                <c:pt idx="24">
                  <c:v>49.9</c:v>
                </c:pt>
                <c:pt idx="25">
                  <c:v>-43.4</c:v>
                </c:pt>
              </c:numCache>
            </c:numRef>
          </c:val>
        </c:ser>
        <c:gapWidth val="40"/>
        <c:overlap val="0"/>
        <c:axId val="50010"/>
        <c:axId val="50020"/>
      </c:barChart>
      <c:catAx>
        <c:axId val="5001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525">
            <a:solidFill>
              <a:srgbClr val="B7C0C5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50020"/>
        <c:crosses val="autoZero"/>
        <c:auto val="1"/>
        <c:lblAlgn val="ctr"/>
        <c:lblOffset val="100"/>
        <c:noMultiLvlLbl val="0"/>
      </c:catAx>
      <c:valAx>
        <c:axId val="50020"/>
        <c:scaling>
          <c:orientation val="minMax"/>
          <c:max val="100"/>
          <c:min val="-50"/>
        </c:scaling>
        <c:delete val="0"/>
        <c:axPos val="l"/>
        <c:majorGridlines>
          <c:spPr>
            <a:ln w="6350">
              <a:solidFill>
                <a:srgbClr val="E3E8EB"/>
              </a:solidFill>
            </a:ln>
          </c:spPr>
        </c:majorGridlines>
        <c:numFmt formatCode="+0;-0;0" sourceLinked="0"/>
        <c:majorTickMark val="none"/>
        <c:minorTickMark val="none"/>
        <c:tickLblPos val="low"/>
        <c:spPr>
          <a:ln w="6350">
            <a:solidFill>
              <a:srgbClr val="FFFFFF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50010"/>
        <c:crosses val="autoZero"/>
        <c:crossBetween val="between"/>
        <c:majorUnit val="25"/>
      </c:valAx>
    </c:plotArea>
    <c:legend>
      <c:legendPos val="b"/>
      <c:overlay val="0"/>
      <c:txPr>
        <a:bodyPr/>
        <a:lstStyle/>
        <a:p>
          <a:pPr>
            <a:defRPr sz="900" b="0">
              <a:solidFill>
                <a:srgbClr val="1F2A30"/>
              </a:solidFill>
              <a:latin typeface="Arial"/>
              <a:cs typeface="Arial"/>
            </a:defRPr>
          </a:pPr>
          <a:endParaRPr lang="fr-FR"/>
        </a:p>
      </c:txPr>
    </c:legend>
    <c:plotVisOnly val="1"/>
    <c:dispBlanksAs val="gap"/>
  </c:chart>
  <c:spPr>
    <a:noFill/>
    <a:ln>
      <a:noFill/>
    </a:ln>
  </c:spPr>
  <c:txPr>
    <a:bodyPr/>
    <a:lstStyle/>
    <a:p>
      <a:pPr>
        <a:defRPr sz="1000" b="0">
          <a:solidFill>
            <a:srgbClr val="5B6770"/>
          </a:solidFill>
          <a:latin typeface="Arial"/>
          <a:cs typeface="Arial"/>
        </a:defRPr>
      </a:pPr>
      <a:endParaRPr lang="fr-FR"/>
    </a:p>
  </c:tx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Same direction</c:v>
                </c:pt>
              </c:strCache>
            </c:strRef>
          </c:tx>
          <c:spPr>
            <a:ln w="19050">
              <a:noFill/>
            </a:ln>
          </c:spPr>
          <c:marker>
            <c:symbol val="circle"/>
            <c:size val="8"/>
            <c:spPr>
              <a:solidFill>
                <a:srgbClr val="3A8D5B"/>
              </a:solidFill>
              <a:ln w="9525">
                <a:solidFill>
                  <a:srgbClr val="FFFFF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fr-FR" sz="800">
                        <a:solidFill>
                          <a:srgbClr val="5B6770"/>
                        </a:solidFill>
                        <a:latin typeface="Arial"/>
                      </a:rPr>
                      <a:t>2006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lang="fr-FR" sz="800">
                        <a:solidFill>
                          <a:srgbClr val="5B6770"/>
                        </a:solidFill>
                        <a:latin typeface="Arial"/>
                      </a:rPr>
                      <a:t>2007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lang="fr-FR" sz="800">
                        <a:solidFill>
                          <a:srgbClr val="5B6770"/>
                        </a:solidFill>
                        <a:latin typeface="Arial"/>
                      </a:rPr>
                      <a:t>2009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lang="fr-FR" sz="800">
                        <a:solidFill>
                          <a:srgbClr val="5B6770"/>
                        </a:solidFill>
                        <a:latin typeface="Arial"/>
                      </a:rPr>
                      <a:t>2010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lang="fr-FR" sz="800">
                        <a:solidFill>
                          <a:srgbClr val="5B6770"/>
                        </a:solidFill>
                        <a:latin typeface="Arial"/>
                      </a:rPr>
                      <a:t>2013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lang="fr-FR" sz="800">
                        <a:solidFill>
                          <a:srgbClr val="5B6770"/>
                        </a:solidFill>
                        <a:latin typeface="Arial"/>
                      </a:rPr>
                      <a:t>2015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lang="fr-FR" sz="800">
                        <a:solidFill>
                          <a:srgbClr val="5B6770"/>
                        </a:solidFill>
                        <a:latin typeface="Arial"/>
                      </a:rPr>
                      <a:t>2016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lang="fr-FR" sz="800">
                        <a:solidFill>
                          <a:srgbClr val="5B6770"/>
                        </a:solidFill>
                        <a:latin typeface="Arial"/>
                      </a:rPr>
                      <a:t>2018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rPr lang="fr-FR" sz="800">
                        <a:solidFill>
                          <a:srgbClr val="5B6770"/>
                        </a:solidFill>
                        <a:latin typeface="Arial"/>
                      </a:rPr>
                      <a:t>2019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rPr lang="fr-FR" sz="800">
                        <a:solidFill>
                          <a:srgbClr val="5B6770"/>
                        </a:solidFill>
                        <a:latin typeface="Arial"/>
                      </a:rPr>
                      <a:t>2021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rPr lang="fr-FR" sz="800">
                        <a:solidFill>
                          <a:srgbClr val="5B6770"/>
                        </a:solidFill>
                        <a:latin typeface="Arial"/>
                      </a:rPr>
                      <a:t>2023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</c:spPr>
            <c:showLegendKey val="0"/>
            <c:showVal val="0"/>
            <c:showCatName val="0"/>
            <c:showSerName val="0"/>
            <c:showPercent val="0"/>
            <c:showBubbleSize val="0"/>
          </c:dLbls>
          <c:xVal>
            <c:numRef>
              <c:f>Sheet1!$A$2:$A$12</c:f>
              <c:numCache>
                <c:formatCode>General</c:formatCode>
                <c:ptCount val="11"/>
                <c:pt idx="0">
                  <c:v>33.0</c:v>
                </c:pt>
                <c:pt idx="1">
                  <c:v>40.7</c:v>
                </c:pt>
                <c:pt idx="2">
                  <c:v>-4.7</c:v>
                </c:pt>
                <c:pt idx="3">
                  <c:v>14.0</c:v>
                </c:pt>
                <c:pt idx="4">
                  <c:v>-12.1</c:v>
                </c:pt>
                <c:pt idx="5">
                  <c:v>-3.8</c:v>
                </c:pt>
                <c:pt idx="6">
                  <c:v>4.3</c:v>
                </c:pt>
                <c:pt idx="7">
                  <c:v>0.1</c:v>
                </c:pt>
                <c:pt idx="8">
                  <c:v>-14.2</c:v>
                </c:pt>
                <c:pt idx="9">
                  <c:v>1.4</c:v>
                </c:pt>
                <c:pt idx="10">
                  <c:v>13.4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38.3</c:v>
                </c:pt>
                <c:pt idx="1">
                  <c:v>12.1</c:v>
                </c:pt>
                <c:pt idx="2">
                  <c:v>-1.3</c:v>
                </c:pt>
                <c:pt idx="3">
                  <c:v>31.2</c:v>
                </c:pt>
                <c:pt idx="4">
                  <c:v>-3.1</c:v>
                </c:pt>
                <c:pt idx="5">
                  <c:v>-27.0</c:v>
                </c:pt>
                <c:pt idx="6">
                  <c:v>19.3</c:v>
                </c:pt>
                <c:pt idx="7">
                  <c:v>25.5</c:v>
                </c:pt>
                <c:pt idx="8">
                  <c:v>-12.8</c:v>
                </c:pt>
                <c:pt idx="9">
                  <c:v>0.1</c:v>
                </c:pt>
                <c:pt idx="10">
                  <c:v>7.6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Opposite directions</c:v>
                </c:pt>
              </c:strCache>
            </c:strRef>
          </c:tx>
          <c:spPr>
            <a:ln w="19050">
              <a:noFill/>
            </a:ln>
          </c:spPr>
          <c:marker>
            <c:symbol val="circle"/>
            <c:size val="8"/>
            <c:spPr>
              <a:solidFill>
                <a:srgbClr val="8C969B"/>
              </a:solidFill>
              <a:ln w="9525">
                <a:solidFill>
                  <a:srgbClr val="FFFFF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fr-FR" sz="800">
                        <a:solidFill>
                          <a:srgbClr val="5B6770"/>
                        </a:solidFill>
                        <a:latin typeface="Arial"/>
                      </a:rPr>
                      <a:t>2001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lang="fr-FR" sz="800">
                        <a:solidFill>
                          <a:srgbClr val="5B6770"/>
                        </a:solidFill>
                        <a:latin typeface="Arial"/>
                      </a:rPr>
                      <a:t>2002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lang="fr-FR" sz="800">
                        <a:solidFill>
                          <a:srgbClr val="5B6770"/>
                        </a:solidFill>
                        <a:latin typeface="Arial"/>
                      </a:rPr>
                      <a:t>2003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lang="fr-FR" sz="800">
                        <a:solidFill>
                          <a:srgbClr val="5B6770"/>
                        </a:solidFill>
                        <a:latin typeface="Arial"/>
                      </a:rPr>
                      <a:t>2004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lang="fr-FR" sz="800">
                        <a:solidFill>
                          <a:srgbClr val="5B6770"/>
                        </a:solidFill>
                        <a:latin typeface="Arial"/>
                      </a:rPr>
                      <a:t>2005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lang="fr-FR" sz="800">
                        <a:solidFill>
                          <a:srgbClr val="5B6770"/>
                        </a:solidFill>
                        <a:latin typeface="Arial"/>
                      </a:rPr>
                      <a:t>2008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lang="fr-FR" sz="800">
                        <a:solidFill>
                          <a:srgbClr val="5B6770"/>
                        </a:solidFill>
                        <a:latin typeface="Arial"/>
                      </a:rPr>
                      <a:t>2011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lang="fr-FR" sz="800">
                        <a:solidFill>
                          <a:srgbClr val="5B6770"/>
                        </a:solidFill>
                        <a:latin typeface="Arial"/>
                      </a:rPr>
                      <a:t>2012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rPr lang="fr-FR" sz="800">
                        <a:solidFill>
                          <a:srgbClr val="5B6770"/>
                        </a:solidFill>
                        <a:latin typeface="Arial"/>
                      </a:rPr>
                      <a:t>2014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rPr lang="fr-FR" sz="800">
                        <a:solidFill>
                          <a:srgbClr val="5B6770"/>
                        </a:solidFill>
                        <a:latin typeface="Arial"/>
                      </a:rPr>
                      <a:t>2017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rPr lang="fr-FR" sz="800">
                        <a:solidFill>
                          <a:srgbClr val="5B6770"/>
                        </a:solidFill>
                        <a:latin typeface="Arial"/>
                      </a:rPr>
                      <a:t>2020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rPr lang="fr-FR" sz="800">
                        <a:solidFill>
                          <a:srgbClr val="5B6770"/>
                        </a:solidFill>
                        <a:latin typeface="Arial"/>
                      </a:rPr>
                      <a:t>2022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</c:spPr>
            <c:showLegendKey val="0"/>
            <c:showVal val="0"/>
            <c:showCatName val="0"/>
            <c:showSerName val="0"/>
            <c:showPercent val="0"/>
            <c:showBubbleSize val="0"/>
          </c:dLbls>
          <c:xVal>
            <c:numRef>
              <c:f>Sheet1!$C$2:$C$13</c:f>
              <c:numCache>
                <c:formatCode>General</c:formatCode>
                <c:ptCount val="12"/>
                <c:pt idx="0">
                  <c:v>-18.1</c:v>
                </c:pt>
                <c:pt idx="1">
                  <c:v>-12.7</c:v>
                </c:pt>
                <c:pt idx="2">
                  <c:v>9.7</c:v>
                </c:pt>
                <c:pt idx="3">
                  <c:v>1.3</c:v>
                </c:pt>
                <c:pt idx="4">
                  <c:v>4.7</c:v>
                </c:pt>
                <c:pt idx="5">
                  <c:v>21.3</c:v>
                </c:pt>
                <c:pt idx="6">
                  <c:v>6.5</c:v>
                </c:pt>
                <c:pt idx="7">
                  <c:v>10.9</c:v>
                </c:pt>
                <c:pt idx="8">
                  <c:v>-10.3</c:v>
                </c:pt>
                <c:pt idx="9">
                  <c:v>38.7</c:v>
                </c:pt>
                <c:pt idx="10">
                  <c:v>-7.6</c:v>
                </c:pt>
                <c:pt idx="11">
                  <c:v>3.5</c:v>
                </c:pt>
              </c:numCache>
            </c:numRef>
          </c:xVal>
          <c:yVal>
            <c:numRef>
              <c:f>Sheet1!$D$2:$D$13</c:f>
              <c:numCache>
                <c:formatCode>General</c:formatCode>
                <c:ptCount val="12"/>
                <c:pt idx="0">
                  <c:v>26.5</c:v>
                </c:pt>
                <c:pt idx="1">
                  <c:v>25.5</c:v>
                </c:pt>
                <c:pt idx="2">
                  <c:v>-4.9</c:v>
                </c:pt>
                <c:pt idx="3">
                  <c:v>-10.7</c:v>
                </c:pt>
                <c:pt idx="4">
                  <c:v>-6.1</c:v>
                </c:pt>
                <c:pt idx="5">
                  <c:v>-11.1</c:v>
                </c:pt>
                <c:pt idx="6">
                  <c:v>-15.1</c:v>
                </c:pt>
                <c:pt idx="7">
                  <c:v>-13.7</c:v>
                </c:pt>
                <c:pt idx="8">
                  <c:v>9.8</c:v>
                </c:pt>
                <c:pt idx="9">
                  <c:v>-20.8</c:v>
                </c:pt>
                <c:pt idx="10">
                  <c:v>7.0</c:v>
                </c:pt>
                <c:pt idx="11">
                  <c:v>-2.4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Sheet1!$F$1</c:f>
              <c:strCache>
                <c:ptCount val="1"/>
                <c:pt idx="0">
                  <c:v>2024–2026</c:v>
                </c:pt>
              </c:strCache>
            </c:strRef>
          </c:tx>
          <c:spPr>
            <a:ln w="19050">
              <a:noFill/>
            </a:ln>
          </c:spPr>
          <c:marker>
            <c:symbol val="circle"/>
            <c:size val="8"/>
            <c:spPr>
              <a:solidFill>
                <a:srgbClr val="C00000"/>
              </a:solidFill>
              <a:ln w="9525">
                <a:solidFill>
                  <a:srgbClr val="FFFFF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fr-FR" sz="800">
                        <a:solidFill>
                          <a:srgbClr val="5B6770"/>
                        </a:solidFill>
                        <a:latin typeface="Arial"/>
                      </a:rPr>
                      <a:t>2024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lang="fr-FR" sz="800">
                        <a:solidFill>
                          <a:srgbClr val="5B6770"/>
                        </a:solidFill>
                        <a:latin typeface="Arial"/>
                      </a:rPr>
                      <a:t>2025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lang="fr-FR" sz="800">
                        <a:solidFill>
                          <a:srgbClr val="5B6770"/>
                        </a:solidFill>
                        <a:latin typeface="Arial"/>
                      </a:rPr>
                      <a:t>2026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</c:spPr>
            <c:showLegendKey val="0"/>
            <c:showVal val="0"/>
            <c:showCatName val="0"/>
            <c:showSerName val="0"/>
            <c:showPercent val="0"/>
            <c:showBubbleSize val="0"/>
          </c:dLbls>
          <c:xVal>
            <c:numRef>
              <c:f>Sheet1!$E$2:$E$4</c:f>
              <c:numCache>
                <c:formatCode>General</c:formatCode>
                <c:ptCount val="3"/>
                <c:pt idx="0">
                  <c:v>53.3</c:v>
                </c:pt>
                <c:pt idx="1">
                  <c:v>33.5</c:v>
                </c:pt>
                <c:pt idx="2">
                  <c:v>-19.8</c:v>
                </c:pt>
              </c:numCache>
            </c:numRef>
          </c:xVal>
          <c:yVal>
            <c:numRef>
              <c:f>Sheet1!$F$2:$F$4</c:f>
              <c:numCache>
                <c:formatCode>General</c:formatCode>
                <c:ptCount val="3"/>
                <c:pt idx="0">
                  <c:v>92.9</c:v>
                </c:pt>
                <c:pt idx="1">
                  <c:v>49.9</c:v>
                </c:pt>
                <c:pt idx="2">
                  <c:v>-43.4</c:v>
                </c:pt>
              </c:numCache>
            </c:numRef>
          </c:yVal>
          <c:smooth val="0"/>
        </c:ser>
        <c:axId val="70010"/>
        <c:axId val="70020"/>
      </c:scatterChart>
      <c:valAx>
        <c:axId val="70010"/>
        <c:scaling>
          <c:orientation val="minMax"/>
          <c:max val="60"/>
          <c:min val="-30"/>
        </c:scaling>
        <c:delete val="0"/>
        <c:axPos val="b"/>
        <c:numFmt formatCode="+0&quot;%&quot;;-0&quot;%&quot;;0&quot;%&quot;" sourceLinked="0"/>
        <c:majorTickMark val="none"/>
        <c:minorTickMark val="none"/>
        <c:tickLblPos val="low"/>
        <c:spPr>
          <a:ln w="6350">
            <a:solidFill>
              <a:srgbClr val="B7C0C5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70020"/>
        <c:crossesAt val="-50"/>
        <c:crossBetween val="midCat"/>
        <c:majorUnit val="10"/>
      </c:valAx>
      <c:valAx>
        <c:axId val="70020"/>
        <c:scaling>
          <c:orientation val="minMax"/>
          <c:max val="100"/>
          <c:min val="-50"/>
        </c:scaling>
        <c:delete val="0"/>
        <c:axPos val="l"/>
        <c:majorGridlines>
          <c:spPr>
            <a:ln w="6350">
              <a:solidFill>
                <a:srgbClr val="E3E8EB"/>
              </a:solidFill>
            </a:ln>
          </c:spPr>
        </c:majorGridlines>
        <c:numFmt formatCode="+0&quot;%&quot;;-0&quot;%&quot;;0&quot;%&quot;" sourceLinked="0"/>
        <c:majorTickMark val="none"/>
        <c:minorTickMark val="none"/>
        <c:tickLblPos val="low"/>
        <c:spPr>
          <a:ln w="6350">
            <a:solidFill>
              <a:srgbClr val="FFFFFF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70010"/>
        <c:crossesAt val="-30"/>
        <c:crossBetween val="midCat"/>
        <c:majorUnit val="25"/>
      </c:valAx>
    </c:plotArea>
    <c:legend>
      <c:legendPos val="b"/>
      <c:overlay val="0"/>
      <c:txPr>
        <a:bodyPr/>
        <a:lstStyle/>
        <a:p>
          <a:pPr>
            <a:defRPr sz="800" b="0">
              <a:solidFill>
                <a:srgbClr val="1F2A30"/>
              </a:solidFill>
              <a:latin typeface="Arial"/>
              <a:cs typeface="Arial"/>
            </a:defRPr>
          </a:pPr>
          <a:endParaRPr lang="fr-FR"/>
        </a:p>
      </c:txPr>
    </c:legend>
    <c:plotVisOnly val="1"/>
    <c:dispBlanksAs val="gap"/>
  </c:chart>
  <c:spPr>
    <a:noFill/>
    <a:ln>
      <a:noFill/>
    </a:ln>
  </c:spPr>
  <c:txPr>
    <a:bodyPr/>
    <a:lstStyle/>
    <a:p>
      <a:pPr>
        <a:defRPr sz="1000" b="0">
          <a:solidFill>
            <a:srgbClr val="5B6770"/>
          </a:solidFill>
          <a:latin typeface="Arial"/>
          <a:cs typeface="Arial"/>
        </a:defRPr>
      </a:pPr>
      <a:endParaRPr lang="fr-FR"/>
    </a:p>
  </c:tx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Coffee ÷ cocoa</c:v>
                </c:pt>
              </c:strCache>
            </c:strRef>
          </c:tx>
          <c:spPr>
            <a:ln w="31750" cap="rnd">
              <a:solidFill>
                <a:srgbClr val="7B4A2D"/>
              </a:solidFill>
              <a:round/>
            </a:ln>
          </c:spPr>
          <c:marker>
            <c:symbol val="none"/>
          </c:marker>
          <c:cat>
            <c:strRef>
              <c:f>Sheet1!$A$2:$A$24</c:f>
              <c:strCache>
                <c:ptCount val="23"/>
                <c:pt idx="0">
                  <c:v>2004</c:v>
                </c:pt>
                <c:pt idx="1">
                  <c:v>2005</c:v>
                </c:pt>
                <c:pt idx="2">
                  <c:v>2006</c:v>
                </c:pt>
                <c:pt idx="3">
                  <c:v>2007</c:v>
                </c:pt>
                <c:pt idx="4">
                  <c:v>2008</c:v>
                </c:pt>
                <c:pt idx="5">
                  <c:v>2009</c:v>
                </c:pt>
                <c:pt idx="6">
                  <c:v>2010</c:v>
                </c:pt>
                <c:pt idx="7">
                  <c:v>2011</c:v>
                </c:pt>
                <c:pt idx="8">
                  <c:v>2012</c:v>
                </c:pt>
                <c:pt idx="9">
                  <c:v>2013</c:v>
                </c:pt>
                <c:pt idx="10">
                  <c:v>2014</c:v>
                </c:pt>
                <c:pt idx="11">
                  <c:v>2015</c:v>
                </c:pt>
                <c:pt idx="12">
                  <c:v>2016</c:v>
                </c:pt>
                <c:pt idx="13">
                  <c:v>2017</c:v>
                </c:pt>
                <c:pt idx="14">
                  <c:v>2018</c:v>
                </c:pt>
                <c:pt idx="15">
                  <c:v>2019</c:v>
                </c:pt>
                <c:pt idx="16">
                  <c:v>2020</c:v>
                </c:pt>
                <c:pt idx="17">
                  <c:v>2021</c:v>
                </c:pt>
                <c:pt idx="18">
                  <c:v>2022</c:v>
                </c:pt>
                <c:pt idx="19">
                  <c:v>2023</c:v>
                </c:pt>
                <c:pt idx="20">
                  <c:v>2024</c:v>
                </c:pt>
                <c:pt idx="21">
                  <c:v>2025</c:v>
                </c:pt>
                <c:pt idx="22">
                  <c:v>2026</c:v>
                </c:pt>
              </c:strCache>
            </c: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0.51</c:v>
                </c:pt>
                <c:pt idx="1">
                  <c:v>0.56</c:v>
                </c:pt>
                <c:pt idx="2">
                  <c:v>0.54</c:v>
                </c:pt>
                <c:pt idx="3">
                  <c:v>0.68</c:v>
                </c:pt>
                <c:pt idx="4">
                  <c:v>0.93</c:v>
                </c:pt>
                <c:pt idx="5">
                  <c:v>0.9</c:v>
                </c:pt>
                <c:pt idx="6">
                  <c:v>0.78</c:v>
                </c:pt>
                <c:pt idx="7">
                  <c:v>0.98</c:v>
                </c:pt>
                <c:pt idx="8">
                  <c:v>1.26</c:v>
                </c:pt>
                <c:pt idx="9">
                  <c:v>1.14</c:v>
                </c:pt>
                <c:pt idx="10">
                  <c:v>0.93</c:v>
                </c:pt>
                <c:pt idx="11">
                  <c:v>1.23</c:v>
                </c:pt>
                <c:pt idx="12">
                  <c:v>1.07</c:v>
                </c:pt>
                <c:pt idx="13">
                  <c:v>1.88</c:v>
                </c:pt>
                <c:pt idx="14">
                  <c:v>1.5</c:v>
                </c:pt>
                <c:pt idx="15">
                  <c:v>1.47</c:v>
                </c:pt>
                <c:pt idx="16">
                  <c:v>1.27</c:v>
                </c:pt>
                <c:pt idx="17">
                  <c:v>1.29</c:v>
                </c:pt>
                <c:pt idx="18">
                  <c:v>1.37</c:v>
                </c:pt>
                <c:pt idx="19">
                  <c:v>1.44</c:v>
                </c:pt>
                <c:pt idx="20">
                  <c:v>1.14</c:v>
                </c:pt>
                <c:pt idx="21">
                  <c:v>1.02</c:v>
                </c:pt>
                <c:pt idx="22">
                  <c:v>1.44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Equal revenue</c:v>
                </c:pt>
              </c:strCache>
            </c:strRef>
          </c:tx>
          <c:spPr>
            <a:ln w="12700" cap="rnd">
              <a:solidFill>
                <a:srgbClr val="7F7F7F"/>
              </a:solidFill>
              <a:prstDash val="dash"/>
              <a:round/>
            </a:ln>
          </c:spPr>
          <c:marker>
            <c:symbol val="none"/>
          </c:marker>
          <c:cat>
            <c:strRef>
              <c:f>Sheet1!$A$2:$A$24</c:f>
              <c:strCache>
                <c:ptCount val="23"/>
                <c:pt idx="0">
                  <c:v>2004</c:v>
                </c:pt>
                <c:pt idx="1">
                  <c:v>2005</c:v>
                </c:pt>
                <c:pt idx="2">
                  <c:v>2006</c:v>
                </c:pt>
                <c:pt idx="3">
                  <c:v>2007</c:v>
                </c:pt>
                <c:pt idx="4">
                  <c:v>2008</c:v>
                </c:pt>
                <c:pt idx="5">
                  <c:v>2009</c:v>
                </c:pt>
                <c:pt idx="6">
                  <c:v>2010</c:v>
                </c:pt>
                <c:pt idx="7">
                  <c:v>2011</c:v>
                </c:pt>
                <c:pt idx="8">
                  <c:v>2012</c:v>
                </c:pt>
                <c:pt idx="9">
                  <c:v>2013</c:v>
                </c:pt>
                <c:pt idx="10">
                  <c:v>2014</c:v>
                </c:pt>
                <c:pt idx="11">
                  <c:v>2015</c:v>
                </c:pt>
                <c:pt idx="12">
                  <c:v>2016</c:v>
                </c:pt>
                <c:pt idx="13">
                  <c:v>2017</c:v>
                </c:pt>
                <c:pt idx="14">
                  <c:v>2018</c:v>
                </c:pt>
                <c:pt idx="15">
                  <c:v>2019</c:v>
                </c:pt>
                <c:pt idx="16">
                  <c:v>2020</c:v>
                </c:pt>
                <c:pt idx="17">
                  <c:v>2021</c:v>
                </c:pt>
                <c:pt idx="18">
                  <c:v>2022</c:v>
                </c:pt>
                <c:pt idx="19">
                  <c:v>2023</c:v>
                </c:pt>
                <c:pt idx="20">
                  <c:v>2024</c:v>
                </c:pt>
                <c:pt idx="21">
                  <c:v>2025</c:v>
                </c:pt>
                <c:pt idx="22">
                  <c:v>2026</c:v>
                </c:pt>
              </c:strCache>
            </c:strRef>
          </c:cat>
          <c:val>
            <c:numRef>
              <c:f>Sheet1!$C$2:$C$24</c:f>
              <c:numCache>
                <c:formatCode>General</c:formatCode>
                <c:ptCount val="23"/>
                <c:pt idx="0">
                  <c:v>1.0</c:v>
                </c:pt>
                <c:pt idx="1">
                  <c:v>1.0</c:v>
                </c:pt>
                <c:pt idx="2">
                  <c:v>1.0</c:v>
                </c:pt>
                <c:pt idx="3">
                  <c:v>1.0</c:v>
                </c:pt>
                <c:pt idx="4">
                  <c:v>1.0</c:v>
                </c:pt>
                <c:pt idx="5">
                  <c:v>1.0</c:v>
                </c:pt>
                <c:pt idx="6">
                  <c:v>1.0</c:v>
                </c:pt>
                <c:pt idx="7">
                  <c:v>1.0</c:v>
                </c:pt>
                <c:pt idx="8">
                  <c:v>1.0</c:v>
                </c:pt>
                <c:pt idx="9">
                  <c:v>1.0</c:v>
                </c:pt>
                <c:pt idx="10">
                  <c:v>1.0</c:v>
                </c:pt>
                <c:pt idx="11">
                  <c:v>1.0</c:v>
                </c:pt>
                <c:pt idx="12">
                  <c:v>1.0</c:v>
                </c:pt>
                <c:pt idx="13">
                  <c:v>1.0</c:v>
                </c:pt>
                <c:pt idx="14">
                  <c:v>1.0</c:v>
                </c:pt>
                <c:pt idx="15">
                  <c:v>1.0</c:v>
                </c:pt>
                <c:pt idx="16">
                  <c:v>1.0</c:v>
                </c:pt>
                <c:pt idx="17">
                  <c:v>1.0</c:v>
                </c:pt>
                <c:pt idx="18">
                  <c:v>1.0</c:v>
                </c:pt>
                <c:pt idx="19">
                  <c:v>1.0</c:v>
                </c:pt>
                <c:pt idx="20">
                  <c:v>1.0</c:v>
                </c:pt>
                <c:pt idx="21">
                  <c:v>1.0</c:v>
                </c:pt>
                <c:pt idx="22">
                  <c:v>1.0</c:v>
                </c:pt>
              </c:numCache>
            </c:numRef>
          </c:val>
          <c:smooth val="0"/>
        </c:ser>
        <c:marker val="1"/>
        <c:axId val="60010"/>
        <c:axId val="60020"/>
      </c:lineChart>
      <c:catAx>
        <c:axId val="6001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525">
            <a:solidFill>
              <a:srgbClr val="B7C0C5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60020"/>
        <c:crosses val="autoZero"/>
        <c:auto val="1"/>
        <c:lblAlgn val="ctr"/>
        <c:lblOffset val="100"/>
        <c:noMultiLvlLbl val="0"/>
      </c:catAx>
      <c:valAx>
        <c:axId val="60020"/>
        <c:scaling>
          <c:orientation val="minMax"/>
          <c:max val="2"/>
          <c:min val="0"/>
        </c:scaling>
        <c:delete val="0"/>
        <c:axPos val="l"/>
        <c:majorGridlines>
          <c:spPr>
            <a:ln w="6350">
              <a:solidFill>
                <a:srgbClr val="E3E8EB"/>
              </a:solidFill>
            </a:ln>
          </c:spPr>
        </c:majorGridlines>
        <c:numFmt formatCode="0.0" sourceLinked="0"/>
        <c:majorTickMark val="none"/>
        <c:minorTickMark val="none"/>
        <c:tickLblPos val="low"/>
        <c:spPr>
          <a:ln w="6350">
            <a:solidFill>
              <a:srgbClr val="FFFFFF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60010"/>
        <c:crosses val="autoZero"/>
        <c:crossBetween val="between"/>
        <c:majorUnit val="0.5"/>
      </c:valAx>
    </c:plotArea>
    <c:plotVisOnly val="1"/>
    <c:dispBlanksAs val="gap"/>
  </c:chart>
  <c:spPr>
    <a:noFill/>
    <a:ln>
      <a:noFill/>
    </a:ln>
  </c:spPr>
  <c:txPr>
    <a:bodyPr/>
    <a:lstStyle/>
    <a:p>
      <a:pPr>
        <a:defRPr sz="1000" b="0">
          <a:solidFill>
            <a:srgbClr val="5B6770"/>
          </a:solidFill>
          <a:latin typeface="Arial"/>
          <a:cs typeface="Arial"/>
        </a:defRPr>
      </a:pPr>
      <a:endParaRPr lang="fr-FR"/>
    </a:p>
  </c:tx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Robusta area</c:v>
                </c:pt>
              </c:strCache>
            </c:strRef>
          </c:tx>
          <c:spPr>
            <a:solidFill>
              <a:srgbClr val="BFBFBF"/>
            </a:solidFill>
          </c:spPr>
          <c:invertIfNegative val="0"/>
          <c:dPt>
            <c:idx val="1"/>
            <c:invertIfNegative val="0"/>
            <c:bubble3D val="0"/>
            <c:spPr>
              <a:solidFill>
                <a:srgbClr val="C00000"/>
              </a:solidFill>
            </c:spPr>
          </c:dPt>
          <c:dPt>
            <c:idx val="2"/>
            <c:invertIfNegative val="0"/>
            <c:bubble3D val="0"/>
            <c:spPr>
              <a:solidFill>
                <a:srgbClr val="C00000"/>
              </a:solidFill>
            </c:spPr>
          </c:dPt>
          <c:dPt>
            <c:idx val="3"/>
            <c:invertIfNegative val="0"/>
            <c:bubble3D val="0"/>
            <c:spPr>
              <a:solidFill>
                <a:srgbClr val="C00000"/>
              </a:solidFill>
            </c:spPr>
          </c:dPt>
          <c:dPt>
            <c:idx val="4"/>
            <c:invertIfNegative val="0"/>
            <c:bubble3D val="0"/>
            <c:spPr>
              <a:solidFill>
                <a:srgbClr val="C00000"/>
              </a:solidFill>
            </c:spPr>
          </c:dPt>
          <c:dPt>
            <c:idx val="5"/>
            <c:invertIfNegative val="0"/>
            <c:bubble3D val="0"/>
            <c:spPr>
              <a:solidFill>
                <a:srgbClr val="C00000"/>
              </a:solidFill>
            </c:spPr>
          </c:dPt>
          <c:dPt>
            <c:idx val="6"/>
            <c:invertIfNegative val="0"/>
            <c:bubble3D val="0"/>
            <c:spPr>
              <a:solidFill>
                <a:srgbClr val="C00000"/>
              </a:solidFill>
            </c:spPr>
          </c:dPt>
          <c:dPt>
            <c:idx val="7"/>
            <c:invertIfNegative val="0"/>
            <c:bubble3D val="0"/>
            <c:spPr>
              <a:solidFill>
                <a:srgbClr val="C00000"/>
              </a:solidFill>
            </c:spPr>
          </c:dPt>
          <c:dPt>
            <c:idx val="8"/>
            <c:invertIfNegative val="0"/>
            <c:bubble3D val="0"/>
            <c:spPr>
              <a:solidFill>
                <a:srgbClr val="C00000"/>
              </a:solidFill>
            </c:spPr>
          </c:dPt>
          <c:dPt>
            <c:idx val="9"/>
            <c:invertIfNegative val="0"/>
            <c:bubble3D val="0"/>
            <c:spPr>
              <a:solidFill>
                <a:srgbClr val="3A8D5B"/>
              </a:solidFill>
            </c:spPr>
          </c:dPt>
          <c:dPt>
            <c:idx val="10"/>
            <c:invertIfNegative val="0"/>
            <c:bubble3D val="0"/>
            <c:spPr>
              <a:solidFill>
                <a:srgbClr val="3A8D5B"/>
              </a:solidFill>
            </c:spPr>
          </c:dPt>
          <c:dPt>
            <c:idx val="11"/>
            <c:invertIfNegative val="0"/>
            <c:bubble3D val="0"/>
            <c:spPr>
              <a:solidFill>
                <a:srgbClr val="C00000"/>
              </a:solidFill>
            </c:spPr>
          </c:dPt>
          <c:dPt>
            <c:idx val="12"/>
            <c:invertIfNegative val="0"/>
            <c:bubble3D val="0"/>
            <c:spPr>
              <a:solidFill>
                <a:srgbClr val="3A8D5B"/>
              </a:solidFill>
            </c:spPr>
          </c:dPt>
          <c:dPt>
            <c:idx val="13"/>
            <c:invertIfNegative val="0"/>
            <c:bubble3D val="0"/>
            <c:spPr>
              <a:solidFill>
                <a:srgbClr val="3A8D5B"/>
              </a:solidFill>
            </c:spPr>
          </c:dPt>
          <c:dPt>
            <c:idx val="14"/>
            <c:invertIfNegative val="0"/>
            <c:bubble3D val="0"/>
            <c:spPr>
              <a:solidFill>
                <a:srgbClr val="3A8D5B"/>
              </a:solidFill>
            </c:spPr>
          </c:dPt>
          <c:dPt>
            <c:idx val="15"/>
            <c:invertIfNegative val="0"/>
            <c:bubble3D val="0"/>
            <c:spPr>
              <a:solidFill>
                <a:srgbClr val="3A8D5B"/>
              </a:solidFill>
            </c:spPr>
          </c:dPt>
          <c:dPt>
            <c:idx val="16"/>
            <c:invertIfNegative val="0"/>
            <c:bubble3D val="0"/>
            <c:spPr>
              <a:solidFill>
                <a:srgbClr val="3A8D5B"/>
              </a:solidFill>
            </c:spPr>
          </c:dPt>
          <c:dPt>
            <c:idx val="17"/>
            <c:invertIfNegative val="0"/>
            <c:bubble3D val="0"/>
            <c:spPr>
              <a:solidFill>
                <a:srgbClr val="3A8D5B"/>
              </a:solidFill>
            </c:spPr>
          </c:dPt>
          <c:dPt>
            <c:idx val="18"/>
            <c:invertIfNegative val="0"/>
            <c:bubble3D val="0"/>
            <c:spPr>
              <a:solidFill>
                <a:srgbClr val="3A8D5B"/>
              </a:solidFill>
            </c:spPr>
          </c:dPt>
          <c:dPt>
            <c:idx val="19"/>
            <c:invertIfNegative val="0"/>
            <c:bubble3D val="0"/>
            <c:spPr>
              <a:solidFill>
                <a:srgbClr val="3A8D5B"/>
              </a:solidFill>
            </c:spPr>
          </c:dPt>
          <c:dLbls>
            <c:numFmt formatCode="+0.0;-0.0;0.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700" b="1">
                    <a:solidFill>
                      <a:srgbClr val="1F2A30"/>
                    </a:solidFill>
                    <a:latin typeface="Arial"/>
                    <a:cs typeface="Arial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Sheet1!$A$2:$A$24</c:f>
              <c:strCache>
                <c:ptCount val="23"/>
                <c:pt idx="0">
                  <c:v>2004</c:v>
                </c:pt>
                <c:pt idx="1">
                  <c:v>2005</c:v>
                </c:pt>
                <c:pt idx="2">
                  <c:v>2006</c:v>
                </c:pt>
                <c:pt idx="3">
                  <c:v>2007</c:v>
                </c:pt>
                <c:pt idx="4">
                  <c:v>2008</c:v>
                </c:pt>
                <c:pt idx="5">
                  <c:v>2009</c:v>
                </c:pt>
                <c:pt idx="6">
                  <c:v>2010</c:v>
                </c:pt>
                <c:pt idx="7">
                  <c:v>2011</c:v>
                </c:pt>
                <c:pt idx="8">
                  <c:v>2012</c:v>
                </c:pt>
                <c:pt idx="9">
                  <c:v>2013</c:v>
                </c:pt>
                <c:pt idx="10">
                  <c:v>2014</c:v>
                </c:pt>
                <c:pt idx="11">
                  <c:v>2015</c:v>
                </c:pt>
                <c:pt idx="12">
                  <c:v>2016</c:v>
                </c:pt>
                <c:pt idx="13">
                  <c:v>2017</c:v>
                </c:pt>
                <c:pt idx="14">
                  <c:v>2018</c:v>
                </c:pt>
                <c:pt idx="15">
                  <c:v>2019</c:v>
                </c:pt>
                <c:pt idx="16">
                  <c:v>2020</c:v>
                </c:pt>
                <c:pt idx="17">
                  <c:v>2021</c:v>
                </c:pt>
                <c:pt idx="18">
                  <c:v>2022</c:v>
                </c:pt>
                <c:pt idx="19">
                  <c:v>2023</c:v>
                </c:pt>
                <c:pt idx="20">
                  <c:v>2024</c:v>
                </c:pt>
                <c:pt idx="21">
                  <c:v>2025</c:v>
                </c:pt>
                <c:pt idx="22">
                  <c:v>2026</c:v>
                </c:pt>
              </c:strCache>
            </c:strRef>
          </c:cat>
          <c:val>
            <c:numRef>
              <c:f>Sheet1!$B$2:$B$24</c:f>
              <c:numCache>
                <c:formatCode>General</c:formatCode>
                <c:ptCount val="23"/>
                <c:pt idx="1">
                  <c:v>-2.0</c:v>
                </c:pt>
                <c:pt idx="2">
                  <c:v>-2.0</c:v>
                </c:pt>
                <c:pt idx="3">
                  <c:v>-6.5</c:v>
                </c:pt>
                <c:pt idx="4">
                  <c:v>-4.7</c:v>
                </c:pt>
                <c:pt idx="5">
                  <c:v>-2.5</c:v>
                </c:pt>
                <c:pt idx="6">
                  <c:v>-2.7</c:v>
                </c:pt>
                <c:pt idx="7">
                  <c:v>-2.0</c:v>
                </c:pt>
                <c:pt idx="8">
                  <c:v>0.0</c:v>
                </c:pt>
                <c:pt idx="9">
                  <c:v>-2.6</c:v>
                </c:pt>
                <c:pt idx="10">
                  <c:v>-1.8</c:v>
                </c:pt>
                <c:pt idx="11">
                  <c:v>-0.0</c:v>
                </c:pt>
                <c:pt idx="12">
                  <c:v>0.9</c:v>
                </c:pt>
                <c:pt idx="13">
                  <c:v>-1.4</c:v>
                </c:pt>
                <c:pt idx="14">
                  <c:v>0.1</c:v>
                </c:pt>
                <c:pt idx="15">
                  <c:v>0.0</c:v>
                </c:pt>
                <c:pt idx="16">
                  <c:v>0.0</c:v>
                </c:pt>
                <c:pt idx="17">
                  <c:v>3.4</c:v>
                </c:pt>
                <c:pt idx="18">
                  <c:v>-0.0</c:v>
                </c:pt>
                <c:pt idx="19">
                  <c:v>0.7</c:v>
                </c:pt>
              </c:numCache>
            </c:numRef>
          </c:val>
        </c:ser>
        <c:gapWidth val="40"/>
        <c:overlap val="-5"/>
        <c:axId val="50010"/>
        <c:axId val="50020"/>
      </c:barChart>
      <c:catAx>
        <c:axId val="5001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525">
            <a:solidFill>
              <a:srgbClr val="B7C0C5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50020"/>
        <c:crosses val="autoZero"/>
        <c:auto val="1"/>
        <c:lblAlgn val="ctr"/>
        <c:lblOffset val="100"/>
        <c:noMultiLvlLbl val="0"/>
      </c:catAx>
      <c:valAx>
        <c:axId val="50020"/>
        <c:scaling>
          <c:orientation val="minMax"/>
          <c:max val="4"/>
          <c:min val="-8"/>
        </c:scaling>
        <c:delete val="0"/>
        <c:axPos val="l"/>
        <c:majorGridlines>
          <c:spPr>
            <a:ln w="6350">
              <a:solidFill>
                <a:srgbClr val="E3E8EB"/>
              </a:solidFill>
            </a:ln>
          </c:spPr>
        </c:majorGridlines>
        <c:numFmt formatCode="+0;-0;0" sourceLinked="0"/>
        <c:majorTickMark val="none"/>
        <c:minorTickMark val="none"/>
        <c:tickLblPos val="low"/>
        <c:spPr>
          <a:ln w="6350">
            <a:solidFill>
              <a:srgbClr val="FFFFFF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50010"/>
        <c:crosses val="autoZero"/>
        <c:crossBetween val="between"/>
        <c:majorUnit val="4"/>
      </c:valAx>
    </c:plotArea>
    <c:plotVisOnly val="1"/>
    <c:dispBlanksAs val="gap"/>
  </c:chart>
  <c:spPr>
    <a:noFill/>
    <a:ln>
      <a:noFill/>
    </a:ln>
  </c:spPr>
  <c:txPr>
    <a:bodyPr/>
    <a:lstStyle/>
    <a:p>
      <a:pPr>
        <a:defRPr sz="1000" b="0">
          <a:solidFill>
            <a:srgbClr val="5B6770"/>
          </a:solidFill>
          <a:latin typeface="Arial"/>
          <a:cs typeface="Arial"/>
        </a:defRPr>
      </a:pPr>
      <a:endParaRPr lang="fr-FR"/>
    </a:p>
  </c:tx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</c:v>
                </c:pt>
              </c:strCache>
            </c:strRef>
          </c:tx>
          <c:spPr>
            <a:solidFill>
              <a:srgbClr val="BFBFBF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BFBFBF"/>
              </a:solidFill>
            </c:spPr>
          </c:dPt>
          <c:dPt>
            <c:idx val="1"/>
            <c:invertIfNegative val="0"/>
            <c:bubble3D val="0"/>
            <c:spPr>
              <a:solidFill>
                <a:srgbClr val="BFBFBF"/>
              </a:solidFill>
            </c:spPr>
          </c:dPt>
          <c:dPt>
            <c:idx val="2"/>
            <c:invertIfNegative val="0"/>
            <c:bubble3D val="0"/>
            <c:spPr>
              <a:solidFill>
                <a:srgbClr val="BFBFBF"/>
              </a:solidFill>
            </c:spPr>
          </c:dPt>
          <c:dPt>
            <c:idx val="3"/>
            <c:invertIfNegative val="0"/>
            <c:bubble3D val="0"/>
            <c:spPr>
              <a:solidFill>
                <a:srgbClr val="3A8D5B"/>
              </a:solidFill>
            </c:spPr>
          </c:dPt>
          <c:dPt>
            <c:idx val="4"/>
            <c:invertIfNegative val="0"/>
            <c:bubble3D val="0"/>
            <c:spPr>
              <a:solidFill>
                <a:srgbClr val="BFBFBF"/>
              </a:solidFill>
            </c:spPr>
          </c:dPt>
          <c:dPt>
            <c:idx val="5"/>
            <c:invertIfNegative val="0"/>
            <c:bubble3D val="0"/>
            <c:spPr>
              <a:solidFill>
                <a:srgbClr val="3A8D5B"/>
              </a:solidFill>
            </c:spPr>
          </c:dPt>
          <c:dPt>
            <c:idx val="6"/>
            <c:invertIfNegative val="0"/>
            <c:bubble3D val="0"/>
            <c:spPr>
              <a:solidFill>
                <a:srgbClr val="3A8D5B"/>
              </a:solidFill>
            </c:spPr>
          </c:dPt>
          <c:dPt>
            <c:idx val="7"/>
            <c:invertIfNegative val="0"/>
            <c:bubble3D val="0"/>
            <c:spPr>
              <a:solidFill>
                <a:srgbClr val="C00000"/>
              </a:solidFill>
            </c:spPr>
          </c:dPt>
          <c:dLbls>
            <c:numFmt formatCode="+0.00;-0.00;0.0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000" b="1">
                    <a:solidFill>
                      <a:srgbClr val="1F2A30"/>
                    </a:solidFill>
                    <a:latin typeface="Arial"/>
                    <a:cs typeface="Arial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Sheet1!$A$2:$A$9</c:f>
              <c:strCache>
                <c:ptCount val="8"/>
                <c:pt idx="0">
                  <c:v>Robusta planted vs robusta yield (YoY)</c:v>
                </c:pt>
                <c:pt idx="1">
                  <c:v>Coffee area vs coffee yield (YoY)</c:v>
                </c:pt>
                <c:pt idx="2">
                  <c:v>Change in that ratio → robusta area, 1 yr later</c:v>
                </c:pt>
                <c:pt idx="3">
                  <c:v>Coffee ÷ cocoa revenue → robusta area, 1 yr later</c:v>
                </c:pt>
                <c:pt idx="4">
                  <c:v>Coffee vs cocoa yield (YoY)</c:v>
                </c:pt>
                <c:pt idx="5">
                  <c:v>Coffee vs cocoa farm-gate price (YoY)</c:v>
                </c:pt>
                <c:pt idx="6">
                  <c:v>Coffee vs cocoa revenue per ha (YoY)</c:v>
                </c:pt>
                <c:pt idx="7">
                  <c:v>Coffee area vs cocoa area (YoY)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-0.07</c:v>
                </c:pt>
                <c:pt idx="1">
                  <c:v>-0.08</c:v>
                </c:pt>
                <c:pt idx="2">
                  <c:v>-0.06</c:v>
                </c:pt>
                <c:pt idx="3">
                  <c:v>0.64</c:v>
                </c:pt>
                <c:pt idx="4">
                  <c:v>0.16</c:v>
                </c:pt>
                <c:pt idx="5">
                  <c:v>0.56</c:v>
                </c:pt>
                <c:pt idx="6">
                  <c:v>0.49</c:v>
                </c:pt>
                <c:pt idx="7">
                  <c:v>-0.59</c:v>
                </c:pt>
              </c:numCache>
            </c:numRef>
          </c:val>
        </c:ser>
        <c:gapWidth val="40"/>
        <c:overlap val="0"/>
        <c:axId val="50010"/>
        <c:axId val="50020"/>
      </c:barChart>
      <c:catAx>
        <c:axId val="50010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low"/>
        <c:spPr>
          <a:ln w="9525">
            <a:solidFill>
              <a:srgbClr val="B7C0C5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50020"/>
        <c:crosses val="autoZero"/>
        <c:auto val="1"/>
        <c:lblAlgn val="ctr"/>
        <c:lblOffset val="100"/>
        <c:noMultiLvlLbl val="0"/>
      </c:catAx>
      <c:valAx>
        <c:axId val="50020"/>
        <c:scaling>
          <c:orientation val="minMax"/>
          <c:max val="1"/>
          <c:min val="-1"/>
        </c:scaling>
        <c:delete val="0"/>
        <c:axPos val="b"/>
        <c:majorGridlines>
          <c:spPr>
            <a:ln w="6350">
              <a:solidFill>
                <a:srgbClr val="E3E8EB"/>
              </a:solidFill>
            </a:ln>
          </c:spPr>
        </c:majorGridlines>
        <c:numFmt formatCode="+0.00;-0.00;0.00" sourceLinked="0"/>
        <c:majorTickMark val="none"/>
        <c:minorTickMark val="none"/>
        <c:tickLblPos val="low"/>
        <c:spPr>
          <a:ln w="6350">
            <a:solidFill>
              <a:srgbClr val="FFFFFF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50010"/>
        <c:crosses val="autoZero"/>
        <c:crossBetween val="between"/>
        <c:majorUnit val="0.5"/>
      </c:valAx>
    </c:plotArea>
    <c:plotVisOnly val="1"/>
    <c:dispBlanksAs val="gap"/>
  </c:chart>
  <c:spPr>
    <a:noFill/>
    <a:ln>
      <a:noFill/>
    </a:ln>
  </c:spPr>
  <c:txPr>
    <a:bodyPr/>
    <a:lstStyle/>
    <a:p>
      <a:pPr>
        <a:defRPr sz="1000" b="0">
          <a:solidFill>
            <a:srgbClr val="5B6770"/>
          </a:solidFill>
          <a:latin typeface="Arial"/>
          <a:cs typeface="Arial"/>
        </a:defRPr>
      </a:pPr>
      <a:endParaRPr lang="fr-FR"/>
    </a:p>
  </c:tx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9"/>
          <c:h val="0.8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Productive area</c:v>
                </c:pt>
              </c:strCache>
            </c:strRef>
          </c:tx>
          <c:spPr>
            <a:solidFill>
              <a:srgbClr val="2E75B6"/>
            </a:solidFill>
          </c:spPr>
          <c:invertIfNegative val="0"/>
          <c:dPt>
            <c:idx val="10"/>
            <c:invertIfNegative val="0"/>
            <c:bubble3D val="0"/>
            <c:spPr>
              <a:pattFill prst="wdUpDiag">
                <a:fgClr>
                  <a:srgbClr val="2E75B6"/>
                </a:fgClr>
                <a:bgClr>
                  <a:srgbClr val="FFFFFF"/>
                </a:bgClr>
              </a:pattFill>
              <a:ln w="12700">
                <a:solidFill>
                  <a:srgbClr val="2E75B6"/>
                </a:solidFill>
              </a:ln>
            </c:spPr>
          </c:dPt>
          <c:dPt>
            <c:idx val="11"/>
            <c:invertIfNegative val="0"/>
            <c:bubble3D val="0"/>
            <c:spPr>
              <a:pattFill prst="wdUpDiag">
                <a:fgClr>
                  <a:srgbClr val="2E75B6"/>
                </a:fgClr>
                <a:bgClr>
                  <a:srgbClr val="FFFFFF"/>
                </a:bgClr>
              </a:pattFill>
              <a:ln w="12700">
                <a:solidFill>
                  <a:srgbClr val="2E75B6"/>
                </a:solidFill>
              </a:ln>
            </c:spPr>
          </c:dPt>
          <c:dPt>
            <c:idx val="12"/>
            <c:invertIfNegative val="0"/>
            <c:bubble3D val="0"/>
            <c:spPr>
              <a:pattFill prst="wdUpDiag">
                <a:fgClr>
                  <a:srgbClr val="2E75B6"/>
                </a:fgClr>
                <a:bgClr>
                  <a:srgbClr val="FFFFFF"/>
                </a:bgClr>
              </a:pattFill>
              <a:ln w="12700">
                <a:solidFill>
                  <a:srgbClr val="2E75B6"/>
                </a:solidFill>
              </a:ln>
            </c:spPr>
          </c:dPt>
          <c:dPt>
            <c:idx val="13"/>
            <c:invertIfNegative val="0"/>
            <c:bubble3D val="0"/>
            <c:spPr>
              <a:pattFill prst="wdUpDiag">
                <a:fgClr>
                  <a:srgbClr val="2E75B6"/>
                </a:fgClr>
                <a:bgClr>
                  <a:srgbClr val="FFFFFF"/>
                </a:bgClr>
              </a:pattFill>
              <a:ln w="12700">
                <a:solidFill>
                  <a:srgbClr val="2E75B6"/>
                </a:solidFill>
              </a:ln>
            </c:spPr>
          </c:dPt>
          <c:dPt>
            <c:idx val="14"/>
            <c:invertIfNegative val="0"/>
            <c:bubble3D val="0"/>
            <c:spPr>
              <a:pattFill prst="wdUpDiag">
                <a:fgClr>
                  <a:srgbClr val="2E75B6"/>
                </a:fgClr>
                <a:bgClr>
                  <a:srgbClr val="FFFFFF"/>
                </a:bgClr>
              </a:pattFill>
              <a:ln w="12700">
                <a:solidFill>
                  <a:srgbClr val="2E75B6"/>
                </a:solidFill>
              </a:ln>
            </c:spPr>
          </c:dPt>
          <c:dLbls>
            <c:numFmt formatCode="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800" b="1">
                    <a:solidFill>
                      <a:srgbClr val="262626"/>
                    </a:solidFill>
                    <a:latin typeface="Arial"/>
                    <a:cs typeface="Arial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Sheet1!$A$2:$A$16</c:f>
              <c:strCache>
                <c:ptCount val="15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</c:v>
                </c:pt>
                <c:pt idx="12">
                  <c:v>2025</c:v>
                </c:pt>
                <c:pt idx="13">
                  <c:v>2026</c:v>
                </c:pt>
                <c:pt idx="14">
                  <c:v>2027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672.8</c:v>
                </c:pt>
                <c:pt idx="1">
                  <c:v>664.9</c:v>
                </c:pt>
                <c:pt idx="2">
                  <c:v>668.1</c:v>
                </c:pt>
                <c:pt idx="3">
                  <c:v>667.6</c:v>
                </c:pt>
                <c:pt idx="4">
                  <c:v>664.0</c:v>
                </c:pt>
                <c:pt idx="5">
                  <c:v>673.1</c:v>
                </c:pt>
                <c:pt idx="6">
                  <c:v>672.5</c:v>
                </c:pt>
                <c:pt idx="7">
                  <c:v>673.6</c:v>
                </c:pt>
                <c:pt idx="8">
                  <c:v>694.1</c:v>
                </c:pt>
                <c:pt idx="9">
                  <c:v>695.1</c:v>
                </c:pt>
                <c:pt idx="10">
                  <c:v>697.9</c:v>
                </c:pt>
                <c:pt idx="11">
                  <c:v>700.7</c:v>
                </c:pt>
                <c:pt idx="12">
                  <c:v>703.5</c:v>
                </c:pt>
                <c:pt idx="13">
                  <c:v>706.3</c:v>
                </c:pt>
                <c:pt idx="14">
                  <c:v>709.2</c:v>
                </c:pt>
              </c:numCache>
            </c:numRef>
          </c:val>
        </c:ser>
        <c:gapWidth val="40"/>
        <c:overlap val="0"/>
        <c:axId val="50010"/>
        <c:axId val="50020"/>
      </c:barChart>
      <c:catAx>
        <c:axId val="5001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525">
            <a:solidFill>
              <a:srgbClr val="B7C0C5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50020"/>
        <c:crosses val="autoZero"/>
        <c:auto val="1"/>
        <c:lblAlgn val="ctr"/>
        <c:lblOffset val="100"/>
        <c:noMultiLvlLbl val="0"/>
      </c:catAx>
      <c:valAx>
        <c:axId val="50020"/>
        <c:scaling>
          <c:orientation val="minMax"/>
          <c:max val="720"/>
          <c:min val="640"/>
        </c:scaling>
        <c:delete val="0"/>
        <c:axPos val="l"/>
        <c:majorGridlines>
          <c:spPr>
            <a:ln w="6350">
              <a:solidFill>
                <a:srgbClr val="E3E8EB"/>
              </a:solidFill>
            </a:ln>
          </c:spPr>
        </c:majorGridlines>
        <c:numFmt formatCode="0" sourceLinked="0"/>
        <c:majorTickMark val="none"/>
        <c:minorTickMark val="none"/>
        <c:tickLblPos val="low"/>
        <c:spPr>
          <a:ln w="6350">
            <a:solidFill>
              <a:srgbClr val="FFFFFF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50010"/>
        <c:crosses val="autoZero"/>
        <c:crossBetween val="between"/>
        <c:majorUnit val="20"/>
      </c:valAx>
    </c:plotArea>
    <c:plotVisOnly val="1"/>
    <c:dispBlanksAs val="gap"/>
  </c:chart>
  <c:spPr>
    <a:noFill/>
    <a:ln>
      <a:noFill/>
    </a:ln>
  </c:spPr>
  <c:txPr>
    <a:bodyPr/>
    <a:lstStyle/>
    <a:p>
      <a:pPr>
        <a:defRPr sz="1000" b="0">
          <a:solidFill>
            <a:srgbClr val="5B6770"/>
          </a:solidFill>
          <a:latin typeface="Arial"/>
          <a:cs typeface="Arial"/>
        </a:defRPr>
      </a:pPr>
      <a:endParaRPr lang="fr-FR"/>
    </a:p>
  </c:tx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 ha/yr</c:v>
                </c:pt>
              </c:strCache>
            </c:strRef>
          </c:tx>
          <c:spPr>
            <a:solidFill>
              <a:srgbClr val="7F7F7F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7F7F7F"/>
              </a:solidFill>
            </c:spPr>
          </c:dPt>
          <c:dPt>
            <c:idx val="1"/>
            <c:invertIfNegative val="0"/>
            <c:bubble3D val="0"/>
            <c:spPr>
              <a:solidFill>
                <a:srgbClr val="A6A6A6"/>
              </a:solidFill>
            </c:spPr>
          </c:dPt>
          <c:dPt>
            <c:idx val="2"/>
            <c:invertIfNegative val="0"/>
            <c:bubble3D val="0"/>
            <c:spPr>
              <a:solidFill>
                <a:srgbClr val="C00000"/>
              </a:solidFill>
            </c:spPr>
          </c:dPt>
          <c:dLbls>
            <c:numFmt formatCode="0.0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000" b="1">
                    <a:solidFill>
                      <a:srgbClr val="1F2A30"/>
                    </a:solidFill>
                    <a:latin typeface="Arial"/>
                    <a:cs typeface="Arial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Count val="3"/>
                <c:pt idx="0">
                  <c:v>2000–2010</c:v>
                </c:pt>
                <c:pt idx="1">
                  <c:v>2010–2020</c:v>
                </c:pt>
                <c:pt idx="2">
                  <c:v>2020–2024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0.55</c:v>
                </c:pt>
                <c:pt idx="1">
                  <c:v>0.46</c:v>
                </c:pt>
                <c:pt idx="2">
                  <c:v>0.12</c:v>
                </c:pt>
              </c:numCache>
            </c:numRef>
          </c:val>
        </c:ser>
        <c:gapWidth val="60"/>
        <c:overlap val="-5"/>
        <c:axId val="50010"/>
        <c:axId val="50020"/>
      </c:barChart>
      <c:catAx>
        <c:axId val="5001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525">
            <a:solidFill>
              <a:srgbClr val="B7C0C5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50020"/>
        <c:crosses val="autoZero"/>
        <c:auto val="1"/>
        <c:lblAlgn val="ctr"/>
        <c:lblOffset val="100"/>
        <c:noMultiLvlLbl val="0"/>
      </c:catAx>
      <c:valAx>
        <c:axId val="50020"/>
        <c:scaling>
          <c:orientation val="minMax"/>
          <c:max val="0.7"/>
          <c:min val="0"/>
        </c:scaling>
        <c:delete val="0"/>
        <c:axPos val="l"/>
        <c:majorGridlines>
          <c:spPr>
            <a:ln w="6350">
              <a:solidFill>
                <a:srgbClr val="E3E8EB"/>
              </a:solidFill>
            </a:ln>
          </c:spPr>
        </c:majorGridlines>
        <c:numFmt formatCode="0.0" sourceLinked="0"/>
        <c:majorTickMark val="none"/>
        <c:minorTickMark val="none"/>
        <c:tickLblPos val="low"/>
        <c:spPr>
          <a:ln w="6350">
            <a:solidFill>
              <a:srgbClr val="FFFFFF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50010"/>
        <c:crosses val="autoZero"/>
        <c:crossBetween val="between"/>
        <c:majorUnit val="0.2"/>
      </c:valAx>
    </c:plotArea>
    <c:plotVisOnly val="1"/>
    <c:dispBlanksAs val="gap"/>
  </c:chart>
  <c:spPr>
    <a:noFill/>
    <a:ln>
      <a:noFill/>
    </a:ln>
  </c:spPr>
  <c:txPr>
    <a:bodyPr/>
    <a:lstStyle/>
    <a:p>
      <a:pPr>
        <a:defRPr sz="1000" b="0">
          <a:solidFill>
            <a:srgbClr val="5B6770"/>
          </a:solidFill>
          <a:latin typeface="Arial"/>
          <a:cs typeface="Arial"/>
        </a:defRPr>
      </a:pPr>
      <a:endParaRPr lang="fr-FR"/>
    </a:p>
  </c:txPr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Normal, 5-town mean (1991–2020)</c:v>
                </c:pt>
              </c:strCache>
            </c:strRef>
          </c:tx>
          <c:spPr>
            <a:solidFill>
              <a:srgbClr val="9DC3E6"/>
            </a:solidFill>
          </c:spPr>
          <c:invertIfNegative val="0"/>
          <c:dPt>
            <c:idx val="5"/>
            <c:invertIfNegative val="0"/>
            <c:bubble3D val="0"/>
            <c:spPr>
              <a:solidFill>
                <a:srgbClr val="F4B183"/>
              </a:solidFill>
            </c:spPr>
          </c:dPt>
          <c:dPt>
            <c:idx val="6"/>
            <c:invertIfNegative val="0"/>
            <c:bubble3D val="0"/>
            <c:spPr>
              <a:solidFill>
                <a:srgbClr val="F4B183"/>
              </a:solidFill>
            </c:spPr>
          </c:dPt>
          <c:dPt>
            <c:idx val="7"/>
            <c:invertIfNegative val="0"/>
            <c:bubble3D val="0"/>
            <c:spPr>
              <a:solidFill>
                <a:srgbClr val="F4B183"/>
              </a:solidFill>
            </c:spPr>
          </c:dPt>
          <c:dPt>
            <c:idx val="8"/>
            <c:invertIfNegative val="0"/>
            <c:bubble3D val="0"/>
            <c:spPr>
              <a:solidFill>
                <a:srgbClr val="F4B183"/>
              </a:solidFill>
            </c:spPr>
          </c:dPt>
          <c:dLbls>
            <c:numFmt formatCode="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800" b="1">
                    <a:solidFill>
                      <a:srgbClr val="1F2A30"/>
                    </a:solidFill>
                    <a:latin typeface="Arial"/>
                    <a:cs typeface="Arial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277</c:v>
                </c:pt>
                <c:pt idx="1">
                  <c:v>245</c:v>
                </c:pt>
                <c:pt idx="2">
                  <c:v>260</c:v>
                </c:pt>
                <c:pt idx="3">
                  <c:v>235</c:v>
                </c:pt>
                <c:pt idx="4">
                  <c:v>161</c:v>
                </c:pt>
                <c:pt idx="5">
                  <c:v>119</c:v>
                </c:pt>
                <c:pt idx="6">
                  <c:v>124</c:v>
                </c:pt>
                <c:pt idx="7">
                  <c:v>112</c:v>
                </c:pt>
                <c:pt idx="8">
                  <c:v>124</c:v>
                </c:pt>
                <c:pt idx="9">
                  <c:v>189</c:v>
                </c:pt>
                <c:pt idx="10">
                  <c:v>273</c:v>
                </c:pt>
                <c:pt idx="11">
                  <c:v>324</c:v>
                </c:pt>
              </c:numCache>
            </c:numRef>
          </c:val>
        </c:ser>
        <c:gapWidth val="40"/>
        <c:overlap val="-5"/>
        <c:axId val="50010"/>
        <c:axId val="5002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Liwa normal (driest)</c:v>
                </c:pt>
              </c:strCache>
            </c:strRef>
          </c:tx>
          <c:spPr>
            <a:ln w="19050" cap="rnd">
              <a:solidFill>
                <a:srgbClr val="ED7D31"/>
              </a:solidFill>
              <a:prstDash val="dash"/>
              <a:round/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275</c:v>
                </c:pt>
                <c:pt idx="1">
                  <c:v>250</c:v>
                </c:pt>
                <c:pt idx="2">
                  <c:v>244</c:v>
                </c:pt>
                <c:pt idx="3">
                  <c:v>196</c:v>
                </c:pt>
                <c:pt idx="4">
                  <c:v>125</c:v>
                </c:pt>
                <c:pt idx="5">
                  <c:v>91</c:v>
                </c:pt>
                <c:pt idx="6">
                  <c:v>93</c:v>
                </c:pt>
                <c:pt idx="7">
                  <c:v>65</c:v>
                </c:pt>
                <c:pt idx="8">
                  <c:v>79</c:v>
                </c:pt>
                <c:pt idx="9">
                  <c:v>116</c:v>
                </c:pt>
                <c:pt idx="10">
                  <c:v>183</c:v>
                </c:pt>
                <c:pt idx="11">
                  <c:v>277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Pagar Alam normal (wettest)</c:v>
                </c:pt>
              </c:strCache>
            </c:strRef>
          </c:tx>
          <c:spPr>
            <a:ln w="19050" cap="rnd">
              <a:solidFill>
                <a:srgbClr val="1F3864"/>
              </a:solidFill>
              <a:prstDash val="dash"/>
              <a:round/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297</c:v>
                </c:pt>
                <c:pt idx="1">
                  <c:v>252</c:v>
                </c:pt>
                <c:pt idx="2">
                  <c:v>277</c:v>
                </c:pt>
                <c:pt idx="3">
                  <c:v>266</c:v>
                </c:pt>
                <c:pt idx="4">
                  <c:v>190</c:v>
                </c:pt>
                <c:pt idx="5">
                  <c:v>141</c:v>
                </c:pt>
                <c:pt idx="6">
                  <c:v>151</c:v>
                </c:pt>
                <c:pt idx="7">
                  <c:v>149</c:v>
                </c:pt>
                <c:pt idx="8">
                  <c:v>160</c:v>
                </c:pt>
                <c:pt idx="9">
                  <c:v>244</c:v>
                </c:pt>
                <c:pt idx="10">
                  <c:v>342</c:v>
                </c:pt>
                <c:pt idx="11">
                  <c:v>374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2026, 5-town mean</c:v>
                </c:pt>
              </c:strCache>
            </c:strRef>
          </c:tx>
          <c:spPr>
            <a:ln w="31750" cap="rnd">
              <a:solidFill>
                <a:srgbClr val="C00000"/>
              </a:solidFill>
              <a:prstDash val="solid"/>
              <a:round/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302</c:v>
                </c:pt>
                <c:pt idx="1">
                  <c:v>272</c:v>
                </c:pt>
                <c:pt idx="2">
                  <c:v>245</c:v>
                </c:pt>
                <c:pt idx="3">
                  <c:v>317</c:v>
                </c:pt>
                <c:pt idx="4">
                  <c:v>245</c:v>
                </c:pt>
                <c:pt idx="5">
                  <c:v>95</c:v>
                </c:pt>
                <c:pt idx="6">
                  <c:v>65</c:v>
                </c:pt>
                <c:pt idx="7">
                  <c:v>69</c:v>
                </c:pt>
              </c:numCache>
            </c:numRef>
          </c:val>
          <c:smooth val="0"/>
        </c:ser>
        <c:marker val="1"/>
        <c:axId val="50010"/>
        <c:axId val="50020"/>
      </c:lineChart>
      <c:catAx>
        <c:axId val="5001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525">
            <a:solidFill>
              <a:srgbClr val="B7C0C5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50020"/>
        <c:crosses val="autoZero"/>
        <c:auto val="1"/>
        <c:lblAlgn val="ctr"/>
        <c:lblOffset val="100"/>
        <c:noMultiLvlLbl val="0"/>
      </c:catAx>
      <c:valAx>
        <c:axId val="50020"/>
        <c:scaling>
          <c:orientation val="minMax"/>
          <c:max val="400"/>
          <c:min val="0"/>
        </c:scaling>
        <c:delete val="0"/>
        <c:axPos val="l"/>
        <c:majorGridlines>
          <c:spPr>
            <a:ln w="6350">
              <a:solidFill>
                <a:srgbClr val="E3E8EB"/>
              </a:solidFill>
            </a:ln>
          </c:spPr>
        </c:majorGridlines>
        <c:numFmt formatCode="0" sourceLinked="0"/>
        <c:majorTickMark val="none"/>
        <c:minorTickMark val="none"/>
        <c:tickLblPos val="low"/>
        <c:spPr>
          <a:ln w="6350">
            <a:solidFill>
              <a:srgbClr val="FFFFFF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50010"/>
        <c:crosses val="autoZero"/>
        <c:crossBetween val="between"/>
        <c:majorUnit val="100"/>
      </c:valAx>
    </c:plotArea>
    <c:legend>
      <c:legendPos val="b"/>
      <c:overlay val="0"/>
      <c:txPr>
        <a:bodyPr/>
        <a:lstStyle/>
        <a:p>
          <a:pPr>
            <a:defRPr sz="800" b="0">
              <a:solidFill>
                <a:srgbClr val="1F2A30"/>
              </a:solidFill>
              <a:latin typeface="Arial"/>
              <a:cs typeface="Arial"/>
            </a:defRPr>
          </a:pPr>
          <a:endParaRPr lang="fr-FR"/>
        </a:p>
      </c:txPr>
    </c:legend>
    <c:plotVisOnly val="1"/>
    <c:dispBlanksAs val="gap"/>
  </c:chart>
  <c:spPr>
    <a:noFill/>
    <a:ln>
      <a:noFill/>
    </a:ln>
  </c:spPr>
  <c:txPr>
    <a:bodyPr/>
    <a:lstStyle/>
    <a:p>
      <a:pPr>
        <a:defRPr sz="1000" b="0">
          <a:solidFill>
            <a:srgbClr val="5B6770"/>
          </a:solidFill>
          <a:latin typeface="Arial"/>
          <a:cs typeface="Arial"/>
        </a:defRPr>
      </a:pPr>
      <a:endParaRPr lang="fr-FR"/>
    </a:p>
  </c:txPr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vs trend</c:v>
                </c:pt>
              </c:strCache>
            </c:strRef>
          </c:tx>
          <c:spPr>
            <a:solidFill>
              <a:srgbClr val="BFBFBF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B4C7E7"/>
              </a:solidFill>
            </c:spPr>
          </c:dPt>
          <c:dPt>
            <c:idx val="1"/>
            <c:invertIfNegative val="0"/>
            <c:bubble3D val="0"/>
            <c:spPr>
              <a:solidFill>
                <a:srgbClr val="B4C7E7"/>
              </a:solidFill>
            </c:spPr>
          </c:dPt>
          <c:dPt>
            <c:idx val="2"/>
            <c:invertIfNegative val="0"/>
            <c:bubble3D val="0"/>
            <c:spPr>
              <a:solidFill>
                <a:srgbClr val="B4C7E7"/>
              </a:solidFill>
            </c:spPr>
          </c:dPt>
          <c:dPt>
            <c:idx val="3"/>
            <c:invertIfNegative val="0"/>
            <c:bubble3D val="0"/>
            <c:spPr>
              <a:solidFill>
                <a:srgbClr val="B4C7E7"/>
              </a:solidFill>
            </c:spPr>
          </c:dPt>
          <c:dPt>
            <c:idx val="4"/>
            <c:invertIfNegative val="0"/>
            <c:bubble3D val="0"/>
            <c:spPr>
              <a:solidFill>
                <a:srgbClr val="B4C7E7"/>
              </a:solidFill>
            </c:spPr>
          </c:dPt>
          <c:dPt>
            <c:idx val="5"/>
            <c:invertIfNegative val="0"/>
            <c:bubble3D val="0"/>
            <c:spPr>
              <a:solidFill>
                <a:srgbClr val="B4C7E7"/>
              </a:solidFill>
            </c:spPr>
          </c:dPt>
          <c:dPt>
            <c:idx val="6"/>
            <c:invertIfNegative val="0"/>
            <c:bubble3D val="0"/>
            <c:spPr>
              <a:solidFill>
                <a:srgbClr val="B4C7E7"/>
              </a:solidFill>
            </c:spPr>
          </c:dPt>
          <c:dPt>
            <c:idx val="7"/>
            <c:invertIfNegative val="0"/>
            <c:bubble3D val="0"/>
            <c:spPr>
              <a:solidFill>
                <a:srgbClr val="B4C7E7"/>
              </a:solidFill>
            </c:spPr>
          </c:dPt>
          <c:dPt>
            <c:idx val="8"/>
            <c:invertIfNegative val="0"/>
            <c:bubble3D val="0"/>
            <c:spPr>
              <a:solidFill>
                <a:srgbClr val="B4C7E7"/>
              </a:solidFill>
            </c:spPr>
          </c:dPt>
          <c:dPt>
            <c:idx val="9"/>
            <c:invertIfNegative val="0"/>
            <c:bubble3D val="0"/>
            <c:spPr>
              <a:solidFill>
                <a:srgbClr val="B4C7E7"/>
              </a:solidFill>
            </c:spPr>
          </c:dPt>
          <c:dPt>
            <c:idx val="10"/>
            <c:invertIfNegative val="0"/>
            <c:bubble3D val="0"/>
            <c:spPr>
              <a:solidFill>
                <a:srgbClr val="B4C7E7"/>
              </a:solidFill>
            </c:spPr>
          </c:dPt>
          <c:dPt>
            <c:idx val="11"/>
            <c:invertIfNegative val="0"/>
            <c:bubble3D val="0"/>
            <c:spPr>
              <a:solidFill>
                <a:srgbClr val="B4C7E7"/>
              </a:solidFill>
            </c:spPr>
          </c:dPt>
          <c:dPt>
            <c:idx val="12"/>
            <c:invertIfNegative val="0"/>
            <c:bubble3D val="0"/>
            <c:spPr>
              <a:solidFill>
                <a:srgbClr val="B4C7E7"/>
              </a:solidFill>
            </c:spPr>
          </c:dPt>
          <c:dPt>
            <c:idx val="13"/>
            <c:invertIfNegative val="0"/>
            <c:bubble3D val="0"/>
            <c:spPr>
              <a:solidFill>
                <a:srgbClr val="B4C7E7"/>
              </a:solidFill>
            </c:spPr>
          </c:dPt>
          <c:dPt>
            <c:idx val="14"/>
            <c:invertIfNegative val="0"/>
            <c:bubble3D val="0"/>
            <c:spPr>
              <a:solidFill>
                <a:srgbClr val="1F3864"/>
              </a:solidFill>
            </c:spPr>
          </c:dPt>
          <c:dPt>
            <c:idx val="15"/>
            <c:invertIfNegative val="0"/>
            <c:bubble3D val="0"/>
            <c:spPr>
              <a:solidFill>
                <a:srgbClr val="1F3864"/>
              </a:solidFill>
            </c:spPr>
          </c:dPt>
          <c:dPt>
            <c:idx val="16"/>
            <c:invertIfNegative val="0"/>
            <c:bubble3D val="0"/>
            <c:spPr>
              <a:solidFill>
                <a:srgbClr val="1F3864"/>
              </a:solidFill>
            </c:spPr>
          </c:dPt>
          <c:dPt>
            <c:idx val="17"/>
            <c:invertIfNegative val="0"/>
            <c:bubble3D val="0"/>
            <c:spPr>
              <a:solidFill>
                <a:srgbClr val="1F3864"/>
              </a:solidFill>
            </c:spPr>
          </c:dPt>
          <c:dLbls>
            <c:numFmt formatCode="+0.00;-0.00;0.0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000" b="1">
                    <a:solidFill>
                      <a:srgbClr val="1F2A30"/>
                    </a:solidFill>
                    <a:latin typeface="Arial"/>
                    <a:cs typeface="Arial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Sheet1!$A$2:$A$19</c:f>
              <c:strCache>
                <c:ptCount val="18"/>
                <c:pt idx="0">
                  <c:v>Rain Apr–Aug (harvest)</c:v>
                </c:pt>
                <c:pt idx="1">
                  <c:v>Previous crop vs trend</c:v>
                </c:pt>
                <c:pt idx="2">
                  <c:v>ENSO (ONI) Aug–Nov</c:v>
                </c:pt>
                <c:pt idx="3">
                  <c:v>Longest dry spell Jun–Oct</c:v>
                </c:pt>
                <c:pt idx="4">
                  <c:v>IOD (DMI) Aug–Nov</c:v>
                </c:pt>
                <c:pt idx="5">
                  <c:v>Rain Sep–Nov</c:v>
                </c:pt>
                <c:pt idx="6">
                  <c:v>Max temp. Dec–Mar (bean filling)</c:v>
                </c:pt>
                <c:pt idx="7">
                  <c:v>Rain, whole flowering year</c:v>
                </c:pt>
                <c:pt idx="8">
                  <c:v>Max temperature Jul–Oct</c:v>
                </c:pt>
                <c:pt idx="9">
                  <c:v>Rain Dec–Mar (bean filling)</c:v>
                </c:pt>
                <c:pt idx="10">
                  <c:v>Mean temperature Jul–Oct</c:v>
                </c:pt>
                <c:pt idx="11">
                  <c:v>Rain Aug–Oct, lowland</c:v>
                </c:pt>
                <c:pt idx="12">
                  <c:v>Rain Aug–Oct</c:v>
                </c:pt>
                <c:pt idx="13">
                  <c:v>Rain Aug–Oct, highland</c:v>
                </c:pt>
                <c:pt idx="14">
                  <c:v>Rain Jun–Sep (dry season)</c:v>
                </c:pt>
                <c:pt idx="15">
                  <c:v>Rain Jun–Oct</c:v>
                </c:pt>
                <c:pt idx="16">
                  <c:v>Trigger, highland towns (0–2)</c:v>
                </c:pt>
                <c:pt idx="17">
                  <c:v>Flowering trigger, towns (0–5)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0.02</c:v>
                </c:pt>
                <c:pt idx="1">
                  <c:v>0.02</c:v>
                </c:pt>
                <c:pt idx="2">
                  <c:v>0.07</c:v>
                </c:pt>
                <c:pt idx="3">
                  <c:v>0.07</c:v>
                </c:pt>
                <c:pt idx="4">
                  <c:v>0.08</c:v>
                </c:pt>
                <c:pt idx="5">
                  <c:v>-0.11</c:v>
                </c:pt>
                <c:pt idx="6">
                  <c:v>0.13</c:v>
                </c:pt>
                <c:pt idx="7">
                  <c:v>-0.17</c:v>
                </c:pt>
                <c:pt idx="8">
                  <c:v>0.22</c:v>
                </c:pt>
                <c:pt idx="9">
                  <c:v>-0.22</c:v>
                </c:pt>
                <c:pt idx="10">
                  <c:v>0.24</c:v>
                </c:pt>
                <c:pt idx="11">
                  <c:v>-0.24</c:v>
                </c:pt>
                <c:pt idx="12">
                  <c:v>-0.26</c:v>
                </c:pt>
                <c:pt idx="13">
                  <c:v>-0.26</c:v>
                </c:pt>
                <c:pt idx="14">
                  <c:v>-0.31</c:v>
                </c:pt>
                <c:pt idx="15">
                  <c:v>-0.32</c:v>
                </c:pt>
                <c:pt idx="16">
                  <c:v>0.39</c:v>
                </c:pt>
                <c:pt idx="17">
                  <c:v>0.47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year over year</c:v>
                </c:pt>
              </c:strCache>
            </c:strRef>
          </c:tx>
          <c:spPr>
            <a:solidFill>
              <a:srgbClr val="BFBFBF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F8CBAD"/>
              </a:solidFill>
            </c:spPr>
          </c:dPt>
          <c:dPt>
            <c:idx val="1"/>
            <c:invertIfNegative val="0"/>
            <c:bubble3D val="0"/>
            <c:spPr>
              <a:solidFill>
                <a:srgbClr val="ED7D31"/>
              </a:solidFill>
            </c:spPr>
          </c:dPt>
          <c:dPt>
            <c:idx val="2"/>
            <c:invertIfNegative val="0"/>
            <c:bubble3D val="0"/>
            <c:spPr>
              <a:solidFill>
                <a:srgbClr val="F8CBAD"/>
              </a:solidFill>
            </c:spPr>
          </c:dPt>
          <c:dPt>
            <c:idx val="3"/>
            <c:invertIfNegative val="0"/>
            <c:bubble3D val="0"/>
            <c:spPr>
              <a:solidFill>
                <a:srgbClr val="F8CBAD"/>
              </a:solidFill>
            </c:spPr>
          </c:dPt>
          <c:dPt>
            <c:idx val="4"/>
            <c:invertIfNegative val="0"/>
            <c:bubble3D val="0"/>
            <c:spPr>
              <a:solidFill>
                <a:srgbClr val="ED7D31"/>
              </a:solidFill>
            </c:spPr>
          </c:dPt>
          <c:dPt>
            <c:idx val="5"/>
            <c:invertIfNegative val="0"/>
            <c:bubble3D val="0"/>
            <c:spPr>
              <a:solidFill>
                <a:srgbClr val="ED7D31"/>
              </a:solidFill>
            </c:spPr>
          </c:dPt>
          <c:dPt>
            <c:idx val="6"/>
            <c:invertIfNegative val="0"/>
            <c:bubble3D val="0"/>
            <c:spPr>
              <a:solidFill>
                <a:srgbClr val="F8CBAD"/>
              </a:solidFill>
            </c:spPr>
          </c:dPt>
          <c:dPt>
            <c:idx val="7"/>
            <c:invertIfNegative val="0"/>
            <c:bubble3D val="0"/>
            <c:spPr>
              <a:solidFill>
                <a:srgbClr val="F8CBAD"/>
              </a:solidFill>
            </c:spPr>
          </c:dPt>
          <c:dPt>
            <c:idx val="8"/>
            <c:invertIfNegative val="0"/>
            <c:bubble3D val="0"/>
            <c:spPr>
              <a:solidFill>
                <a:srgbClr val="F8CBAD"/>
              </a:solidFill>
            </c:spPr>
          </c:dPt>
          <c:dPt>
            <c:idx val="9"/>
            <c:invertIfNegative val="0"/>
            <c:bubble3D val="0"/>
            <c:spPr>
              <a:solidFill>
                <a:srgbClr val="ED7D31"/>
              </a:solidFill>
            </c:spPr>
          </c:dPt>
          <c:dPt>
            <c:idx val="10"/>
            <c:invertIfNegative val="0"/>
            <c:bubble3D val="0"/>
            <c:spPr>
              <a:solidFill>
                <a:srgbClr val="F8CBAD"/>
              </a:solidFill>
            </c:spPr>
          </c:dPt>
          <c:dPt>
            <c:idx val="11"/>
            <c:invertIfNegative val="0"/>
            <c:bubble3D val="0"/>
            <c:spPr>
              <a:solidFill>
                <a:srgbClr val="ED7D31"/>
              </a:solidFill>
            </c:spPr>
          </c:dPt>
          <c:dPt>
            <c:idx val="12"/>
            <c:invertIfNegative val="0"/>
            <c:bubble3D val="0"/>
            <c:spPr>
              <a:solidFill>
                <a:srgbClr val="ED7D31"/>
              </a:solidFill>
            </c:spPr>
          </c:dPt>
          <c:dPt>
            <c:idx val="13"/>
            <c:invertIfNegative val="0"/>
            <c:bubble3D val="0"/>
            <c:spPr>
              <a:solidFill>
                <a:srgbClr val="ED7D31"/>
              </a:solidFill>
            </c:spPr>
          </c:dPt>
          <c:dPt>
            <c:idx val="14"/>
            <c:invertIfNegative val="0"/>
            <c:bubble3D val="0"/>
            <c:spPr>
              <a:solidFill>
                <a:srgbClr val="ED7D31"/>
              </a:solidFill>
            </c:spPr>
          </c:dPt>
          <c:dPt>
            <c:idx val="15"/>
            <c:invertIfNegative val="0"/>
            <c:bubble3D val="0"/>
            <c:spPr>
              <a:solidFill>
                <a:srgbClr val="ED7D31"/>
              </a:solidFill>
            </c:spPr>
          </c:dPt>
          <c:dPt>
            <c:idx val="16"/>
            <c:invertIfNegative val="0"/>
            <c:bubble3D val="0"/>
            <c:spPr>
              <a:solidFill>
                <a:srgbClr val="ED7D31"/>
              </a:solidFill>
            </c:spPr>
          </c:dPt>
          <c:dPt>
            <c:idx val="17"/>
            <c:invertIfNegative val="0"/>
            <c:bubble3D val="0"/>
            <c:spPr>
              <a:solidFill>
                <a:srgbClr val="ED7D31"/>
              </a:solidFill>
            </c:spPr>
          </c:dPt>
          <c:dLbls>
            <c:numFmt formatCode="+0.00;-0.00;0.0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000" b="1">
                    <a:solidFill>
                      <a:srgbClr val="1F2A30"/>
                    </a:solidFill>
                    <a:latin typeface="Arial"/>
                    <a:cs typeface="Arial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Sheet1!$A$2:$A$19</c:f>
              <c:strCache>
                <c:ptCount val="18"/>
                <c:pt idx="0">
                  <c:v>Rain Apr–Aug (harvest)</c:v>
                </c:pt>
                <c:pt idx="1">
                  <c:v>Previous crop vs trend</c:v>
                </c:pt>
                <c:pt idx="2">
                  <c:v>ENSO (ONI) Aug–Nov</c:v>
                </c:pt>
                <c:pt idx="3">
                  <c:v>Longest dry spell Jun–Oct</c:v>
                </c:pt>
                <c:pt idx="4">
                  <c:v>IOD (DMI) Aug–Nov</c:v>
                </c:pt>
                <c:pt idx="5">
                  <c:v>Rain Sep–Nov</c:v>
                </c:pt>
                <c:pt idx="6">
                  <c:v>Max temp. Dec–Mar (bean filling)</c:v>
                </c:pt>
                <c:pt idx="7">
                  <c:v>Rain, whole flowering year</c:v>
                </c:pt>
                <c:pt idx="8">
                  <c:v>Max temperature Jul–Oct</c:v>
                </c:pt>
                <c:pt idx="9">
                  <c:v>Rain Dec–Mar (bean filling)</c:v>
                </c:pt>
                <c:pt idx="10">
                  <c:v>Mean temperature Jul–Oct</c:v>
                </c:pt>
                <c:pt idx="11">
                  <c:v>Rain Aug–Oct, lowland</c:v>
                </c:pt>
                <c:pt idx="12">
                  <c:v>Rain Aug–Oct</c:v>
                </c:pt>
                <c:pt idx="13">
                  <c:v>Rain Aug–Oct, highland</c:v>
                </c:pt>
                <c:pt idx="14">
                  <c:v>Rain Jun–Sep (dry season)</c:v>
                </c:pt>
                <c:pt idx="15">
                  <c:v>Rain Jun–Oct</c:v>
                </c:pt>
                <c:pt idx="16">
                  <c:v>Trigger, highland towns (0–2)</c:v>
                </c:pt>
                <c:pt idx="17">
                  <c:v>Flowering trigger, towns (0–5)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0.02</c:v>
                </c:pt>
                <c:pt idx="1">
                  <c:v>-0.69</c:v>
                </c:pt>
                <c:pt idx="2">
                  <c:v>0.08</c:v>
                </c:pt>
                <c:pt idx="3">
                  <c:v>0.13</c:v>
                </c:pt>
                <c:pt idx="4">
                  <c:v>0.35</c:v>
                </c:pt>
                <c:pt idx="5">
                  <c:v>-0.32</c:v>
                </c:pt>
                <c:pt idx="6">
                  <c:v>0.27</c:v>
                </c:pt>
                <c:pt idx="7">
                  <c:v>-0.25</c:v>
                </c:pt>
                <c:pt idx="8">
                  <c:v>0.24</c:v>
                </c:pt>
                <c:pt idx="9">
                  <c:v>-0.3</c:v>
                </c:pt>
                <c:pt idx="10">
                  <c:v>0.19</c:v>
                </c:pt>
                <c:pt idx="11">
                  <c:v>-0.43</c:v>
                </c:pt>
                <c:pt idx="12">
                  <c:v>-0.45</c:v>
                </c:pt>
                <c:pt idx="13">
                  <c:v>-0.47</c:v>
                </c:pt>
                <c:pt idx="14">
                  <c:v>-0.34</c:v>
                </c:pt>
                <c:pt idx="15">
                  <c:v>-0.37</c:v>
                </c:pt>
                <c:pt idx="16">
                  <c:v>0.29</c:v>
                </c:pt>
                <c:pt idx="17">
                  <c:v>0.38</c:v>
                </c:pt>
              </c:numCache>
            </c:numRef>
          </c:val>
        </c:ser>
        <c:gapWidth val="40"/>
        <c:overlap val="0"/>
        <c:axId val="50010"/>
        <c:axId val="50020"/>
      </c:barChart>
      <c:catAx>
        <c:axId val="50010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low"/>
        <c:spPr>
          <a:ln w="9525">
            <a:solidFill>
              <a:srgbClr val="B7C0C5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50020"/>
        <c:crosses val="autoZero"/>
        <c:auto val="1"/>
        <c:lblAlgn val="ctr"/>
        <c:lblOffset val="100"/>
        <c:noMultiLvlLbl val="0"/>
      </c:catAx>
      <c:valAx>
        <c:axId val="50020"/>
        <c:scaling>
          <c:orientation val="minMax"/>
          <c:max val="0.6"/>
          <c:min val="-0.8"/>
        </c:scaling>
        <c:delete val="0"/>
        <c:axPos val="b"/>
        <c:majorGridlines>
          <c:spPr>
            <a:ln w="6350">
              <a:solidFill>
                <a:srgbClr val="E3E8EB"/>
              </a:solidFill>
            </a:ln>
          </c:spPr>
        </c:majorGridlines>
        <c:numFmt formatCode="+0.00;-0.00;0.00" sourceLinked="0"/>
        <c:majorTickMark val="none"/>
        <c:minorTickMark val="none"/>
        <c:tickLblPos val="low"/>
        <c:spPr>
          <a:ln w="6350">
            <a:solidFill>
              <a:srgbClr val="FFFFFF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50010"/>
        <c:crosses val="autoZero"/>
        <c:crossBetween val="between"/>
        <c:majorUnit val="0.2"/>
      </c:valAx>
    </c:plotArea>
    <c:plotVisOnly val="1"/>
    <c:dispBlanksAs val="gap"/>
  </c:chart>
  <c:spPr>
    <a:noFill/>
    <a:ln>
      <a:noFill/>
    </a:ln>
  </c:spPr>
  <c:txPr>
    <a:bodyPr/>
    <a:lstStyle/>
    <a:p>
      <a:pPr>
        <a:defRPr sz="1000" b="0">
          <a:solidFill>
            <a:srgbClr val="5B6770"/>
          </a:solidFill>
          <a:latin typeface="Arial"/>
          <a:cs typeface="Arial"/>
        </a:defRPr>
      </a:pPr>
      <a:endParaRPr lang="fr-FR"/>
    </a:p>
  </c:txPr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crop vs trend</c:v>
                </c:pt>
              </c:strCache>
            </c:strRef>
          </c:tx>
          <c:spPr>
            <a:solidFill>
              <a:srgbClr val="BFBFBF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C00000"/>
              </a:solidFill>
            </c:spPr>
          </c:dPt>
          <c:dPt>
            <c:idx val="1"/>
            <c:invertIfNegative val="0"/>
            <c:bubble3D val="0"/>
            <c:spPr>
              <a:solidFill>
                <a:srgbClr val="C00000"/>
              </a:solidFill>
            </c:spPr>
          </c:dPt>
          <c:dPt>
            <c:idx val="2"/>
            <c:invertIfNegative val="0"/>
            <c:bubble3D val="0"/>
            <c:spPr>
              <a:solidFill>
                <a:srgbClr val="1F3864"/>
              </a:solidFill>
            </c:spPr>
          </c:dPt>
          <c:dLbls>
            <c:numFmt formatCode="+0.0&quot;%&quot;;-0.0&quot;%&quot;;0.0&quot;%&quot;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000" b="1">
                    <a:solidFill>
                      <a:srgbClr val="1F2A30"/>
                    </a:solidFill>
                    <a:latin typeface="Arial"/>
                    <a:cs typeface="Arial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Count val="3"/>
                <c:pt idx="0">
                  <c:v>0 towns (n=9)</c:v>
                </c:pt>
                <c:pt idx="1">
                  <c:v>1–2 towns (n=12)</c:v>
                </c:pt>
                <c:pt idx="2">
                  <c:v>3–5 towns (n=24)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-9.9</c:v>
                </c:pt>
                <c:pt idx="1">
                  <c:v>-1.2</c:v>
                </c:pt>
                <c:pt idx="2">
                  <c:v>4.0</c:v>
                </c:pt>
              </c:numCache>
            </c:numRef>
          </c:val>
        </c:ser>
        <c:gapWidth val="60"/>
        <c:overlap val="-5"/>
        <c:axId val="50010"/>
        <c:axId val="50020"/>
      </c:barChart>
      <c:catAx>
        <c:axId val="5001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525">
            <a:solidFill>
              <a:srgbClr val="B7C0C5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50020"/>
        <c:crosses val="autoZero"/>
        <c:auto val="1"/>
        <c:lblAlgn val="ctr"/>
        <c:lblOffset val="100"/>
        <c:noMultiLvlLbl val="0"/>
      </c:catAx>
      <c:valAx>
        <c:axId val="50020"/>
        <c:scaling>
          <c:orientation val="minMax"/>
          <c:max val="8"/>
          <c:min val="-12"/>
        </c:scaling>
        <c:delete val="0"/>
        <c:axPos val="l"/>
        <c:majorGridlines>
          <c:spPr>
            <a:ln w="6350">
              <a:solidFill>
                <a:srgbClr val="E3E8EB"/>
              </a:solidFill>
            </a:ln>
          </c:spPr>
        </c:majorGridlines>
        <c:numFmt formatCode="+0;-0;0" sourceLinked="0"/>
        <c:majorTickMark val="none"/>
        <c:minorTickMark val="none"/>
        <c:tickLblPos val="low"/>
        <c:spPr>
          <a:ln w="6350">
            <a:solidFill>
              <a:srgbClr val="FFFFFF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50010"/>
        <c:crosses val="autoZero"/>
        <c:crossBetween val="between"/>
        <c:majorUnit val="4"/>
      </c:valAx>
    </c:plotArea>
    <c:plotVisOnly val="1"/>
    <c:dispBlanksAs val="gap"/>
  </c:chart>
  <c:spPr>
    <a:noFill/>
    <a:ln>
      <a:noFill/>
    </a:ln>
  </c:spPr>
  <c:txPr>
    <a:bodyPr/>
    <a:lstStyle/>
    <a:p>
      <a:pPr>
        <a:defRPr sz="1000" b="0">
          <a:solidFill>
            <a:srgbClr val="5B6770"/>
          </a:solidFill>
          <a:latin typeface="Arial"/>
          <a:cs typeface="Arial"/>
        </a:defRPr>
      </a:pPr>
      <a:endParaRPr lang="fr-FR"/>
    </a:p>
  </c:txPr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crop vs trend</c:v>
                </c:pt>
              </c:strCache>
            </c:strRef>
          </c:tx>
          <c:spPr>
            <a:solidFill>
              <a:srgbClr val="BFBFBF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C00000"/>
              </a:solidFill>
            </c:spPr>
          </c:dPt>
          <c:dPt>
            <c:idx val="1"/>
            <c:invertIfNegative val="0"/>
            <c:bubble3D val="0"/>
            <c:spPr>
              <a:solidFill>
                <a:srgbClr val="1F3864"/>
              </a:solidFill>
            </c:spPr>
          </c:dPt>
          <c:dPt>
            <c:idx val="2"/>
            <c:invertIfNegative val="0"/>
            <c:bubble3D val="0"/>
            <c:spPr>
              <a:solidFill>
                <a:srgbClr val="3A8D5B"/>
              </a:solidFill>
            </c:spPr>
          </c:dPt>
          <c:dPt>
            <c:idx val="3"/>
            <c:invertIfNegative val="0"/>
            <c:bubble3D val="0"/>
            <c:spPr>
              <a:solidFill>
                <a:srgbClr val="3A8D5B"/>
              </a:solidFill>
            </c:spPr>
          </c:dPt>
          <c:dPt>
            <c:idx val="4"/>
            <c:invertIfNegative val="0"/>
            <c:bubble3D val="0"/>
            <c:spPr>
              <a:solidFill>
                <a:srgbClr val="C00000"/>
              </a:solidFill>
            </c:spPr>
          </c:dPt>
          <c:dLbls>
            <c:numFmt formatCode="+0.0&quot;%&quot;;-0.0&quot;%&quot;;0.0&quot;%&quot;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000" b="1">
                    <a:solidFill>
                      <a:srgbClr val="1F2A30"/>
                    </a:solidFill>
                    <a:latin typeface="Arial"/>
                    <a:cs typeface="Arial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>&lt; 50 % (n=4)</c:v>
                </c:pt>
                <c:pt idx="1">
                  <c:v>50–80 % (n=9)</c:v>
                </c:pt>
                <c:pt idx="2">
                  <c:v>80–120 % (n=16)</c:v>
                </c:pt>
                <c:pt idx="3">
                  <c:v>120–150 % (n=6)</c:v>
                </c:pt>
                <c:pt idx="4">
                  <c:v>&gt; 150 % (n=10)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-2.9</c:v>
                </c:pt>
                <c:pt idx="1">
                  <c:v>2.1</c:v>
                </c:pt>
                <c:pt idx="2">
                  <c:v>4.8</c:v>
                </c:pt>
                <c:pt idx="3">
                  <c:v>0.3</c:v>
                </c:pt>
                <c:pt idx="4">
                  <c:v>-9.3</c:v>
                </c:pt>
              </c:numCache>
            </c:numRef>
          </c:val>
        </c:ser>
        <c:gapWidth val="60"/>
        <c:overlap val="-5"/>
        <c:axId val="50010"/>
        <c:axId val="50020"/>
      </c:barChart>
      <c:catAx>
        <c:axId val="5001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525">
            <a:solidFill>
              <a:srgbClr val="B7C0C5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50020"/>
        <c:crosses val="autoZero"/>
        <c:auto val="1"/>
        <c:lblAlgn val="ctr"/>
        <c:lblOffset val="100"/>
        <c:noMultiLvlLbl val="0"/>
      </c:catAx>
      <c:valAx>
        <c:axId val="50020"/>
        <c:scaling>
          <c:orientation val="minMax"/>
          <c:max val="8"/>
          <c:min val="-12"/>
        </c:scaling>
        <c:delete val="0"/>
        <c:axPos val="l"/>
        <c:majorGridlines>
          <c:spPr>
            <a:ln w="6350">
              <a:solidFill>
                <a:srgbClr val="E3E8EB"/>
              </a:solidFill>
            </a:ln>
          </c:spPr>
        </c:majorGridlines>
        <c:numFmt formatCode="+0;-0;0" sourceLinked="0"/>
        <c:majorTickMark val="none"/>
        <c:minorTickMark val="none"/>
        <c:tickLblPos val="low"/>
        <c:spPr>
          <a:ln w="6350">
            <a:solidFill>
              <a:srgbClr val="FFFFFF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50010"/>
        <c:crosses val="autoZero"/>
        <c:crossBetween val="between"/>
        <c:majorUnit val="4"/>
      </c:valAx>
    </c:plotArea>
    <c:plotVisOnly val="1"/>
    <c:dispBlanksAs val="gap"/>
  </c:chart>
  <c:spPr>
    <a:noFill/>
    <a:ln>
      <a:noFill/>
    </a:ln>
  </c:spPr>
  <c:txPr>
    <a:bodyPr/>
    <a:lstStyle/>
    <a:p>
      <a:pPr>
        <a:defRPr sz="1000" b="0">
          <a:solidFill>
            <a:srgbClr val="5B6770"/>
          </a:solidFill>
          <a:latin typeface="Arial"/>
          <a:cs typeface="Arial"/>
        </a:defRPr>
      </a:pPr>
      <a:endParaRPr lang="fr-FR"/>
    </a:p>
  </c:txPr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crop vs trend</c:v>
                </c:pt>
              </c:strCache>
            </c:strRef>
          </c:tx>
          <c:spPr>
            <a:solidFill>
              <a:srgbClr val="BFBFBF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C00000"/>
              </a:solidFill>
            </c:spPr>
          </c:dPt>
          <c:dPt>
            <c:idx val="1"/>
            <c:invertIfNegative val="0"/>
            <c:bubble3D val="0"/>
            <c:spPr>
              <a:solidFill>
                <a:srgbClr val="3A8D5B"/>
              </a:solidFill>
            </c:spPr>
          </c:dPt>
          <c:dPt>
            <c:idx val="2"/>
            <c:invertIfNegative val="0"/>
            <c:bubble3D val="0"/>
            <c:spPr>
              <a:solidFill>
                <a:srgbClr val="1F3864"/>
              </a:solidFill>
            </c:spPr>
          </c:dPt>
          <c:dPt>
            <c:idx val="3"/>
            <c:invertIfNegative val="0"/>
            <c:bubble3D val="0"/>
            <c:spPr>
              <a:solidFill>
                <a:srgbClr val="3A8D5B"/>
              </a:solidFill>
            </c:spPr>
          </c:dPt>
          <c:dPt>
            <c:idx val="4"/>
            <c:invertIfNegative val="0"/>
            <c:bubble3D val="0"/>
            <c:spPr>
              <a:solidFill>
                <a:srgbClr val="C00000"/>
              </a:solidFill>
            </c:spPr>
          </c:dPt>
          <c:dLbls>
            <c:numFmt formatCode="+0.0&quot;%&quot;;-0.0&quot;%&quot;;0.0&quot;%&quot;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000" b="1">
                    <a:solidFill>
                      <a:srgbClr val="1F2A30"/>
                    </a:solidFill>
                    <a:latin typeface="Arial"/>
                    <a:cs typeface="Arial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>≤ −0.7 °C (n=15)</c:v>
                </c:pt>
                <c:pt idx="1">
                  <c:v>−0.7–0 (n=13)</c:v>
                </c:pt>
                <c:pt idx="2">
                  <c:v>0–+0.7 (n=9)</c:v>
                </c:pt>
                <c:pt idx="3">
                  <c:v>+0.7–1.2 (n=3)</c:v>
                </c:pt>
                <c:pt idx="4">
                  <c:v>&gt; +1.2 °C (n=5)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-6.2</c:v>
                </c:pt>
                <c:pt idx="1">
                  <c:v>2.2</c:v>
                </c:pt>
                <c:pt idx="2">
                  <c:v>5.8</c:v>
                </c:pt>
                <c:pt idx="3">
                  <c:v>6.2</c:v>
                </c:pt>
                <c:pt idx="4">
                  <c:v>-2.3</c:v>
                </c:pt>
              </c:numCache>
            </c:numRef>
          </c:val>
        </c:ser>
        <c:gapWidth val="60"/>
        <c:overlap val="-5"/>
        <c:axId val="50010"/>
        <c:axId val="50020"/>
      </c:barChart>
      <c:catAx>
        <c:axId val="5001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525">
            <a:solidFill>
              <a:srgbClr val="B7C0C5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50020"/>
        <c:crosses val="autoZero"/>
        <c:auto val="1"/>
        <c:lblAlgn val="ctr"/>
        <c:lblOffset val="100"/>
        <c:noMultiLvlLbl val="0"/>
      </c:catAx>
      <c:valAx>
        <c:axId val="50020"/>
        <c:scaling>
          <c:orientation val="minMax"/>
          <c:max val="8"/>
          <c:min val="-8"/>
        </c:scaling>
        <c:delete val="0"/>
        <c:axPos val="l"/>
        <c:majorGridlines>
          <c:spPr>
            <a:ln w="6350">
              <a:solidFill>
                <a:srgbClr val="E3E8EB"/>
              </a:solidFill>
            </a:ln>
          </c:spPr>
        </c:majorGridlines>
        <c:numFmt formatCode="+0;-0;0" sourceLinked="0"/>
        <c:majorTickMark val="none"/>
        <c:minorTickMark val="none"/>
        <c:tickLblPos val="low"/>
        <c:spPr>
          <a:ln w="6350">
            <a:solidFill>
              <a:srgbClr val="FFFFFF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50010"/>
        <c:crosses val="autoZero"/>
        <c:crossBetween val="between"/>
        <c:majorUnit val="4"/>
      </c:valAx>
    </c:plotArea>
    <c:plotVisOnly val="1"/>
    <c:dispBlanksAs val="gap"/>
  </c:chart>
  <c:spPr>
    <a:noFill/>
    <a:ln>
      <a:noFill/>
    </a:ln>
  </c:spPr>
  <c:txPr>
    <a:bodyPr/>
    <a:lstStyle/>
    <a:p>
      <a:pPr>
        <a:defRPr sz="1000" b="0">
          <a:solidFill>
            <a:srgbClr val="5B6770"/>
          </a:solidFill>
          <a:latin typeface="Arial"/>
          <a:cs typeface="Arial"/>
        </a:defRPr>
      </a:pPr>
      <a:endParaRPr lang="fr-FR"/>
    </a:p>
  </c:txPr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crop vs trend</c:v>
                </c:pt>
              </c:strCache>
            </c:strRef>
          </c:tx>
          <c:spPr>
            <a:solidFill>
              <a:srgbClr val="BFBFBF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C00000"/>
              </a:solidFill>
            </c:spPr>
          </c:dPt>
          <c:dPt>
            <c:idx val="1"/>
            <c:invertIfNegative val="0"/>
            <c:bubble3D val="0"/>
            <c:spPr>
              <a:solidFill>
                <a:srgbClr val="C00000"/>
              </a:solidFill>
            </c:spPr>
          </c:dPt>
          <c:dPt>
            <c:idx val="2"/>
            <c:invertIfNegative val="0"/>
            <c:bubble3D val="0"/>
            <c:spPr>
              <a:solidFill>
                <a:srgbClr val="3A8D5B"/>
              </a:solidFill>
            </c:spPr>
          </c:dPt>
          <c:dPt>
            <c:idx val="3"/>
            <c:invertIfNegative val="0"/>
            <c:bubble3D val="0"/>
            <c:spPr>
              <a:solidFill>
                <a:srgbClr val="C00000"/>
              </a:solidFill>
            </c:spPr>
          </c:dPt>
          <c:dPt>
            <c:idx val="4"/>
            <c:invertIfNegative val="0"/>
            <c:bubble3D val="0"/>
            <c:spPr>
              <a:solidFill>
                <a:srgbClr val="1F3864"/>
              </a:solidFill>
            </c:spPr>
          </c:dPt>
          <c:dPt>
            <c:idx val="5"/>
            <c:invertIfNegative val="0"/>
            <c:bubble3D val="0"/>
            <c:spPr>
              <a:solidFill>
                <a:srgbClr val="C00000"/>
              </a:solidFill>
            </c:spPr>
          </c:dPt>
          <c:dPt>
            <c:idx val="6"/>
            <c:invertIfNegative val="0"/>
            <c:bubble3D val="0"/>
            <c:spPr>
              <a:solidFill>
                <a:srgbClr val="1F3864"/>
              </a:solidFill>
            </c:spPr>
          </c:dPt>
          <c:dLbls>
            <c:numFmt formatCode="+0.0&quot;%&quot;;-0.0&quot;%&quot;;0.0&quot;%&quot;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000" b="1">
                    <a:solidFill>
                      <a:srgbClr val="1F2A30"/>
                    </a:solidFill>
                    <a:latin typeface="Arial"/>
                    <a:cs typeface="Arial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Sheet1!$A$2:$A$8</c:f>
              <c:strCache>
                <c:ptCount val="7"/>
                <c:pt idx="0">
                  <c:v>La Niña ≤ −1 (n=5)</c:v>
                </c:pt>
                <c:pt idx="1">
                  <c:v>La Niña weak (n=8)</c:v>
                </c:pt>
                <c:pt idx="2">
                  <c:v>Neutral (n=19)</c:v>
                </c:pt>
                <c:pt idx="3">
                  <c:v>El Niño (n=9)</c:v>
                </c:pt>
                <c:pt idx="4">
                  <c:v>El Niño ≥ 1.5 (n=4)</c:v>
                </c:pt>
                <c:pt idx="5">
                  <c:v>IOD + (n=8)</c:v>
                </c:pt>
                <c:pt idx="6">
                  <c:v>El Niño + IOD + (n=7)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-3.3</c:v>
                </c:pt>
                <c:pt idx="1">
                  <c:v>-1.9</c:v>
                </c:pt>
                <c:pt idx="2">
                  <c:v>2.1</c:v>
                </c:pt>
                <c:pt idx="3">
                  <c:v>-1.6</c:v>
                </c:pt>
                <c:pt idx="4">
                  <c:v>0.0</c:v>
                </c:pt>
                <c:pt idx="5">
                  <c:v>-3.8</c:v>
                </c:pt>
                <c:pt idx="6">
                  <c:v>-4.4</c:v>
                </c:pt>
              </c:numCache>
            </c:numRef>
          </c:val>
        </c:ser>
        <c:gapWidth val="60"/>
        <c:overlap val="-5"/>
        <c:axId val="50010"/>
        <c:axId val="50020"/>
      </c:barChart>
      <c:catAx>
        <c:axId val="5001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525">
            <a:solidFill>
              <a:srgbClr val="B7C0C5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50020"/>
        <c:crosses val="autoZero"/>
        <c:auto val="1"/>
        <c:lblAlgn val="ctr"/>
        <c:lblOffset val="100"/>
        <c:noMultiLvlLbl val="0"/>
      </c:catAx>
      <c:valAx>
        <c:axId val="50020"/>
        <c:scaling>
          <c:orientation val="minMax"/>
          <c:max val="8"/>
          <c:min val="-8"/>
        </c:scaling>
        <c:delete val="0"/>
        <c:axPos val="l"/>
        <c:majorGridlines>
          <c:spPr>
            <a:ln w="6350">
              <a:solidFill>
                <a:srgbClr val="E3E8EB"/>
              </a:solidFill>
            </a:ln>
          </c:spPr>
        </c:majorGridlines>
        <c:numFmt formatCode="+0;-0;0" sourceLinked="0"/>
        <c:majorTickMark val="none"/>
        <c:minorTickMark val="none"/>
        <c:tickLblPos val="low"/>
        <c:spPr>
          <a:ln w="6350">
            <a:solidFill>
              <a:srgbClr val="FFFFFF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50010"/>
        <c:crosses val="autoZero"/>
        <c:crossBetween val="between"/>
        <c:majorUnit val="4"/>
      </c:valAx>
    </c:plotArea>
    <c:plotVisOnly val="1"/>
    <c:dispBlanksAs val="gap"/>
  </c:chart>
  <c:spPr>
    <a:noFill/>
    <a:ln>
      <a:noFill/>
    </a:ln>
  </c:spPr>
  <c:txPr>
    <a:bodyPr/>
    <a:lstStyle/>
    <a:p>
      <a:pPr>
        <a:defRPr sz="1000" b="0">
          <a:solidFill>
            <a:srgbClr val="5B6770"/>
          </a:solidFill>
          <a:latin typeface="Arial"/>
          <a:cs typeface="Arial"/>
        </a:defRPr>
      </a:pPr>
      <a:endParaRPr lang="fr-FR"/>
    </a:p>
  </c:txPr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YoY</c:v>
                </c:pt>
              </c:strCache>
            </c:strRef>
          </c:tx>
          <c:spPr>
            <a:solidFill>
              <a:srgbClr val="BFBFBF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C00000"/>
              </a:solidFill>
            </c:spPr>
          </c:dPt>
          <c:dPt>
            <c:idx val="1"/>
            <c:invertIfNegative val="0"/>
            <c:bubble3D val="0"/>
            <c:spPr>
              <a:solidFill>
                <a:srgbClr val="3A8D5B"/>
              </a:solidFill>
            </c:spPr>
          </c:dPt>
          <c:dPt>
            <c:idx val="2"/>
            <c:invertIfNegative val="0"/>
            <c:bubble3D val="0"/>
            <c:spPr>
              <a:solidFill>
                <a:srgbClr val="3A8D5B"/>
              </a:solidFill>
            </c:spPr>
          </c:dPt>
          <c:dPt>
            <c:idx val="3"/>
            <c:invertIfNegative val="0"/>
            <c:bubble3D val="0"/>
            <c:spPr>
              <a:solidFill>
                <a:srgbClr val="3A8D5B"/>
              </a:solidFill>
            </c:spPr>
          </c:dPt>
          <c:dPt>
            <c:idx val="4"/>
            <c:invertIfNegative val="0"/>
            <c:bubble3D val="0"/>
            <c:spPr>
              <a:solidFill>
                <a:srgbClr val="C00000"/>
              </a:solidFill>
            </c:spPr>
          </c:dPt>
          <c:dPt>
            <c:idx val="5"/>
            <c:invertIfNegative val="0"/>
            <c:bubble3D val="0"/>
            <c:spPr>
              <a:solidFill>
                <a:srgbClr val="3A8D5B"/>
              </a:solidFill>
            </c:spPr>
          </c:dPt>
          <c:dPt>
            <c:idx val="6"/>
            <c:invertIfNegative val="0"/>
            <c:bubble3D val="0"/>
            <c:spPr>
              <a:solidFill>
                <a:srgbClr val="3A8D5B"/>
              </a:solidFill>
            </c:spPr>
          </c:dPt>
          <c:dPt>
            <c:idx val="7"/>
            <c:invertIfNegative val="0"/>
            <c:bubble3D val="0"/>
            <c:spPr>
              <a:solidFill>
                <a:srgbClr val="3A8D5B"/>
              </a:solidFill>
            </c:spPr>
          </c:dPt>
          <c:dPt>
            <c:idx val="8"/>
            <c:invertIfNegative val="0"/>
            <c:bubble3D val="0"/>
            <c:spPr>
              <a:solidFill>
                <a:srgbClr val="3A8D5B"/>
              </a:solidFill>
            </c:spPr>
          </c:dPt>
          <c:dPt>
            <c:idx val="9"/>
            <c:invertIfNegative val="0"/>
            <c:bubble3D val="0"/>
            <c:spPr>
              <a:solidFill>
                <a:srgbClr val="C00000"/>
              </a:solidFill>
            </c:spPr>
          </c:dPt>
          <c:dPt>
            <c:idx val="10"/>
            <c:invertIfNegative val="0"/>
            <c:bubble3D val="0"/>
            <c:spPr>
              <a:solidFill>
                <a:srgbClr val="3A8D5B"/>
              </a:solidFill>
            </c:spPr>
          </c:dPt>
          <c:dPt>
            <c:idx val="11"/>
            <c:invertIfNegative val="0"/>
            <c:bubble3D val="0"/>
            <c:spPr>
              <a:solidFill>
                <a:srgbClr val="3A8D5B"/>
              </a:solidFill>
            </c:spPr>
          </c:dPt>
          <c:dPt>
            <c:idx val="12"/>
            <c:invertIfNegative val="0"/>
            <c:bubble3D val="0"/>
            <c:spPr>
              <a:solidFill>
                <a:srgbClr val="C00000"/>
              </a:solidFill>
            </c:spPr>
          </c:dPt>
          <c:dPt>
            <c:idx val="13"/>
            <c:invertIfNegative val="0"/>
            <c:bubble3D val="0"/>
            <c:spPr>
              <a:solidFill>
                <a:srgbClr val="C00000"/>
              </a:solidFill>
            </c:spPr>
          </c:dPt>
          <c:dPt>
            <c:idx val="14"/>
            <c:invertIfNegative val="0"/>
            <c:bubble3D val="0"/>
            <c:spPr>
              <a:solidFill>
                <a:srgbClr val="3A8D5B"/>
              </a:solidFill>
            </c:spPr>
          </c:dPt>
          <c:dPt>
            <c:idx val="15"/>
            <c:invertIfNegative val="0"/>
            <c:bubble3D val="0"/>
            <c:spPr>
              <a:solidFill>
                <a:srgbClr val="C00000"/>
              </a:solidFill>
            </c:spPr>
          </c:dPt>
          <c:dPt>
            <c:idx val="16"/>
            <c:invertIfNegative val="0"/>
            <c:bubble3D val="0"/>
            <c:spPr>
              <a:solidFill>
                <a:srgbClr val="C00000"/>
              </a:solidFill>
            </c:spPr>
          </c:dPt>
          <c:dPt>
            <c:idx val="17"/>
            <c:invertIfNegative val="0"/>
            <c:bubble3D val="0"/>
            <c:spPr>
              <a:solidFill>
                <a:srgbClr val="C00000"/>
              </a:solidFill>
            </c:spPr>
          </c:dPt>
          <c:dPt>
            <c:idx val="18"/>
            <c:invertIfNegative val="0"/>
            <c:bubble3D val="0"/>
            <c:spPr>
              <a:solidFill>
                <a:srgbClr val="C00000"/>
              </a:solidFill>
            </c:spPr>
          </c:dPt>
          <c:dPt>
            <c:idx val="19"/>
            <c:invertIfNegative val="0"/>
            <c:bubble3D val="0"/>
            <c:spPr>
              <a:solidFill>
                <a:srgbClr val="C00000"/>
              </a:solidFill>
            </c:spPr>
          </c:dPt>
          <c:dPt>
            <c:idx val="20"/>
            <c:invertIfNegative val="0"/>
            <c:bubble3D val="0"/>
            <c:spPr>
              <a:solidFill>
                <a:srgbClr val="3A8D5B"/>
              </a:solidFill>
            </c:spPr>
          </c:dPt>
          <c:dPt>
            <c:idx val="21"/>
            <c:invertIfNegative val="0"/>
            <c:bubble3D val="0"/>
            <c:spPr>
              <a:solidFill>
                <a:srgbClr val="3A8D5B"/>
              </a:solidFill>
            </c:spPr>
          </c:dPt>
          <c:dPt>
            <c:idx val="22"/>
            <c:invertIfNegative val="0"/>
            <c:bubble3D val="0"/>
            <c:spPr>
              <a:solidFill>
                <a:srgbClr val="3A8D5B"/>
              </a:solidFill>
            </c:spPr>
          </c:dPt>
          <c:dPt>
            <c:idx val="23"/>
            <c:invertIfNegative val="0"/>
            <c:bubble3D val="0"/>
            <c:spPr>
              <a:solidFill>
                <a:srgbClr val="3A8D5B"/>
              </a:solidFill>
            </c:spPr>
          </c:dPt>
          <c:dPt>
            <c:idx val="24"/>
            <c:invertIfNegative val="0"/>
            <c:bubble3D val="0"/>
            <c:spPr>
              <a:solidFill>
                <a:srgbClr val="C00000"/>
              </a:solidFill>
            </c:spPr>
          </c:dPt>
          <c:dPt>
            <c:idx val="25"/>
            <c:invertIfNegative val="0"/>
            <c:bubble3D val="0"/>
            <c:spPr>
              <a:solidFill>
                <a:srgbClr val="3A8D5B"/>
              </a:solidFill>
            </c:spPr>
          </c:dPt>
          <c:dPt>
            <c:idx val="26"/>
            <c:invertIfNegative val="0"/>
            <c:bubble3D val="0"/>
            <c:spPr>
              <a:solidFill>
                <a:srgbClr val="3A8D5B"/>
              </a:solidFill>
            </c:spPr>
          </c:dPt>
          <c:dPt>
            <c:idx val="27"/>
            <c:invertIfNegative val="0"/>
            <c:bubble3D val="0"/>
            <c:spPr>
              <a:solidFill>
                <a:srgbClr val="3A8D5B"/>
              </a:solidFill>
            </c:spPr>
          </c:dPt>
          <c:dPt>
            <c:idx val="28"/>
            <c:invertIfNegative val="0"/>
            <c:bubble3D val="0"/>
            <c:spPr>
              <a:solidFill>
                <a:srgbClr val="C00000"/>
              </a:solidFill>
            </c:spPr>
          </c:dPt>
          <c:dPt>
            <c:idx val="29"/>
            <c:invertIfNegative val="0"/>
            <c:bubble3D val="0"/>
            <c:spPr>
              <a:solidFill>
                <a:srgbClr val="C00000"/>
              </a:solidFill>
            </c:spPr>
          </c:dPt>
          <c:dPt>
            <c:idx val="30"/>
            <c:invertIfNegative val="0"/>
            <c:bubble3D val="0"/>
            <c:spPr>
              <a:solidFill>
                <a:srgbClr val="3A8D5B"/>
              </a:solidFill>
            </c:spPr>
          </c:dPt>
          <c:dPt>
            <c:idx val="31"/>
            <c:invertIfNegative val="0"/>
            <c:bubble3D val="0"/>
            <c:spPr>
              <a:solidFill>
                <a:srgbClr val="3A8D5B"/>
              </a:solidFill>
            </c:spPr>
          </c:dPt>
          <c:dPt>
            <c:idx val="32"/>
            <c:invertIfNegative val="0"/>
            <c:bubble3D val="0"/>
            <c:spPr>
              <a:solidFill>
                <a:srgbClr val="C00000"/>
              </a:solidFill>
            </c:spPr>
          </c:dPt>
          <c:dPt>
            <c:idx val="33"/>
            <c:invertIfNegative val="0"/>
            <c:bubble3D val="0"/>
            <c:spPr>
              <a:solidFill>
                <a:srgbClr val="3A8D5B"/>
              </a:solidFill>
            </c:spPr>
          </c:dPt>
          <c:dPt>
            <c:idx val="34"/>
            <c:invertIfNegative val="0"/>
            <c:bubble3D val="0"/>
            <c:spPr>
              <a:solidFill>
                <a:srgbClr val="C00000"/>
              </a:solidFill>
            </c:spPr>
          </c:dPt>
          <c:dPt>
            <c:idx val="35"/>
            <c:invertIfNegative val="0"/>
            <c:bubble3D val="0"/>
            <c:spPr>
              <a:solidFill>
                <a:srgbClr val="3A8D5B"/>
              </a:solidFill>
            </c:spPr>
          </c:dPt>
          <c:dPt>
            <c:idx val="36"/>
            <c:invertIfNegative val="0"/>
            <c:bubble3D val="0"/>
            <c:spPr>
              <a:solidFill>
                <a:srgbClr val="C00000"/>
              </a:solidFill>
            </c:spPr>
          </c:dPt>
          <c:dPt>
            <c:idx val="37"/>
            <c:invertIfNegative val="0"/>
            <c:bubble3D val="0"/>
            <c:spPr>
              <a:solidFill>
                <a:srgbClr val="3A8D5B"/>
              </a:solidFill>
            </c:spPr>
          </c:dPt>
          <c:dPt>
            <c:idx val="38"/>
            <c:invertIfNegative val="0"/>
            <c:bubble3D val="0"/>
            <c:spPr>
              <a:solidFill>
                <a:srgbClr val="C00000"/>
              </a:solidFill>
            </c:spPr>
          </c:dPt>
          <c:dPt>
            <c:idx val="39"/>
            <c:invertIfNegative val="0"/>
            <c:bubble3D val="0"/>
            <c:spPr>
              <a:solidFill>
                <a:srgbClr val="C00000"/>
              </a:solidFill>
            </c:spPr>
          </c:dPt>
          <c:dPt>
            <c:idx val="40"/>
            <c:invertIfNegative val="0"/>
            <c:bubble3D val="0"/>
            <c:spPr>
              <a:solidFill>
                <a:srgbClr val="3A8D5B"/>
              </a:solidFill>
            </c:spPr>
          </c:dPt>
          <c:dPt>
            <c:idx val="41"/>
            <c:invertIfNegative val="0"/>
            <c:bubble3D val="0"/>
            <c:spPr>
              <a:solidFill>
                <a:srgbClr val="C00000"/>
              </a:solidFill>
            </c:spPr>
          </c:dPt>
          <c:dPt>
            <c:idx val="42"/>
            <c:invertIfNegative val="0"/>
            <c:bubble3D val="0"/>
            <c:spPr>
              <a:solidFill>
                <a:srgbClr val="3A8D5B"/>
              </a:solidFill>
            </c:spPr>
          </c:dPt>
          <c:dPt>
            <c:idx val="43"/>
            <c:invertIfNegative val="0"/>
            <c:bubble3D val="0"/>
            <c:spPr>
              <a:solidFill>
                <a:srgbClr val="3A8D5B"/>
              </a:solidFill>
            </c:spPr>
          </c:dPt>
          <c:dPt>
            <c:idx val="44"/>
            <c:invertIfNegative val="0"/>
            <c:bubble3D val="0"/>
            <c:spPr>
              <a:solidFill>
                <a:srgbClr val="C00000"/>
              </a:solidFill>
            </c:spPr>
          </c:dPt>
          <c:cat>
            <c:strRef>
              <c:f>Sheet1!$A$2:$A$46</c:f>
              <c:strCache>
                <c:ptCount val="45"/>
                <c:pt idx="0">
                  <c:v>82</c:v>
                </c:pt>
                <c:pt idx="1">
                  <c:v>83</c:v>
                </c:pt>
                <c:pt idx="2">
                  <c:v>84</c:v>
                </c:pt>
                <c:pt idx="3">
                  <c:v>85</c:v>
                </c:pt>
                <c:pt idx="4">
                  <c:v>86</c:v>
                </c:pt>
                <c:pt idx="5">
                  <c:v>87</c:v>
                </c:pt>
                <c:pt idx="6">
                  <c:v>88</c:v>
                </c:pt>
                <c:pt idx="7">
                  <c:v>89</c:v>
                </c:pt>
                <c:pt idx="8">
                  <c:v>90</c:v>
                </c:pt>
                <c:pt idx="9">
                  <c:v>91</c:v>
                </c:pt>
                <c:pt idx="10">
                  <c:v>92</c:v>
                </c:pt>
                <c:pt idx="11">
                  <c:v>93</c:v>
                </c:pt>
                <c:pt idx="12">
                  <c:v>94</c:v>
                </c:pt>
                <c:pt idx="13">
                  <c:v>95</c:v>
                </c:pt>
                <c:pt idx="14">
                  <c:v>96</c:v>
                </c:pt>
                <c:pt idx="15">
                  <c:v>97</c:v>
                </c:pt>
                <c:pt idx="16">
                  <c:v>98</c:v>
                </c:pt>
                <c:pt idx="17">
                  <c:v>99</c:v>
                </c:pt>
                <c:pt idx="18">
                  <c:v>00</c:v>
                </c:pt>
                <c:pt idx="19">
                  <c:v>01</c:v>
                </c:pt>
                <c:pt idx="20">
                  <c:v>02</c:v>
                </c:pt>
                <c:pt idx="21">
                  <c:v>03</c:v>
                </c:pt>
                <c:pt idx="22">
                  <c:v>04</c:v>
                </c:pt>
                <c:pt idx="23">
                  <c:v>05</c:v>
                </c:pt>
                <c:pt idx="24">
                  <c:v>06</c:v>
                </c:pt>
                <c:pt idx="25">
                  <c:v>07</c:v>
                </c:pt>
                <c:pt idx="26">
                  <c:v>08</c:v>
                </c:pt>
                <c:pt idx="27">
                  <c:v>09</c:v>
                </c:pt>
                <c:pt idx="28">
                  <c:v>10</c:v>
                </c:pt>
                <c:pt idx="29">
                  <c:v>11</c:v>
                </c:pt>
                <c:pt idx="30">
                  <c:v>12</c:v>
                </c:pt>
                <c:pt idx="31">
                  <c:v>13</c:v>
                </c:pt>
                <c:pt idx="32">
                  <c:v>14</c:v>
                </c:pt>
                <c:pt idx="33">
                  <c:v>15</c:v>
                </c:pt>
                <c:pt idx="34">
                  <c:v>16</c:v>
                </c:pt>
                <c:pt idx="35">
                  <c:v>17</c:v>
                </c:pt>
                <c:pt idx="36">
                  <c:v>18</c:v>
                </c:pt>
                <c:pt idx="37">
                  <c:v>19</c:v>
                </c:pt>
                <c:pt idx="38">
                  <c:v>20</c:v>
                </c:pt>
                <c:pt idx="39">
                  <c:v>21</c:v>
                </c:pt>
                <c:pt idx="40">
                  <c:v>22</c:v>
                </c:pt>
                <c:pt idx="41">
                  <c:v>23</c:v>
                </c:pt>
                <c:pt idx="42">
                  <c:v>24</c:v>
                </c:pt>
                <c:pt idx="43">
                  <c:v>25</c:v>
                </c:pt>
                <c:pt idx="44">
                  <c:v>26</c:v>
                </c:pt>
              </c:strCache>
            </c:strRef>
          </c:cat>
          <c:val>
            <c:numRef>
              <c:f>Sheet1!$B$2:$B$46</c:f>
              <c:numCache>
                <c:formatCode>General</c:formatCode>
                <c:ptCount val="45"/>
                <c:pt idx="0">
                  <c:v>-18.9</c:v>
                </c:pt>
                <c:pt idx="1">
                  <c:v>15.9</c:v>
                </c:pt>
                <c:pt idx="2">
                  <c:v>0.6</c:v>
                </c:pt>
                <c:pt idx="3">
                  <c:v>2.9</c:v>
                </c:pt>
                <c:pt idx="4">
                  <c:v>0.0</c:v>
                </c:pt>
                <c:pt idx="5">
                  <c:v>3.0</c:v>
                </c:pt>
                <c:pt idx="6">
                  <c:v>14.0</c:v>
                </c:pt>
                <c:pt idx="7">
                  <c:v>5.4</c:v>
                </c:pt>
                <c:pt idx="8">
                  <c:v>5.4</c:v>
                </c:pt>
                <c:pt idx="9">
                  <c:v>-5.4</c:v>
                </c:pt>
                <c:pt idx="10">
                  <c:v>3.5</c:v>
                </c:pt>
                <c:pt idx="11">
                  <c:v>0.1</c:v>
                </c:pt>
                <c:pt idx="12">
                  <c:v>-13.6</c:v>
                </c:pt>
                <c:pt idx="13">
                  <c:v>-9.1</c:v>
                </c:pt>
                <c:pt idx="14">
                  <c:v>35.5</c:v>
                </c:pt>
                <c:pt idx="15">
                  <c:v>-10.9</c:v>
                </c:pt>
                <c:pt idx="16">
                  <c:v>-1.3</c:v>
                </c:pt>
                <c:pt idx="17">
                  <c:v>-4.1</c:v>
                </c:pt>
                <c:pt idx="18">
                  <c:v>-2.6</c:v>
                </c:pt>
                <c:pt idx="19">
                  <c:v>-6.2</c:v>
                </c:pt>
                <c:pt idx="20">
                  <c:v>10.3</c:v>
                </c:pt>
                <c:pt idx="21">
                  <c:v>5.6</c:v>
                </c:pt>
                <c:pt idx="22">
                  <c:v>13.6</c:v>
                </c:pt>
                <c:pt idx="23">
                  <c:v>12.0</c:v>
                </c:pt>
                <c:pt idx="24">
                  <c:v>-21.4</c:v>
                </c:pt>
                <c:pt idx="25">
                  <c:v>9.1</c:v>
                </c:pt>
                <c:pt idx="26">
                  <c:v>20.8</c:v>
                </c:pt>
                <c:pt idx="27">
                  <c:v>3.4</c:v>
                </c:pt>
                <c:pt idx="28">
                  <c:v>-11.7</c:v>
                </c:pt>
                <c:pt idx="29">
                  <c:v>-16.1</c:v>
                </c:pt>
                <c:pt idx="30">
                  <c:v>48.4</c:v>
                </c:pt>
                <c:pt idx="31">
                  <c:v>1.0</c:v>
                </c:pt>
                <c:pt idx="32">
                  <c:v>-8.0</c:v>
                </c:pt>
                <c:pt idx="33">
                  <c:v>15.2</c:v>
                </c:pt>
                <c:pt idx="34">
                  <c:v>-12.3</c:v>
                </c:pt>
                <c:pt idx="35">
                  <c:v>1.1</c:v>
                </c:pt>
                <c:pt idx="36">
                  <c:v>0.0</c:v>
                </c:pt>
                <c:pt idx="37">
                  <c:v>0.5</c:v>
                </c:pt>
                <c:pt idx="38">
                  <c:v>-0.5</c:v>
                </c:pt>
                <c:pt idx="39">
                  <c:v>-1.1</c:v>
                </c:pt>
                <c:pt idx="40">
                  <c:v>2.2</c:v>
                </c:pt>
                <c:pt idx="41">
                  <c:v>-28.4</c:v>
                </c:pt>
                <c:pt idx="42">
                  <c:v>36.8</c:v>
                </c:pt>
                <c:pt idx="43">
                  <c:v>18.3</c:v>
                </c:pt>
                <c:pt idx="44">
                  <c:v>-9.1</c:v>
                </c:pt>
              </c:numCache>
            </c:numRef>
          </c:val>
        </c:ser>
        <c:gapWidth val="30"/>
        <c:overlap val="-5"/>
        <c:axId val="50010"/>
        <c:axId val="50020"/>
      </c:barChart>
      <c:catAx>
        <c:axId val="5001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525">
            <a:solidFill>
              <a:srgbClr val="B7C0C5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50020"/>
        <c:crosses val="autoZero"/>
        <c:auto val="1"/>
        <c:lblAlgn val="ctr"/>
        <c:lblOffset val="100"/>
        <c:noMultiLvlLbl val="0"/>
      </c:catAx>
      <c:valAx>
        <c:axId val="50020"/>
        <c:scaling>
          <c:orientation val="minMax"/>
          <c:max val="60"/>
          <c:min val="-40"/>
        </c:scaling>
        <c:delete val="0"/>
        <c:axPos val="l"/>
        <c:majorGridlines>
          <c:spPr>
            <a:ln w="6350">
              <a:solidFill>
                <a:srgbClr val="E3E8EB"/>
              </a:solidFill>
            </a:ln>
          </c:spPr>
        </c:majorGridlines>
        <c:numFmt formatCode="+0;-0;0" sourceLinked="0"/>
        <c:majorTickMark val="none"/>
        <c:minorTickMark val="none"/>
        <c:tickLblPos val="low"/>
        <c:spPr>
          <a:ln w="6350">
            <a:solidFill>
              <a:srgbClr val="FFFFFF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50010"/>
        <c:crosses val="autoZero"/>
        <c:crossBetween val="between"/>
        <c:majorUnit val="20"/>
      </c:valAx>
    </c:plotArea>
    <c:plotVisOnly val="1"/>
    <c:dispBlanksAs val="gap"/>
  </c:chart>
  <c:spPr>
    <a:noFill/>
    <a:ln>
      <a:noFill/>
    </a:ln>
  </c:spPr>
  <c:txPr>
    <a:bodyPr/>
    <a:lstStyle/>
    <a:p>
      <a:pPr>
        <a:defRPr sz="1000" b="0">
          <a:solidFill>
            <a:srgbClr val="5B6770"/>
          </a:solidFill>
          <a:latin typeface="Arial"/>
          <a:cs typeface="Arial"/>
        </a:defRPr>
      </a:pPr>
      <a:endParaRPr lang="fr-FR"/>
    </a:p>
  </c:txPr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>
        <c:manualLayout>
          <c:layoutTarget val="inner"/>
          <c:xMode val="edge"/>
          <c:yMode val="edge"/>
          <c:x val="0.07"/>
          <c:y val="0.06"/>
          <c:w val="0.91"/>
          <c:h val="0.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Production</c:v>
                </c:pt>
              </c:strCache>
            </c:strRef>
          </c:tx>
          <c:spPr>
            <a:solidFill>
              <a:srgbClr val="8EB4E3"/>
            </a:solidFill>
          </c:spPr>
          <c:invertIfNegative val="0"/>
          <c:dPt>
            <c:idx val="12"/>
            <c:invertIfNegative val="0"/>
            <c:bubble3D val="0"/>
            <c:spPr>
              <a:pattFill prst="wdUpDiag">
                <a:fgClr>
                  <a:srgbClr val="1F3864"/>
                </a:fgClr>
                <a:bgClr>
                  <a:srgbClr val="FFFFFF"/>
                </a:bgClr>
              </a:pattFill>
              <a:ln w="12700">
                <a:solidFill>
                  <a:srgbClr val="1F3864"/>
                </a:solidFill>
              </a:ln>
            </c:spPr>
          </c:dPt>
          <c:dLbls>
            <c:numFmt formatCode="0.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800" b="1">
                    <a:solidFill>
                      <a:srgbClr val="262626"/>
                    </a:solidFill>
                    <a:latin typeface="Arial"/>
                    <a:cs typeface="Arial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Sheet1!$A$2:$A$14</c:f>
              <c:strCache>
                <c:ptCount val="13"/>
                <c:pt idx="0">
                  <c:v>15/16</c:v>
                </c:pt>
                <c:pt idx="1">
                  <c:v>16/17</c:v>
                </c:pt>
                <c:pt idx="2">
                  <c:v>17/18</c:v>
                </c:pt>
                <c:pt idx="3">
                  <c:v>18/19</c:v>
                </c:pt>
                <c:pt idx="4">
                  <c:v>19/20</c:v>
                </c:pt>
                <c:pt idx="5">
                  <c:v>20/21</c:v>
                </c:pt>
                <c:pt idx="6">
                  <c:v>21/22</c:v>
                </c:pt>
                <c:pt idx="7">
                  <c:v>22/23</c:v>
                </c:pt>
                <c:pt idx="8">
                  <c:v>23/24</c:v>
                </c:pt>
                <c:pt idx="9">
                  <c:v>24/25</c:v>
                </c:pt>
                <c:pt idx="10">
                  <c:v>25/26</c:v>
                </c:pt>
                <c:pt idx="11">
                  <c:v>26/27</c:v>
                </c:pt>
                <c:pt idx="12">
                  <c:v>27/28F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10.6</c:v>
                </c:pt>
                <c:pt idx="1">
                  <c:v>9.3</c:v>
                </c:pt>
                <c:pt idx="2">
                  <c:v>9.4</c:v>
                </c:pt>
                <c:pt idx="3">
                  <c:v>9.4</c:v>
                </c:pt>
                <c:pt idx="4">
                  <c:v>9.45</c:v>
                </c:pt>
                <c:pt idx="5">
                  <c:v>9.4</c:v>
                </c:pt>
                <c:pt idx="6">
                  <c:v>9.3</c:v>
                </c:pt>
                <c:pt idx="7">
                  <c:v>9.5</c:v>
                </c:pt>
                <c:pt idx="8">
                  <c:v>6.8</c:v>
                </c:pt>
                <c:pt idx="9">
                  <c:v>9.3</c:v>
                </c:pt>
                <c:pt idx="10">
                  <c:v>11.0</c:v>
                </c:pt>
                <c:pt idx="11">
                  <c:v>10.0</c:v>
                </c:pt>
                <c:pt idx="12">
                  <c:v>10.39</c:v>
                </c:pt>
              </c:numCache>
            </c:numRef>
          </c:val>
        </c:ser>
        <c:gapWidth val="40"/>
        <c:overlap val="0"/>
        <c:axId val="50010"/>
        <c:axId val="5002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Trend 2027</c:v>
                </c:pt>
              </c:strCache>
            </c:strRef>
          </c:tx>
          <c:spPr>
            <a:ln w="15875" cap="rnd">
              <a:solidFill>
                <a:srgbClr val="7F7F7F"/>
              </a:solidFill>
              <a:prstDash val="dash"/>
              <a:round/>
            </a:ln>
          </c:spPr>
          <c:marker>
            <c:symbol val="none"/>
          </c:marker>
          <c:dLbls>
            <c:dLbl>
              <c:idx val="1"/>
              <c:tx>
                <c:rich>
                  <a:bodyPr wrap="none"/>
                  <a:lstStyle/>
                  <a:p>
                    <a:pPr>
                      <a:defRPr sz="800" b="1"/>
                    </a:pPr>
                    <a:r>
                      <a:rPr lang="en-GB" sz="800" b="1">
                        <a:solidFill>
                          <a:srgbClr val="7F7F7F"/>
                        </a:solidFill>
                        <a:latin typeface="Arial"/>
                      </a:rPr>
                      <a:t>trend 10.0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Sheet1!$A$2:$A$14</c:f>
              <c:strCache>
                <c:ptCount val="13"/>
                <c:pt idx="0">
                  <c:v>15/16</c:v>
                </c:pt>
                <c:pt idx="1">
                  <c:v>16/17</c:v>
                </c:pt>
                <c:pt idx="2">
                  <c:v>17/18</c:v>
                </c:pt>
                <c:pt idx="3">
                  <c:v>18/19</c:v>
                </c:pt>
                <c:pt idx="4">
                  <c:v>19/20</c:v>
                </c:pt>
                <c:pt idx="5">
                  <c:v>20/21</c:v>
                </c:pt>
                <c:pt idx="6">
                  <c:v>21/22</c:v>
                </c:pt>
                <c:pt idx="7">
                  <c:v>22/23</c:v>
                </c:pt>
                <c:pt idx="8">
                  <c:v>23/24</c:v>
                </c:pt>
                <c:pt idx="9">
                  <c:v>24/25</c:v>
                </c:pt>
                <c:pt idx="10">
                  <c:v>25/26</c:v>
                </c:pt>
                <c:pt idx="11">
                  <c:v>26/27</c:v>
                </c:pt>
                <c:pt idx="12">
                  <c:v>27/28F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10.04</c:v>
                </c:pt>
                <c:pt idx="1">
                  <c:v>10.04</c:v>
                </c:pt>
                <c:pt idx="2">
                  <c:v>10.04</c:v>
                </c:pt>
                <c:pt idx="3">
                  <c:v>10.04</c:v>
                </c:pt>
                <c:pt idx="4">
                  <c:v>10.04</c:v>
                </c:pt>
                <c:pt idx="5">
                  <c:v>10.04</c:v>
                </c:pt>
                <c:pt idx="6">
                  <c:v>10.04</c:v>
                </c:pt>
                <c:pt idx="7">
                  <c:v>10.04</c:v>
                </c:pt>
                <c:pt idx="8">
                  <c:v>10.04</c:v>
                </c:pt>
                <c:pt idx="9">
                  <c:v>10.04</c:v>
                </c:pt>
                <c:pt idx="10">
                  <c:v>10.04</c:v>
                </c:pt>
                <c:pt idx="11">
                  <c:v>10.04</c:v>
                </c:pt>
                <c:pt idx="12">
                  <c:v>10.04</c:v>
                </c:pt>
              </c:numCache>
            </c:numRef>
          </c:val>
          <c:smooth val="0"/>
        </c:ser>
        <c:marker val="1"/>
        <c:axId val="50010"/>
        <c:axId val="50020"/>
      </c:lineChart>
      <c:catAx>
        <c:axId val="5001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525">
            <a:solidFill>
              <a:srgbClr val="B7C0C5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50020"/>
        <c:crosses val="autoZero"/>
        <c:auto val="1"/>
        <c:lblAlgn val="ctr"/>
        <c:lblOffset val="100"/>
        <c:noMultiLvlLbl val="0"/>
      </c:catAx>
      <c:valAx>
        <c:axId val="50020"/>
        <c:scaling>
          <c:orientation val="minMax"/>
          <c:max val="12"/>
          <c:min val="6"/>
        </c:scaling>
        <c:delete val="0"/>
        <c:axPos val="l"/>
        <c:majorGridlines>
          <c:spPr>
            <a:ln w="6350">
              <a:solidFill>
                <a:srgbClr val="E3E8EB"/>
              </a:solidFill>
            </a:ln>
          </c:spPr>
        </c:majorGridlines>
        <c:numFmt formatCode="0" sourceLinked="0"/>
        <c:majorTickMark val="none"/>
        <c:minorTickMark val="none"/>
        <c:tickLblPos val="low"/>
        <c:spPr>
          <a:ln w="6350">
            <a:solidFill>
              <a:srgbClr val="FFFFFF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50010"/>
        <c:crosses val="autoZero"/>
        <c:crossBetween val="between"/>
        <c:majorUnit val="1"/>
      </c:valAx>
    </c:plotArea>
    <c:plotVisOnly val="1"/>
    <c:dispBlanksAs val="gap"/>
  </c:chart>
  <c:spPr>
    <a:noFill/>
    <a:ln>
      <a:noFill/>
    </a:ln>
  </c:spPr>
  <c:txPr>
    <a:bodyPr/>
    <a:lstStyle/>
    <a:p>
      <a:pPr>
        <a:defRPr sz="1000" b="0">
          <a:solidFill>
            <a:srgbClr val="5B6770"/>
          </a:solidFill>
          <a:latin typeface="Arial"/>
          <a:cs typeface="Arial"/>
        </a:defRPr>
      </a:pPr>
      <a:endParaRPr lang="fr-FR"/>
    </a:p>
  </c:txPr>
</c:chartSpace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6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7.xml"/><Relationship Id="rId3" Type="http://schemas.openxmlformats.org/officeDocument/2006/relationships/chart" Target="../charts/chart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1.xml"/><Relationship Id="rId3" Type="http://schemas.openxmlformats.org/officeDocument/2006/relationships/chart" Target="../charts/chart12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3.xml"/><Relationship Id="rId3" Type="http://schemas.openxmlformats.org/officeDocument/2006/relationships/chart" Target="../charts/chart14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5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731520" y="1920240"/>
            <a:ext cx="1078992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 dirty="0">
                <a:solidFill>
                  <a:srgbClr val="1F3864"/>
                </a:solidFill>
                <a:latin typeface="Arial"/>
                <a:cs typeface="Arial"/>
              </a:rPr>
              <a:t>Indonesia Robusta 2027/28: the forecast chain, link by link, with proof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" y="315468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404040"/>
                </a:solidFill>
                <a:latin typeface="Arial"/>
                <a:cs typeface="Arial"/>
              </a:rPr>
              <a:t>Production = productive area × yield. For each link: the data, the calculation, the chart and the number it gives.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1520" y="384048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595959"/>
                </a:solidFill>
                <a:latin typeface="Arial"/>
                <a:cs typeface="Arial"/>
              </a:rPr>
              <a:t>Area: FAOSTAT, ministry of agriculture, coffee vs cocoa, 2000–2026 · Yield: 45 USDA crops (1982–2026) against NASA POWER weather in 5 robusta towns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1520" y="45720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7F7F7F"/>
                </a:solidFill>
                <a:latin typeface="Arial"/>
                <a:cs typeface="Arial"/>
              </a:rPr>
              <a:t>24 September 2026 · weather observed to 19 September 2026, normal weather assumed after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rgbClr val="1F3864"/>
                </a:solidFill>
                <a:latin typeface="Arial"/>
                <a:cs typeface="Arial"/>
              </a:rPr>
              <a:t>The chain: 709,158 ha × 14.66 bags/ha = 10.4 M bags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800" y="713232"/>
            <a:ext cx="10881360" cy="758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Area and yield are two separate engines: area follows which crop pays more, slowly; yield follows the weather of the flowering season (slide 7)</a:t>
            </a:r>
          </a:p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The 2027 productive area is already fixed by past plantings: only the yield is still open, and weather explains about a quarter of it</a:t>
            </a:r>
          </a:p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Normal weather from 20 September assumed: trigger rain came on time in 4 of 5 towns → yield +3.5 % above trend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11480" y="6419088"/>
            <a:ext cx="113385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7F7F7F"/>
                </a:solidFill>
                <a:latin typeface="Arial"/>
                <a:cs typeface="Arial"/>
              </a:rPr>
              <a:t>Slide numbers refer to the proof for each link. Bags of 60 kg. Trend yield = median of the USDA yields of the last 3 crops.</a:t>
            </a:r>
          </a:p>
        </p:txBody>
      </p:sp>
      <p:sp>
        <p:nvSpPr>
          <p:cNvPr id="6" name="Shape 6"/>
          <p:cNvSpPr/>
          <p:nvPr/>
        </p:nvSpPr>
        <p:spPr>
          <a:xfrm>
            <a:off x="411480" y="1783080"/>
            <a:ext cx="3566160" cy="2834640"/>
          </a:xfrm>
          <a:prstGeom prst="rect">
            <a:avLst/>
          </a:prstGeom>
          <a:solidFill>
            <a:srgbClr val="F3F6F9"/>
          </a:solidFill>
          <a:ln w="15875">
            <a:solidFill>
              <a:srgbClr val="7B4A2D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521208" y="1856232"/>
            <a:ext cx="3346704" cy="2688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250" b="1" dirty="0">
                <a:solidFill>
                  <a:srgbClr val="7B4A2D"/>
                </a:solidFill>
                <a:latin typeface="Arial"/>
                <a:cs typeface="Arial"/>
              </a:rPr>
              <a:t>AREA · 709,158 ha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00" dirty="0">
                <a:solidFill>
                  <a:srgbClr val="262626"/>
                </a:solidFill>
                <a:latin typeface="Arial"/>
                <a:cs typeface="Arial"/>
              </a:rPr>
              <a:t>1. World price × rupiah → farm-gate price (slides 4–5)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00" dirty="0">
                <a:solidFill>
                  <a:srgbClr val="262626"/>
                </a:solidFill>
                <a:latin typeface="Arial"/>
                <a:cs typeface="Arial"/>
              </a:rPr>
              <a:t>2. Revenue per ha of coffee vs cocoa: farmers plant the crop that paid more 1–3 years before (slide 6)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00" dirty="0">
                <a:solidFill>
                  <a:srgbClr val="262626"/>
                </a:solidFill>
                <a:latin typeface="Arial"/>
                <a:cs typeface="Arial"/>
              </a:rPr>
              <a:t>3. Coffee and cocoa share the same land: when one gains, the other loses (slide 3)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00" dirty="0">
                <a:solidFill>
                  <a:srgbClr val="262626"/>
                </a:solidFill>
                <a:latin typeface="Arial"/>
                <a:cs typeface="Arial"/>
              </a:rPr>
              <a:t>4. Land is closing: permanent crops grow 4× slower than in the 2000s (slide 8)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00" dirty="0">
                <a:solidFill>
                  <a:srgbClr val="262626"/>
                </a:solidFill>
                <a:latin typeface="Arial"/>
                <a:cs typeface="Arial"/>
              </a:rPr>
              <a:t>→ productive area 709,158 ha in 2027, +0.4 % on 2026 (slide 8)</a:t>
            </a:r>
          </a:p>
        </p:txBody>
      </p:sp>
      <p:sp>
        <p:nvSpPr>
          <p:cNvPr id="8" name="Shape 8"/>
          <p:cNvSpPr/>
          <p:nvPr/>
        </p:nvSpPr>
        <p:spPr>
          <a:xfrm>
            <a:off x="4315968" y="1783080"/>
            <a:ext cx="3566160" cy="2834640"/>
          </a:xfrm>
          <a:prstGeom prst="rect">
            <a:avLst/>
          </a:prstGeom>
          <a:solidFill>
            <a:srgbClr val="F3F6F9"/>
          </a:solidFill>
          <a:ln w="15875">
            <a:solidFill>
              <a:srgbClr val="2E75B6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4425696" y="1856232"/>
            <a:ext cx="3346704" cy="2688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250" b="1" dirty="0">
                <a:solidFill>
                  <a:srgbClr val="2E75B6"/>
                </a:solidFill>
                <a:latin typeface="Arial"/>
                <a:cs typeface="Arial"/>
              </a:rPr>
              <a:t>YIELD · 14.66 bags/ha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00" dirty="0">
                <a:solidFill>
                  <a:srgbClr val="262626"/>
                </a:solidFill>
                <a:latin typeface="Arial"/>
                <a:cs typeface="Arial"/>
              </a:rPr>
              <a:t>1. Trend: median of the last 3 USDA yields = 14.16 bags/ha (13.27, 15.64, 14.16)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00" dirty="0">
                <a:solidFill>
                  <a:srgbClr val="262626"/>
                </a:solidFill>
                <a:latin typeface="Arial"/>
                <a:cs typeface="Arial"/>
              </a:rPr>
              <a:t>2. Flowering trigger rain is the #1 weather signal: r = +0.47 over 45 crops (slide 10–11)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00" dirty="0">
                <a:solidFill>
                  <a:srgbClr val="262626"/>
                </a:solidFill>
                <a:latin typeface="Arial"/>
                <a:cs typeface="Arial"/>
              </a:rPr>
              <a:t>3. A normal year: trigger in 2–3 towns out of 5, Jul–Aug (slide 9)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00" dirty="0">
                <a:solidFill>
                  <a:srgbClr val="262626"/>
                </a:solidFill>
                <a:latin typeface="Arial"/>
                <a:cs typeface="Arial"/>
              </a:rPr>
              <a:t>4. 2026: 4 of 5 towns, Jun–Oct rain 75 % of normal, heat +0.7 °C (slide 14)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00" dirty="0">
                <a:solidFill>
                  <a:srgbClr val="262626"/>
                </a:solidFill>
                <a:latin typeface="Arial"/>
                <a:cs typeface="Arial"/>
              </a:rPr>
              <a:t>→ weather effect +3.5 % → 14.66 bags/ha (slide 15)</a:t>
            </a:r>
          </a:p>
        </p:txBody>
      </p:sp>
      <p:sp>
        <p:nvSpPr>
          <p:cNvPr id="10" name="Shape 10"/>
          <p:cNvSpPr/>
          <p:nvPr/>
        </p:nvSpPr>
        <p:spPr>
          <a:xfrm>
            <a:off x="8220456" y="1783080"/>
            <a:ext cx="3566160" cy="2834640"/>
          </a:xfrm>
          <a:prstGeom prst="rect">
            <a:avLst/>
          </a:prstGeom>
          <a:solidFill>
            <a:srgbClr val="F3F6F9"/>
          </a:solidFill>
          <a:ln w="15875">
            <a:solidFill>
              <a:srgbClr val="1F3864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8330184" y="1856232"/>
            <a:ext cx="3346704" cy="2688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250" b="1" dirty="0">
                <a:solidFill>
                  <a:srgbClr val="1F3864"/>
                </a:solidFill>
                <a:latin typeface="Arial"/>
                <a:cs typeface="Arial"/>
              </a:rPr>
              <a:t>PRODUCTION · 10.4 M bags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00" dirty="0">
                <a:solidFill>
                  <a:srgbClr val="262626"/>
                </a:solidFill>
                <a:latin typeface="Arial"/>
                <a:cs typeface="Arial"/>
              </a:rPr>
              <a:t>Trend production: 709,158 ha × 14.16 = 10.04 M bags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00" dirty="0">
                <a:solidFill>
                  <a:srgbClr val="262626"/>
                </a:solidFill>
                <a:latin typeface="Arial"/>
                <a:cs typeface="Arial"/>
              </a:rPr>
              <a:t>With normal weather from now: 10.39 M bags (+3.9 % on 2026/27)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00" dirty="0">
                <a:solidFill>
                  <a:srgbClr val="262626"/>
                </a:solidFill>
                <a:latin typeface="Arial"/>
                <a:cs typeface="Arial"/>
              </a:rPr>
              <a:t>Half of the analog years fell in 9.9–10.9 M bags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00" dirty="0">
                <a:solidFill>
                  <a:srgbClr val="262626"/>
                </a:solidFill>
                <a:latin typeface="Arial"/>
                <a:cs typeface="Arial"/>
              </a:rPr>
              <a:t>Dry Oct–Nov (El Niño + positive IOD, the risk this year): 9.6 M bags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00" dirty="0">
                <a:solidFill>
                  <a:srgbClr val="262626"/>
                </a:solidFill>
                <a:latin typeface="Arial"/>
                <a:cs typeface="Arial"/>
              </a:rPr>
              <a:t>Error of the method in back-test: ±12 % (1 in 3 years outside)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959352" y="292608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dirty="0">
                <a:solidFill>
                  <a:srgbClr val="7F7F7F"/>
                </a:solidFill>
                <a:latin typeface="Arial"/>
                <a:cs typeface="Arial"/>
              </a:rPr>
              <a:t>×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863840" y="292608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dirty="0">
                <a:solidFill>
                  <a:srgbClr val="7F7F7F"/>
                </a:solidFill>
                <a:latin typeface="Arial"/>
                <a:cs typeface="Arial"/>
              </a:rPr>
              <a:t>=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11480" y="4846320"/>
            <a:ext cx="11338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dirty="0">
                <a:solidFill>
                  <a:srgbClr val="404040"/>
                </a:solidFill>
                <a:latin typeface="Arial"/>
                <a:cs typeface="Arial"/>
              </a:rPr>
              <a:t>What moves the 2027/28 number (M bags, from 10.39)</a:t>
            </a:r>
          </a:p>
        </p:txBody>
      </p:sp>
      <p:graphicFrame>
        <p:nvGraphicFramePr>
          <p:cNvPr id="15" name="Table 15"/>
          <p:cNvGraphicFramePr>
            <a:graphicFrameLocks noGrp="1"/>
          </p:cNvGraphicFramePr>
          <p:nvPr/>
        </p:nvGraphicFramePr>
        <p:xfrm>
          <a:off x="411480" y="5166360"/>
          <a:ext cx="11338560" cy="548640"/>
        </p:xfrm>
        <a:graphic>
          <a:graphicData uri="http://schemas.openxmlformats.org/drawingml/2006/table">
            <a:tbl>
              <a:tblPr firstRow="1" bandRow="0"/>
              <a:tblGrid>
                <a:gridCol w="2148840"/>
                <a:gridCol w="685800"/>
                <a:gridCol w="2148840"/>
                <a:gridCol w="685800"/>
                <a:gridCol w="2148840"/>
                <a:gridCol w="685800"/>
                <a:gridCol w="2148840"/>
                <a:gridCol w="685800"/>
              </a:tblGrid>
              <a:tr h="54864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Productive area ±1 %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1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±0.10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One town more or less with trigger rain (±2.7 %)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1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±0.27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Trend yield = mean, not median, of 2024–2026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1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+0.14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Dry Oct–Nov, El Niño + positive IOD (−4.4 %)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−0.79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rgbClr val="1F3864"/>
                </a:solidFill>
                <a:latin typeface="Arial"/>
                <a:cs typeface="Arial"/>
              </a:rPr>
              <a:t>Area: coffee and cocoa move in opposite directions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800" y="713232"/>
            <a:ext cx="10881360" cy="758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Year over year, coffee area and cocoa area are negatively correlated: r = −0.59 (p = 0.006, 21 years, FAO break years left out)</a:t>
            </a:r>
          </a:p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They moved in opposite directions in 12 of 21 years. 2000–2012: cocoa +7.8 %/yr, robusta −2.8 %/yr. 2012–2024: cocoa −2.4 %/yr, robusta flat</a:t>
            </a:r>
          </a:p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It is not a common trend: it is the same land and the same farmers switching crops. A gain for cocoa is a loss for coffee, and back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11480" y="6419088"/>
            <a:ext cx="113385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7F7F7F"/>
                </a:solidFill>
                <a:latin typeface="Arial"/>
                <a:cs typeface="Arial"/>
              </a:rPr>
              <a:t>FAOSTAT QCL, area harvested, Indonesia (coffee = arabica + robusta). Ministry of Agriculture (Ditjenbun): robusta planted area, 2004–2023. Cocoa 2003, 2006 and 2008 left blank: FAO series breaks (+24 %, −22 %, +54 %). r without the breaks; permutation test.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65760" y="1572768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dirty="0">
                <a:solidFill>
                  <a:srgbClr val="404040"/>
                </a:solidFill>
                <a:latin typeface="Arial"/>
                <a:cs typeface="Arial"/>
              </a:rPr>
              <a:t>Area, change on the year before (%)</a:t>
            </a:r>
          </a:p>
        </p:txBody>
      </p:sp>
      <p:graphicFrame>
        <p:nvGraphicFramePr>
          <p:cNvPr id="7" name="Chart 7"/>
          <p:cNvGraphicFramePr/>
          <p:nvPr/>
        </p:nvGraphicFramePr>
        <p:xfrm>
          <a:off x="274320" y="1828800"/>
          <a:ext cx="786384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8321040" y="1874520"/>
          <a:ext cx="3611880" cy="1645920"/>
        </p:xfrm>
        <a:graphic>
          <a:graphicData uri="http://schemas.openxmlformats.org/drawingml/2006/table">
            <a:tbl>
              <a:tblPr firstRow="1" bandRow="0"/>
              <a:tblGrid>
                <a:gridCol w="1783080"/>
                <a:gridCol w="914400"/>
                <a:gridCol w="914400"/>
              </a:tblGrid>
              <a:tr h="329184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Average change per year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2000–2012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2012–2024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Cocoa area (FAO)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3A8D5B"/>
                          </a:solidFill>
                          <a:latin typeface="Arial"/>
                          <a:cs typeface="Arial"/>
                        </a:rPr>
                        <a:t>+7.8 %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−2.4 %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Coffee area (FAO)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−0.2 %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+0.2 %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Robusta planted (ministry)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−2.8 %*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−0.06 %**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Coffee ÷ cocoa revenue per ha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0.39–0.98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0.93–1.88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TextBox 9"/>
          <p:cNvSpPr txBox="1"/>
          <p:nvPr/>
        </p:nvSpPr>
        <p:spPr>
          <a:xfrm>
            <a:off x="8321040" y="3566160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7F7F7F"/>
                </a:solidFill>
                <a:latin typeface="Arial"/>
                <a:cs typeface="Arial"/>
              </a:rPr>
              <a:t>* 2004–2012   ** 2012–2023</a:t>
            </a:r>
          </a:p>
        </p:txBody>
      </p:sp>
      <p:sp>
        <p:nvSpPr>
          <p:cNvPr id="10" name="Shape 10"/>
          <p:cNvSpPr/>
          <p:nvPr/>
        </p:nvSpPr>
        <p:spPr>
          <a:xfrm>
            <a:off x="8321040" y="3931920"/>
            <a:ext cx="3611880" cy="1600200"/>
          </a:xfrm>
          <a:prstGeom prst="rect">
            <a:avLst/>
          </a:prstGeom>
          <a:solidFill>
            <a:srgbClr val="F3F6F9"/>
          </a:solidFill>
          <a:ln w="15875">
            <a:solidFill>
              <a:srgbClr val="1F3864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8430768" y="4005072"/>
            <a:ext cx="3392424" cy="1453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100" b="1" dirty="0">
                <a:solidFill>
                  <a:srgbClr val="1F3864"/>
                </a:solidFill>
                <a:latin typeface="Arial"/>
                <a:cs typeface="Arial"/>
              </a:rPr>
              <a:t>How to read it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950" dirty="0">
                <a:solidFill>
                  <a:srgbClr val="262626"/>
                </a:solidFill>
                <a:latin typeface="Arial"/>
                <a:cs typeface="Arial"/>
              </a:rPr>
              <a:t>r = −1: they always move against each other; 0: no link.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950" dirty="0">
                <a:solidFill>
                  <a:srgbClr val="262626"/>
                </a:solidFill>
                <a:latin typeface="Arial"/>
                <a:cs typeface="Arial"/>
              </a:rPr>
              <a:t>r = −0.59 with a 0.7 % chance of luck (p = 0.006).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950" dirty="0">
                <a:solidFill>
                  <a:srgbClr val="262626"/>
                </a:solidFill>
                <a:latin typeface="Arial"/>
                <a:cs typeface="Arial"/>
              </a:rPr>
              <a:t>Robusta planted vs cocoa: r = −0.42 (p = 0.09).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950" dirty="0">
                <a:solidFill>
                  <a:srgbClr val="262626"/>
                </a:solidFill>
                <a:latin typeface="Arial"/>
                <a:cs typeface="Arial"/>
              </a:rPr>
              <a:t>The switch came in 2012, when a hectare of coffee started to pay more than a hectare of cocoa (slide 6).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1F3864"/>
                </a:solidFill>
                <a:latin typeface="Arial"/>
                <a:cs typeface="Arial"/>
              </a:rPr>
              <a:t>Revenue per hectare: coffee and cocoa rise and fall together, because prices do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800" y="713232"/>
            <a:ext cx="10881360" cy="758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Revenue per ha, year over year: r = +0.49 (p = 0.01, 2001–2026). Farm-gate prices: r = +0.56 (p = 0.004). Yields: r = +0.16 (p = 0.44), no link</a:t>
            </a:r>
          </a:p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Coffee revenue swings are 92 % price, 8 % yield. Cocoa: 57 % price, 43 % yield (cocoa yields fell from 850 kg/ha in 2006 to 350–480 since 2015)</a:t>
            </a:r>
          </a:p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So the link is the price (same rupiah, same commodity cycle), not the yield and not the area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11480" y="6419088"/>
            <a:ext cx="113385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7F7F7F"/>
                </a:solidFill>
                <a:latin typeface="Arial"/>
                <a:cs typeface="Arial"/>
              </a:rPr>
              <a:t>Revenue per ha = FAO producer price (USD/t) × FAO yield, Indonesia. Hatched: 2025 estimated with the FAO producer price index, 2026 with Jan–Aug world prices (World Bank), yields held at 2024. Price and yield split on 2001–2024 (log changes).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65760" y="1572768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dirty="0">
                <a:solidFill>
                  <a:srgbClr val="404040"/>
                </a:solidFill>
                <a:latin typeface="Arial"/>
                <a:cs typeface="Arial"/>
              </a:rPr>
              <a:t>Revenue per hectare, change on the year before (%)</a:t>
            </a:r>
          </a:p>
        </p:txBody>
      </p:sp>
      <p:graphicFrame>
        <p:nvGraphicFramePr>
          <p:cNvPr id="7" name="Chart 7"/>
          <p:cNvGraphicFramePr/>
          <p:nvPr/>
        </p:nvGraphicFramePr>
        <p:xfrm>
          <a:off x="274320" y="1828800"/>
          <a:ext cx="786384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8321040" y="1874520"/>
          <a:ext cx="3611880" cy="1645920"/>
        </p:xfrm>
        <a:graphic>
          <a:graphicData uri="http://schemas.openxmlformats.org/drawingml/2006/table">
            <a:tbl>
              <a:tblPr firstRow="1" bandRow="0"/>
              <a:tblGrid>
                <a:gridCol w="2148840"/>
                <a:gridCol w="640080"/>
                <a:gridCol w="822960"/>
              </a:tblGrid>
              <a:tr h="329184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Year-over-year link, coffee vs cocoa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chance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Revenue per ha, 2001–2026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+0.49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p = 0.01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Revenue per ha, 2001–2024 (FAO only)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+0.38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p = 0.07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Farm-gate price, 2001–2024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+0.56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p = 0.004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Yield, 2001–2024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+0.16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p = 0.44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Shape 9"/>
          <p:cNvSpPr/>
          <p:nvPr/>
        </p:nvSpPr>
        <p:spPr>
          <a:xfrm>
            <a:off x="8321040" y="3657600"/>
            <a:ext cx="3611880" cy="2103120"/>
          </a:xfrm>
          <a:prstGeom prst="rect">
            <a:avLst/>
          </a:prstGeom>
          <a:solidFill>
            <a:srgbClr val="F3F6F9"/>
          </a:solidFill>
          <a:ln w="15875">
            <a:solidFill>
              <a:srgbClr val="1F3864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8430768" y="3730752"/>
            <a:ext cx="3392424" cy="19568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100" b="1" dirty="0">
                <a:solidFill>
                  <a:srgbClr val="1F3864"/>
                </a:solidFill>
                <a:latin typeface="Arial"/>
                <a:cs typeface="Arial"/>
              </a:rPr>
              <a:t>What drives revenue per ha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950" b="1" dirty="0">
                <a:solidFill>
                  <a:srgbClr val="7B4A2D"/>
                </a:solidFill>
                <a:latin typeface="Arial"/>
                <a:cs typeface="Arial"/>
              </a:rPr>
              <a:t>Coffee: </a:t>
            </a:r>
            <a:r>
              <a:rPr lang="en-GB" sz="950" dirty="0">
                <a:solidFill>
                  <a:srgbClr val="262626"/>
                </a:solidFill>
                <a:latin typeface="Arial"/>
                <a:cs typeface="Arial"/>
              </a:rPr>
              <a:t>price 92 %, yield 8 %. Coffee yields are stable (±5 % a year), prices are not (±16 %).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950" b="1" dirty="0">
                <a:solidFill>
                  <a:srgbClr val="B07A1A"/>
                </a:solidFill>
                <a:latin typeface="Arial"/>
                <a:cs typeface="Arial"/>
              </a:rPr>
              <a:t>Cocoa: </a:t>
            </a:r>
            <a:r>
              <a:rPr lang="en-GB" sz="950" dirty="0">
                <a:solidFill>
                  <a:srgbClr val="262626"/>
                </a:solidFill>
                <a:latin typeface="Arial"/>
                <a:cs typeface="Arial"/>
              </a:rPr>
              <a:t>price 57 %, yield 43 %. Cocoa yields swing by ±14 % a year and fell from 850 kg/ha (2006) to 350–480.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950" dirty="0">
                <a:solidFill>
                  <a:srgbClr val="262626"/>
                </a:solidFill>
                <a:latin typeface="Arial"/>
                <a:cs typeface="Arial"/>
              </a:rPr>
              <a:t>For the area forecast, follow prices in rupiah: they carry most of the revenue signal.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1F3864"/>
                </a:solidFill>
                <a:latin typeface="Arial"/>
                <a:cs typeface="Arial"/>
              </a:rPr>
              <a:t>Is it common? Same direction only half the time; big moves together are rare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800" y="713232"/>
            <a:ext cx="10881360" cy="758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Coffee and cocoa revenue moved in the same direction in 14 of 26 years: no better than a coin toss (p = 0.50)</a:t>
            </a:r>
          </a:p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But the big moves come together: both above +30 % only in 2006, 2024, 2025. 2024–2025 is the largest joint boom since 2000</a:t>
            </a:r>
          </a:p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2026 (estimated): both fall, cocoa −43 %, coffee −20 % → coffee pays about 1.4× cocoa per ha again, as in 2019–2023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11480" y="6419088"/>
            <a:ext cx="113385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7F7F7F"/>
                </a:solidFill>
                <a:latin typeface="Arial"/>
                <a:cs typeface="Arial"/>
              </a:rPr>
              <a:t>Same data as slide 4. Chance of 14 or more same-direction years by luck: permutation of years (4,000 draws). 2025–2026 estimated.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65760" y="1572768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dirty="0">
                <a:solidFill>
                  <a:srgbClr val="404040"/>
                </a:solidFill>
                <a:latin typeface="Arial"/>
                <a:cs typeface="Arial"/>
              </a:rPr>
              <a:t>Revenue per ha, change on the year before: coffee (across) vs cocoa (up)</a:t>
            </a:r>
          </a:p>
        </p:txBody>
      </p:sp>
      <p:graphicFrame>
        <p:nvGraphicFramePr>
          <p:cNvPr id="7" name="Chart 7"/>
          <p:cNvGraphicFramePr/>
          <p:nvPr/>
        </p:nvGraphicFramePr>
        <p:xfrm>
          <a:off x="274320" y="1828800"/>
          <a:ext cx="694944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7498080" y="1874520"/>
          <a:ext cx="4434840" cy="1865376"/>
        </p:xfrm>
        <a:graphic>
          <a:graphicData uri="http://schemas.openxmlformats.org/drawingml/2006/table">
            <a:tbl>
              <a:tblPr firstRow="1" bandRow="0"/>
              <a:tblGrid>
                <a:gridCol w="2651760"/>
                <a:gridCol w="1783080"/>
              </a:tblGrid>
              <a:tr h="310896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Revenue per ha, 2001–2026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Both up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9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Both down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Coffee up, cocoa down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8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Coffee down, cocoa up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Both above +30 %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2006, 2024, 2025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Shape 9"/>
          <p:cNvSpPr/>
          <p:nvPr/>
        </p:nvSpPr>
        <p:spPr>
          <a:xfrm>
            <a:off x="7498080" y="3886200"/>
            <a:ext cx="4434840" cy="2148840"/>
          </a:xfrm>
          <a:prstGeom prst="rect">
            <a:avLst/>
          </a:prstGeom>
          <a:solidFill>
            <a:srgbClr val="F3F6F9"/>
          </a:solidFill>
          <a:ln w="15875">
            <a:solidFill>
              <a:srgbClr val="1F3864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7607808" y="3959352"/>
            <a:ext cx="4215384" cy="2002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100" b="1" dirty="0">
                <a:solidFill>
                  <a:srgbClr val="1F3864"/>
                </a:solidFill>
                <a:latin typeface="Arial"/>
                <a:cs typeface="Arial"/>
              </a:rPr>
              <a:t>So what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950" dirty="0">
                <a:solidFill>
                  <a:srgbClr val="262626"/>
                </a:solidFill>
                <a:latin typeface="Arial"/>
                <a:cs typeface="Arial"/>
              </a:rPr>
              <a:t>Small moves: each crop has its own story (cocoa yields, coffee weather).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950" dirty="0">
                <a:solidFill>
                  <a:srgbClr val="262626"/>
                </a:solidFill>
                <a:latin typeface="Arial"/>
                <a:cs typeface="Arial"/>
              </a:rPr>
              <a:t>Big moves: one story, the world commodity cycle and the rupiah. 2024–2025 was one of these: both crops paid a record, so neither gained land on the other.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950" dirty="0">
                <a:solidFill>
                  <a:srgbClr val="262626"/>
                </a:solidFill>
                <a:latin typeface="Arial"/>
                <a:cs typeface="Arial"/>
              </a:rPr>
              <a:t>2026 breaks the tie: cocoa prices fell twice as fast as robusta. On the rule of slide 6, that favours coffee planting from 2027 (area effect from 2029–2030).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rgbClr val="1F3864"/>
                </a:solidFill>
                <a:latin typeface="Arial"/>
                <a:cs typeface="Arial"/>
              </a:rPr>
              <a:t>What moves the area: which crop paid more, 1 to 3 years before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800" y="713232"/>
            <a:ext cx="10881360" cy="758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When coffee paid less than cocoa the year before, robusta area fell −2.5 %/yr (9 years). When it paid as much or more: −0.1 %/yr (10 years)</a:t>
            </a:r>
          </a:p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Coffee ÷ cocoa revenue vs robusta area growth: r = +0.64 one year later, +0.64 two years, +0.74 three years</a:t>
            </a:r>
          </a:p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The one-year change in revenue does not predict area (r = −0.06): farmers react to a lasting gap, not to one good year. Caution: 2 regimes, few years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11480" y="6419088"/>
            <a:ext cx="113385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7F7F7F"/>
                </a:solidFill>
                <a:latin typeface="Arial"/>
                <a:cs typeface="Arial"/>
              </a:rPr>
              <a:t>Revenue per ha: FAOSTAT price × yield (2025–2026 estimated). Robusta planted area: Ministry of Agriculture (Ditjenbun), 2004–2023. Regime colour uses the ratio of the year before. With only 19 years and one switch (2012), the link is a regime, not a year-by-year rule.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65760" y="1572768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dirty="0">
                <a:solidFill>
                  <a:srgbClr val="404040"/>
                </a:solidFill>
                <a:latin typeface="Arial"/>
                <a:cs typeface="Arial"/>
              </a:rPr>
              <a:t>Revenue per ha, coffee ÷ cocoa (1 = same revenue)</a:t>
            </a:r>
          </a:p>
        </p:txBody>
      </p:sp>
      <p:graphicFrame>
        <p:nvGraphicFramePr>
          <p:cNvPr id="7" name="Chart 7"/>
          <p:cNvGraphicFramePr/>
          <p:nvPr/>
        </p:nvGraphicFramePr>
        <p:xfrm>
          <a:off x="274320" y="1783080"/>
          <a:ext cx="7863840" cy="2240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8"/>
          <p:cNvSpPr txBox="1"/>
          <p:nvPr/>
        </p:nvSpPr>
        <p:spPr>
          <a:xfrm>
            <a:off x="365760" y="402336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dirty="0">
                <a:solidFill>
                  <a:srgbClr val="404040"/>
                </a:solidFill>
                <a:latin typeface="Arial"/>
                <a:cs typeface="Arial"/>
              </a:rPr>
              <a:t>Robusta planted area, change on the year before (%)</a:t>
            </a:r>
          </a:p>
        </p:txBody>
      </p:sp>
      <p:graphicFrame>
        <p:nvGraphicFramePr>
          <p:cNvPr id="9" name="Chart 9"/>
          <p:cNvGraphicFramePr/>
          <p:nvPr/>
        </p:nvGraphicFramePr>
        <p:xfrm>
          <a:off x="274320" y="4251960"/>
          <a:ext cx="7863840" cy="2148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8321040" y="1874520"/>
          <a:ext cx="3611880" cy="987552"/>
        </p:xfrm>
        <a:graphic>
          <a:graphicData uri="http://schemas.openxmlformats.org/drawingml/2006/table">
            <a:tbl>
              <a:tblPr firstRow="1" bandRow="0"/>
              <a:tblGrid>
                <a:gridCol w="1965960"/>
                <a:gridCol w="640080"/>
                <a:gridCol w="1005840"/>
              </a:tblGrid>
              <a:tr h="329184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Coffee ÷ cocoa, year before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robusta area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below 1 (cocoa pays more)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9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−2.5 %/yr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3A8D5B"/>
                          </a:solidFill>
                          <a:latin typeface="Arial"/>
                          <a:cs typeface="Arial"/>
                        </a:rPr>
                        <a:t>1 or more (coffee pays more)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10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 dirty="0">
                          <a:solidFill>
                            <a:srgbClr val="3A8D5B"/>
                          </a:solidFill>
                          <a:latin typeface="Arial"/>
                          <a:cs typeface="Arial"/>
                        </a:rPr>
                        <a:t>−0.1 %/yr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8321040" y="3063240"/>
          <a:ext cx="3611880" cy="1554480"/>
        </p:xfrm>
        <a:graphic>
          <a:graphicData uri="http://schemas.openxmlformats.org/drawingml/2006/table">
            <a:tbl>
              <a:tblPr firstRow="1" bandRow="0"/>
              <a:tblGrid>
                <a:gridCol w="1965960"/>
                <a:gridCol w="640080"/>
                <a:gridCol w="1005840"/>
              </a:tblGrid>
              <a:tr h="310896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Test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chance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Ratio 1 year before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+0.64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p = 0.002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Ratio 2 years before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+0.64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p = 0.003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Ratio 3 years before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+0.74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p &lt; 0.001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Change in ratio, 1 year before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−0.06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p = 0.81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Shape 12"/>
          <p:cNvSpPr/>
          <p:nvPr/>
        </p:nvSpPr>
        <p:spPr>
          <a:xfrm>
            <a:off x="8321040" y="4754880"/>
            <a:ext cx="3611880" cy="1325880"/>
          </a:xfrm>
          <a:prstGeom prst="rect">
            <a:avLst/>
          </a:prstGeom>
          <a:solidFill>
            <a:srgbClr val="F3F6F9"/>
          </a:solidFill>
          <a:ln w="15875">
            <a:solidFill>
              <a:srgbClr val="1F3864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8430768" y="4828032"/>
            <a:ext cx="3392424" cy="11795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100" b="1" dirty="0">
                <a:solidFill>
                  <a:srgbClr val="1F3864"/>
                </a:solidFill>
                <a:latin typeface="Arial"/>
                <a:cs typeface="Arial"/>
              </a:rPr>
              <a:t>Reading for 2027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950" dirty="0">
                <a:solidFill>
                  <a:srgbClr val="262626"/>
                </a:solidFill>
                <a:latin typeface="Arial"/>
                <a:cs typeface="Arial"/>
              </a:rPr>
              <a:t>Coffee pays more than cocoa since 2012 (1.02 in 2025, ~1.4 in 2026): the rule says no loss of robusta area.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950" dirty="0">
                <a:solidFill>
                  <a:srgbClr val="262626"/>
                </a:solidFill>
                <a:latin typeface="Arial"/>
                <a:cs typeface="Arial"/>
              </a:rPr>
              <a:t>New plantings of 2026–2027 only produce from 2029.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rgbClr val="1F3864"/>
                </a:solidFill>
                <a:latin typeface="Arial"/>
                <a:cs typeface="Arial"/>
              </a:rPr>
              <a:t>Which links are real: area and yield are two separate engines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800" y="713232"/>
            <a:ext cx="10881360" cy="758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Real links: coffee and cocoa areas trade off (r = −0.59); prices and so revenues move together (r = +0.56); area follows the revenue gap with a lag</a:t>
            </a:r>
          </a:p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No link between area and yield: new or abandoned land does not show in the yield (r = −0.08 and −0.07)</a:t>
            </a:r>
          </a:p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So the forecast can take the two separately: area from the land and revenue history, yield from the weather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11480" y="6419088"/>
            <a:ext cx="113385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7F7F7F"/>
                </a:solidFill>
                <a:latin typeface="Arial"/>
                <a:cs typeface="Arial"/>
              </a:rPr>
              <a:t>r = correlation (−1 to +1). Chance = permutation test (4,000 draws): share of random reorderings of the years that give a link as strong. Below 5 % = unlikely to be luck. Data as slides 3–6.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65760" y="1572768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dirty="0">
                <a:solidFill>
                  <a:srgbClr val="404040"/>
                </a:solidFill>
                <a:latin typeface="Arial"/>
                <a:cs typeface="Arial"/>
              </a:rPr>
              <a:t>Correlation r (bar) and verdict</a:t>
            </a:r>
          </a:p>
        </p:txBody>
      </p:sp>
      <p:graphicFrame>
        <p:nvGraphicFramePr>
          <p:cNvPr id="7" name="Chart 7"/>
          <p:cNvGraphicFramePr/>
          <p:nvPr/>
        </p:nvGraphicFramePr>
        <p:xfrm>
          <a:off x="274320" y="1783080"/>
          <a:ext cx="694944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7360920" y="1828800"/>
          <a:ext cx="4617720" cy="4114800"/>
        </p:xfrm>
        <a:graphic>
          <a:graphicData uri="http://schemas.openxmlformats.org/drawingml/2006/table">
            <a:tbl>
              <a:tblPr firstRow="1" bandRow="0"/>
              <a:tblGrid>
                <a:gridCol w="2148840"/>
                <a:gridCol w="502920"/>
                <a:gridCol w="731520"/>
                <a:gridCol w="1234440"/>
              </a:tblGrid>
              <a:tr h="4572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Link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chance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verdict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Coffee area vs cocoa area (YoY)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b="1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−0.59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p = 0.006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b="1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Real: they compete for land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Coffee vs cocoa revenue per ha (YoY)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b="1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+0.49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p = 0.01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b="1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Real, via prices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Coffee vs cocoa farm-gate price (YoY)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b="1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+0.56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p = 0.004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b="1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Real: same rupiah, same cycle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Coffee vs cocoa yield (YoY)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b="1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+0.16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p = 0.44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dirty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No link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Coffee ÷ cocoa revenue → robusta area, 1 yr later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b="1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+0.64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p = 0.002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b="1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Real, as a regime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Change in that ratio → robusta area, 1 yr later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b="1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−0.06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p = 0.81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dirty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No link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Coffee area vs coffee yield (YoY)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b="1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−0.08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p = 0.72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dirty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No link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Robusta planted vs robusta yield (YoY)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b="1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−0.07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p = 0.78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dirty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No link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rgbClr val="1F3864"/>
                </a:solidFill>
                <a:latin typeface="Arial"/>
                <a:cs typeface="Arial"/>
              </a:rPr>
              <a:t>2027 productive area is already fixed: 709,158 ha (+0.4 %)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800" y="713232"/>
            <a:ext cx="10881360" cy="758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Productive robusta area grew +0.36 %/yr from 2013 to 2022 (ministry). Same pace applied to 2023–2027 → 709,158 ha in 2027</a:t>
            </a:r>
          </a:p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A tree planted in 2026 bears from 2028–2029: the 2027 harvest area was decided by plantings up to 2024. Error ±1 % ≈ ±0.1 M bags</a:t>
            </a:r>
          </a:p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Land is closing: permanent crops in Indonesia grew +0.55 M ha/yr in 2000–2010, +0.46 in 2010–2020, +0.12 in 2020–2024. Parks are now enforced (≈50,000 ha seized in Lampung Barat, 2025)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11480" y="6419088"/>
            <a:ext cx="113385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7F7F7F"/>
                </a:solidFill>
                <a:latin typeface="Arial"/>
                <a:cs typeface="Arial"/>
              </a:rPr>
              <a:t>Ministry of Agriculture (Ditjenbun / Outlook Kopi): productive robusta area 2013–2023; 2023–2027 hatched = extrapolated at the 2013–2022 rate. FAOSTAT land use: permanent crops, Indonesia (oil palm, rubber, coffee, cocoa, coconut…). Satgas PKH seizure: press, 2025.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65760" y="1572768"/>
            <a:ext cx="6766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dirty="0">
                <a:solidFill>
                  <a:srgbClr val="404040"/>
                </a:solidFill>
                <a:latin typeface="Arial"/>
                <a:cs typeface="Arial"/>
              </a:rPr>
              <a:t>Productive robusta area (thousand ha)</a:t>
            </a:r>
          </a:p>
        </p:txBody>
      </p:sp>
      <p:graphicFrame>
        <p:nvGraphicFramePr>
          <p:cNvPr id="7" name="Chart 7"/>
          <p:cNvGraphicFramePr/>
          <p:nvPr/>
        </p:nvGraphicFramePr>
        <p:xfrm>
          <a:off x="274320" y="1783080"/>
          <a:ext cx="694944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8"/>
          <p:cNvSpPr txBox="1"/>
          <p:nvPr/>
        </p:nvSpPr>
        <p:spPr>
          <a:xfrm>
            <a:off x="7498080" y="1572768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dirty="0">
                <a:solidFill>
                  <a:srgbClr val="404040"/>
                </a:solidFill>
                <a:latin typeface="Arial"/>
                <a:cs typeface="Arial"/>
              </a:rPr>
              <a:t>Permanent crops, net new land (M ha per year)</a:t>
            </a:r>
          </a:p>
        </p:txBody>
      </p:sp>
      <p:graphicFrame>
        <p:nvGraphicFramePr>
          <p:cNvPr id="9" name="Chart 9"/>
          <p:cNvGraphicFramePr/>
          <p:nvPr/>
        </p:nvGraphicFramePr>
        <p:xfrm>
          <a:off x="7406640" y="1783080"/>
          <a:ext cx="4526280" cy="2377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Shape 10"/>
          <p:cNvSpPr/>
          <p:nvPr/>
        </p:nvSpPr>
        <p:spPr>
          <a:xfrm>
            <a:off x="7406640" y="4343400"/>
            <a:ext cx="4526280" cy="1463040"/>
          </a:xfrm>
          <a:prstGeom prst="rect">
            <a:avLst/>
          </a:prstGeom>
          <a:solidFill>
            <a:srgbClr val="F3F6F9"/>
          </a:solidFill>
          <a:ln w="15875">
            <a:solidFill>
              <a:srgbClr val="1F3864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7516368" y="4416552"/>
            <a:ext cx="4306824" cy="1316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100" b="1" dirty="0">
                <a:solidFill>
                  <a:srgbClr val="1F3864"/>
                </a:solidFill>
                <a:latin typeface="Arial"/>
                <a:cs typeface="Arial"/>
              </a:rPr>
              <a:t>Calculation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950" dirty="0">
                <a:solidFill>
                  <a:srgbClr val="262626"/>
                </a:solidFill>
                <a:latin typeface="Arial"/>
                <a:cs typeface="Arial"/>
              </a:rPr>
              <a:t>2026 productive area: 706,332 ha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950" dirty="0">
                <a:solidFill>
                  <a:srgbClr val="262626"/>
                </a:solidFill>
                <a:latin typeface="Arial"/>
                <a:cs typeface="Arial"/>
              </a:rPr>
              <a:t>× (1 + 0.40 %) = 709,158 ha in 2027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950" dirty="0">
                <a:solidFill>
                  <a:srgbClr val="262626"/>
                </a:solidFill>
                <a:latin typeface="Arial"/>
                <a:cs typeface="Arial"/>
              </a:rPr>
              <a:t>If the recent high prices had added 1 % of new productive area by 2027 (unlikely before 2029), production would be +0.1 M bags.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1F3864"/>
                </a:solidFill>
                <a:latin typeface="Arial"/>
                <a:cs typeface="Arial"/>
              </a:rPr>
              <a:t>What a normal year looks like: dry Jun–Sep, trigger rain in Jul–Aug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800" y="713232"/>
            <a:ext cx="10881360" cy="758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Normal rain: 120 mm/month in the dry season (Jun–Sep) against 269 mm/month in Nov–Apr. Lampung and the lowland are drier (Liwa: 65 mm in August)</a:t>
            </a:r>
          </a:p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Flowering needs a dry spell (11 days &lt; 0.6 mm/day) then one rainy day &gt; 10 mm. In a normal year this happens in 2.6 of 5 towns (median 3), in each town 1 year in 2</a:t>
            </a:r>
          </a:p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Normal date: 18 Jul (Liwa) to 17 Aug (Lahat). 2026: 22 Jul and 16 Aug in 4 towns, on time; Liwa not yet. Harvest comes 9–11 months after flowering (Apr–Aug)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11480" y="6419088"/>
            <a:ext cx="113385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7F7F7F"/>
                </a:solidFill>
                <a:latin typeface="Arial"/>
                <a:cs typeface="Arial"/>
              </a:rPr>
              <a:t>NASA POWER daily rainfall (PRECTOTCORR), 1991–2020 normals per month; 2026 = January–August observed. Trigger: first day &gt; 10 mm after 11 days averaging &lt; 0.6 mm/day, June–October, 1981–2025.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65760" y="1572768"/>
            <a:ext cx="6766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dirty="0">
                <a:solidFill>
                  <a:srgbClr val="404040"/>
                </a:solidFill>
                <a:latin typeface="Arial"/>
                <a:cs typeface="Arial"/>
              </a:rPr>
              <a:t>Rainfall per month, mm</a:t>
            </a:r>
          </a:p>
        </p:txBody>
      </p:sp>
      <p:graphicFrame>
        <p:nvGraphicFramePr>
          <p:cNvPr id="7" name="Chart 7"/>
          <p:cNvGraphicFramePr/>
          <p:nvPr/>
        </p:nvGraphicFramePr>
        <p:xfrm>
          <a:off x="274320" y="1783080"/>
          <a:ext cx="68580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8"/>
          <p:cNvSpPr txBox="1"/>
          <p:nvPr/>
        </p:nvSpPr>
        <p:spPr>
          <a:xfrm>
            <a:off x="2971800" y="19202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solidFill>
                  <a:srgbClr val="C55A11"/>
                </a:solidFill>
                <a:latin typeface="Arial"/>
                <a:cs typeface="Arial"/>
              </a:rPr>
              <a:t>dry season = flowering window</a:t>
            </a:r>
          </a:p>
        </p:txBody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7315200" y="1828800"/>
          <a:ext cx="4617720" cy="1975104"/>
        </p:xfrm>
        <a:graphic>
          <a:graphicData uri="http://schemas.openxmlformats.org/drawingml/2006/table">
            <a:tbl>
              <a:tblPr firstRow="1" bandRow="0"/>
              <a:tblGrid>
                <a:gridCol w="1508760"/>
                <a:gridCol w="731520"/>
                <a:gridCol w="731520"/>
                <a:gridCol w="1051560"/>
                <a:gridCol w="594360"/>
              </a:tblGrid>
              <a:tr h="329184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Town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trigger years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normal date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half of years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2026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Pagar Alam (highland)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24 of 45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b="1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15 Aug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06 Jul – 03 Sep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b="1" dirty="0">
                          <a:solidFill>
                            <a:srgbClr val="3A8D5B"/>
                          </a:solidFill>
                          <a:latin typeface="Arial"/>
                          <a:cs typeface="Arial"/>
                        </a:rPr>
                        <a:t>16 Aug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Lahat (foothills)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23 of 45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b="1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17 Aug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05 Jul – 05 Sep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b="1" dirty="0">
                          <a:solidFill>
                            <a:srgbClr val="3A8D5B"/>
                          </a:solidFill>
                          <a:latin typeface="Arial"/>
                          <a:cs typeface="Arial"/>
                        </a:rPr>
                        <a:t>22 Jul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Muaradua (lowland)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22 of 45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b="1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03 Aug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01 Jul – 09 Sep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b="1" dirty="0">
                          <a:solidFill>
                            <a:srgbClr val="3A8D5B"/>
                          </a:solidFill>
                          <a:latin typeface="Arial"/>
                          <a:cs typeface="Arial"/>
                        </a:rPr>
                        <a:t>22 Jul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Liwa (Lampung)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23 of 45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b="1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18 Jul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22 Jun – 19 Aug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not yet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Kepahiang (highland)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26 of 45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b="1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30 Jul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05 Jul – 17 Aug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b="1" dirty="0">
                          <a:solidFill>
                            <a:srgbClr val="3A8D5B"/>
                          </a:solidFill>
                          <a:latin typeface="Arial"/>
                          <a:cs typeface="Arial"/>
                        </a:rPr>
                        <a:t>16 Aug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7315200" y="3977640"/>
          <a:ext cx="4617720" cy="585216"/>
        </p:xfrm>
        <a:graphic>
          <a:graphicData uri="http://schemas.openxmlformats.org/drawingml/2006/table">
            <a:tbl>
              <a:tblPr firstRow="1" bandRow="0"/>
              <a:tblGrid>
                <a:gridCol w="1874520"/>
                <a:gridCol w="457200"/>
                <a:gridCol w="457200"/>
                <a:gridCol w="457200"/>
                <a:gridCol w="457200"/>
                <a:gridCol w="457200"/>
                <a:gridCol w="457200"/>
              </a:tblGrid>
              <a:tr h="292608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Towns with a trigger in a year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Years, 1981–2025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9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8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b="1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8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11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Shape 11"/>
          <p:cNvSpPr/>
          <p:nvPr/>
        </p:nvSpPr>
        <p:spPr>
          <a:xfrm>
            <a:off x="7315200" y="4754880"/>
            <a:ext cx="4617720" cy="1417320"/>
          </a:xfrm>
          <a:prstGeom prst="rect">
            <a:avLst/>
          </a:prstGeom>
          <a:solidFill>
            <a:srgbClr val="F3F6F9"/>
          </a:solidFill>
          <a:ln w="15875">
            <a:solidFill>
              <a:srgbClr val="1F3864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7424928" y="4828032"/>
            <a:ext cx="4398264" cy="1271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100" b="1" dirty="0">
                <a:solidFill>
                  <a:srgbClr val="1F3864"/>
                </a:solidFill>
                <a:latin typeface="Arial"/>
                <a:cs typeface="Arial"/>
              </a:rPr>
              <a:t>Normal year, in numbers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950" dirty="0">
                <a:solidFill>
                  <a:srgbClr val="262626"/>
                </a:solidFill>
                <a:latin typeface="Arial"/>
                <a:cs typeface="Arial"/>
              </a:rPr>
              <a:t>120 mm/month Jun–Sep · trigger in 2–3 towns · Jul–Aug · 15–20 mm on the trigger day · max temperature peaks at 29 °C in Sep–Oct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950" dirty="0">
                <a:solidFill>
                  <a:srgbClr val="262626"/>
                </a:solidFill>
                <a:latin typeface="Arial"/>
                <a:cs typeface="Arial"/>
              </a:rPr>
              <a:t>2026: 4 towns (only 8 years of 45 had 4) · rain Jun–Aug 65 % of normal · hotter (+1.1 °C in Jul–Sep)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1F3864"/>
                </a:solidFill>
                <a:latin typeface="Arial"/>
                <a:cs typeface="Arial"/>
              </a:rPr>
              <a:t>Which weather matters: 18 factors tested on 45 crops (1982–2026)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800" y="713232"/>
            <a:ext cx="10881360" cy="758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Strongest: flowering trigger rain (r = +0.47, p = 0.001). The more towns get their dry spell then trigger rain, the bigger the crop</a:t>
            </a:r>
          </a:p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Too much rain in Jun–Oct hurts (r = −0.32): no dry spell, no synchronised flowering. Rain in Aug–Oct matters most year over year (r = −0.45)</a:t>
            </a:r>
          </a:p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ENSO alone (r = +0.07) and harvest rain (r = +0.02) explain nothing. The previous crop does not predict the level, only the rebound (slide 13)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11480" y="6419088"/>
            <a:ext cx="113385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7F7F7F"/>
                </a:solidFill>
                <a:latin typeface="Arial"/>
                <a:cs typeface="Arial"/>
              </a:rPr>
              <a:t>Crop N = USDA robusta production, marketing year N/N+1; weather of the flowering year N−1 (bean filling Dec–Mar, harvest Apr–Aug of year N). Vs trend = production vs median of crops N−3..N+3. Dark bars: chance &lt; 5 % (permutation test). NASA POWER, 5 towns.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65760" y="1572768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dirty="0">
                <a:solidFill>
                  <a:srgbClr val="404040"/>
                </a:solidFill>
                <a:latin typeface="Arial"/>
                <a:cs typeface="Arial"/>
              </a:rPr>
              <a:t>Correlation with the crop: vs trend (blue) and year over year (orange); dark = significant</a:t>
            </a:r>
          </a:p>
        </p:txBody>
      </p:sp>
      <p:graphicFrame>
        <p:nvGraphicFramePr>
          <p:cNvPr id="7" name="Chart 7"/>
          <p:cNvGraphicFramePr/>
          <p:nvPr/>
        </p:nvGraphicFramePr>
        <p:xfrm>
          <a:off x="274320" y="1783080"/>
          <a:ext cx="7863840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8321040" y="1828800"/>
          <a:ext cx="3611880" cy="2926080"/>
        </p:xfrm>
        <a:graphic>
          <a:graphicData uri="http://schemas.openxmlformats.org/drawingml/2006/table">
            <a:tbl>
              <a:tblPr firstRow="1" bandRow="0"/>
              <a:tblGrid>
                <a:gridCol w="1143000"/>
                <a:gridCol w="1234440"/>
                <a:gridCol w="1234440"/>
              </a:tblGrid>
              <a:tr h="292608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Factor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vs trend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 over year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Trigger towns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b="1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+0.47 (p = 0.001)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b="1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+0.38 (p = 0.010)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Rain Jun–Oct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b="1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−0.32 (p = 0.03)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b="1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−0.37 (p = 0.01)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Rain Jun–Sep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b="1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−0.31 (p = 0.04)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b="1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−0.34 (p = 0.02)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Rain Aug–Oct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−0.26 (p = 0.09)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b="1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−0.45 (p = 0.001)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Rain Dec–Mar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−0.22 (p = 0.14)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b="1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−0.30 (p = 0.05)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Max temp. Jul–Oct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+0.22 (p = 0.15)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+0.24 (p = 0.10)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IOD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+0.08 (p = 0.63)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b="1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+0.35 (p = 0.02)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ENSO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+0.07 (p = 0.66)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+0.08 (p = 0.58)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Previous crop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+0.02 (p = 0.87)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b="1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−0.69 (p &lt; 0.001)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Shape 9"/>
          <p:cNvSpPr/>
          <p:nvPr/>
        </p:nvSpPr>
        <p:spPr>
          <a:xfrm>
            <a:off x="8321040" y="4846320"/>
            <a:ext cx="3611880" cy="1097280"/>
          </a:xfrm>
          <a:prstGeom prst="rect">
            <a:avLst/>
          </a:prstGeom>
          <a:solidFill>
            <a:srgbClr val="F3F6F9"/>
          </a:solidFill>
          <a:ln w="15875">
            <a:solidFill>
              <a:srgbClr val="1F3864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8430768" y="4919472"/>
            <a:ext cx="3392424" cy="9509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100" b="1" dirty="0">
                <a:solidFill>
                  <a:srgbClr val="1F3864"/>
                </a:solidFill>
                <a:latin typeface="Arial"/>
                <a:cs typeface="Arial"/>
              </a:rPr>
              <a:t>Honest limit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950" dirty="0">
                <a:solidFill>
                  <a:srgbClr val="262626"/>
                </a:solidFill>
                <a:latin typeface="Arial"/>
                <a:cs typeface="Arial"/>
              </a:rPr>
              <a:t>The best single factor explains 22 % of the swings (r² = 0.22). The weather tells the direction more often than not, not the exact number.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1F3864"/>
                </a:solidFill>
                <a:latin typeface="Arial"/>
                <a:cs typeface="Arial"/>
              </a:rPr>
              <a:t>The two thresholds: trigger rain in 3+ towns, and Jun–Oct rain below 150 %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800" y="713232"/>
            <a:ext cx="10881360" cy="758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Trigger in 3–5 towns: crop +4.0 % vs trend (15 of 24 up). No trigger at all: −9.9 % (6 of 9 down: 1995, 2011, 2023…)</a:t>
            </a:r>
          </a:p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Jun–Oct rain above 150 % of normal: −9.3 % vs trend, 9 of 10 crops down. Between 80 and 120 %: +4.8 %</a:t>
            </a:r>
          </a:p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Both good (3+ towns, rain ≤ 120 %): +4.3 % (22 years, 13 up). Both bad (≤ 2 towns, rain &gt; 120 %): −6.6 % (14 years). 2026: 4 towns, 75 % → good side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11480" y="6419088"/>
            <a:ext cx="113385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7F7F7F"/>
                </a:solidFill>
                <a:latin typeface="Arial"/>
                <a:cs typeface="Arial"/>
              </a:rPr>
              <a:t>Mean of production vs trend (median of crops N−3..N+3), USDA 1982–2026, grouped by the weather of the flowering year. Navy bar = where the 2026 flowering sits (Jun–Oct rain: observed to 19 Sep, normal after). n = number of crops.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65760" y="182880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dirty="0">
                <a:solidFill>
                  <a:srgbClr val="404040"/>
                </a:solidFill>
                <a:latin typeface="Arial"/>
                <a:cs typeface="Arial"/>
              </a:rPr>
              <a:t>Crop vs trend, by towns with trigger rain</a:t>
            </a:r>
          </a:p>
        </p:txBody>
      </p:sp>
      <p:graphicFrame>
        <p:nvGraphicFramePr>
          <p:cNvPr id="7" name="Chart 7"/>
          <p:cNvGraphicFramePr/>
          <p:nvPr/>
        </p:nvGraphicFramePr>
        <p:xfrm>
          <a:off x="365760" y="2103120"/>
          <a:ext cx="47548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8"/>
          <p:cNvSpPr txBox="1"/>
          <p:nvPr/>
        </p:nvSpPr>
        <p:spPr>
          <a:xfrm>
            <a:off x="5394960" y="1828800"/>
            <a:ext cx="64922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dirty="0">
                <a:solidFill>
                  <a:srgbClr val="404040"/>
                </a:solidFill>
                <a:latin typeface="Arial"/>
                <a:cs typeface="Arial"/>
              </a:rPr>
              <a:t>Crop vs trend, by Jun–Oct rain (% of normal)</a:t>
            </a:r>
          </a:p>
        </p:txBody>
      </p:sp>
      <p:graphicFrame>
        <p:nvGraphicFramePr>
          <p:cNvPr id="9" name="Chart 9"/>
          <p:cNvGraphicFramePr/>
          <p:nvPr/>
        </p:nvGraphicFramePr>
        <p:xfrm>
          <a:off x="5394960" y="2103120"/>
          <a:ext cx="6492240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rgbClr val="1F3864"/>
                </a:solidFill>
                <a:latin typeface="Arial"/>
                <a:cs typeface="Arial"/>
              </a:rPr>
              <a:t>Heat and ENSO: weak on their own, bearish together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800" y="713232"/>
            <a:ext cx="10881360" cy="758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Max temperature Jul–Oct: a cool season hurts (≤ −0.7 °C: −6.2 %, 10 of 15 down, wet years). 0 to +1.2 °C is best (+5.8 / +6.2 %); above +1.2 °C it turns negative</a:t>
            </a:r>
          </a:p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ENSO alone: every bin within ±3.5 %. Strong El Niño (ONI ≥ 1.5): 0.0 %, 4 crops. El Niño with a positive IOD: −4.4 %, 5 of 7 down (1995 −19 %, 2007 −12 %)</a:t>
            </a:r>
          </a:p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2026: heat +0.7 °C (observed to 19 Sep, normal after), strong El Niño and a positive IOD likely (BoM, 15 Sep) → the risk to watch is a dry Oct–Nov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11480" y="6419088"/>
            <a:ext cx="113385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7F7F7F"/>
                </a:solidFill>
                <a:latin typeface="Arial"/>
                <a:cs typeface="Arial"/>
              </a:rPr>
              <a:t>Temperature: NASA POWER T2M_MAX, 5 towns, anomaly vs 1991–2020. ENSO: NOAA CPC ONI, Aug–Nov mean of the flowering year. IOD: DMI (NOAA PSL, HadISST), Aug–Nov, positive ≥ +0.4. Navy bars = where 2026 sits.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65760" y="1828800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dirty="0">
                <a:solidFill>
                  <a:srgbClr val="404040"/>
                </a:solidFill>
                <a:latin typeface="Arial"/>
                <a:cs typeface="Arial"/>
              </a:rPr>
              <a:t>Crop vs trend, by max temperature Jul–Oct</a:t>
            </a:r>
          </a:p>
        </p:txBody>
      </p:sp>
      <p:graphicFrame>
        <p:nvGraphicFramePr>
          <p:cNvPr id="7" name="Chart 7"/>
          <p:cNvGraphicFramePr/>
          <p:nvPr/>
        </p:nvGraphicFramePr>
        <p:xfrm>
          <a:off x="365760" y="2103120"/>
          <a:ext cx="539496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8"/>
          <p:cNvSpPr txBox="1"/>
          <p:nvPr/>
        </p:nvSpPr>
        <p:spPr>
          <a:xfrm>
            <a:off x="6035040" y="1828800"/>
            <a:ext cx="58978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dirty="0">
                <a:solidFill>
                  <a:srgbClr val="404040"/>
                </a:solidFill>
                <a:latin typeface="Arial"/>
                <a:cs typeface="Arial"/>
              </a:rPr>
              <a:t>Crop vs trend, by ENSO and IOD of the flowering year</a:t>
            </a:r>
          </a:p>
        </p:txBody>
      </p:sp>
      <p:graphicFrame>
        <p:nvGraphicFramePr>
          <p:cNvPr id="9" name="Chart 9"/>
          <p:cNvGraphicFramePr/>
          <p:nvPr/>
        </p:nvGraphicFramePr>
        <p:xfrm>
          <a:off x="6035040" y="2103120"/>
          <a:ext cx="5897880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1F3864"/>
                </a:solidFill>
                <a:latin typeface="Arial"/>
                <a:cs typeface="Arial"/>
              </a:rPr>
              <a:t>No on/off cycle in Indonesia, but a big crop is followed by a smaller one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800" y="713232"/>
            <a:ext cx="10881360" cy="758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Up, down, up, down would give 44 changes of direction in 45 crops. Indonesia has 20, random order gives 20.0 on average (p = 0.56): no biennial cycle, unlike Brazil</a:t>
            </a:r>
          </a:p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After a crop more than 8 % above trend, the next is −7.6 % on the year (10 cases). After a crop more than 8 % below: +16.8 % (9 cases)</a:t>
            </a:r>
          </a:p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That is a return to trend, not a cycle: vs trend the next crop is +1.6 % and −2.7 %. The forecast starts from the trend, so no extra correction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11480" y="6419088"/>
            <a:ext cx="113385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7F7F7F"/>
                </a:solidFill>
                <a:latin typeface="Arial"/>
                <a:cs typeface="Arial"/>
              </a:rPr>
              <a:t>USDA PSD robusta production, 1982/83–2026/27. Change of direction = the sign of the year-over-year change flips. Random order: 4,000 shuffles of the same changes.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65760" y="1572768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dirty="0">
                <a:solidFill>
                  <a:srgbClr val="404040"/>
                </a:solidFill>
                <a:latin typeface="Arial"/>
                <a:cs typeface="Arial"/>
              </a:rPr>
              <a:t>Robusta production, change on the year before (%)</a:t>
            </a:r>
          </a:p>
        </p:txBody>
      </p:sp>
      <p:graphicFrame>
        <p:nvGraphicFramePr>
          <p:cNvPr id="7" name="Chart 7"/>
          <p:cNvGraphicFramePr/>
          <p:nvPr/>
        </p:nvGraphicFramePr>
        <p:xfrm>
          <a:off x="274320" y="1783080"/>
          <a:ext cx="786384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8321040" y="1874520"/>
          <a:ext cx="3611880" cy="1389888"/>
        </p:xfrm>
        <a:graphic>
          <a:graphicData uri="http://schemas.openxmlformats.org/drawingml/2006/table">
            <a:tbl>
              <a:tblPr firstRow="1" bandRow="0"/>
              <a:tblGrid>
                <a:gridCol w="1463040"/>
                <a:gridCol w="548640"/>
                <a:gridCol w="777240"/>
                <a:gridCol w="822960"/>
              </a:tblGrid>
              <a:tr h="347472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Previous crop vs trend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crops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next YoY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next vs trend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above +8 %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10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−7.6 %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+1.6 %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−8 to +8 %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26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+1.1 %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+0.1 %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below −8 %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9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 dirty="0">
                          <a:solidFill>
                            <a:srgbClr val="3A8D5B"/>
                          </a:solidFill>
                          <a:latin typeface="Arial"/>
                          <a:cs typeface="Arial"/>
                        </a:rPr>
                        <a:t>+16.8 %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−2.7 %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Shape 9"/>
          <p:cNvSpPr/>
          <p:nvPr/>
        </p:nvSpPr>
        <p:spPr>
          <a:xfrm>
            <a:off x="8321040" y="3520440"/>
            <a:ext cx="3611880" cy="1783080"/>
          </a:xfrm>
          <a:prstGeom prst="rect">
            <a:avLst/>
          </a:prstGeom>
          <a:solidFill>
            <a:srgbClr val="F3F6F9"/>
          </a:solidFill>
          <a:ln w="15875">
            <a:solidFill>
              <a:srgbClr val="1F3864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8430768" y="3593592"/>
            <a:ext cx="3392424" cy="1636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100" b="1" dirty="0">
                <a:solidFill>
                  <a:srgbClr val="1F3864"/>
                </a:solidFill>
                <a:latin typeface="Arial"/>
                <a:cs typeface="Arial"/>
              </a:rPr>
              <a:t>Reading for 2027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950" dirty="0">
                <a:solidFill>
                  <a:srgbClr val="262626"/>
                </a:solidFill>
                <a:latin typeface="Arial"/>
                <a:cs typeface="Arial"/>
              </a:rPr>
              <a:t>2026/27 (10.0 M bags) sits 8 % above its trend: the next crop tends to be lower year over year.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950" dirty="0">
                <a:solidFill>
                  <a:srgbClr val="262626"/>
                </a:solidFill>
                <a:latin typeface="Arial"/>
                <a:cs typeface="Arial"/>
              </a:rPr>
              <a:t>But the forecast of slide 15 already starts from the trend (median of 2024–2026), so this is included: no extra cut.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950" dirty="0">
                <a:solidFill>
                  <a:srgbClr val="262626"/>
                </a:solidFill>
                <a:latin typeface="Arial"/>
                <a:cs typeface="Arial"/>
              </a:rPr>
              <a:t>Correlation of the year-over-year change with the previous crop: r = −0.69.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rgbClr val="1F3864"/>
                </a:solidFill>
                <a:latin typeface="Arial"/>
                <a:cs typeface="Arial"/>
              </a:rPr>
              <a:t>2026 flowering season against a normal year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800" y="713232"/>
            <a:ext cx="10881360" cy="758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Better than normal: trigger rain in 4 towns (normal 2–3), on the normal dates. That is the strongest positive signal in the data</a:t>
            </a:r>
          </a:p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Drier and hotter than normal so far (El Niño): Jun–mid-Sep rain 35–93 % of normal. With normal rain from now, Jun–Oct ends at 75 %, still in the good range</a:t>
            </a:r>
          </a:p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Risk: El Niño + positive IOD can keep Oct–Nov dry. Liwa (Lampung) has not flowered yet; young fruit can drop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11480" y="6419088"/>
            <a:ext cx="113385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7F7F7F"/>
                </a:solidFill>
                <a:latin typeface="Arial"/>
                <a:cs typeface="Arial"/>
              </a:rPr>
              <a:t>NASA POWER daily to 19 Sep 2026; after 19 Sep the 1991–2020 daily normal is used ("normal from now"). Signal = mean crop vs trend in past years of the same class (slides 11–12). ONI: NOAA CPC (Jun–Aug 2026 +1.8). IOD: Bureau of Meteorology outlook, 15 Sep 2026.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411480" y="1783080"/>
          <a:ext cx="11384280" cy="4096512"/>
        </p:xfrm>
        <a:graphic>
          <a:graphicData uri="http://schemas.openxmlformats.org/drawingml/2006/table">
            <a:tbl>
              <a:tblPr firstRow="1" bandRow="0"/>
              <a:tblGrid>
                <a:gridCol w="2103120"/>
                <a:gridCol w="1600200"/>
                <a:gridCol w="2926080"/>
                <a:gridCol w="2651760"/>
                <a:gridCol w="2103120"/>
              </a:tblGrid>
              <a:tr h="512064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Indicator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Normal year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2026 observed (to 19 Sep)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2026, normal from now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Past crops in that class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Towns with trigger rain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2.6 of 5 (median 3)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4 of 5 (22 Jul, 16 Aug)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4–5 of 5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 dirty="0">
                          <a:solidFill>
                            <a:srgbClr val="3A8D5B"/>
                          </a:solidFill>
                          <a:latin typeface="Arial"/>
                          <a:cs typeface="Arial"/>
                        </a:rPr>
                        <a:t>3–5 towns: +4.0 %, 24 crops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Trigger date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18 Jul – 17 Aug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22 Jul – 16 Aug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Liwa: Oct?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on time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Rain Jun–Oct, % of normal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100 %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60 % (Jun 1–Sep 19)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75 %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 dirty="0">
                          <a:solidFill>
                            <a:srgbClr val="3A8D5B"/>
                          </a:solidFill>
                          <a:latin typeface="Arial"/>
                          <a:cs typeface="Arial"/>
                        </a:rPr>
                        <a:t>50–80 %: +2.1 %; &gt;150 %: −9.3 %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Rain by town, Jun–Oct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100 %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PA 79 · LA 57 · MU 38 · LI 35 · KE 93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PA 87 · LA 73 · MU 60 · LI 58 · KE 96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dry lowland: watch Liwa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Max temperature Jul–Oct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0 °C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+1.1 °C (Jul 1–Sep 19)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+0.7 °C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 dirty="0">
                          <a:solidFill>
                            <a:srgbClr val="3A8D5B"/>
                          </a:solidFill>
                          <a:latin typeface="Arial"/>
                          <a:cs typeface="Arial"/>
                        </a:rPr>
                        <a:t>0 to +1.2 °C: +6 %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ENSO (ONI Aug–Nov)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−0.5 to +0.5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+1.8 (Jun–Aug)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≥ +1.5 (NOAA)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≥ 1.5: 0.0 %, 4 crops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IOD (DMI Aug–Nov)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−0.4 to +0.4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positive likely (BoM)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positive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El Niño + IOD+: −4.4 %, 5 of 7 down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411480" y="5989320"/>
            <a:ext cx="11338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7F7F7F"/>
                </a:solidFill>
                <a:latin typeface="Arial"/>
                <a:cs typeface="Arial"/>
              </a:rPr>
              <a:t>Green: better than or as good as normal · yellow: off normal, not yet harmful · red: risk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1F3864"/>
                </a:solidFill>
                <a:latin typeface="Arial"/>
                <a:cs typeface="Arial"/>
              </a:rPr>
              <a:t>2027/28 with a normal end of season: 10.4 M bags (+4 % on 2026/27)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800" y="713232"/>
            <a:ext cx="10881360" cy="758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Area × trend yield = 10.04 M bags. Weather effect of a 4-town trigger: +3.5 % (regression on 45 crops); 9 analog years: median +3.7 %</a:t>
            </a:r>
          </a:p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Half of the analog years fall between 9.9 and 10.9 M bags. Back-test error of the method: ±12 % (the weather cuts it from ±13 %)</a:t>
            </a:r>
          </a:p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If Oct–Nov stay dry (El Niño + positive IOD): 9.6 M bags. If Liwa also flowers with normal rain: 10.7 M bags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11480" y="6419088"/>
            <a:ext cx="113385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7F7F7F"/>
                </a:solidFill>
                <a:latin typeface="Arial"/>
                <a:cs typeface="Arial"/>
              </a:rPr>
              <a:t>Productive area: ministry trend (slide 8). Trend yield: median of USDA yields per productive ha 2024–2026. Weather effect: least squares of crop vs trend on trigger towns, 1982–2026. Analogs: trigger ≥ 3 towns, Jun–Oct rain 50–100 %, max temp. −0.2 to +1.3 °C. Back-test: 45 crops, base = median of the 3 previous crops.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411480" y="1783080"/>
          <a:ext cx="5577840" cy="3931920"/>
        </p:xfrm>
        <a:graphic>
          <a:graphicData uri="http://schemas.openxmlformats.org/drawingml/2006/table">
            <a:tbl>
              <a:tblPr firstRow="1" bandRow="0"/>
              <a:tblGrid>
                <a:gridCol w="2514600"/>
                <a:gridCol w="1371600"/>
                <a:gridCol w="1691640"/>
              </a:tblGrid>
              <a:tr h="393192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Step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Number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Source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Productive area 2027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709,158 ha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slide 8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× trend yield (median 2024–2026)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14.16 bags/ha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13.27 · 15.64 · 14.16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= trend production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10.04 M bags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× weather: 4 towns triggered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 dirty="0">
                          <a:solidFill>
                            <a:srgbClr val="3A8D5B"/>
                          </a:solidFill>
                          <a:latin typeface="Arial"/>
                          <a:cs typeface="Arial"/>
                        </a:rPr>
                        <a:t>+3.5 %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−7.1 + 2.65 × 4 towns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= forecast yield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14.66 bags/ha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= 2027/28 production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10.39 M bags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normal weather from 20 Sep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50 % range (analog years)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9.9 – 10.9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−1.9 to +8.8 %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2 in 3 range (back-test)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9.1 – 11.7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±12.4 %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Dry Oct–Nov (El Niño + IOD+)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9.60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−4.4 %, 7 crops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DDE1"/>
                      </a:solidFill>
                    </a:lnT>
                    <a:lnB w="6350">
                      <a:solidFill>
                        <a:srgbClr val="D5DDE1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6217920" y="1572768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dirty="0">
                <a:solidFill>
                  <a:srgbClr val="404040"/>
                </a:solidFill>
                <a:latin typeface="Arial"/>
                <a:cs typeface="Arial"/>
              </a:rPr>
              <a:t>USDA robusta production and the 2027/28 forecast (M bags)</a:t>
            </a:r>
          </a:p>
        </p:txBody>
      </p:sp>
      <p:graphicFrame>
        <p:nvGraphicFramePr>
          <p:cNvPr id="8" name="Chart 8"/>
          <p:cNvGraphicFramePr/>
          <p:nvPr/>
        </p:nvGraphicFramePr>
        <p:xfrm>
          <a:off x="6126480" y="1783080"/>
          <a:ext cx="580644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9"/>
          <p:cNvSpPr/>
          <p:nvPr/>
        </p:nvSpPr>
        <p:spPr>
          <a:xfrm>
            <a:off x="6126480" y="5074920"/>
            <a:ext cx="5806440" cy="1005840"/>
          </a:xfrm>
          <a:prstGeom prst="rect">
            <a:avLst/>
          </a:prstGeom>
          <a:solidFill>
            <a:srgbClr val="F3F6F9"/>
          </a:solidFill>
          <a:ln w="15875">
            <a:solidFill>
              <a:srgbClr val="1F3864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6236208" y="5148072"/>
            <a:ext cx="5586984" cy="85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100" b="1" dirty="0">
                <a:solidFill>
                  <a:srgbClr val="1F3864"/>
                </a:solidFill>
                <a:latin typeface="Arial"/>
                <a:cs typeface="Arial"/>
              </a:rPr>
              <a:t>For the trader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950" dirty="0">
                <a:solidFill>
                  <a:srgbClr val="262626"/>
                </a:solidFill>
                <a:latin typeface="Arial"/>
                <a:cs typeface="Arial"/>
              </a:rPr>
              <a:t>Normal end of season: a crop close to 2026/27 or slightly above (10.4 M). The downside is weather after flowering (Oct–Nov rain, Lampung), not area. Watch: Oct–Nov rain, the IOD, fires in South Sumatra.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usson">
  <a:themeElements>
    <a:clrScheme name="Mousson">
      <a:dk1>
        <a:srgbClr val="1F2A30"/>
      </a:dk1>
      <a:lt1>
        <a:srgbClr val="FFFFFF"/>
      </a:lt1>
      <a:dk2>
        <a:srgbClr val="123A46"/>
      </a:dk2>
      <a:lt2>
        <a:srgbClr val="EEF4F7"/>
      </a:lt2>
      <a:accent1>
        <a:srgbClr val="2F7FC1"/>
      </a:accent1>
      <a:accent2>
        <a:srgbClr val="D9622B"/>
      </a:accent2>
      <a:accent3>
        <a:srgbClr val="8C969B"/>
      </a:accent3>
      <a:accent4>
        <a:srgbClr val="1E9E6A"/>
      </a:accent4>
      <a:accent5>
        <a:srgbClr val="123A46"/>
      </a:accent5>
      <a:accent6>
        <a:srgbClr val="E8A33D"/>
      </a:accent6>
      <a:hlink>
        <a:srgbClr val="2F7FC1"/>
      </a:hlink>
      <a:folHlink>
        <a:srgbClr val="5B6770"/>
      </a:folHlink>
    </a:clrScheme>
    <a:fontScheme name="Mousson">
      <a:majorFont>
        <a:latin typeface="Cambria"/>
        <a:ea typeface=""/>
        <a:cs typeface=""/>
      </a:majorFont>
      <a:minorFont>
        <a:latin typeface="Arial"/>
        <a:ea typeface=""/>
        <a:cs typeface=""/>
      </a:minorFont>
    </a:fontScheme>
    <a:fmtScheme name="Mou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15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Indonesia robusta 2027/28: forecast chain with proof</dc:title>
  <dc:language>fr-FR</dc:language>
</cp:coreProperties>
</file>