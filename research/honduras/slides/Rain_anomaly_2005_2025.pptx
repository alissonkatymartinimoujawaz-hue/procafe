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9"/>
          <c:y val="0.07"/>
          <c:w val="0.89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DD7EE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1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3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4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5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6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7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8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9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1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1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2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13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14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5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16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7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18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19"/>
            <c:invertIfNegative val="0"/>
            <c:bubble3D val="0"/>
            <c:spPr>
              <a:solidFill>
                <a:srgbClr val="BDD7EE"/>
              </a:solidFill>
            </c:spPr>
          </c:dPt>
          <c:cat>
            <c:strRef>
              <c:f>Sheet1!$A$2:$A$21</c:f>
              <c:strCache>
                <c:ptCount val="20"/>
                <c:pt idx="0">
                  <c:v>'06</c:v>
                </c:pt>
                <c:pt idx="1">
                  <c:v>'07</c:v>
                </c:pt>
                <c:pt idx="2">
                  <c:v>'08</c:v>
                </c:pt>
                <c:pt idx="3">
                  <c:v>'09</c:v>
                </c:pt>
                <c:pt idx="4">
                  <c:v>'10</c:v>
                </c:pt>
                <c:pt idx="5">
                  <c:v>'11</c:v>
                </c:pt>
                <c:pt idx="6">
                  <c:v>'12</c:v>
                </c:pt>
                <c:pt idx="7">
                  <c:v>'13</c:v>
                </c:pt>
                <c:pt idx="8">
                  <c:v>'14</c:v>
                </c:pt>
                <c:pt idx="9">
                  <c:v>'15</c:v>
                </c:pt>
                <c:pt idx="10">
                  <c:v>'16</c:v>
                </c:pt>
                <c:pt idx="11">
                  <c:v>'17</c:v>
                </c:pt>
                <c:pt idx="12">
                  <c:v>'18</c:v>
                </c:pt>
                <c:pt idx="13">
                  <c:v>'19</c:v>
                </c:pt>
                <c:pt idx="14">
                  <c:v>'20</c:v>
                </c:pt>
                <c:pt idx="15">
                  <c:v>'21</c:v>
                </c:pt>
                <c:pt idx="16">
                  <c:v>'22</c:v>
                </c:pt>
                <c:pt idx="17">
                  <c:v>'23</c:v>
                </c:pt>
                <c:pt idx="18">
                  <c:v>'24</c:v>
                </c:pt>
                <c:pt idx="19">
                  <c:v>'25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85.6</c:v>
                </c:pt>
                <c:pt idx="1">
                  <c:v>104.9</c:v>
                </c:pt>
                <c:pt idx="2">
                  <c:v>126.6</c:v>
                </c:pt>
                <c:pt idx="3">
                  <c:v>99.9</c:v>
                </c:pt>
                <c:pt idx="4">
                  <c:v>110.8</c:v>
                </c:pt>
                <c:pt idx="5">
                  <c:v>125.3</c:v>
                </c:pt>
                <c:pt idx="6">
                  <c:v>100.0</c:v>
                </c:pt>
                <c:pt idx="7">
                  <c:v>91.2</c:v>
                </c:pt>
                <c:pt idx="8">
                  <c:v>95.7</c:v>
                </c:pt>
                <c:pt idx="9">
                  <c:v>85.4</c:v>
                </c:pt>
                <c:pt idx="10">
                  <c:v>79.2</c:v>
                </c:pt>
                <c:pt idx="11">
                  <c:v>122.2</c:v>
                </c:pt>
                <c:pt idx="12">
                  <c:v>89.4</c:v>
                </c:pt>
                <c:pt idx="13">
                  <c:v>99.8</c:v>
                </c:pt>
                <c:pt idx="14">
                  <c:v>126.1</c:v>
                </c:pt>
                <c:pt idx="15">
                  <c:v>104.9</c:v>
                </c:pt>
                <c:pt idx="16">
                  <c:v>128.5</c:v>
                </c:pt>
                <c:pt idx="17">
                  <c:v>82.6</c:v>
                </c:pt>
                <c:pt idx="18">
                  <c:v>92.2</c:v>
                </c:pt>
                <c:pt idx="19">
                  <c:v>104.2</c:v>
                </c:pt>
              </c:numCache>
            </c:numRef>
          </c:val>
        </c:ser>
        <c:gapWidth val="45"/>
        <c:overlap val="0"/>
        <c:axId val="50010"/>
        <c:axId val="500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GPCC</c:v>
                </c:pt>
              </c:strCache>
            </c:strRef>
          </c:tx>
          <c:spPr>
            <a:ln w="28575" cap="rnd">
              <a:solidFill>
                <a:srgbClr val="C55A11"/>
              </a:solidFill>
              <a:round/>
            </a:ln>
          </c:spPr>
          <c:marker>
            <c:symbol val="circle"/>
            <c:size val="6"/>
            <c:spPr>
              <a:solidFill>
                <a:srgbClr val="C55A11"/>
              </a:solidFill>
              <a:ln>
                <a:noFill/>
              </a:ln>
            </c:spPr>
          </c:marker>
          <c:cat>
            <c:strRef>
              <c:f>Sheet1!$A$2:$A$21</c:f>
              <c:strCache>
                <c:ptCount val="20"/>
                <c:pt idx="0">
                  <c:v>'06</c:v>
                </c:pt>
                <c:pt idx="1">
                  <c:v>'07</c:v>
                </c:pt>
                <c:pt idx="2">
                  <c:v>'08</c:v>
                </c:pt>
                <c:pt idx="3">
                  <c:v>'09</c:v>
                </c:pt>
                <c:pt idx="4">
                  <c:v>'10</c:v>
                </c:pt>
                <c:pt idx="5">
                  <c:v>'11</c:v>
                </c:pt>
                <c:pt idx="6">
                  <c:v>'12</c:v>
                </c:pt>
                <c:pt idx="7">
                  <c:v>'13</c:v>
                </c:pt>
                <c:pt idx="8">
                  <c:v>'14</c:v>
                </c:pt>
                <c:pt idx="9">
                  <c:v>'15</c:v>
                </c:pt>
                <c:pt idx="10">
                  <c:v>'16</c:v>
                </c:pt>
                <c:pt idx="11">
                  <c:v>'17</c:v>
                </c:pt>
                <c:pt idx="12">
                  <c:v>'18</c:v>
                </c:pt>
                <c:pt idx="13">
                  <c:v>'19</c:v>
                </c:pt>
                <c:pt idx="14">
                  <c:v>'20</c:v>
                </c:pt>
                <c:pt idx="15">
                  <c:v>'21</c:v>
                </c:pt>
                <c:pt idx="16">
                  <c:v>'22</c:v>
                </c:pt>
                <c:pt idx="17">
                  <c:v>'23</c:v>
                </c:pt>
                <c:pt idx="18">
                  <c:v>'24</c:v>
                </c:pt>
                <c:pt idx="19">
                  <c:v>'25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86.5</c:v>
                </c:pt>
                <c:pt idx="1">
                  <c:v>102.3</c:v>
                </c:pt>
                <c:pt idx="2">
                  <c:v>120.6</c:v>
                </c:pt>
                <c:pt idx="3">
                  <c:v>102.6</c:v>
                </c:pt>
                <c:pt idx="4">
                  <c:v>114.7</c:v>
                </c:pt>
                <c:pt idx="5">
                  <c:v>123.6</c:v>
                </c:pt>
                <c:pt idx="6">
                  <c:v>106.4</c:v>
                </c:pt>
                <c:pt idx="7">
                  <c:v>100.7</c:v>
                </c:pt>
                <c:pt idx="8">
                  <c:v>99.4</c:v>
                </c:pt>
                <c:pt idx="9">
                  <c:v>88.9</c:v>
                </c:pt>
                <c:pt idx="10">
                  <c:v>77.9</c:v>
                </c:pt>
                <c:pt idx="11">
                  <c:v>116.3</c:v>
                </c:pt>
                <c:pt idx="12">
                  <c:v>79.1</c:v>
                </c:pt>
                <c:pt idx="13">
                  <c:v>85.4</c:v>
                </c:pt>
                <c:pt idx="14">
                  <c:v>119.8</c:v>
                </c:pt>
                <c:pt idx="15">
                  <c:v>82.7</c:v>
                </c:pt>
                <c:pt idx="16">
                  <c:v>110.4</c:v>
                </c:pt>
                <c:pt idx="17">
                  <c:v>75.8</c:v>
                </c:pt>
                <c:pt idx="18">
                  <c:v>93.3</c:v>
                </c:pt>
                <c:pt idx="19">
                  <c:v>103.5</c:v>
                </c:pt>
              </c:numCache>
            </c:numRef>
          </c:val>
          <c:smooth val="0"/>
        </c:ser>
        <c:marker val="1"/>
        <c:axId val="50010"/>
        <c:axId val="50020"/>
      </c:line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5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9"/>
          <c:y val="0.07"/>
          <c:w val="0.89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4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6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7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8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9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1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2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3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4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5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6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7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8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9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3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4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5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26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7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28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9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0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1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3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3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4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35"/>
            <c:invertIfNegative val="0"/>
            <c:bubble3D val="0"/>
            <c:spPr>
              <a:solidFill>
                <a:srgbClr val="1F3864"/>
              </a:solidFill>
            </c:spPr>
          </c:dPt>
          <c:cat>
            <c:strRef>
              <c:f>Sheet1!$A$2:$A$37</c:f>
              <c:strCache>
                <c:ptCount val="36"/>
                <c:pt idx="0">
                  <c:v>2010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2011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2012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29.6</c:v>
                </c:pt>
                <c:pt idx="1">
                  <c:v>28.4</c:v>
                </c:pt>
                <c:pt idx="2">
                  <c:v>12.3</c:v>
                </c:pt>
                <c:pt idx="3">
                  <c:v>230.1</c:v>
                </c:pt>
                <c:pt idx="4">
                  <c:v>203.5</c:v>
                </c:pt>
                <c:pt idx="5">
                  <c:v>127.3</c:v>
                </c:pt>
                <c:pt idx="6">
                  <c:v>204.4</c:v>
                </c:pt>
                <c:pt idx="7">
                  <c:v>162.9</c:v>
                </c:pt>
                <c:pt idx="8">
                  <c:v>107.3</c:v>
                </c:pt>
                <c:pt idx="9">
                  <c:v>12.3</c:v>
                </c:pt>
                <c:pt idx="10">
                  <c:v>25.7</c:v>
                </c:pt>
                <c:pt idx="11">
                  <c:v>4.6</c:v>
                </c:pt>
                <c:pt idx="12">
                  <c:v>155.0</c:v>
                </c:pt>
                <c:pt idx="13">
                  <c:v>300</c:v>
                </c:pt>
                <c:pt idx="14">
                  <c:v>220.0</c:v>
                </c:pt>
                <c:pt idx="15">
                  <c:v>128.5</c:v>
                </c:pt>
                <c:pt idx="16">
                  <c:v>72.7</c:v>
                </c:pt>
                <c:pt idx="17">
                  <c:v>130.5</c:v>
                </c:pt>
                <c:pt idx="18">
                  <c:v>209.3</c:v>
                </c:pt>
                <c:pt idx="19">
                  <c:v>116.7</c:v>
                </c:pt>
                <c:pt idx="20">
                  <c:v>120.2</c:v>
                </c:pt>
                <c:pt idx="21">
                  <c:v>131.2</c:v>
                </c:pt>
                <c:pt idx="22">
                  <c:v>141.3</c:v>
                </c:pt>
                <c:pt idx="23">
                  <c:v>10.5</c:v>
                </c:pt>
                <c:pt idx="24">
                  <c:v>16.8</c:v>
                </c:pt>
                <c:pt idx="25">
                  <c:v>31.5</c:v>
                </c:pt>
                <c:pt idx="26">
                  <c:v>100.8</c:v>
                </c:pt>
                <c:pt idx="27">
                  <c:v>190.5</c:v>
                </c:pt>
                <c:pt idx="28">
                  <c:v>140.7</c:v>
                </c:pt>
                <c:pt idx="29">
                  <c:v>58.1</c:v>
                </c:pt>
                <c:pt idx="30">
                  <c:v>42.0</c:v>
                </c:pt>
                <c:pt idx="31">
                  <c:v>154.5</c:v>
                </c:pt>
                <c:pt idx="32">
                  <c:v>59.8</c:v>
                </c:pt>
                <c:pt idx="33">
                  <c:v>129.8</c:v>
                </c:pt>
                <c:pt idx="34">
                  <c:v>43.9</c:v>
                </c:pt>
                <c:pt idx="35">
                  <c:v>248.6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30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5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Rain was not normal before the rust: 2008, 2010 and 2011 were the wet years (La Niña)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Mean of the 3 towns, calendar year: 2008 127 %, 2010 111 %, 2011 125 % of the 2005–2019 normal (independent GPCC gauges: 121, 115 and 124 %)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Comayagua: 131 % in 2010 and 130 % in 2011; July 2010 204 %, July 2011 209 % (287 mm vs a 137 mm normal), April 2010 230 %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The ENSO-season charts hide it: 2010/11 and 2011/12 sit among the other La Niña seasons, which are wet too, and each calendar year is split over two July–June seasons</a:t>
            </a:r>
          </a:p>
        </p:txBody>
      </p:sp>
      <p:sp>
        <p:nvSpPr>
          <p:cNvPr id="5" name="Shape 5"/>
          <p:cNvSpPr/>
          <p:nvPr/>
        </p:nvSpPr>
        <p:spPr>
          <a:xfrm>
            <a:off x="2422337" y="2257196"/>
            <a:ext cx="512704" cy="3328416"/>
          </a:xfrm>
          <a:prstGeom prst="rect">
            <a:avLst/>
          </a:prstGeom>
          <a:solidFill>
            <a:srgbClr val="FCE4D6"/>
          </a:solidFill>
          <a:ln>
            <a:noFill/>
          </a:ln>
        </p:spPr>
      </p:sp>
      <p:graphicFrame>
        <p:nvGraphicFramePr>
          <p:cNvPr id="6" name="Chart 6"/>
          <p:cNvGraphicFramePr/>
          <p:nvPr/>
        </p:nvGraphicFramePr>
        <p:xfrm>
          <a:off x="365760" y="1965960"/>
          <a:ext cx="57607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159345" y="255697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127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28401" y="25858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10161" y="360875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79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66513" y="265460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122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35569" y="256806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8273" y="251481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129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5760" y="172821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Rain, % of normal, mean of the 3 towns (CPC)</a:t>
            </a:r>
          </a:p>
        </p:txBody>
      </p:sp>
      <p:sp>
        <p:nvSpPr>
          <p:cNvPr id="14" name="Shape 14"/>
          <p:cNvSpPr/>
          <p:nvPr/>
        </p:nvSpPr>
        <p:spPr>
          <a:xfrm>
            <a:off x="884225" y="3361182"/>
            <a:ext cx="5127041" cy="10973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130049" y="227548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C55A11"/>
                </a:solidFill>
                <a:latin typeface="Arial"/>
                <a:cs typeface="Arial"/>
              </a:rPr>
              <a:t>rust 2012–13</a:t>
            </a:r>
          </a:p>
        </p:txBody>
      </p:sp>
      <p:sp>
        <p:nvSpPr>
          <p:cNvPr id="16" name="Shape 16"/>
          <p:cNvSpPr/>
          <p:nvPr/>
        </p:nvSpPr>
        <p:spPr>
          <a:xfrm>
            <a:off x="868680" y="6199632"/>
            <a:ext cx="164592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52144" y="61630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≥ 120 %</a:t>
            </a:r>
          </a:p>
        </p:txBody>
      </p:sp>
      <p:sp>
        <p:nvSpPr>
          <p:cNvPr id="18" name="Shape 18"/>
          <p:cNvSpPr/>
          <p:nvPr/>
        </p:nvSpPr>
        <p:spPr>
          <a:xfrm>
            <a:off x="1628364" y="6199632"/>
            <a:ext cx="164592" cy="12801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911828" y="61630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≤ 80 %</a:t>
            </a:r>
          </a:p>
        </p:txBody>
      </p:sp>
      <p:sp>
        <p:nvSpPr>
          <p:cNvPr id="20" name="Shape 20"/>
          <p:cNvSpPr/>
          <p:nvPr/>
        </p:nvSpPr>
        <p:spPr>
          <a:xfrm>
            <a:off x="2338304" y="6199632"/>
            <a:ext cx="164592" cy="128016"/>
          </a:xfrm>
          <a:prstGeom prst="rect">
            <a:avLst/>
          </a:prstGeom>
          <a:solidFill>
            <a:srgbClr val="BDD7E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621768" y="61630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other years</a:t>
            </a:r>
          </a:p>
        </p:txBody>
      </p:sp>
      <p:sp>
        <p:nvSpPr>
          <p:cNvPr id="22" name="Shape 22"/>
          <p:cNvSpPr/>
          <p:nvPr/>
        </p:nvSpPr>
        <p:spPr>
          <a:xfrm>
            <a:off x="3251241" y="6245352"/>
            <a:ext cx="274320" cy="36576"/>
          </a:xfrm>
          <a:prstGeom prst="rect">
            <a:avLst/>
          </a:prstGeom>
          <a:solidFill>
            <a:srgbClr val="C55A1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580425" y="61630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GPCC (independent)</a:t>
            </a:r>
          </a:p>
        </p:txBody>
      </p:sp>
      <p:graphicFrame>
        <p:nvGraphicFramePr>
          <p:cNvPr id="24" name="Chart 24"/>
          <p:cNvGraphicFramePr/>
          <p:nvPr/>
        </p:nvGraphicFramePr>
        <p:xfrm>
          <a:off x="6400800" y="1965960"/>
          <a:ext cx="54864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5"/>
          <p:cNvSpPr txBox="1"/>
          <p:nvPr/>
        </p:nvSpPr>
        <p:spPr>
          <a:xfrm>
            <a:off x="6400800" y="172821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Comayagua, rain % of normal by month (CPC), 2010–2012</a:t>
            </a:r>
          </a:p>
        </p:txBody>
      </p:sp>
      <p:sp>
        <p:nvSpPr>
          <p:cNvPr id="26" name="Shape 26"/>
          <p:cNvSpPr/>
          <p:nvPr/>
        </p:nvSpPr>
        <p:spPr>
          <a:xfrm>
            <a:off x="6894576" y="4470654"/>
            <a:ext cx="4882896" cy="10973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957822" y="2703548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1F3864"/>
                </a:solidFill>
                <a:latin typeface="Arial"/>
                <a:cs typeface="Arial"/>
              </a:rPr>
              <a:t>Apr 2010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230 %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64730" y="2988609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1F3864"/>
                </a:solidFill>
                <a:latin typeface="Arial"/>
                <a:cs typeface="Arial"/>
              </a:rPr>
              <a:t>Jul 2010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204 %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14182" y="192801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1F3864"/>
                </a:solidFill>
                <a:latin typeface="Arial"/>
                <a:cs typeface="Arial"/>
              </a:rPr>
              <a:t>Feb 2011*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541 %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2362" y="2933874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1F3864"/>
                </a:solidFill>
                <a:latin typeface="Arial"/>
                <a:cs typeface="Arial"/>
              </a:rPr>
              <a:t>Jul 2011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209 %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13086" y="3143223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1F3864"/>
                </a:solidFill>
                <a:latin typeface="Arial"/>
                <a:cs typeface="Arial"/>
              </a:rPr>
              <a:t>Apr 2012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190 %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8000" y="614476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Bars capped at 300 %. *Feb 2011 = 32 mm in the dry season (normal 6 mm): large % but small amount.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Source: Honduras_weather_by_ENSO_season.xlsx, sheet Rain_anomaly (NOAA CPC gauge analysis 0.5°, normal = 2005–2019 average of the same month; GPCC 1° for comparison). Copán from 2024 = adjusted GPCC (CPC gauge lost). The 2012–13 rust also followed low prices and a cooler, more humid 2012 with a smaller day–night range (sheet Rust_2012 of the area-drivers workbook).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sson">
  <a:themeElements>
    <a:clrScheme name="Mousson">
      <a:dk1>
        <a:srgbClr val="1F2A30"/>
      </a:dk1>
      <a:lt1>
        <a:srgbClr val="FFFFFF"/>
      </a:lt1>
      <a:dk2>
        <a:srgbClr val="123A46"/>
      </a:dk2>
      <a:lt2>
        <a:srgbClr val="EEF4F7"/>
      </a:lt2>
      <a:accent1>
        <a:srgbClr val="2F7FC1"/>
      </a:accent1>
      <a:accent2>
        <a:srgbClr val="D9622B"/>
      </a:accent2>
      <a:accent3>
        <a:srgbClr val="8C969B"/>
      </a:accent3>
      <a:accent4>
        <a:srgbClr val="1E9E6A"/>
      </a:accent4>
      <a:accent5>
        <a:srgbClr val="123A46"/>
      </a:accent5>
      <a:accent6>
        <a:srgbClr val="E8A33D"/>
      </a:accent6>
      <a:hlink>
        <a:srgbClr val="2F7FC1"/>
      </a:hlink>
      <a:folHlink>
        <a:srgbClr val="5B6770"/>
      </a:folHlink>
    </a:clrScheme>
    <a:fontScheme name="Mousson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Mou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Honduras rain anomaly</dc:title>
  <dc:language>fr-FR</dc:language>
</cp:coreProperties>
</file>