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theme" Target="theme/theme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6"/>
          <c:y val="0.05"/>
          <c:w val="0.93"/>
          <c:h val="0.8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E75B6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2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3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4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5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6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7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8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9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10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11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12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13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14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15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16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17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18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19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20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21"/>
            <c:invertIfNegative val="0"/>
            <c:bubble3D val="0"/>
            <c:spPr>
              <a:solidFill>
                <a:srgbClr val="D9D9D9"/>
              </a:solidFill>
            </c:spPr>
          </c:dPt>
          <c:cat>
            <c:strRef>
              <c:f>Sheet1!$A$2:$A$23</c:f>
              <c:strCache>
                <c:ptCount val="22"/>
                <c:pt idx="0">
                  <c:v>05/06</c:v>
                </c:pt>
                <c:pt idx="1">
                  <c:v>06/07</c:v>
                </c:pt>
                <c:pt idx="2">
                  <c:v>07/08</c:v>
                </c:pt>
                <c:pt idx="3">
                  <c:v>08/09</c:v>
                </c:pt>
                <c:pt idx="4">
                  <c:v>09/10</c:v>
                </c:pt>
                <c:pt idx="5">
                  <c:v>10/11</c:v>
                </c:pt>
                <c:pt idx="6">
                  <c:v>11/12</c:v>
                </c:pt>
                <c:pt idx="7">
                  <c:v>12/13</c:v>
                </c:pt>
                <c:pt idx="8">
                  <c:v>13/14</c:v>
                </c:pt>
                <c:pt idx="9">
                  <c:v>14/15</c:v>
                </c:pt>
                <c:pt idx="10">
                  <c:v>15/16</c:v>
                </c:pt>
                <c:pt idx="11">
                  <c:v>16/17</c:v>
                </c:pt>
                <c:pt idx="12">
                  <c:v>17/18</c:v>
                </c:pt>
                <c:pt idx="13">
                  <c:v>18/19</c:v>
                </c:pt>
                <c:pt idx="14">
                  <c:v>19/20</c:v>
                </c:pt>
                <c:pt idx="15">
                  <c:v>20/21</c:v>
                </c:pt>
                <c:pt idx="16">
                  <c:v>21/22</c:v>
                </c:pt>
                <c:pt idx="17">
                  <c:v>22/23</c:v>
                </c:pt>
                <c:pt idx="18">
                  <c:v>23/24</c:v>
                </c:pt>
                <c:pt idx="19">
                  <c:v>24/25</c:v>
                </c:pt>
                <c:pt idx="20">
                  <c:v>25/26</c:v>
                </c:pt>
                <c:pt idx="21">
                  <c:v>26/27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17.41304347826087</c:v>
                </c:pt>
                <c:pt idx="1">
                  <c:v>15.043478260869565</c:v>
                </c:pt>
                <c:pt idx="2">
                  <c:v>15.834782608695653</c:v>
                </c:pt>
                <c:pt idx="3">
                  <c:v>14.397321428571429</c:v>
                </c:pt>
                <c:pt idx="4">
                  <c:v>15.848214285714286</c:v>
                </c:pt>
                <c:pt idx="5">
                  <c:v>16.701680672268907</c:v>
                </c:pt>
                <c:pt idx="6">
                  <c:v>22.857142857142858</c:v>
                </c:pt>
                <c:pt idx="7">
                  <c:v>17.696629213483146</c:v>
                </c:pt>
                <c:pt idx="8">
                  <c:v>20.657276995305164</c:v>
                </c:pt>
                <c:pt idx="9">
                  <c:v>22.46696035242291</c:v>
                </c:pt>
                <c:pt idx="10">
                  <c:v>22.083333333333332</c:v>
                </c:pt>
                <c:pt idx="11">
                  <c:v>26.821428571428573</c:v>
                </c:pt>
                <c:pt idx="12">
                  <c:v>25.503355704697988</c:v>
                </c:pt>
                <c:pt idx="13">
                  <c:v>24.825174825174827</c:v>
                </c:pt>
                <c:pt idx="14">
                  <c:v>19.25925925925926</c:v>
                </c:pt>
                <c:pt idx="15">
                  <c:v>23.80952380952381</c:v>
                </c:pt>
                <c:pt idx="16">
                  <c:v>17.454545454545453</c:v>
                </c:pt>
                <c:pt idx="17">
                  <c:v>20.0</c:v>
                </c:pt>
                <c:pt idx="18">
                  <c:v>17.294520547945204</c:v>
                </c:pt>
                <c:pt idx="19">
                  <c:v>17.333333333333332</c:v>
                </c:pt>
                <c:pt idx="20">
                  <c:v>17.838709677419356</c:v>
                </c:pt>
                <c:pt idx="21">
                  <c:v>18.272727272727273</c:v>
                </c:pt>
              </c:numCache>
            </c:numRef>
          </c:val>
        </c:ser>
        <c:gapWidth val="45"/>
        <c:overlap val="0"/>
        <c:axId val="50010"/>
        <c:axId val="50020"/>
      </c:barChart>
      <c:catAx>
        <c:axId val="500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30"/>
          <c:min val="0"/>
        </c:scaling>
        <c:delete val="0"/>
        <c:axPos val="l"/>
        <c:majorGridlines>
          <c:spPr>
            <a:ln w="6350">
              <a:solidFill>
                <a:srgbClr val="E3E8EB"/>
              </a:solidFill>
            </a:ln>
          </c:spPr>
        </c:majorGridlines>
        <c:numFmt formatCode="0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10"/>
        <c:crosses val="autoZero"/>
        <c:crossBetween val="between"/>
        <c:majorUnit val="5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9"/>
          <c:h val="0.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Nitrogen use</c:v>
                </c:pt>
              </c:strCache>
            </c:strRef>
          </c:tx>
          <c:spPr>
            <a:solidFill>
              <a:srgbClr val="7F9F3F"/>
            </a:solidFill>
          </c:spPr>
          <c:invertIfNegative val="0"/>
          <c:cat>
            <c:strRef>
              <c:f>Sheet1!$A$2:$A$21</c:f>
              <c:strCache>
                <c:ptCount val="20"/>
                <c:pt idx="0">
                  <c:v>05/06</c:v>
                </c:pt>
                <c:pt idx="1">
                  <c:v>06/07</c:v>
                </c:pt>
                <c:pt idx="2">
                  <c:v>07/08</c:v>
                </c:pt>
                <c:pt idx="3">
                  <c:v>08/09</c:v>
                </c:pt>
                <c:pt idx="4">
                  <c:v>09/10</c:v>
                </c:pt>
                <c:pt idx="5">
                  <c:v>10/11</c:v>
                </c:pt>
                <c:pt idx="6">
                  <c:v>11/12</c:v>
                </c:pt>
                <c:pt idx="7">
                  <c:v>12/13</c:v>
                </c:pt>
                <c:pt idx="8">
                  <c:v>13/14</c:v>
                </c:pt>
                <c:pt idx="9">
                  <c:v>14/15</c:v>
                </c:pt>
                <c:pt idx="10">
                  <c:v>15/16</c:v>
                </c:pt>
                <c:pt idx="11">
                  <c:v>16/17</c:v>
                </c:pt>
                <c:pt idx="12">
                  <c:v>17/18</c:v>
                </c:pt>
                <c:pt idx="13">
                  <c:v>18/19</c:v>
                </c:pt>
                <c:pt idx="14">
                  <c:v>19/20</c:v>
                </c:pt>
                <c:pt idx="15">
                  <c:v>20/21</c:v>
                </c:pt>
                <c:pt idx="16">
                  <c:v>21/22</c:v>
                </c:pt>
                <c:pt idx="17">
                  <c:v>22/23</c:v>
                </c:pt>
                <c:pt idx="18">
                  <c:v>23/24</c:v>
                </c:pt>
                <c:pt idx="19">
                  <c:v>24/25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41.865</c:v>
                </c:pt>
                <c:pt idx="1">
                  <c:v>66.688</c:v>
                </c:pt>
                <c:pt idx="2">
                  <c:v>63.491</c:v>
                </c:pt>
                <c:pt idx="3">
                  <c:v>55.554</c:v>
                </c:pt>
                <c:pt idx="4">
                  <c:v>47.616</c:v>
                </c:pt>
                <c:pt idx="5">
                  <c:v>56.041</c:v>
                </c:pt>
                <c:pt idx="6">
                  <c:v>85.542</c:v>
                </c:pt>
                <c:pt idx="7">
                  <c:v>75.417</c:v>
                </c:pt>
                <c:pt idx="8">
                  <c:v>74.712</c:v>
                </c:pt>
                <c:pt idx="9">
                  <c:v>74.007</c:v>
                </c:pt>
                <c:pt idx="10">
                  <c:v>75.343</c:v>
                </c:pt>
                <c:pt idx="11">
                  <c:v>95.944</c:v>
                </c:pt>
                <c:pt idx="12">
                  <c:v>110.175</c:v>
                </c:pt>
                <c:pt idx="13">
                  <c:v>122.752</c:v>
                </c:pt>
                <c:pt idx="14">
                  <c:v>86.136</c:v>
                </c:pt>
                <c:pt idx="15">
                  <c:v>128.016</c:v>
                </c:pt>
                <c:pt idx="16">
                  <c:v>104.868</c:v>
                </c:pt>
                <c:pt idx="17">
                  <c:v>104.865</c:v>
                </c:pt>
                <c:pt idx="18">
                  <c:v>104.427</c:v>
                </c:pt>
                <c:pt idx="19">
                  <c:v>106.83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Urea imports</c:v>
                </c:pt>
              </c:strCache>
            </c:strRef>
          </c:tx>
          <c:spPr>
            <a:solidFill>
              <a:srgbClr val="1F3864"/>
            </a:solidFill>
          </c:spPr>
          <c:invertIfNegative val="0"/>
          <c:cat>
            <c:strRef>
              <c:f>Sheet1!$A$2:$A$21</c:f>
              <c:strCache>
                <c:ptCount val="20"/>
                <c:pt idx="0">
                  <c:v>05/06</c:v>
                </c:pt>
                <c:pt idx="1">
                  <c:v>06/07</c:v>
                </c:pt>
                <c:pt idx="2">
                  <c:v>07/08</c:v>
                </c:pt>
                <c:pt idx="3">
                  <c:v>08/09</c:v>
                </c:pt>
                <c:pt idx="4">
                  <c:v>09/10</c:v>
                </c:pt>
                <c:pt idx="5">
                  <c:v>10/11</c:v>
                </c:pt>
                <c:pt idx="6">
                  <c:v>11/12</c:v>
                </c:pt>
                <c:pt idx="7">
                  <c:v>12/13</c:v>
                </c:pt>
                <c:pt idx="8">
                  <c:v>13/14</c:v>
                </c:pt>
                <c:pt idx="9">
                  <c:v>14/15</c:v>
                </c:pt>
                <c:pt idx="10">
                  <c:v>15/16</c:v>
                </c:pt>
                <c:pt idx="11">
                  <c:v>16/17</c:v>
                </c:pt>
                <c:pt idx="12">
                  <c:v>17/18</c:v>
                </c:pt>
                <c:pt idx="13">
                  <c:v>18/19</c:v>
                </c:pt>
                <c:pt idx="14">
                  <c:v>19/20</c:v>
                </c:pt>
                <c:pt idx="15">
                  <c:v>20/21</c:v>
                </c:pt>
                <c:pt idx="16">
                  <c:v>21/22</c:v>
                </c:pt>
                <c:pt idx="17">
                  <c:v>22/23</c:v>
                </c:pt>
                <c:pt idx="18">
                  <c:v>23/24</c:v>
                </c:pt>
                <c:pt idx="19">
                  <c:v>24/25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35.952040000000004</c:v>
                </c:pt>
                <c:pt idx="1">
                  <c:v>85.80962</c:v>
                </c:pt>
                <c:pt idx="2">
                  <c:v>79.07683999999999</c:v>
                </c:pt>
                <c:pt idx="3">
                  <c:v/>
                </c:pt>
                <c:pt idx="4">
                  <c:v>60.81087</c:v>
                </c:pt>
                <c:pt idx="5">
                  <c:v>82.82886</c:v>
                </c:pt>
                <c:pt idx="6">
                  <c:v>128.0267</c:v>
                </c:pt>
                <c:pt idx="7">
                  <c:v>126.98733</c:v>
                </c:pt>
                <c:pt idx="8">
                  <c:v/>
                </c:pt>
                <c:pt idx="9">
                  <c:v>103.9679</c:v>
                </c:pt>
                <c:pt idx="10">
                  <c:v>111.55882000000001</c:v>
                </c:pt>
                <c:pt idx="11">
                  <c:v>143.03293</c:v>
                </c:pt>
                <c:pt idx="12">
                  <c:v>157.71535</c:v>
                </c:pt>
                <c:pt idx="13">
                  <c:v>178.39081</c:v>
                </c:pt>
                <c:pt idx="14">
                  <c:v>134.07854</c:v>
                </c:pt>
                <c:pt idx="15">
                  <c:v>190.61962</c:v>
                </c:pt>
                <c:pt idx="16">
                  <c:v>173.22431</c:v>
                </c:pt>
                <c:pt idx="17">
                  <c:v/>
                </c:pt>
                <c:pt idx="18">
                  <c:v>166.70089000000002</c:v>
                </c:pt>
                <c:pt idx="19">
                  <c:v>179.56506</c:v>
                </c:pt>
              </c:numCache>
            </c:numRef>
          </c:val>
        </c:ser>
        <c:gapWidth val="60"/>
        <c:overlap val="0"/>
        <c:axId val="50010"/>
        <c:axId val="50020"/>
      </c:barChart>
      <c:catAx>
        <c:axId val="500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200"/>
          <c:min val="0"/>
        </c:scaling>
        <c:delete val="0"/>
        <c:axPos val="l"/>
        <c:majorGridlines>
          <c:spPr>
            <a:ln w="6350">
              <a:solidFill>
                <a:srgbClr val="E3E8EB"/>
              </a:solidFill>
            </a:ln>
          </c:spPr>
        </c:majorGridlines>
        <c:numFmt formatCode="0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10"/>
        <c:crosses val="autoZero"/>
        <c:crossBetween val="between"/>
        <c:majorUnit val="5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9"/>
          <c:h val="0.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C55A11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C55A11"/>
              </a:solidFill>
            </c:spPr>
          </c:dPt>
          <c:dPt>
            <c:idx val="1"/>
            <c:invertIfNegative val="0"/>
            <c:bubble3D val="0"/>
            <c:spPr>
              <a:solidFill>
                <a:srgbClr val="C55A11"/>
              </a:solidFill>
            </c:spPr>
          </c:dPt>
          <c:dPt>
            <c:idx val="2"/>
            <c:invertIfNegative val="0"/>
            <c:bubble3D val="0"/>
            <c:spPr>
              <a:solidFill>
                <a:srgbClr val="C55A11"/>
              </a:solidFill>
            </c:spPr>
          </c:dPt>
          <c:dPt>
            <c:idx val="3"/>
            <c:invertIfNegative val="0"/>
            <c:bubble3D val="0"/>
            <c:spPr>
              <a:solidFill>
                <a:srgbClr val="C55A11"/>
              </a:solidFill>
            </c:spPr>
          </c:dPt>
          <c:dPt>
            <c:idx val="4"/>
            <c:invertIfNegative val="0"/>
            <c:bubble3D val="0"/>
            <c:spPr>
              <a:solidFill>
                <a:srgbClr val="C55A11"/>
              </a:solidFill>
            </c:spPr>
          </c:dPt>
          <c:dPt>
            <c:idx val="5"/>
            <c:invertIfNegative val="0"/>
            <c:bubble3D val="0"/>
            <c:spPr>
              <a:solidFill>
                <a:srgbClr val="C55A11"/>
              </a:solidFill>
            </c:spPr>
          </c:dPt>
          <c:dPt>
            <c:idx val="6"/>
            <c:invertIfNegative val="0"/>
            <c:bubble3D val="0"/>
            <c:spPr>
              <a:solidFill>
                <a:srgbClr val="C55A11"/>
              </a:solidFill>
            </c:spPr>
          </c:dPt>
          <c:dPt>
            <c:idx val="7"/>
            <c:invertIfNegative val="0"/>
            <c:bubble3D val="0"/>
            <c:spPr>
              <a:solidFill>
                <a:srgbClr val="C55A11"/>
              </a:solidFill>
            </c:spPr>
          </c:dPt>
          <c:dPt>
            <c:idx val="8"/>
            <c:invertIfNegative val="0"/>
            <c:bubble3D val="0"/>
            <c:spPr>
              <a:solidFill>
                <a:srgbClr val="C55A11"/>
              </a:solidFill>
            </c:spPr>
          </c:dPt>
          <c:dPt>
            <c:idx val="9"/>
            <c:invertIfNegative val="0"/>
            <c:bubble3D val="0"/>
            <c:spPr>
              <a:solidFill>
                <a:srgbClr val="C55A11"/>
              </a:solidFill>
            </c:spPr>
          </c:dPt>
          <c:dPt>
            <c:idx val="10"/>
            <c:invertIfNegative val="0"/>
            <c:bubble3D val="0"/>
            <c:spPr>
              <a:solidFill>
                <a:srgbClr val="C55A11"/>
              </a:solidFill>
            </c:spPr>
          </c:dPt>
          <c:dPt>
            <c:idx val="11"/>
            <c:invertIfNegative val="0"/>
            <c:bubble3D val="0"/>
            <c:spPr>
              <a:solidFill>
                <a:srgbClr val="C55A11"/>
              </a:solidFill>
            </c:spPr>
          </c:dPt>
          <c:dPt>
            <c:idx val="12"/>
            <c:invertIfNegative val="0"/>
            <c:bubble3D val="0"/>
            <c:spPr>
              <a:solidFill>
                <a:srgbClr val="C55A11"/>
              </a:solidFill>
            </c:spPr>
          </c:dPt>
          <c:dPt>
            <c:idx val="13"/>
            <c:invertIfNegative val="0"/>
            <c:bubble3D val="0"/>
            <c:spPr>
              <a:solidFill>
                <a:srgbClr val="C55A11"/>
              </a:solidFill>
            </c:spPr>
          </c:dPt>
          <c:dPt>
            <c:idx val="14"/>
            <c:invertIfNegative val="0"/>
            <c:bubble3D val="0"/>
            <c:spPr>
              <a:solidFill>
                <a:srgbClr val="C55A11"/>
              </a:solidFill>
            </c:spPr>
          </c:dPt>
          <c:dPt>
            <c:idx val="15"/>
            <c:invertIfNegative val="0"/>
            <c:bubble3D val="0"/>
            <c:spPr>
              <a:solidFill>
                <a:srgbClr val="C55A11"/>
              </a:solidFill>
            </c:spPr>
          </c:dPt>
          <c:dPt>
            <c:idx val="16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17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18"/>
            <c:invertIfNegative val="0"/>
            <c:bubble3D val="0"/>
            <c:spPr>
              <a:solidFill>
                <a:srgbClr val="C55A11"/>
              </a:solidFill>
            </c:spPr>
          </c:dPt>
          <c:dPt>
            <c:idx val="19"/>
            <c:invertIfNegative val="0"/>
            <c:bubble3D val="0"/>
            <c:spPr>
              <a:solidFill>
                <a:srgbClr val="C55A11"/>
              </a:solidFill>
            </c:spPr>
          </c:dPt>
          <c:dPt>
            <c:idx val="20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21"/>
            <c:invertIfNegative val="0"/>
            <c:bubble3D val="0"/>
            <c:spPr>
              <a:solidFill>
                <a:srgbClr val="C00000"/>
              </a:solidFill>
            </c:spPr>
          </c:dPt>
          <c:cat>
            <c:strRef>
              <c:f>Sheet1!$A$2:$A$23</c:f>
              <c:strCache>
                <c:ptCount val="22"/>
                <c:pt idx="0">
                  <c:v>05/06</c:v>
                </c:pt>
                <c:pt idx="1">
                  <c:v>06/07</c:v>
                </c:pt>
                <c:pt idx="2">
                  <c:v>07/08</c:v>
                </c:pt>
                <c:pt idx="3">
                  <c:v>08/09</c:v>
                </c:pt>
                <c:pt idx="4">
                  <c:v>09/10</c:v>
                </c:pt>
                <c:pt idx="5">
                  <c:v>10/11</c:v>
                </c:pt>
                <c:pt idx="6">
                  <c:v>11/12</c:v>
                </c:pt>
                <c:pt idx="7">
                  <c:v>12/13</c:v>
                </c:pt>
                <c:pt idx="8">
                  <c:v>13/14</c:v>
                </c:pt>
                <c:pt idx="9">
                  <c:v>14/15</c:v>
                </c:pt>
                <c:pt idx="10">
                  <c:v>15/16</c:v>
                </c:pt>
                <c:pt idx="11">
                  <c:v>16/17</c:v>
                </c:pt>
                <c:pt idx="12">
                  <c:v>17/18</c:v>
                </c:pt>
                <c:pt idx="13">
                  <c:v>18/19</c:v>
                </c:pt>
                <c:pt idx="14">
                  <c:v>19/20</c:v>
                </c:pt>
                <c:pt idx="15">
                  <c:v>20/21</c:v>
                </c:pt>
                <c:pt idx="16">
                  <c:v>21/22</c:v>
                </c:pt>
                <c:pt idx="17">
                  <c:v>22/23</c:v>
                </c:pt>
                <c:pt idx="18">
                  <c:v>23/24</c:v>
                </c:pt>
                <c:pt idx="19">
                  <c:v>24/25</c:v>
                </c:pt>
                <c:pt idx="20">
                  <c:v>25/26</c:v>
                </c:pt>
                <c:pt idx="21">
                  <c:v>26/27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4.093536236930339</c:v>
                </c:pt>
                <c:pt idx="1">
                  <c:v>4.197412459037184</c:v>
                </c:pt>
                <c:pt idx="2">
                  <c:v>5.80300061972</c:v>
                </c:pt>
                <c:pt idx="3">
                  <c:v>9.732132616411764</c:v>
                </c:pt>
                <c:pt idx="4">
                  <c:v>4.7445596100000005</c:v>
                </c:pt>
                <c:pt idx="5">
                  <c:v>5.459076677745098</c:v>
                </c:pt>
                <c:pt idx="6">
                  <c:v>7.546332214936666</c:v>
                </c:pt>
                <c:pt idx="7">
                  <c:v>7.774316198437498</c:v>
                </c:pt>
                <c:pt idx="8">
                  <c:v>6.913248984196311</c:v>
                </c:pt>
                <c:pt idx="9">
                  <c:v>6.473764933833334</c:v>
                </c:pt>
                <c:pt idx="10">
                  <c:v>6.099914143524865</c:v>
                </c:pt>
                <c:pt idx="11">
                  <c:v>4.43410432592742</c:v>
                </c:pt>
                <c:pt idx="12">
                  <c:v>5.023420434596994</c:v>
                </c:pt>
                <c:pt idx="13">
                  <c:v>5.962133502409639</c:v>
                </c:pt>
                <c:pt idx="14">
                  <c:v>6.0113132678744945</c:v>
                </c:pt>
                <c:pt idx="15">
                  <c:v>5.631803691621622</c:v>
                </c:pt>
                <c:pt idx="16">
                  <c:v>11.604574614993387</c:v>
                </c:pt>
                <c:pt idx="17">
                  <c:v>17.14161977204725</c:v>
                </c:pt>
                <c:pt idx="18">
                  <c:v>8.80757105574632</c:v>
                </c:pt>
                <c:pt idx="19">
                  <c:v>8.387732921734143</c:v>
                </c:pt>
                <c:pt idx="20">
                  <c:v>10.969976653329917</c:v>
                </c:pt>
                <c:pt idx="21">
                  <c:v>14.930064590374332</c:v>
                </c:pt>
              </c:numCache>
            </c:numRef>
          </c:val>
        </c:ser>
        <c:gapWidth val="45"/>
        <c:overlap val="0"/>
        <c:axId val="50010"/>
        <c:axId val="50020"/>
      </c:barChart>
      <c:catAx>
        <c:axId val="500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18"/>
          <c:min val="0"/>
        </c:scaling>
        <c:delete val="0"/>
        <c:axPos val="l"/>
        <c:majorGridlines>
          <c:spPr>
            <a:ln w="6350">
              <a:solidFill>
                <a:srgbClr val="E3E8EB"/>
              </a:solidFill>
            </a:ln>
          </c:spPr>
        </c:majorGridlines>
        <c:numFmt formatCode="0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10"/>
        <c:crosses val="autoZero"/>
        <c:crossBetween val="between"/>
        <c:majorUnit val="3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5"/>
          <c:y val="0.04"/>
          <c:w val="0.94"/>
          <c:h val="0.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Lempiras per US$</c:v>
                </c:pt>
              </c:strCache>
            </c:strRef>
          </c:tx>
          <c:spPr>
            <a:solidFill>
              <a:srgbClr val="1F3864"/>
            </a:solidFill>
          </c:spPr>
          <c:invertIfNegative val="0"/>
          <c:cat>
            <c:strRef>
              <c:f>Sheet1!$A$2:$A$22</c:f>
              <c:strCache>
                <c:ptCount val="21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0.32964543724225415</c:v>
                </c:pt>
                <c:pt idx="1">
                  <c:v>-0.0005502860967343537</c:v>
                </c:pt>
                <c:pt idx="2">
                  <c:v>0.015109051269845963</c:v>
                </c:pt>
                <c:pt idx="3">
                  <c:v>-0.01511523530430825</c:v>
                </c:pt>
                <c:pt idx="4">
                  <c:v>-0.0005977273286328355</c:v>
                </c:pt>
                <c:pt idx="5">
                  <c:v>0.11056763950898496</c:v>
                </c:pt>
                <c:pt idx="6">
                  <c:v>3.1094293514927873</c:v>
                </c:pt>
                <c:pt idx="7">
                  <c:v>4.370785993088733</c:v>
                </c:pt>
                <c:pt idx="8">
                  <c:v>3.1050707628362817</c:v>
                </c:pt>
                <c:pt idx="9">
                  <c:v>4.564961101347653</c:v>
                </c:pt>
                <c:pt idx="10">
                  <c:v>4.063504464923451</c:v>
                </c:pt>
                <c:pt idx="11">
                  <c:v>2.838106564193499</c:v>
                </c:pt>
                <c:pt idx="12">
                  <c:v>1.7643362060577816</c:v>
                </c:pt>
                <c:pt idx="13">
                  <c:v>2.5375965151053226</c:v>
                </c:pt>
                <c:pt idx="14">
                  <c:v>0.30465707664117936</c:v>
                </c:pt>
                <c:pt idx="15">
                  <c:v>-2.306672733402071</c:v>
                </c:pt>
                <c:pt idx="16">
                  <c:v>1.9637541595457941</c:v>
                </c:pt>
                <c:pt idx="17">
                  <c:v>0.4684917112468989</c:v>
                </c:pt>
                <c:pt idx="18">
                  <c:v>0.786177083221351</c:v>
                </c:pt>
                <c:pt idx="19">
                  <c:v>4.677242865259212</c:v>
                </c:pt>
                <c:pt idx="20">
                  <c:v>2.6403755311378063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Arabica in US$</c:v>
                </c:pt>
              </c:strCache>
            </c:strRef>
          </c:tx>
          <c:spPr>
            <a:solidFill>
              <a:srgbClr val="D9D9D9"/>
            </a:solidFill>
          </c:spPr>
          <c:invertIfNegative val="0"/>
          <c:cat>
            <c:strRef>
              <c:f>Sheet1!$A$2:$A$22</c:f>
              <c:strCache>
                <c:ptCount val="21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-0.42777229351761425</c:v>
                </c:pt>
                <c:pt idx="1">
                  <c:v>8.030403172504963</c:v>
                </c:pt>
                <c:pt idx="2">
                  <c:v>13.092688895686756</c:v>
                </c:pt>
                <c:pt idx="3">
                  <c:v>2.9212875304301056</c:v>
                </c:pt>
                <c:pt idx="4">
                  <c:v>36.24178712220758</c:v>
                </c:pt>
                <c:pt idx="5">
                  <c:v>38.348765432098794</c:v>
                </c:pt>
                <c:pt idx="6">
                  <c:v>-31.204684885666477</c:v>
                </c:pt>
                <c:pt idx="7">
                  <c:v>-25.172274017024733</c:v>
                </c:pt>
                <c:pt idx="8">
                  <c:v>43.824485373781144</c:v>
                </c:pt>
                <c:pt idx="9">
                  <c:v>-20.320150659133706</c:v>
                </c:pt>
                <c:pt idx="10">
                  <c:v>2.458047742850389</c:v>
                </c:pt>
                <c:pt idx="11">
                  <c:v>-7.981545559400239</c:v>
                </c:pt>
                <c:pt idx="12">
                  <c:v>-12.008022060666823</c:v>
                </c:pt>
                <c:pt idx="13">
                  <c:v>-1.538461538461533</c:v>
                </c:pt>
                <c:pt idx="14">
                  <c:v>15.393518518518512</c:v>
                </c:pt>
                <c:pt idx="15">
                  <c:v>35.732196589769316</c:v>
                </c:pt>
                <c:pt idx="16">
                  <c:v>24.82911509329393</c:v>
                </c:pt>
                <c:pt idx="17">
                  <c:v>-19.35770312268761</c:v>
                </c:pt>
                <c:pt idx="18">
                  <c:v>23.78418058359333</c:v>
                </c:pt>
                <c:pt idx="19">
                  <c:v>50.68939955522611</c:v>
                </c:pt>
                <c:pt idx="20">
                  <c:v>-12.352420306965772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Arabica in lempiras</c:v>
                </c:pt>
              </c:strCache>
            </c:strRef>
          </c:tx>
          <c:spPr>
            <a:solidFill>
              <a:srgbClr val="C55A11"/>
            </a:solidFill>
          </c:spPr>
          <c:invertIfNegative val="0"/>
          <c:cat>
            <c:strRef>
              <c:f>Sheet1!$A$2:$A$22</c:f>
              <c:strCache>
                <c:ptCount val="21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</c:strCache>
            </c: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-0.09953698812271705</c:v>
                </c:pt>
                <c:pt idx="1">
                  <c:v>8.029808696216056</c:v>
                </c:pt>
                <c:pt idx="2">
                  <c:v>13.109776128034433</c:v>
                </c:pt>
                <c:pt idx="3">
                  <c:v>2.905730735641665</c:v>
                </c:pt>
                <c:pt idx="4">
                  <c:v>36.24097276781295</c:v>
                </c:pt>
                <c:pt idx="5">
                  <c:v>38.50173439632692</c:v>
                </c:pt>
                <c:pt idx="6">
                  <c:v>-29.065543165049444</c:v>
                </c:pt>
                <c:pt idx="7">
                  <c:v>-21.90171425081404</c:v>
                </c:pt>
                <c:pt idx="8">
                  <c:v>48.29033741892217</c:v>
                </c:pt>
                <c:pt idx="9">
                  <c:v>-16.682796531110732</c:v>
                </c:pt>
                <c:pt idx="10">
                  <c:v>6.621435087554528</c:v>
                </c:pt>
                <c:pt idx="11">
                  <c:v>-5.369963763652164</c:v>
                </c:pt>
                <c:pt idx="12">
                  <c:v>-10.455547735456793</c:v>
                </c:pt>
                <c:pt idx="13">
                  <c:v>0.9600950302575795</c:v>
                </c:pt>
                <c:pt idx="14">
                  <c:v>15.745073038670432</c:v>
                </c:pt>
                <c:pt idx="15">
                  <c:v>32.601299020585394</c:v>
                </c:pt>
                <c:pt idx="16">
                  <c:v>27.28045203326268</c:v>
                </c:pt>
                <c:pt idx="17">
                  <c:v>-18.97990064605829</c:v>
                </c:pt>
                <c:pt idx="18">
                  <c:v>24.757343443994895</c:v>
                </c:pt>
                <c:pt idx="19">
                  <c:v>57.73750874462487</c:v>
                </c:pt>
                <c:pt idx="20">
                  <c:v>-10.038195059116395</c:v>
                </c:pt>
              </c:numCache>
            </c:numRef>
          </c:val>
        </c:ser>
        <c:gapWidth val="60"/>
        <c:overlap val="0"/>
        <c:axId val="50010"/>
        <c:axId val="50020"/>
      </c:barChart>
      <c:catAx>
        <c:axId val="500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80"/>
          <c:min val="-40"/>
        </c:scaling>
        <c:delete val="0"/>
        <c:axPos val="l"/>
        <c:majorGridlines>
          <c:spPr>
            <a:ln w="6350">
              <a:solidFill>
                <a:srgbClr val="E3E8EB"/>
              </a:solidFill>
            </a:ln>
          </c:spPr>
        </c:majorGridlines>
        <c:numFmt formatCode="0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10"/>
        <c:crosses val="autoZero"/>
        <c:crossBetween val="between"/>
        <c:majorUnit val="2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1F3864"/>
                </a:solidFill>
                <a:latin typeface="Arial"/>
                <a:cs typeface="Arial"/>
              </a:rPr>
              <a:t>Productivity really fell: −30 % per hectare and −48 % per tree since 2016–18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713232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0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Area and trees rose (+2 % and +39 % between 2016–18 and 2022–24) while output fell 28 %: yield per bearing hectare went from 25,7 to 18,2 bags.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0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The IHCAFE registry says the same (16,6–17,7 bags/ha in 2022–24). 2025/26 recovers to about 19,5 on the export-implied crop.</a:t>
            </a:r>
          </a:p>
        </p:txBody>
      </p:sp>
      <p:graphicFrame>
        <p:nvGraphicFramePr>
          <p:cNvPr id="5" name="Chart 5"/>
          <p:cNvGraphicFramePr/>
          <p:nvPr/>
        </p:nvGraphicFramePr>
        <p:xfrm>
          <a:off x="411480" y="1783080"/>
          <a:ext cx="70408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616991" y="3256361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17,4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629" y="3535436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15,0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2266" y="3442241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15,8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09903" y="3611537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14,4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07540" y="3440659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15,8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05177" y="334014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16,7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402815" y="2615184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22,9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00452" y="322296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17,7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998089" y="2874273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20,7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295726" y="2661138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22,5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593363" y="2706319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22,1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891001" y="2148291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26,8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88638" y="2303527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25,5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86275" y="238340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24,8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83912" y="3038924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19,3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081549" y="2503018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23,8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79187" y="3251473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17,5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76824" y="2951683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20,0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974461" y="327032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17,3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272098" y="3265749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17,3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69735" y="3206229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17,8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867373" y="31551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18,3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11480" y="1545336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7F7F7F"/>
                </a:solidFill>
                <a:latin typeface="Arial"/>
                <a:cs typeface="Arial"/>
              </a:rPr>
              <a:t>Bags of 60 kg per bearing hectare</a:t>
            </a:r>
          </a:p>
        </p:txBody>
      </p:sp>
      <p:sp>
        <p:nvSpPr>
          <p:cNvPr id="29" name="Shape 29"/>
          <p:cNvSpPr/>
          <p:nvPr/>
        </p:nvSpPr>
        <p:spPr>
          <a:xfrm>
            <a:off x="5983148" y="3386987"/>
            <a:ext cx="118872" cy="118872"/>
          </a:xfrm>
          <a:prstGeom prst="diamond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</p:sp>
      <p:sp>
        <p:nvSpPr>
          <p:cNvPr id="30" name="Shape 30"/>
          <p:cNvSpPr/>
          <p:nvPr/>
        </p:nvSpPr>
        <p:spPr>
          <a:xfrm>
            <a:off x="6280785" y="3511824"/>
            <a:ext cx="118872" cy="118872"/>
          </a:xfrm>
          <a:prstGeom prst="diamond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</p:sp>
      <p:sp>
        <p:nvSpPr>
          <p:cNvPr id="31" name="Shape 31"/>
          <p:cNvSpPr/>
          <p:nvPr/>
        </p:nvSpPr>
        <p:spPr>
          <a:xfrm>
            <a:off x="6578422" y="3485665"/>
            <a:ext cx="118872" cy="118872"/>
          </a:xfrm>
          <a:prstGeom prst="diamond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</p:sp>
      <p:sp>
        <p:nvSpPr>
          <p:cNvPr id="32" name="Shape 32"/>
          <p:cNvSpPr/>
          <p:nvPr/>
        </p:nvSpPr>
        <p:spPr>
          <a:xfrm>
            <a:off x="6866915" y="3161273"/>
            <a:ext cx="137160" cy="1371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C55A11"/>
            </a:solidFill>
          </a:ln>
        </p:spPr>
      </p:sp>
      <p:sp>
        <p:nvSpPr>
          <p:cNvPr id="33" name="Shape 33"/>
          <p:cNvSpPr/>
          <p:nvPr/>
        </p:nvSpPr>
        <p:spPr>
          <a:xfrm>
            <a:off x="914400" y="6080760"/>
            <a:ext cx="164592" cy="128016"/>
          </a:xfrm>
          <a:prstGeom prst="rect">
            <a:avLst/>
          </a:prstGeom>
          <a:solidFill>
            <a:srgbClr val="2E75B6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197864" y="604418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USDA production ÷ bearing area</a:t>
            </a:r>
          </a:p>
        </p:txBody>
      </p:sp>
      <p:sp>
        <p:nvSpPr>
          <p:cNvPr id="35" name="Shape 35"/>
          <p:cNvSpPr/>
          <p:nvPr/>
        </p:nvSpPr>
        <p:spPr>
          <a:xfrm>
            <a:off x="2911450" y="6080760"/>
            <a:ext cx="164592" cy="128016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3194914" y="604418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IHCAFE registry (harvested ha)</a:t>
            </a:r>
          </a:p>
        </p:txBody>
      </p:sp>
      <p:sp>
        <p:nvSpPr>
          <p:cNvPr id="37" name="Shape 37"/>
          <p:cNvSpPr/>
          <p:nvPr/>
        </p:nvSpPr>
        <p:spPr>
          <a:xfrm>
            <a:off x="4908499" y="6080760"/>
            <a:ext cx="164592" cy="128016"/>
          </a:xfrm>
          <a:prstGeom prst="rect">
            <a:avLst/>
          </a:prstGeom>
          <a:solidFill>
            <a:srgbClr val="C55A11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191963" y="604418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2025/26 on export-implied crop</a:t>
            </a:r>
          </a:p>
        </p:txBody>
      </p:sp>
      <p:sp>
        <p:nvSpPr>
          <p:cNvPr id="39" name="Shape 39"/>
          <p:cNvSpPr/>
          <p:nvPr/>
        </p:nvSpPr>
        <p:spPr>
          <a:xfrm>
            <a:off x="6905549" y="6080760"/>
            <a:ext cx="164592" cy="128016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189013" y="604418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2026/27 USDA forecast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726680" y="1783080"/>
            <a:ext cx="214884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FFFFFF"/>
                </a:solidFill>
                <a:latin typeface="Arial"/>
                <a:cs typeface="Arial"/>
              </a:rPr>
              <a:t/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875520" y="1783080"/>
            <a:ext cx="6858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FFFFFF"/>
                </a:solidFill>
                <a:latin typeface="Arial"/>
                <a:cs typeface="Arial"/>
              </a:rPr>
              <a:t>2016–18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561320" y="1783080"/>
            <a:ext cx="6858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FFFFFF"/>
                </a:solidFill>
                <a:latin typeface="Arial"/>
                <a:cs typeface="Arial"/>
              </a:rPr>
              <a:t>2022–24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247120" y="1783080"/>
            <a:ext cx="64008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FFFFFF"/>
                </a:solidFill>
                <a:latin typeface="Arial"/>
                <a:cs typeface="Arial"/>
              </a:rPr>
              <a:t>Change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726680" y="2093976"/>
            <a:ext cx="21488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Bearing area (kha)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875520" y="2093976"/>
            <a:ext cx="6858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288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561320" y="2093976"/>
            <a:ext cx="6858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292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247120" y="2093976"/>
            <a:ext cx="6400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262626"/>
                </a:solidFill>
                <a:latin typeface="Arial"/>
                <a:cs typeface="Arial"/>
              </a:rPr>
              <a:t>+2 %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726680" y="2404872"/>
            <a:ext cx="214884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Bearing trees (M)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875520" y="2404872"/>
            <a:ext cx="68580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1274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561320" y="2404872"/>
            <a:ext cx="68580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1767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247120" y="2404872"/>
            <a:ext cx="64008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2E7D32"/>
                </a:solidFill>
                <a:latin typeface="Arial"/>
                <a:cs typeface="Arial"/>
              </a:rPr>
              <a:t>+39 %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726680" y="2715768"/>
            <a:ext cx="21488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Trees per ha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875520" y="2715768"/>
            <a:ext cx="6858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4425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0561320" y="2715768"/>
            <a:ext cx="6858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6037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247120" y="2715768"/>
            <a:ext cx="6400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2E7D32"/>
                </a:solidFill>
                <a:latin typeface="Arial"/>
                <a:cs typeface="Arial"/>
              </a:rPr>
              <a:t>+36 %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726680" y="3026664"/>
            <a:ext cx="214884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Production (M bags)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875520" y="3026664"/>
            <a:ext cx="68580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7,40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561320" y="3026664"/>
            <a:ext cx="68580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5,32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1247120" y="3026664"/>
            <a:ext cx="64008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C00000"/>
                </a:solidFill>
                <a:latin typeface="Arial"/>
                <a:cs typeface="Arial"/>
              </a:rPr>
              <a:t>−28 %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726680" y="3337560"/>
            <a:ext cx="21488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Bags per ha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9875520" y="3337560"/>
            <a:ext cx="6858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25,7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0561320" y="3337560"/>
            <a:ext cx="6858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18,2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1247120" y="3337560"/>
            <a:ext cx="6400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C00000"/>
                </a:solidFill>
                <a:latin typeface="Arial"/>
                <a:cs typeface="Arial"/>
              </a:rPr>
              <a:t>−29 %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726680" y="3648456"/>
            <a:ext cx="214884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kg green per tree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9875520" y="3648456"/>
            <a:ext cx="68580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0,35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0561320" y="3648456"/>
            <a:ext cx="68580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0,18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1247120" y="3648456"/>
            <a:ext cx="64008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C00000"/>
                </a:solidFill>
                <a:latin typeface="Arial"/>
                <a:cs typeface="Arial"/>
              </a:rPr>
              <a:t>−48 %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7726680" y="3959352"/>
            <a:ext cx="21488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Nitrogen use, all crops (kt)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9875520" y="3959352"/>
            <a:ext cx="6858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110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0561320" y="3959352"/>
            <a:ext cx="6858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105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247120" y="3959352"/>
            <a:ext cx="6400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262626"/>
                </a:solidFill>
                <a:latin typeface="Arial"/>
                <a:cs typeface="Arial"/>
              </a:rPr>
              <a:t>−4 %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726680" y="4270248"/>
            <a:ext cx="214884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N per bearing coffee ha (kg)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875520" y="4270248"/>
            <a:ext cx="68580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381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0561320" y="4270248"/>
            <a:ext cx="68580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361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1247120" y="4270248"/>
            <a:ext cx="64008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262626"/>
                </a:solidFill>
                <a:latin typeface="Arial"/>
                <a:cs typeface="Arial"/>
              </a:rPr>
              <a:t>−5 %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7726680" y="4581144"/>
            <a:ext cx="21488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Urea (L per t)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9875520" y="4581144"/>
            <a:ext cx="6858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5140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0561320" y="4581144"/>
            <a:ext cx="6858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11446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1247120" y="4581144"/>
            <a:ext cx="6400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2E7D32"/>
                </a:solidFill>
                <a:latin typeface="Arial"/>
                <a:cs typeface="Arial"/>
              </a:rPr>
              <a:t>+123 %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7726680" y="4892040"/>
            <a:ext cx="214884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kg urea per kg coffee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9875520" y="4892040"/>
            <a:ext cx="68580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15,3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0561320" y="4892040"/>
            <a:ext cx="68580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12,4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1247120" y="4892040"/>
            <a:ext cx="64008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C00000"/>
                </a:solidFill>
                <a:latin typeface="Arial"/>
                <a:cs typeface="Arial"/>
              </a:rPr>
              <a:t>−19 %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7726680" y="5303520"/>
            <a:ext cx="4160520" cy="7315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Per tree the fall looks worse because USDA counts 6 000 trees per hectare instead of 4 400: denser, younger plantings that are not yet at full crop.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411480" y="6355080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USDA PSD (production, July 2026) and USDA FAS Coffee Annual Honduras 2011–2026 (bearing area and trees, attaché estimates); IHCAFE Coffee Statistics Reports 2022/23–2024/25 as printed by USDA; FAOSTAT nitrogen (all crops); World Bank urea and arabica; BCH lempira rate. 2025/26 export-implied: forecast workbook, Exports_nowcast.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1F3864"/>
                </a:solidFill>
                <a:latin typeface="Arial"/>
                <a:cs typeface="Arial"/>
              </a:rPr>
              <a:t>Growers did not use much less fertiliser; they paid up to 4 times more for it in lempiras</a:t>
            </a:r>
          </a:p>
        </p:txBody>
      </p:sp>
      <p:graphicFrame>
        <p:nvGraphicFramePr>
          <p:cNvPr id="4" name="Chart 4"/>
          <p:cNvGraphicFramePr/>
          <p:nvPr/>
        </p:nvGraphicFramePr>
        <p:xfrm>
          <a:off x="411480" y="1188720"/>
          <a:ext cx="57607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411480" y="960120"/>
            <a:ext cx="57607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80" dirty="0">
                <a:solidFill>
                  <a:srgbClr val="7F7F7F"/>
                </a:solidFill>
                <a:latin typeface="Arial"/>
                <a:cs typeface="Arial"/>
              </a:rPr>
              <a:t>Thousand tonnes, all crops (FAOSTAT; 2022 imputed by FAO, no urea figure)</a:t>
            </a:r>
          </a:p>
        </p:txBody>
      </p:sp>
      <p:sp>
        <p:nvSpPr>
          <p:cNvPr id="6" name="Shape 6"/>
          <p:cNvSpPr/>
          <p:nvPr/>
        </p:nvSpPr>
        <p:spPr>
          <a:xfrm>
            <a:off x="868680" y="5440680"/>
            <a:ext cx="164592" cy="128016"/>
          </a:xfrm>
          <a:prstGeom prst="rect">
            <a:avLst/>
          </a:prstGeom>
          <a:solidFill>
            <a:srgbClr val="7F9F3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152144" y="540410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nitrogen use (t N)</a:t>
            </a:r>
          </a:p>
        </p:txBody>
      </p:sp>
      <p:sp>
        <p:nvSpPr>
          <p:cNvPr id="8" name="Shape 8"/>
          <p:cNvSpPr/>
          <p:nvPr/>
        </p:nvSpPr>
        <p:spPr>
          <a:xfrm>
            <a:off x="2231502" y="5440680"/>
            <a:ext cx="164592" cy="128016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514966" y="540410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urea imports (t product)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6400800" y="1188720"/>
          <a:ext cx="539496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9004720" y="3800857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4,4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108235" y="2391171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11,6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28938" y="130261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17,1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70344" y="3023589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8,4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991046" y="251593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11,0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211749" y="1737393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14,9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00800" y="960120"/>
            <a:ext cx="53949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80" dirty="0">
                <a:solidFill>
                  <a:srgbClr val="7F7F7F"/>
                </a:solidFill>
                <a:latin typeface="Arial"/>
                <a:cs typeface="Arial"/>
              </a:rPr>
              <a:t>Urea, thousand lempiras per tonne (World Bank price × BCH rate; 2026 = Jan–Aug)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1480" y="5623560"/>
            <a:ext cx="11384280" cy="6858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Nitrogen 2022–24: 105 000 t a year, 4 % below 2016–18; the one-year cuts (2019 −30 %) line up with output. Urea in lempiras: 4 400 L/t in 2016, 17 100 in 2022, 8 400 in 2024, 14 900 in 2026. Bono Cafetalero (state gift): 25 188 t in 2020 (USDA), 216 223 qq in 2022, 300 000 qq in 2025, about 400 000 planned for 2026 (press, read) ≈ 8 % of urea imports by weight.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1480" y="6355080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FAOSTAT Inputs / Fertilizers by nutrient and by product (bulk download Sep 2026); World Bank Pink Sheet (urea, Black Sea / Middle East); BCH daily reference rate; USDA GAIN 2021 (Bono 2020); La Prensa 27 Jul 2022 and El Heraldo 14 Feb 2026 (Bono, read).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1F3864"/>
                </a:solidFill>
                <a:latin typeface="Arial"/>
                <a:cs typeface="Arial"/>
              </a:rPr>
              <a:t>Rust: no yearly series is published openly, but every figure points to a comeback since 2020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1480" y="1051560"/>
            <a:ext cx="50292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b="1" dirty="0">
                <a:solidFill>
                  <a:srgbClr val="FFFFFF"/>
                </a:solidFill>
                <a:latin typeface="Arial"/>
                <a:cs typeface="Arial"/>
              </a:rPr>
              <a:t>Year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1051560"/>
            <a:ext cx="9144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b="1" dirty="0">
                <a:solidFill>
                  <a:srgbClr val="FFFFFF"/>
                </a:solidFill>
                <a:latin typeface="Arial"/>
                <a:cs typeface="Arial"/>
              </a:rPr>
              <a:t>When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28800" y="1051560"/>
            <a:ext cx="6858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b="1" dirty="0">
                <a:solidFill>
                  <a:srgbClr val="FFFFFF"/>
                </a:solidFill>
                <a:latin typeface="Arial"/>
                <a:cs typeface="Arial"/>
              </a:rPr>
              <a:t>Rust %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14600" y="1051560"/>
            <a:ext cx="530352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b="1" dirty="0">
                <a:solidFill>
                  <a:srgbClr val="FFFFFF"/>
                </a:solidFill>
                <a:latin typeface="Arial"/>
                <a:cs typeface="Arial"/>
              </a:rPr>
              <a:t>What it measures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18120" y="1051560"/>
            <a:ext cx="155448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b="1" dirty="0">
                <a:solidFill>
                  <a:srgbClr val="FFFFFF"/>
                </a:solidFill>
                <a:latin typeface="Arial"/>
                <a:cs typeface="Arial"/>
              </a:rPr>
              <a:t>Source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1480" y="1362456"/>
            <a:ext cx="502920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2012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" y="1362456"/>
            <a:ext cx="914400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2012/13 crop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28800" y="1362456"/>
            <a:ext cx="685800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b="1" dirty="0">
                <a:solidFill>
                  <a:srgbClr val="262626"/>
                </a:solidFill>
                <a:latin typeface="Arial"/>
                <a:cs typeface="Arial"/>
              </a:rPr>
              <a:t>25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14600" y="1362456"/>
            <a:ext cx="5303520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% of coffee AREA affected (71 000 ha)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18120" y="1362456"/>
            <a:ext cx="1554480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GAIN 2013, 2014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1480" y="1659636"/>
            <a:ext cx="502920" cy="2971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2014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4400" y="1659636"/>
            <a:ext cx="914400" cy="2971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Apr 2014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28800" y="1659636"/>
            <a:ext cx="685800" cy="2971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b="1" dirty="0">
                <a:solidFill>
                  <a:srgbClr val="262626"/>
                </a:solidFill>
                <a:latin typeface="Arial"/>
                <a:cs typeface="Arial"/>
              </a:rPr>
              <a:t>12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14600" y="1659636"/>
            <a:ext cx="5303520" cy="2971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national average incidence (first national survey)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18120" y="1659636"/>
            <a:ext cx="1554480" cy="2971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GAIN 2014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1480" y="1956816"/>
            <a:ext cx="502920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2017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14400" y="1956816"/>
            <a:ext cx="914400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Apr 2017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28800" y="1956816"/>
            <a:ext cx="685800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b="1" dirty="0">
                <a:solidFill>
                  <a:srgbClr val="262626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514600" y="1956816"/>
            <a:ext cx="5303520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% of LEMPIRA plants with rust (Lempira lost its resistance in 2016/17)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818120" y="1956816"/>
            <a:ext cx="1554480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GAIN 2017, 2018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11480" y="2253996"/>
            <a:ext cx="502920" cy="2971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2020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4400" y="2253996"/>
            <a:ext cx="914400" cy="2971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end 2020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28800" y="2253996"/>
            <a:ext cx="685800" cy="2971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b="1" dirty="0">
                <a:solidFill>
                  <a:srgbClr val="262626"/>
                </a:solidFill>
                <a:latin typeface="Arial"/>
                <a:cs typeface="Arial"/>
              </a:rPr>
              <a:t>15–25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514600" y="2253996"/>
            <a:ext cx="5303520" cy="2971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incidence in 5 departments after hurricanes Eta and Iota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818120" y="2253996"/>
            <a:ext cx="1554480" cy="2971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GAIN 2021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11480" y="2551176"/>
            <a:ext cx="502920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2020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14400" y="2551176"/>
            <a:ext cx="914400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Nov 2020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828800" y="2551176"/>
            <a:ext cx="685800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b="1" dirty="0">
                <a:solidFill>
                  <a:srgbClr val="262626"/>
                </a:solidFill>
                <a:latin typeface="Arial"/>
                <a:cs typeface="Arial"/>
              </a:rPr>
              <a:t/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514600" y="2551176"/>
            <a:ext cx="5303520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Eta and Iota: &gt; 4 200 ha of coffee farms hit, &gt; 150 000 qq lost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818120" y="2551176"/>
            <a:ext cx="1554480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La Prensa / EFE 1 Nov 2022 (read)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11480" y="2848356"/>
            <a:ext cx="502920" cy="2971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2022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14400" y="2848356"/>
            <a:ext cx="914400" cy="2971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2022/23 crop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828800" y="2848356"/>
            <a:ext cx="685800" cy="2971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b="1" dirty="0">
                <a:solidFill>
                  <a:srgbClr val="262626"/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514600" y="2848356"/>
            <a:ext cx="5303520" cy="2971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% of PRODUCTION affected by rust (IHCAFE director)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818120" y="2848356"/>
            <a:ext cx="1554480" cy="2971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La Prensa / EFE 1 Nov 2022 (read)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11480" y="3145536"/>
            <a:ext cx="502920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2022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14400" y="3145536"/>
            <a:ext cx="914400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Apr 2022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828800" y="3145536"/>
            <a:ext cx="685800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b="1" dirty="0">
                <a:solidFill>
                  <a:srgbClr val="262626"/>
                </a:solidFill>
                <a:latin typeface="Arial"/>
                <a:cs typeface="Arial"/>
              </a:rPr>
              <a:t>5,42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514600" y="3145536"/>
            <a:ext cx="5303520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national average incidence (66 % of farms low, 29 % medium, 5 % high)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818120" y="3145536"/>
            <a:ext cx="1554480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GAIN 2022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11480" y="3442716"/>
            <a:ext cx="502920" cy="2971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2023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14400" y="3442716"/>
            <a:ext cx="914400" cy="2971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May 2023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828800" y="3442716"/>
            <a:ext cx="685800" cy="2971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b="1" dirty="0">
                <a:solidFill>
                  <a:srgbClr val="262626"/>
                </a:solidFill>
                <a:latin typeface="Arial"/>
                <a:cs typeface="Arial"/>
              </a:rPr>
              <a:t>5,80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514600" y="3442716"/>
            <a:ext cx="5303520" cy="2971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national average incidence (La Paz 9.7 %, Fco. Morazan 8.2 %)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818120" y="3442716"/>
            <a:ext cx="1554480" cy="2971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GAIN 2023 (repeated in GAIN 2024)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11480" y="3739896"/>
            <a:ext cx="502920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2024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14400" y="3739896"/>
            <a:ext cx="914400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Mar 2024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828800" y="3739896"/>
            <a:ext cx="685800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b="1" dirty="0">
                <a:solidFill>
                  <a:srgbClr val="C00000"/>
                </a:solidFill>
                <a:latin typeface="Arial"/>
                <a:cs typeface="Arial"/>
              </a:rPr>
              <a:t>7,38 ⚠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514600" y="3739896"/>
            <a:ext cx="5303520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national average incidence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818120" y="3739896"/>
            <a:ext cx="1554480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search summary (La Prensa / El Heraldo)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11480" y="4037076"/>
            <a:ext cx="502920" cy="2971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2024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14400" y="4037076"/>
            <a:ext cx="914400" cy="2971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Apr 2024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828800" y="4037076"/>
            <a:ext cx="685800" cy="2971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b="1" dirty="0">
                <a:solidFill>
                  <a:srgbClr val="262626"/>
                </a:solidFill>
                <a:latin typeface="Arial"/>
                <a:cs typeface="Arial"/>
              </a:rPr>
              <a:t/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514600" y="4037076"/>
            <a:ext cx="5303520" cy="2971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76 % of sampled farms low, 19 % medium, 5 % high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818120" y="4037076"/>
            <a:ext cx="1554480" cy="2971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GAIN 2025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11480" y="4334256"/>
            <a:ext cx="502920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2024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14400" y="4334256"/>
            <a:ext cx="914400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2024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828800" y="4334256"/>
            <a:ext cx="685800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b="1" dirty="0">
                <a:solidFill>
                  <a:srgbClr val="262626"/>
                </a:solidFill>
                <a:latin typeface="Arial"/>
                <a:cs typeface="Arial"/>
              </a:rPr>
              <a:t/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514600" y="4334256"/>
            <a:ext cx="5303520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BCH: exports about 500 000 qq lower than 2023 "due to high rust incidence and labour shortage"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818120" y="4334256"/>
            <a:ext cx="1554480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El Heraldo 23 Jun 2024 (read)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11480" y="4631436"/>
            <a:ext cx="502920" cy="2971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2025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14400" y="4631436"/>
            <a:ext cx="914400" cy="2971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Jan-Mar 2025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828800" y="4631436"/>
            <a:ext cx="685800" cy="2971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b="1" dirty="0">
                <a:solidFill>
                  <a:srgbClr val="262626"/>
                </a:solidFill>
                <a:latin typeface="Arial"/>
                <a:cs typeface="Arial"/>
              </a:rPr>
              <a:t>5,71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2514600" y="4631436"/>
            <a:ext cx="5303520" cy="2971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national average (13 of 15 departments hit; Santa Barbara 9.29 %, El Paraiso 7.91 %, Comayagua 7.20 %; worst varieties Obata and Catuai)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818120" y="4631436"/>
            <a:ext cx="1554480" cy="2971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El Heraldo 13 May 2025 (read)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11480" y="4928616"/>
            <a:ext cx="502920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2025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914400" y="4928616"/>
            <a:ext cx="914400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Apr 2025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828800" y="4928616"/>
            <a:ext cx="685800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b="1" dirty="0">
                <a:solidFill>
                  <a:srgbClr val="262626"/>
                </a:solidFill>
                <a:latin typeface="Arial"/>
                <a:cs typeface="Arial"/>
              </a:rPr>
              <a:t/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2514600" y="4928616"/>
            <a:ext cx="5303520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sampled farms: 16.7 % medium (5-10 %), 7.8 % high (10-15 %), 21.6 % very high (&gt; 15 %)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818120" y="4928616"/>
            <a:ext cx="1554480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GAIN 2026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411480" y="5225796"/>
            <a:ext cx="502920" cy="2971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2026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14400" y="5225796"/>
            <a:ext cx="914400" cy="2971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end Jan 2026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828800" y="5225796"/>
            <a:ext cx="685800" cy="2971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b="1" dirty="0">
                <a:solidFill>
                  <a:srgbClr val="262626"/>
                </a:solidFill>
                <a:latin typeface="Arial"/>
                <a:cs typeface="Arial"/>
              </a:rPr>
              <a:t>8,44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2514600" y="5225796"/>
            <a:ext cx="5303520" cy="2971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national average incidence (from 7.57 %); departments 2.06-14.08 %; ~30 % of farms &gt; 10 %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7818120" y="5225796"/>
            <a:ext cx="1554480" cy="2971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dirty="0">
                <a:solidFill>
                  <a:srgbClr val="262626"/>
                </a:solidFill>
                <a:latin typeface="Arial"/>
                <a:cs typeface="Arial"/>
              </a:rPr>
              <a:t>El Heraldo 15 Feb 2026 (read); GAIN 2026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11480" y="5596128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dirty="0">
                <a:solidFill>
                  <a:srgbClr val="262626"/>
                </a:solidFill>
                <a:latin typeface="Arial"/>
                <a:cs typeface="Arial"/>
              </a:rPr>
              <a:t>IHCAFE rule: rust damage of 15 % ≈ 20 % less production (USDA 2017). Thresholds: 0–5 % low, 5–20 % medium. The monthly IHCAFE early-warning bulletins (about 1 200 farms) sit on ihcafe.hn, blocked here.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9555480" y="1097280"/>
            <a:ext cx="2240280" cy="4937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dirty="0">
                <a:solidFill>
                  <a:srgbClr val="1F3864"/>
                </a:solidFill>
                <a:latin typeface="Arial"/>
                <a:cs typeface="Arial"/>
              </a:rPr>
              <a:t>Resistant varieties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80" b="1" dirty="0">
                <a:solidFill>
                  <a:srgbClr val="262626"/>
                </a:solidFill>
                <a:latin typeface="Arial"/>
                <a:cs typeface="Arial"/>
              </a:rPr>
              <a:t>Released by IHCAFE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IHCAFE 90 (1990), Lempira (1998), Parainema (2004); Ihcatú 75, Anacafé 14, Obatá (2024)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80" b="1" dirty="0">
                <a:solidFill>
                  <a:srgbClr val="262626"/>
                </a:solidFill>
                <a:latin typeface="Arial"/>
                <a:cs typeface="Arial"/>
              </a:rPr>
              <a:t>Share planted (resistant)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Jun 2013: 50 % of area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since 2012: 65 % of area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Apr 2014: 60 % of producers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2014: 62 % of farms, 5 depts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24 Aug 2017: 60 % of plants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7F7F7F"/>
                </a:solidFill>
                <a:latin typeface="Arial"/>
                <a:cs typeface="Arial"/>
              </a:rPr>
              <a:t>No national figure after 2017 (a 2020 "60 %" is only a web extract).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C00000"/>
                </a:solidFill>
                <a:latin typeface="Arial"/>
                <a:cs typeface="Arial"/>
              </a:rPr>
              <a:t>Lempira, the main one, lost its resistance in 2016/17: part of the 60 % is susceptible again.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411480" y="6355080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USDA FAS Coffee Annual Honduras 2013–2026; El Heraldo 13 May 2025 and 15 Feb 2026, La Prensa/EFE 1 Nov 2022 and El Heraldo 23 Jun 2024 (read); La Prensa 24 Aug 2017 (read); Morales &amp; Grajeda (IHCAFE) PROMECAFE 2019 (read). ⚠ = search summary, page not read.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1F3864"/>
                </a:solidFill>
                <a:latin typeface="Arial"/>
                <a:cs typeface="Arial"/>
              </a:rPr>
              <a:t>Financing: one-off rescue programmes after each shock, no steady bank credit series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1480" y="1097280"/>
            <a:ext cx="502920" cy="3291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b="1" dirty="0">
                <a:solidFill>
                  <a:srgbClr val="FFFFFF"/>
                </a:solidFill>
                <a:latin typeface="Arial"/>
                <a:cs typeface="Arial"/>
              </a:rPr>
              <a:t>Year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1097280"/>
            <a:ext cx="4206240" cy="3291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b="1" dirty="0">
                <a:solidFill>
                  <a:srgbClr val="FFFFFF"/>
                </a:solidFill>
                <a:latin typeface="Arial"/>
                <a:cs typeface="Arial"/>
              </a:rPr>
              <a:t>Programme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20640" y="1097280"/>
            <a:ext cx="640080" cy="3291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b="1" dirty="0">
                <a:solidFill>
                  <a:srgbClr val="FFFFFF"/>
                </a:solidFill>
                <a:latin typeface="Arial"/>
                <a:cs typeface="Arial"/>
              </a:rPr>
              <a:t>US$ 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60720" y="1097280"/>
            <a:ext cx="685800" cy="3291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b="1" dirty="0">
                <a:solidFill>
                  <a:srgbClr val="FFFFFF"/>
                </a:solidFill>
                <a:latin typeface="Arial"/>
                <a:cs typeface="Arial"/>
              </a:rPr>
              <a:t>L 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46520" y="1097280"/>
            <a:ext cx="4572000" cy="3291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b="1" dirty="0">
                <a:solidFill>
                  <a:srgbClr val="FFFFFF"/>
                </a:solidFill>
                <a:latin typeface="Arial"/>
                <a:cs typeface="Arial"/>
              </a:rPr>
              <a:t>Terms / who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18520" y="1097280"/>
            <a:ext cx="777240" cy="3291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b="1" dirty="0">
                <a:solidFill>
                  <a:srgbClr val="FFFFFF"/>
                </a:solidFill>
                <a:latin typeface="Arial"/>
                <a:cs typeface="Arial"/>
              </a:rPr>
              <a:t>Status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11480" y="1426464"/>
            <a:ext cx="5029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2002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" y="1426464"/>
            <a:ext cx="42062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Government loan to all growers (price crisis)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120640" y="1426464"/>
            <a:ext cx="6400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60720" y="1426464"/>
            <a:ext cx="6858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–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46520" y="1426464"/>
            <a:ext cx="45720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20 years; all producers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018520" y="1426464"/>
            <a:ext cx="7772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b="1" dirty="0">
                <a:solidFill>
                  <a:srgbClr val="2E7D32"/>
                </a:solidFill>
                <a:latin typeface="Arial"/>
                <a:cs typeface="Arial"/>
              </a:rPr>
              <a:t>read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1480" y="1755648"/>
            <a:ext cx="50292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2004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4400" y="1755648"/>
            <a:ext cx="420624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Coffee trust fund (law of 2003)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20640" y="1755648"/>
            <a:ext cx="64008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–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60720" y="1755648"/>
            <a:ext cx="68580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–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46520" y="1755648"/>
            <a:ext cx="457200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US$13,25/qq held back at sale; 87 000 producers (2011)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018520" y="1755648"/>
            <a:ext cx="77724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b="1" dirty="0">
                <a:solidFill>
                  <a:srgbClr val="2E7D32"/>
                </a:solidFill>
                <a:latin typeface="Arial"/>
                <a:cs typeface="Arial"/>
              </a:rPr>
              <a:t>read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11480" y="2084832"/>
            <a:ext cx="5029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2013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14400" y="2084832"/>
            <a:ext cx="42062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Rust credit offered (banks, BCH, BANHPROVI, BANADESA, IHCAFE)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120640" y="2084832"/>
            <a:ext cx="6400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84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760720" y="2084832"/>
            <a:ext cx="6858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1715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46520" y="2084832"/>
            <a:ext cx="45720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10 %, 7 years; only L335 M used by Apr 2014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018520" y="2084832"/>
            <a:ext cx="7772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b="1" dirty="0">
                <a:solidFill>
                  <a:srgbClr val="2E7D32"/>
                </a:solidFill>
                <a:latin typeface="Arial"/>
                <a:cs typeface="Arial"/>
              </a:rPr>
              <a:t>read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11480" y="2414016"/>
            <a:ext cx="50292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2015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4400" y="2414016"/>
            <a:ext cx="420624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IHCAFE fertiliser credit line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120640" y="2414016"/>
            <a:ext cx="64008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17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760720" y="2414016"/>
            <a:ext cx="68580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370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446520" y="2414016"/>
            <a:ext cx="457200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fertiliser at cost, 1 year, no interest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018520" y="2414016"/>
            <a:ext cx="77724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b="1" dirty="0">
                <a:solidFill>
                  <a:srgbClr val="2E7D32"/>
                </a:solidFill>
                <a:latin typeface="Arial"/>
                <a:cs typeface="Arial"/>
              </a:rPr>
              <a:t>read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11480" y="2743200"/>
            <a:ext cx="5029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2015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14400" y="2743200"/>
            <a:ext cx="42062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PAPP / PEPP replanting (IHCAFE, BANADESA)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120640" y="2743200"/>
            <a:ext cx="6400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–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760720" y="2743200"/>
            <a:ext cx="6858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–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446520" y="2743200"/>
            <a:ext cx="45720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1 manzana per grower, no interest; 23 000 small growers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018520" y="2743200"/>
            <a:ext cx="7772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b="1" dirty="0">
                <a:solidFill>
                  <a:srgbClr val="2E7D32"/>
                </a:solidFill>
                <a:latin typeface="Arial"/>
                <a:cs typeface="Arial"/>
              </a:rPr>
              <a:t>read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11480" y="3072384"/>
            <a:ext cx="50292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2018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14400" y="3072384"/>
            <a:ext cx="420624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Decree 93-2018: IHCAFE loan (low prices, rust)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120640" y="3072384"/>
            <a:ext cx="64008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77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760720" y="3072384"/>
            <a:ext cx="68580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1900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446520" y="3072384"/>
            <a:ext cx="457200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L200 per qq produced in 2016/17; repaid 1,50 $/qq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018520" y="3072384"/>
            <a:ext cx="77724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b="1" dirty="0">
                <a:solidFill>
                  <a:srgbClr val="2E7D32"/>
                </a:solidFill>
                <a:latin typeface="Arial"/>
                <a:cs typeface="Arial"/>
              </a:rPr>
              <a:t>read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11480" y="3401568"/>
            <a:ext cx="5029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2018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14400" y="3401568"/>
            <a:ext cx="42062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BANHPROVI guarantee fund for coffee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120640" y="3401568"/>
            <a:ext cx="6400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13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760720" y="3401568"/>
            <a:ext cx="6858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300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446520" y="3401568"/>
            <a:ext cx="45720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backs refinancing of growers' debt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018520" y="3401568"/>
            <a:ext cx="7772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b="1" dirty="0">
                <a:solidFill>
                  <a:srgbClr val="2E7D32"/>
                </a:solidFill>
                <a:latin typeface="Arial"/>
                <a:cs typeface="Arial"/>
              </a:rPr>
              <a:t>read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11480" y="3730752"/>
            <a:ext cx="50292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2020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14400" y="3730752"/>
            <a:ext cx="420624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Bono Cafetalero: free fertiliser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120640" y="3730752"/>
            <a:ext cx="64008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12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760720" y="3730752"/>
            <a:ext cx="68580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–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446520" y="3730752"/>
            <a:ext cx="457200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25 188 t to 91 778 growers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018520" y="3730752"/>
            <a:ext cx="77724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b="1" dirty="0">
                <a:solidFill>
                  <a:srgbClr val="2E7D32"/>
                </a:solidFill>
                <a:latin typeface="Arial"/>
                <a:cs typeface="Arial"/>
              </a:rPr>
              <a:t>read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11480" y="4059936"/>
            <a:ext cx="5029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2021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14400" y="4059936"/>
            <a:ext cx="42062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Bono Cafetalero extension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120640" y="4059936"/>
            <a:ext cx="6400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13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760720" y="4059936"/>
            <a:ext cx="6858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–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446520" y="4059936"/>
            <a:ext cx="45720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fertiliser; state credit at 5 % and guarantees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018520" y="4059936"/>
            <a:ext cx="7772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b="1" dirty="0">
                <a:solidFill>
                  <a:srgbClr val="2E7D32"/>
                </a:solidFill>
                <a:latin typeface="Arial"/>
                <a:cs typeface="Arial"/>
              </a:rPr>
              <a:t>read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11480" y="4389120"/>
            <a:ext cx="50292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2023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14400" y="4389120"/>
            <a:ext cx="420624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IHCAFE renovation programme 2023–2027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120640" y="4389120"/>
            <a:ext cx="64008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–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760720" y="4389120"/>
            <a:ext cx="68580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–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446520" y="4389120"/>
            <a:ext cx="457200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target 7,0–7,5 M qq of production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1018520" y="4389120"/>
            <a:ext cx="77724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b="1" dirty="0">
                <a:solidFill>
                  <a:srgbClr val="2E7D32"/>
                </a:solidFill>
                <a:latin typeface="Arial"/>
                <a:cs typeface="Arial"/>
              </a:rPr>
              <a:t>read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11480" y="4718304"/>
            <a:ext cx="5029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2025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914400" y="4718304"/>
            <a:ext cx="42062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Bono Cafetalero 2025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120640" y="4718304"/>
            <a:ext cx="6400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13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760720" y="4718304"/>
            <a:ext cx="6858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350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446520" y="4718304"/>
            <a:ext cx="45720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300 000 qq of fertiliser (read, El Heraldo 2026); L350 M not verified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018520" y="4718304"/>
            <a:ext cx="7772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b="1" dirty="0">
                <a:solidFill>
                  <a:srgbClr val="C00000"/>
                </a:solidFill>
                <a:latin typeface="Arial"/>
                <a:cs typeface="Arial"/>
              </a:rPr>
              <a:t>⚠ extract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411480" y="5047488"/>
            <a:ext cx="50292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2021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914400" y="5047488"/>
            <a:ext cx="420624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Debt of growers to banks, cooperatives and IHCAFE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5120640" y="5047488"/>
            <a:ext cx="64008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232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5760720" y="5047488"/>
            <a:ext cx="68580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5565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6446520" y="5047488"/>
            <a:ext cx="457200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stock of debt, June 2021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1018520" y="5047488"/>
            <a:ext cx="77724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b="1" dirty="0">
                <a:solidFill>
                  <a:srgbClr val="C00000"/>
                </a:solidFill>
                <a:latin typeface="Arial"/>
                <a:cs typeface="Arial"/>
              </a:rPr>
              <a:t>⚠ extract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411480" y="5468112"/>
            <a:ext cx="11384280" cy="7315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Pattern: money arrives after the damage (2002 price crisis, 2013 rust, 2018 low prices, 2020–21 Covid and hurricanes, 2025 Bono) and mostly as fertiliser or refinancing; in 2013 only L335 M of L1 715 M offered was taken. Bank credit to all agriculture (BCH; coffee not separated): new loans L16 237 M in 2018, L14 129 M in 2020 (−8 %), L19 080 M in 2025 (+12 %); Jan–Jul 2026 L19 250 M, +84 % on Jan–Jul 2025.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411480" y="6355080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USDA FAS Coffee Annual Honduras 2011–2021; El Heraldo 7 Apr 2014 and 29 Aug 2018 (read); Decreto 93-2018; La Tribuna 25 Jun 2021 (debt, search summary); BCH loans by activity (xlsx, read). Lempiras converted at the BCH yearly mean rate.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1F3864"/>
                </a:solidFill>
                <a:latin typeface="Arial"/>
                <a:cs typeface="Arial"/>
              </a:rPr>
              <a:t>The lempira: 18,9 per dollar until 2011, 26,6 in 2026; small next to the coffee price swings</a:t>
            </a:r>
          </a:p>
        </p:txBody>
      </p:sp>
      <p:graphicFrame>
        <p:nvGraphicFramePr>
          <p:cNvPr id="4" name="Chart 4"/>
          <p:cNvGraphicFramePr/>
          <p:nvPr/>
        </p:nvGraphicFramePr>
        <p:xfrm>
          <a:off x="411480" y="1188720"/>
          <a:ext cx="113842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411480" y="960120"/>
            <a:ext cx="113842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80" dirty="0">
                <a:solidFill>
                  <a:srgbClr val="7F7F7F"/>
                </a:solidFill>
                <a:latin typeface="Arial"/>
                <a:cs typeface="Arial"/>
              </a:rPr>
              <a:t>Change on the year before, % (calendar years; 2026 = Jan–Aug for coffee, 1 Jan–25 Sep for the lempira)</a:t>
            </a:r>
          </a:p>
        </p:txBody>
      </p:sp>
      <p:sp>
        <p:nvSpPr>
          <p:cNvPr id="6" name="Shape 6"/>
          <p:cNvSpPr/>
          <p:nvPr/>
        </p:nvSpPr>
        <p:spPr>
          <a:xfrm>
            <a:off x="868680" y="5513832"/>
            <a:ext cx="164592" cy="128016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152144" y="5477256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lempiras per US$ (+ = lempira weaker)</a:t>
            </a:r>
          </a:p>
        </p:txBody>
      </p:sp>
      <p:sp>
        <p:nvSpPr>
          <p:cNvPr id="8" name="Shape 8"/>
          <p:cNvSpPr/>
          <p:nvPr/>
        </p:nvSpPr>
        <p:spPr>
          <a:xfrm>
            <a:off x="3235696" y="5513832"/>
            <a:ext cx="164592" cy="128016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519160" y="5477256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arabica in US$</a:t>
            </a:r>
          </a:p>
        </p:txBody>
      </p:sp>
      <p:sp>
        <p:nvSpPr>
          <p:cNvPr id="10" name="Shape 10"/>
          <p:cNvSpPr/>
          <p:nvPr/>
        </p:nvSpPr>
        <p:spPr>
          <a:xfrm>
            <a:off x="4387108" y="5513832"/>
            <a:ext cx="164592" cy="128016"/>
          </a:xfrm>
          <a:prstGeom prst="rect">
            <a:avLst/>
          </a:prstGeom>
          <a:solidFill>
            <a:srgbClr val="C55A11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670572" y="5477256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arabica in lempiras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1480" y="5760720"/>
            <a:ext cx="11384280" cy="54864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Lempiras per US$: 18,83 (2005) → 18,92 (2011) → 24,51 (2019) → 24,79 (2024) → 25,95 (2025, +4,7 %) → 26,64 (2026 to 25 Sep, +2,6 %; 26,89 on 25 Sep). A weaker lempira adds 2–5 % a year to the price growers get, and to the cost of imported urea (+36 % in lempiras in 2026).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1480" y="6355080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Banco Central de Honduras, Precio Promedio del Dólar, serie diaria 2000–2026 (reference rate, buying; file saved in raw/ihcafe_docs2/023); World Bank Pink Sheet arabica (other milds). FAOSTAT rates agree to 0,01.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1F3864"/>
                </a:solidFill>
                <a:latin typeface="Arial"/>
                <a:cs typeface="Arial"/>
              </a:rPr>
              <a:t>Everything year on year, crop years 2015/16 – 2026/27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1480" y="1097280"/>
            <a:ext cx="914400" cy="3383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FFFFFF"/>
                </a:solidFill>
                <a:latin typeface="Arial"/>
                <a:cs typeface="Arial"/>
              </a:rPr>
              <a:t>Crop year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25880" y="1097280"/>
            <a:ext cx="868680" cy="3383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FFFFFF"/>
                </a:solidFill>
                <a:latin typeface="Arial"/>
                <a:cs typeface="Arial"/>
              </a:rPr>
              <a:t>Area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94560" y="1097280"/>
            <a:ext cx="868680" cy="3383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FFFFFF"/>
                </a:solidFill>
                <a:latin typeface="Arial"/>
                <a:cs typeface="Arial"/>
              </a:rPr>
              <a:t>Trees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063240" y="1097280"/>
            <a:ext cx="868680" cy="3383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FFFFFF"/>
                </a:solidFill>
                <a:latin typeface="Arial"/>
                <a:cs typeface="Arial"/>
              </a:rPr>
              <a:t>Output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31920" y="1097280"/>
            <a:ext cx="868680" cy="3383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FFFFFF"/>
                </a:solidFill>
                <a:latin typeface="Arial"/>
                <a:cs typeface="Arial"/>
              </a:rPr>
              <a:t>Bags/ha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00600" y="1097280"/>
            <a:ext cx="868680" cy="3383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FFFFFF"/>
                </a:solidFill>
                <a:latin typeface="Arial"/>
                <a:cs typeface="Arial"/>
              </a:rPr>
              <a:t>kg/tree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69280" y="1097280"/>
            <a:ext cx="868680" cy="3383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FFFFFF"/>
                </a:solidFill>
                <a:latin typeface="Arial"/>
                <a:cs typeface="Arial"/>
              </a:rPr>
              <a:t>N use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37960" y="1097280"/>
            <a:ext cx="960120" cy="3383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FFFFFF"/>
                </a:solidFill>
                <a:latin typeface="Arial"/>
                <a:cs typeface="Arial"/>
              </a:rPr>
              <a:t>Urea L/t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98080" y="1097280"/>
            <a:ext cx="960120" cy="3383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FFFFFF"/>
                </a:solidFill>
                <a:latin typeface="Arial"/>
                <a:cs typeface="Arial"/>
              </a:rPr>
              <a:t>Arabica $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58200" y="1097280"/>
            <a:ext cx="960120" cy="3383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FFFFFF"/>
                </a:solidFill>
                <a:latin typeface="Arial"/>
                <a:cs typeface="Arial"/>
              </a:rPr>
              <a:t>Arabica 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18320" y="1097280"/>
            <a:ext cx="868680" cy="3383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FFFFFF"/>
                </a:solidFill>
                <a:latin typeface="Arial"/>
                <a:cs typeface="Arial"/>
              </a:rPr>
              <a:t>L per $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0" y="1097280"/>
            <a:ext cx="1508760" cy="3383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FFFFFF"/>
                </a:solidFill>
                <a:latin typeface="Arial"/>
                <a:cs typeface="Arial"/>
              </a:rPr>
              <a:t>Rust (national, %)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1480" y="1435608"/>
            <a:ext cx="9144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15/16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25880" y="1435608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+6 %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94560" y="1435608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+6 %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063240" y="1435608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+4 %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931920" y="1435608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−2 %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800600" y="1435608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−2 %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69280" y="1435608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+2 %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37960" y="1435608"/>
            <a:ext cx="9601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−6 %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98080" y="1435608"/>
            <a:ext cx="9601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−20 %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58200" y="1435608"/>
            <a:ext cx="9601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−17 %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18320" y="1435608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+5 %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87000" y="1435608"/>
            <a:ext cx="15087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–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11480" y="1773936"/>
            <a:ext cx="91440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16/17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25880" y="1773936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+17 %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194560" y="1773936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+17 %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063240" y="1773936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+42 %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931920" y="1773936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+21 %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800600" y="1773936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+21 %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69280" y="1773936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+27 %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537960" y="1773936"/>
            <a:ext cx="96012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−27 %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498080" y="1773936"/>
            <a:ext cx="96012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+2 %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458200" y="1773936"/>
            <a:ext cx="96012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+7 %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418320" y="1773936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+4 %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287000" y="1773936"/>
            <a:ext cx="150876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–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11480" y="2112264"/>
            <a:ext cx="9144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17/18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325880" y="2112264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+6 %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194560" y="2112264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+7 %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063240" y="2112264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+1 %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931920" y="2112264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−5 %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800600" y="2112264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−5 %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669280" y="2112264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+15 %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37960" y="2112264"/>
            <a:ext cx="9601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+13 %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498080" y="2112264"/>
            <a:ext cx="9601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−8 %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458200" y="2112264"/>
            <a:ext cx="9601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−5 %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418320" y="2112264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+3 %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287000" y="2112264"/>
            <a:ext cx="15087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3 (Lempira plants)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11480" y="2450592"/>
            <a:ext cx="91440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18/19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325880" y="2450592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−4 %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194560" y="2450592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+7 %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063240" y="2450592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−7 %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931920" y="2450592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−3 %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800600" y="2450592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−13 %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669280" y="2450592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+11 %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537960" y="2450592"/>
            <a:ext cx="96012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+19 %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498080" y="2450592"/>
            <a:ext cx="96012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−12 %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458200" y="2450592"/>
            <a:ext cx="96012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−10 %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9418320" y="2450592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+2 %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0287000" y="2450592"/>
            <a:ext cx="150876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–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11480" y="2788920"/>
            <a:ext cx="9144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19/20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325880" y="2788920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−6 %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194560" y="2788920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−5 %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063240" y="2788920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−27 %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3931920" y="2788920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−22 %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800600" y="2788920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−23 %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5669280" y="2788920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−30 %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6537960" y="2788920"/>
            <a:ext cx="9601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+1 %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7498080" y="2788920"/>
            <a:ext cx="9601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−2 %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458200" y="2788920"/>
            <a:ext cx="9601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+1 %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418320" y="2788920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+3 %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0287000" y="2788920"/>
            <a:ext cx="15087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–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411480" y="3127248"/>
            <a:ext cx="91440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20/21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325880" y="3127248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+1 %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194560" y="3127248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0 %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3063240" y="3127248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+25 %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3931920" y="3127248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+24 %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4800600" y="3127248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+25 %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669280" y="3127248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+49 %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6537960" y="3127248"/>
            <a:ext cx="96012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−6 %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7498080" y="3127248"/>
            <a:ext cx="96012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+15 %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8458200" y="3127248"/>
            <a:ext cx="96012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+16 %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9418320" y="3127248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0 %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0287000" y="3127248"/>
            <a:ext cx="150876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15–25 (5 depts)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411480" y="3465576"/>
            <a:ext cx="9144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21/22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325880" y="3465576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+1 %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2194560" y="3465576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+6 %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3063240" y="3465576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−26 %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3931920" y="3465576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−27 %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800600" y="3465576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−30 %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5669280" y="3465576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−18 %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6537960" y="3465576"/>
            <a:ext cx="9601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+106 %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7498080" y="3465576"/>
            <a:ext cx="9601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+36 %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8458200" y="3465576"/>
            <a:ext cx="9601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+33 %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9418320" y="3465576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−2 %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0287000" y="3465576"/>
            <a:ext cx="15087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–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411480" y="3803904"/>
            <a:ext cx="91440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22/23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325880" y="3803904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+4 %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2194560" y="3803904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+16 %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3063240" y="3803904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+19 %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3931920" y="3803904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+15 %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4800600" y="3803904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+2 %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5669280" y="3803904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0 %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6537960" y="3803904"/>
            <a:ext cx="96012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+48 %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7498080" y="3803904"/>
            <a:ext cx="96012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+25 %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458200" y="3803904"/>
            <a:ext cx="96012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+27 %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9418320" y="3803904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+2 %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0287000" y="3803904"/>
            <a:ext cx="150876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5,4 (Apr); 20 % of crop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411480" y="4142232"/>
            <a:ext cx="9144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23/24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325880" y="4142232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+2 %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2194560" y="4142232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+13 %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3063240" y="4142232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−11 %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3931920" y="4142232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−14 %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800600" y="4142232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−21 %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5669280" y="4142232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0 %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6537960" y="4142232"/>
            <a:ext cx="9601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−49 %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7498080" y="4142232"/>
            <a:ext cx="9601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−19 %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8458200" y="4142232"/>
            <a:ext cx="9601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−19 %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9418320" y="4142232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0 %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10287000" y="4142232"/>
            <a:ext cx="15087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5,8 (May)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411480" y="4480560"/>
            <a:ext cx="91440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24/25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1325880" y="4480560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+3 %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2194560" y="4480560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+6 %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3063240" y="4480560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+3 %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3931920" y="4480560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0 %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4800600" y="4480560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−2 %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5669280" y="4480560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+2 %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6537960" y="4480560"/>
            <a:ext cx="96012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−5 %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7498080" y="4480560"/>
            <a:ext cx="96012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+24 %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8458200" y="4480560"/>
            <a:ext cx="96012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+25 %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9418320" y="4480560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+1 %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10287000" y="4480560"/>
            <a:ext cx="150876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7,4 (Mar) ⚠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411480" y="4818888"/>
            <a:ext cx="9144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25/26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1325880" y="4818888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+3 %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2194560" y="4818888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+5 %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3063240" y="4818888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+6 %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3931920" y="4818888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+3 %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4800600" y="4818888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+1 %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5669280" y="4818888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–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6537960" y="4818888"/>
            <a:ext cx="9601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+31 %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7498080" y="4818888"/>
            <a:ext cx="9601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+51 %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8458200" y="4818888"/>
            <a:ext cx="9601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+58 %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9418320" y="4818888"/>
            <a:ext cx="868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+5 %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10287000" y="4818888"/>
            <a:ext cx="15087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5,7 (Q1)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411480" y="5157216"/>
            <a:ext cx="91440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26/27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1325880" y="5157216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+6 %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2194560" y="5157216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+5 %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3063240" y="5157216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+9 %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3931920" y="5157216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+2 %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4800600" y="5157216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+4 %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5669280" y="5157216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–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6537960" y="5157216"/>
            <a:ext cx="96012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+36 %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7498080" y="5157216"/>
            <a:ext cx="96012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−12 %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8458200" y="5157216"/>
            <a:ext cx="96012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C00000"/>
                </a:solidFill>
                <a:latin typeface="Arial"/>
                <a:cs typeface="Arial"/>
              </a:rPr>
              <a:t>−10 %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9418320" y="5157216"/>
            <a:ext cx="86868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E7D32"/>
                </a:solidFill>
                <a:latin typeface="Arial"/>
                <a:cs typeface="Arial"/>
              </a:rPr>
              <a:t>+3 %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10287000" y="5157216"/>
            <a:ext cx="1508760" cy="3383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8,4 (Jan)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411480" y="5586984"/>
            <a:ext cx="113842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Green = up, red = down, on the year before. Area, trees, output: USDA (2026/27 = forecast). N use: FAOSTAT all crops (2022 imputed, none yet for 2025–26). Prices: calendar year of the crop's fertiliser and fruit fill. Rust: the national figure of that year when one exists (different months and measures; see the Disease sheet).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411480" y="6355080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Workbook Honduras_YoY_productivity_inputs_finance_fx.xlsx, sheet YoY (formulas). Sources on each sheet.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usson">
  <a:themeElements>
    <a:clrScheme name="Mousson">
      <a:dk1>
        <a:srgbClr val="1F2A30"/>
      </a:dk1>
      <a:lt1>
        <a:srgbClr val="FFFFFF"/>
      </a:lt1>
      <a:dk2>
        <a:srgbClr val="123A46"/>
      </a:dk2>
      <a:lt2>
        <a:srgbClr val="EEF4F7"/>
      </a:lt2>
      <a:accent1>
        <a:srgbClr val="2F7FC1"/>
      </a:accent1>
      <a:accent2>
        <a:srgbClr val="D9622B"/>
      </a:accent2>
      <a:accent3>
        <a:srgbClr val="8C969B"/>
      </a:accent3>
      <a:accent4>
        <a:srgbClr val="1E9E6A"/>
      </a:accent4>
      <a:accent5>
        <a:srgbClr val="123A46"/>
      </a:accent5>
      <a:accent6>
        <a:srgbClr val="E8A33D"/>
      </a:accent6>
      <a:hlink>
        <a:srgbClr val="2F7FC1"/>
      </a:hlink>
      <a:folHlink>
        <a:srgbClr val="5B6770"/>
      </a:folHlink>
    </a:clrScheme>
    <a:fontScheme name="Mousson">
      <a:majorFont>
        <a:latin typeface="Cambria"/>
        <a:ea typeface=""/>
        <a:cs typeface=""/>
      </a:majorFont>
      <a:minorFont>
        <a:latin typeface="Arial"/>
        <a:ea typeface=""/>
        <a:cs typeface=""/>
      </a:minorFont>
    </a:fontScheme>
    <a:fmtScheme name="Mou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Honduras coffee year by year</dc:title>
  <dc:language>fr-FR</dc:language>
</cp:coreProperties>
</file>