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1"/>
          <c:w val="0.945"/>
          <c:h val="0.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BDD7EE"/>
              </a:solidFill>
            </c:spPr>
          </c:dPt>
          <c:cat>
            <c:strRef>
              <c:f>Sheet1!$A$2:$A$23</c:f>
              <c:strCache>
                <c:ptCount val="22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  <c:pt idx="21">
                  <c:v>2026*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2.533</c:v>
                </c:pt>
                <c:pt idx="1">
                  <c:v>2.522</c:v>
                </c:pt>
                <c:pt idx="2">
                  <c:v>2.724</c:v>
                </c:pt>
                <c:pt idx="3">
                  <c:v>3.081</c:v>
                </c:pt>
                <c:pt idx="4">
                  <c:v>3.171</c:v>
                </c:pt>
                <c:pt idx="5">
                  <c:v>4.32</c:v>
                </c:pt>
                <c:pt idx="6">
                  <c:v>5.977</c:v>
                </c:pt>
                <c:pt idx="7">
                  <c:v>4.112</c:v>
                </c:pt>
                <c:pt idx="8">
                  <c:v>3.077</c:v>
                </c:pt>
                <c:pt idx="9">
                  <c:v>4.425</c:v>
                </c:pt>
                <c:pt idx="10">
                  <c:v>3.526</c:v>
                </c:pt>
                <c:pt idx="11">
                  <c:v>3.613</c:v>
                </c:pt>
                <c:pt idx="12">
                  <c:v>3.324</c:v>
                </c:pt>
                <c:pt idx="13">
                  <c:v>2.925</c:v>
                </c:pt>
                <c:pt idx="14">
                  <c:v>2.88</c:v>
                </c:pt>
                <c:pt idx="15">
                  <c:v>3.323</c:v>
                </c:pt>
                <c:pt idx="16">
                  <c:v>4.511</c:v>
                </c:pt>
                <c:pt idx="17">
                  <c:v>5.631</c:v>
                </c:pt>
                <c:pt idx="18">
                  <c:v>4.541</c:v>
                </c:pt>
                <c:pt idx="19">
                  <c:v>5.621</c:v>
                </c:pt>
                <c:pt idx="20">
                  <c:v>8.47</c:v>
                </c:pt>
                <c:pt idx="21">
                  <c:v>7.424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6"/>
          <c:w val="0.9"/>
          <c:h val="0.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 other milds, $/qq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none"/>
          </c:marker>
          <c:cat>
            <c:strRef>
              <c:f>Sheet1!$A$2:$A$23</c:f>
              <c:strCache>
                <c:ptCount val="22"/>
                <c:pt idx="0">
                  <c:v>'05</c:v>
                </c:pt>
                <c:pt idx="1">
                  <c:v>'06</c:v>
                </c:pt>
                <c:pt idx="2">
                  <c:v>'07</c:v>
                </c:pt>
                <c:pt idx="3">
                  <c:v>'08</c:v>
                </c:pt>
                <c:pt idx="4">
                  <c:v>'09</c:v>
                </c:pt>
                <c:pt idx="5">
                  <c:v>'10</c:v>
                </c:pt>
                <c:pt idx="6">
                  <c:v>'11</c:v>
                </c:pt>
                <c:pt idx="7">
                  <c:v>'12</c:v>
                </c:pt>
                <c:pt idx="8">
                  <c:v>'13</c:v>
                </c:pt>
                <c:pt idx="9">
                  <c:v>'14</c:v>
                </c:pt>
                <c:pt idx="10">
                  <c:v>'15</c:v>
                </c:pt>
                <c:pt idx="11">
                  <c:v>'16</c:v>
                </c:pt>
                <c:pt idx="12">
                  <c:v>'17</c:v>
                </c:pt>
                <c:pt idx="13">
                  <c:v>'18</c:v>
                </c:pt>
                <c:pt idx="14">
                  <c:v>'19</c:v>
                </c:pt>
                <c:pt idx="15">
                  <c:v>'20</c:v>
                </c:pt>
                <c:pt idx="16">
                  <c:v>'21</c:v>
                </c:pt>
                <c:pt idx="17">
                  <c:v>'22</c:v>
                </c:pt>
                <c:pt idx="18">
                  <c:v>'23</c:v>
                </c:pt>
                <c:pt idx="19">
                  <c:v>'24</c:v>
                </c:pt>
                <c:pt idx="20">
                  <c:v>'25</c:v>
                </c:pt>
                <c:pt idx="21">
                  <c:v>'26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116.5</c:v>
                </c:pt>
                <c:pt idx="1">
                  <c:v>116.0</c:v>
                </c:pt>
                <c:pt idx="2">
                  <c:v>125.3</c:v>
                </c:pt>
                <c:pt idx="3">
                  <c:v>141.7</c:v>
                </c:pt>
                <c:pt idx="4">
                  <c:v>145.9</c:v>
                </c:pt>
                <c:pt idx="5">
                  <c:v>198.7</c:v>
                </c:pt>
                <c:pt idx="6">
                  <c:v>274.9</c:v>
                </c:pt>
                <c:pt idx="7">
                  <c:v>189.1</c:v>
                </c:pt>
                <c:pt idx="8">
                  <c:v>141.5</c:v>
                </c:pt>
                <c:pt idx="9">
                  <c:v>203.5</c:v>
                </c:pt>
                <c:pt idx="10">
                  <c:v>162.2</c:v>
                </c:pt>
                <c:pt idx="11">
                  <c:v>166.2</c:v>
                </c:pt>
                <c:pt idx="12">
                  <c:v>152.9</c:v>
                </c:pt>
                <c:pt idx="13">
                  <c:v>134.6</c:v>
                </c:pt>
                <c:pt idx="14">
                  <c:v>132.5</c:v>
                </c:pt>
                <c:pt idx="15">
                  <c:v>152.9</c:v>
                </c:pt>
                <c:pt idx="16">
                  <c:v>207.5</c:v>
                </c:pt>
                <c:pt idx="17">
                  <c:v>259.0</c:v>
                </c:pt>
                <c:pt idx="18">
                  <c:v>208.9</c:v>
                </c:pt>
                <c:pt idx="19">
                  <c:v>258.6</c:v>
                </c:pt>
                <c:pt idx="20">
                  <c:v>389.6</c:v>
                </c:pt>
                <c:pt idx="21">
                  <c:v>341.5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4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4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Sheet1!$A$2:$A$6</c:f>
              <c:strCache>
                <c:ptCount val="5"/>
                <c:pt idx="0">
                  <c:v>Apr 2014</c:v>
                </c:pt>
                <c:pt idx="1">
                  <c:v>Apr 2022</c:v>
                </c:pt>
                <c:pt idx="2">
                  <c:v>May 2023</c:v>
                </c:pt>
                <c:pt idx="3">
                  <c:v>2024/25 (fcst)</c:v>
                </c:pt>
                <c:pt idx="4">
                  <c:v>Mar 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5.42</c:v>
                </c:pt>
                <c:pt idx="2">
                  <c:v>5.8</c:v>
                </c:pt>
                <c:pt idx="3">
                  <c:v>2.9</c:v>
                </c:pt>
                <c:pt idx="4">
                  <c:v>8.44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5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92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4"/>
            <c:invertIfNegative val="0"/>
            <c:bubble3D val="0"/>
            <c:spPr>
              <a:solidFill>
                <a:srgbClr val="A6A6A6"/>
              </a:solidFill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6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7"/>
            <c:invertIfNegative val="0"/>
            <c:bubble3D val="0"/>
            <c:spPr>
              <a:solidFill>
                <a:srgbClr val="A6A6A6"/>
              </a:solidFill>
            </c:spPr>
          </c:dPt>
          <c:cat>
            <c:strRef>
              <c:f>Sheet1!$A$2:$A$9</c:f>
              <c:strCach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84.3</c:v>
                </c:pt>
                <c:pt idx="2">
                  <c:v>17</c:v>
                </c:pt>
                <c:pt idx="3">
                  <c:v>77</c:v>
                </c:pt>
                <c:pt idx="4">
                  <c:v>12.2</c:v>
                </c:pt>
                <c:pt idx="5">
                  <c:v>12</c:v>
                </c:pt>
                <c:pt idx="6">
                  <c:v>12.5</c:v>
                </c:pt>
                <c:pt idx="7">
                  <c:v>13.5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Yield, 60-kg bags per bearing ha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circle"/>
            <c:size val="5"/>
            <c:spPr>
              <a:solidFill>
                <a:srgbClr val="2E75B6"/>
              </a:solidFill>
              <a:ln>
                <a:noFill/>
              </a:ln>
            </c:spPr>
          </c:marker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</c:v>
                </c:pt>
                <c:pt idx="1">
                  <c:v>15.04</c:v>
                </c:pt>
                <c:pt idx="2">
                  <c:v>15.83</c:v>
                </c:pt>
                <c:pt idx="3">
                  <c:v>14.4</c:v>
                </c:pt>
                <c:pt idx="4">
                  <c:v>15.85</c:v>
                </c:pt>
                <c:pt idx="5">
                  <c:v>16.7</c:v>
                </c:pt>
                <c:pt idx="6">
                  <c:v>22.86</c:v>
                </c:pt>
                <c:pt idx="7">
                  <c:v>17.7</c:v>
                </c:pt>
                <c:pt idx="8">
                  <c:v>20.66</c:v>
                </c:pt>
                <c:pt idx="9">
                  <c:v>22.47</c:v>
                </c:pt>
                <c:pt idx="10">
                  <c:v>22.08</c:v>
                </c:pt>
                <c:pt idx="11">
                  <c:v>26.82</c:v>
                </c:pt>
                <c:pt idx="12">
                  <c:v>25.5</c:v>
                </c:pt>
                <c:pt idx="13">
                  <c:v>24.83</c:v>
                </c:pt>
                <c:pt idx="14">
                  <c:v>19.26</c:v>
                </c:pt>
                <c:pt idx="15">
                  <c:v>23.81</c:v>
                </c:pt>
                <c:pt idx="16">
                  <c:v>17.45</c:v>
                </c:pt>
                <c:pt idx="17">
                  <c:v>20.0</c:v>
                </c:pt>
                <c:pt idx="18">
                  <c:v>17.29</c:v>
                </c:pt>
                <c:pt idx="19">
                  <c:v>17.33</c:v>
                </c:pt>
                <c:pt idx="20">
                  <c:v>17.84</c:v>
                </c:pt>
                <c:pt idx="21">
                  <c:v>18.27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30"/>
          <c:min val="1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"/>
          <c:y val="0.08"/>
          <c:w val="0.88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DD7E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cat>
            <c:strRef>
              <c:f>Sheet1!$A$2:$A$4</c:f>
              <c:strCache>
                <c:ptCount val="3"/>
                <c:pt idx="0">
                  <c:v>Small</c:v>
                </c:pt>
                <c:pt idx="1">
                  <c:v>Medium</c:v>
                </c:pt>
                <c:pt idx="2">
                  <c:v>Large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14.65</c:v>
                </c:pt>
                <c:pt idx="1">
                  <c:v>19.54</c:v>
                </c:pt>
                <c:pt idx="2">
                  <c:v>24.26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Arabica price, annual average 2005–2026: ×2,4 to 2011, halved by 2013, +44 % in 2014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2005 → 2011: 2,53 → 5,98 $/kg (+136 %). 2011 → 2013: −48,5 %, down to 3,08 $/kg, the rust years. 2014: 4,43 $/kg (+43,8 %), Brazil drought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2015–2019: between 2,88 and 3,61 $/kg; 2018 (2,93) and 2019 (2,88) were the lowest annual averages since 2007. 2020–2022: back up to 5,63 $/kg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2025: record 8,47 $/kg (+50,7 %). 2026 so far (Jan–Aug): 7,42 $/kg, −12,4 % on 2025</a:t>
            </a:r>
          </a:p>
        </p:txBody>
      </p:sp>
      <p:sp>
        <p:nvSpPr>
          <p:cNvPr id="5" name="Shape 5"/>
          <p:cNvSpPr/>
          <p:nvPr/>
        </p:nvSpPr>
        <p:spPr>
          <a:xfrm>
            <a:off x="4331014" y="2199132"/>
            <a:ext cx="974085" cy="3078785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4331014" y="2226564"/>
            <a:ext cx="9740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Rust epidemic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2012–13</a:t>
            </a:r>
          </a:p>
        </p:txBody>
      </p:sp>
      <p:graphicFrame>
        <p:nvGraphicFramePr>
          <p:cNvPr id="7" name="Chart 7"/>
          <p:cNvGraphicFramePr/>
          <p:nvPr/>
        </p:nvGraphicFramePr>
        <p:xfrm>
          <a:off x="411480" y="1783080"/>
          <a:ext cx="11338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799477" y="427860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6519" y="42819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73562" y="42198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2,72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60605" y="41098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47647" y="408217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3,17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34690" y="372842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4,32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733" y="32182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5,98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08775" y="379246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4,11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95818" y="41111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182861" y="369609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4,43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69903" y="39728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3,53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56946" y="394609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3,61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43989" y="40350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1032" y="415791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18074" y="4171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5117" y="40353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2160" y="366962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79202" y="332479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66245" y="366038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053288" y="332787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540330" y="24507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27373" y="2772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7,42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kg (annual average)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795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−0,4 %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86500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+8 %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5204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83908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2613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81317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+38 %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0021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−31 %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78725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−25 %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274301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+44 %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76134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48386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73542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22247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09514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19655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8360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7064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65768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14472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3177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11881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6576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YoY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862821" y="3348627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Brazil drought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20290" y="2103258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Record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World Bank Pink Sheet (update of 2 Sep 2026), "Coffee, Arabica" = ICO other milds (Honduras's group), ex-dock; annual average = mean of the 12 monthly prices. *2026 = Jan–Aug. 2014: mean 4,425 $/kg, shown rounded half-up (4,43). YoY = change on the previous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2018–19: Honduras sold coffee at ~107 $ per quintal, below every cost estimate (117–160 $)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Cost of a quintal oro (46 kg): 117 $ (undated), ~120–127 $ (2019), 130 $ (2023), 160 $ full cost (PROMECAFE 2018). IHCAFE 2012: above 150 $/qq is "favourable"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2018/19 export price 106,89 $/qq (USDA): 10–54 $ under those costs, before the 13,25 $/qq deduction. 2012/13: 140 $/qq, under the 150 $ mark as rust cut yields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get 68–85 % of the world price (FAOSTAT official farm-gate price, 2005–08 and 2022–23)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320040" y="1965960"/>
          <a:ext cx="7772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320040" y="172821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quintal oro (46 kg)</a:t>
            </a:r>
          </a:p>
        </p:txBody>
      </p:sp>
      <p:sp>
        <p:nvSpPr>
          <p:cNvPr id="7" name="Shape 7"/>
          <p:cNvSpPr/>
          <p:nvPr/>
        </p:nvSpPr>
        <p:spPr>
          <a:xfrm>
            <a:off x="2901142" y="3428451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8" name="Shape 8"/>
          <p:cNvSpPr/>
          <p:nvPr/>
        </p:nvSpPr>
        <p:spPr>
          <a:xfrm>
            <a:off x="3219104" y="3857488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9" name="Shape 9"/>
          <p:cNvSpPr/>
          <p:nvPr/>
        </p:nvSpPr>
        <p:spPr>
          <a:xfrm>
            <a:off x="3537065" y="4336999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0" name="Shape 10"/>
          <p:cNvSpPr/>
          <p:nvPr/>
        </p:nvSpPr>
        <p:spPr>
          <a:xfrm>
            <a:off x="5444836" y="4615536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1002515" y="48457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2" name="Shape 12"/>
          <p:cNvSpPr/>
          <p:nvPr/>
        </p:nvSpPr>
        <p:spPr>
          <a:xfrm>
            <a:off x="1320477" y="47128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638439" y="462278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4" name="Shape 14"/>
          <p:cNvSpPr/>
          <p:nvPr/>
        </p:nvSpPr>
        <p:spPr>
          <a:xfrm>
            <a:off x="1956400" y="460374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5" name="Shape 15"/>
          <p:cNvSpPr/>
          <p:nvPr/>
        </p:nvSpPr>
        <p:spPr>
          <a:xfrm>
            <a:off x="6407866" y="39707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6" name="Shape 16"/>
          <p:cNvSpPr/>
          <p:nvPr/>
        </p:nvSpPr>
        <p:spPr>
          <a:xfrm>
            <a:off x="6725828" y="43258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043789" y="3514007"/>
            <a:ext cx="118872" cy="11887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E7D32"/>
            </a:solidFill>
          </a:ln>
        </p:spPr>
      </p:sp>
      <p:sp>
        <p:nvSpPr>
          <p:cNvPr id="18" name="Shape 18"/>
          <p:cNvSpPr/>
          <p:nvPr/>
        </p:nvSpPr>
        <p:spPr>
          <a:xfrm>
            <a:off x="3228248" y="4262018"/>
            <a:ext cx="118872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FFFFFF"/>
            </a:solidFill>
          </a:ln>
        </p:spPr>
      </p:sp>
      <p:sp>
        <p:nvSpPr>
          <p:cNvPr id="19" name="Shape 19"/>
          <p:cNvSpPr/>
          <p:nvPr/>
        </p:nvSpPr>
        <p:spPr>
          <a:xfrm>
            <a:off x="5136019" y="4173687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0" name="Shape 20"/>
          <p:cNvSpPr/>
          <p:nvPr/>
        </p:nvSpPr>
        <p:spPr>
          <a:xfrm>
            <a:off x="5453980" y="4484949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563708" y="4388206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2" name="Shape 22"/>
          <p:cNvSpPr/>
          <p:nvPr/>
        </p:nvSpPr>
        <p:spPr>
          <a:xfrm>
            <a:off x="6725828" y="4430268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5330536" y="4729836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107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96296" y="417332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120–135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28527" y="3958803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full cost 160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1884" y="437631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"favourable" 150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22765" y="4460443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140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56664" y="4562856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130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8473" y="494180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 81–109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552902" y="393876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</a:t>
            </a:r>
          </a:p>
        </p:txBody>
      </p:sp>
      <p:sp>
        <p:nvSpPr>
          <p:cNvPr id="31" name="Shape 31"/>
          <p:cNvSpPr/>
          <p:nvPr/>
        </p:nvSpPr>
        <p:spPr>
          <a:xfrm>
            <a:off x="2651760" y="1792224"/>
            <a:ext cx="27432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980944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World price (other milds)</a:t>
            </a:r>
          </a:p>
        </p:txBody>
      </p:sp>
      <p:sp>
        <p:nvSpPr>
          <p:cNvPr id="33" name="Shape 33"/>
          <p:cNvSpPr/>
          <p:nvPr/>
        </p:nvSpPr>
        <p:spPr>
          <a:xfrm>
            <a:off x="4352544" y="1746504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636008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Honduras export price (USDA)</a:t>
            </a:r>
          </a:p>
        </p:txBody>
      </p:sp>
      <p:sp>
        <p:nvSpPr>
          <p:cNvPr id="35" name="Shape 35"/>
          <p:cNvSpPr/>
          <p:nvPr/>
        </p:nvSpPr>
        <p:spPr>
          <a:xfrm>
            <a:off x="6156838" y="1746504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440302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Farm-gate (FAOSTAT)</a:t>
            </a:r>
          </a:p>
        </p:txBody>
      </p:sp>
      <p:sp>
        <p:nvSpPr>
          <p:cNvPr id="37" name="Shape 37"/>
          <p:cNvSpPr/>
          <p:nvPr/>
        </p:nvSpPr>
        <p:spPr>
          <a:xfrm>
            <a:off x="7513442" y="1746504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96906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Cost (hollow = not verified)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75320" y="1874520"/>
            <a:ext cx="20116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Cost or threshold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287000" y="187452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$ / qq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789920" y="1874520"/>
            <a:ext cx="123444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275320" y="2350008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2012: price IHCAFE calls "favourable" (a threshold, not a cost)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287000" y="2350008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150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789920" y="2350008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✔ USDA 2012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275320" y="2825496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2018: total cost, conventional coffee (PROMECAFE 2018 study: 3.49 $/kg)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287000" y="2825496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160,5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789920" y="2825496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PROMECAFE 2018 as cited in Carpio et al.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75320" y="330098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cost implied: producers "20 dollars below" cost at a 100–107 $/qq price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87000" y="3300984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120–127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89920" y="3300984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275320" y="3776472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minimum price growers said they needed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287000" y="3776472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789920" y="3776472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5320" y="4251960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n.d.: average cost; margin only at 130–140 $/qq (year not given)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287000" y="4251960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117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4251960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El Heraldo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5320" y="4727448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2023: production cost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87000" y="4727448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4727448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5320" y="5248656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= read in the document   ⚠ = web-search extract, page not accessible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1 qq = 1 quintal oro = 46 kg = 100 lb of green coffee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World Bank Pink Sheet (arabica other milds, annual mean ×46); USDA FAS Coffee Annual Honduras 2012, 2014, 2020 (export prices, plotted at the second year of the crop); FAOSTAT producer price of green coffee, official values only (2024: lempira value ÷ FAOSTAT exchange rate, the USD cell repeats 2023, hollow); cost figures as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IHCAFE bred 3 rust-resistant varieties (1990–2004), none new until 2024; Lempira failed by 2017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90 (1990s), Lempira (1997–98 ⚠), Parainema (2004 ⚠), all with Timor Hybrid resistance. Feb 2024: Ihcatú 75, Anacafé 14, Obatá, bred abroad, released by IHCAFE ⚠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Planted: 50 % of the AREA resistant in 2013, 60 % of PRODUCERS in 2014 (two measures, not a trend). Lempira weakened from 2015 ⚠, loss confirmed April 2017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After Lempira: ≈ 17 % of monitored farms kept a resistant variety (IHCAFE, Oct 2017 ⚠). Parainema last called resistant in May 2021 (USDA). No yield by variety found</a:t>
            </a:r>
          </a:p>
        </p:txBody>
      </p:sp>
      <p:sp>
        <p:nvSpPr>
          <p:cNvPr id="5" name="Shape 5"/>
          <p:cNvSpPr/>
          <p:nvPr/>
        </p:nvSpPr>
        <p:spPr>
          <a:xfrm>
            <a:off x="251614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247314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7" name="Shape 7"/>
          <p:cNvSpPr/>
          <p:nvPr/>
        </p:nvSpPr>
        <p:spPr>
          <a:xfrm>
            <a:off x="3219532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5069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1995</a:t>
            </a:r>
          </a:p>
        </p:txBody>
      </p:sp>
      <p:sp>
        <p:nvSpPr>
          <p:cNvPr id="9" name="Shape 9"/>
          <p:cNvSpPr/>
          <p:nvPr/>
        </p:nvSpPr>
        <p:spPr>
          <a:xfrm>
            <a:off x="392291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654083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2000</a:t>
            </a:r>
          </a:p>
        </p:txBody>
      </p:sp>
      <p:sp>
        <p:nvSpPr>
          <p:cNvPr id="11" name="Shape 11"/>
          <p:cNvSpPr/>
          <p:nvPr/>
        </p:nvSpPr>
        <p:spPr>
          <a:xfrm>
            <a:off x="462630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35746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2005</a:t>
            </a:r>
          </a:p>
        </p:txBody>
      </p:sp>
      <p:sp>
        <p:nvSpPr>
          <p:cNvPr id="13" name="Shape 13"/>
          <p:cNvSpPr/>
          <p:nvPr/>
        </p:nvSpPr>
        <p:spPr>
          <a:xfrm>
            <a:off x="5329686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506085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2010</a:t>
            </a:r>
          </a:p>
        </p:txBody>
      </p:sp>
      <p:sp>
        <p:nvSpPr>
          <p:cNvPr id="15" name="Shape 15"/>
          <p:cNvSpPr/>
          <p:nvPr/>
        </p:nvSpPr>
        <p:spPr>
          <a:xfrm>
            <a:off x="603307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764237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17" name="Shape 17"/>
          <p:cNvSpPr/>
          <p:nvPr/>
        </p:nvSpPr>
        <p:spPr>
          <a:xfrm>
            <a:off x="6736455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46762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19" name="Shape 19"/>
          <p:cNvSpPr/>
          <p:nvPr/>
        </p:nvSpPr>
        <p:spPr>
          <a:xfrm>
            <a:off x="7439840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1006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21" name="Shape 21"/>
          <p:cNvSpPr/>
          <p:nvPr/>
        </p:nvSpPr>
        <p:spPr>
          <a:xfrm>
            <a:off x="5616526" y="2148840"/>
            <a:ext cx="281354" cy="3383280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208563" y="193852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C55A11"/>
                </a:solidFill>
                <a:latin typeface="Arial"/>
                <a:cs typeface="Arial"/>
              </a:rPr>
              <a:t>rust 2012–13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" y="22860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IHCAFE 90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4" name="Shape 24"/>
          <p:cNvSpPr/>
          <p:nvPr/>
        </p:nvSpPr>
        <p:spPr>
          <a:xfrm>
            <a:off x="2521634" y="2350008"/>
            <a:ext cx="384048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25" name="Shape 25"/>
          <p:cNvSpPr/>
          <p:nvPr/>
        </p:nvSpPr>
        <p:spPr>
          <a:xfrm>
            <a:off x="6362114" y="2350008"/>
            <a:ext cx="1322363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018714" y="255117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1990s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634" y="213969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per IHCAFE in 2018; ~80 % vs the new strain (2017 ⚠)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9260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Lempira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9" name="Shape 29"/>
          <p:cNvSpPr/>
          <p:nvPr/>
        </p:nvSpPr>
        <p:spPr>
          <a:xfrm>
            <a:off x="3647049" y="2990088"/>
            <a:ext cx="239150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0" name="Shape 30"/>
          <p:cNvSpPr/>
          <p:nvPr/>
        </p:nvSpPr>
        <p:spPr>
          <a:xfrm>
            <a:off x="6038557" y="2990088"/>
            <a:ext cx="323557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1" name="Shape 31"/>
          <p:cNvSpPr/>
          <p:nvPr/>
        </p:nvSpPr>
        <p:spPr>
          <a:xfrm>
            <a:off x="6362114" y="2990088"/>
            <a:ext cx="1322363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3144129" y="319125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1997–98 ⚠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47049" y="277977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weakening from 2015 ⚠; loss confirmed April 2017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35661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Parainema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Sarchimor</a:t>
            </a:r>
          </a:p>
        </p:txBody>
      </p:sp>
      <p:sp>
        <p:nvSpPr>
          <p:cNvPr id="35" name="Shape 35"/>
          <p:cNvSpPr/>
          <p:nvPr/>
        </p:nvSpPr>
        <p:spPr>
          <a:xfrm>
            <a:off x="4491111" y="3630168"/>
            <a:ext cx="244777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Shape 36"/>
          <p:cNvSpPr/>
          <p:nvPr/>
        </p:nvSpPr>
        <p:spPr>
          <a:xfrm>
            <a:off x="6938889" y="3630168"/>
            <a:ext cx="745588" cy="182880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3988191" y="383133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2004 ⚠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491111" y="34198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per IHCAFE until May 2021; not re-confirmed since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480" y="42062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Ihcatú 75, Anacafé 14, Obatá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bred in Brazil / Guatemala</a:t>
            </a:r>
          </a:p>
        </p:txBody>
      </p:sp>
      <p:sp>
        <p:nvSpPr>
          <p:cNvPr id="40" name="Shape 40"/>
          <p:cNvSpPr/>
          <p:nvPr/>
        </p:nvSpPr>
        <p:spPr>
          <a:xfrm>
            <a:off x="7318717" y="4270248"/>
            <a:ext cx="36576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801729" y="447141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2024 ⚠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5517" y="405993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seed for ≥ 1 500 manzanas in 2024 ⚠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1148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2 more varieties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in release process</a:t>
            </a:r>
          </a:p>
        </p:txBody>
      </p:sp>
      <p:sp>
        <p:nvSpPr>
          <p:cNvPr id="44" name="Shape 44"/>
          <p:cNvSpPr/>
          <p:nvPr/>
        </p:nvSpPr>
        <p:spPr>
          <a:xfrm>
            <a:off x="7614138" y="4910328"/>
            <a:ext cx="70338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4575517" y="470001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announced early 2026 ⚠</a:t>
            </a:r>
          </a:p>
        </p:txBody>
      </p:sp>
      <p:sp>
        <p:nvSpPr>
          <p:cNvPr id="46" name="Shape 46"/>
          <p:cNvSpPr/>
          <p:nvPr/>
        </p:nvSpPr>
        <p:spPr>
          <a:xfrm>
            <a:off x="6497304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7" name="Shape 47"/>
          <p:cNvSpPr/>
          <p:nvPr/>
        </p:nvSpPr>
        <p:spPr>
          <a:xfrm>
            <a:off x="6637981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4902591" y="51389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2018: 4 new strains</a:t>
            </a:r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2019: 16 new strains</a:t>
            </a:r>
          </a:p>
        </p:txBody>
      </p:sp>
      <p:sp>
        <p:nvSpPr>
          <p:cNvPr id="49" name="Shape 49"/>
          <p:cNvSpPr/>
          <p:nvPr/>
        </p:nvSpPr>
        <p:spPr>
          <a:xfrm>
            <a:off x="640080" y="5833872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92354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resistant</a:t>
            </a:r>
          </a:p>
        </p:txBody>
      </p:sp>
      <p:sp>
        <p:nvSpPr>
          <p:cNvPr id="51" name="Shape 51"/>
          <p:cNvSpPr/>
          <p:nvPr/>
        </p:nvSpPr>
        <p:spPr>
          <a:xfrm>
            <a:off x="1499250" y="5833872"/>
            <a:ext cx="164592" cy="12801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178271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weakening / partial</a:t>
            </a:r>
          </a:p>
        </p:txBody>
      </p:sp>
      <p:sp>
        <p:nvSpPr>
          <p:cNvPr id="53" name="Shape 53"/>
          <p:cNvSpPr/>
          <p:nvPr/>
        </p:nvSpPr>
        <p:spPr>
          <a:xfrm>
            <a:off x="2855854" y="5833872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3139318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broken</a:t>
            </a:r>
          </a:p>
        </p:txBody>
      </p:sp>
      <p:sp>
        <p:nvSpPr>
          <p:cNvPr id="55" name="Shape 55"/>
          <p:cNvSpPr/>
          <p:nvPr/>
        </p:nvSpPr>
        <p:spPr>
          <a:xfrm>
            <a:off x="3565794" y="5833872"/>
            <a:ext cx="164592" cy="128016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3849258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not re-confirmed</a:t>
            </a:r>
          </a:p>
        </p:txBody>
      </p:sp>
      <p:sp>
        <p:nvSpPr>
          <p:cNvPr id="57" name="Shape 57"/>
          <p:cNvSpPr/>
          <p:nvPr/>
        </p:nvSpPr>
        <p:spPr>
          <a:xfrm>
            <a:off x="4773168" y="5833872"/>
            <a:ext cx="164592" cy="12801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5056632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pending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001000" y="1874520"/>
            <a:ext cx="6858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686800" y="1874520"/>
            <a:ext cx="21031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Share with resistant varieties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789920" y="1874520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001000" y="2167128"/>
            <a:ext cx="685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Jun 2013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686800" y="216712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of the coffee area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0789920" y="21671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2013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001000" y="2532888"/>
            <a:ext cx="6858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686800" y="2532888"/>
            <a:ext cx="21031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(200 000 of 400 000 manzanas)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789920" y="253288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El Heraldo 2013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8001000" y="2898648"/>
            <a:ext cx="685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686800" y="289864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producers (national)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0789920" y="28986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001000" y="3264408"/>
            <a:ext cx="6858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8686800" y="3264408"/>
            <a:ext cx="21031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62 % of farms, 5 departments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789920" y="326440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001000" y="3630168"/>
            <a:ext cx="685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Aug 2017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686800" y="363016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the park; seed: 65 % Lempira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789920" y="363016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La Prensa, 25 Aug 2017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8001000" y="3995928"/>
            <a:ext cx="6858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Oct 2017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8686800" y="3995928"/>
            <a:ext cx="21031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Lempira = 56 % of monitored farms → still resistant ≈ 17 %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0789920" y="399592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IHCAFE SAT bulletin No 8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8001000" y="4361688"/>
            <a:ext cx="685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~2020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868680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cultivation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0789920" y="436168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Perfect Daily Grind, Mar 2020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8001000" y="4800600"/>
            <a:ext cx="39776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Count of IHCAFE releases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1990–2004: 3 bred by IHCAFE (IHCAFE 90, Lempira, Parainema)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2005–2023: none found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2024: 3 bred abroad ⚠ · 2026: 2 in release process ⚠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62626"/>
                </a:solidFill>
                <a:latin typeface="Arial"/>
                <a:cs typeface="Arial"/>
              </a:rPr>
              <a:t>USDA 2020–21 names only Parainema as still resistant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USDA FAS Coffee Annual Honduras 2013–2025. ⚠ web extracts (pages blocked here): release years; Lempira weakening from 2015 (PROMECAFE 2019); IHCAFE 90 at 80 % (La Prensa 2017); IHCAFE SAT bulletin No 8, Oct 2017: Lempira = 56,08 % of monitored farms and 67,74 % of susceptible ones → susceptible 82,8 %, resistant 17,2 %; 2024 and 2026 releases.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 since the epidemic: national incidence 12 % in 2014, 2,9–5,8 % in 2022–25, 8,4 % in March 2026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2012/13: rust hit 25 % of the coffee area (71 000 ha); 22 000 ha were lost entirely (10 000 families) and 58 000 ha lost half their crop (20 000 families)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April 2014 survey: national incidence 12 %, 1 % of farms severely hit. After hurricanes Eta and Iota: 15–25 % in five departments (end 2020)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March 2026: 8,44 % (from 7,57 %), the highest national average USDA reports since 2014; Comayagua 14,1 %. IHCAFE rule: 15 % damage ≈ −20 % production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57400"/>
          <a:ext cx="60350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071677" y="2759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57984" y="42397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5,42 %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44291" y="415430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5,80 %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30598" y="480663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2,90 %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16906" y="356045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8,44 %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" y="18196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National average rust incidence, % (IHCAFE surveys)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12280" y="1920240"/>
            <a:ext cx="7772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89520" y="192024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Other rust facts (not comparable with the bars)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12280" y="2231136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89520" y="2231136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25 % of coffee area affected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12280" y="2542032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89520" y="2542032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22 000 ha total loss; 58 000 ha −50 % of production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12280" y="2852928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89520" y="2852928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3 % of Lempira plants with rust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12280" y="3163824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89520" y="3163824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4 new rust strains identified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12280" y="3474720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89520" y="3474720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 new rust strains identified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12280" y="3785616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89520" y="3785616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15–25 % incidence in 5 departments (after Eta and Iota)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812280" y="4096512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89520" y="4096512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66 % low, 29 % medium, 5 % high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12280" y="4407408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89520" y="4407408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76 % low, 19 % medium, 5 % high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12280" y="4718304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89520" y="4718304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16,7 % medium, 7,8 % high, 21,6 % very high (&gt; 15 %)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USDA FAS Coffee Annual Honduras 2014–2026, quoting IHCAFE and its early-warning system (SAT). The 2024/25 bar is the IHCAFE forecast average for Jul 2024–Aug 2025. The 2023 value (5,8 %) is repeated word for word in the 2024 report, so it is shown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Money for growers: rust credit in 2013, a 77 M$ loan in 2018, free fertiliser since 2020, mostly debt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pay in too: 13,25 $ per quintal sold since 2004 (9 $ trust fund, returned if no debt; 1 $ old 1999–2001 loans; 3,25 $ IHCAFE, roads, 2002 loan)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2012–13 rust loans were due by 2019 (USDA), when prices were 2,9 $/kg. 2018 loan: L200/qq ≈ 8,4 $ (8 % of the 107 $ export price), repaid at 1,50 $/qq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2020–21 fertiliser bonus: 12 + 12,5 M$ for ~91 800 producers ≈ 131 $ per producer a year. June 2021: growers owed ≈ L5 565 M (232 M$) ⚠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10312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68553" y="44022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20520" y="25396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2488" y="44891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17,0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24455" y="27511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76422" y="462823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28389" y="46340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80356" y="46195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2324" y="45905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13,5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8653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million (lempiras ÷ FAOSTAT rate of the year)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8553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crisis loan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0520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rust credit ⚠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072488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fertiliser line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724455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Decree 93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76422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2019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debt fund ⚠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28389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80356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32324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 ⚠</a:t>
            </a:r>
          </a:p>
        </p:txBody>
      </p:sp>
      <p:sp>
        <p:nvSpPr>
          <p:cNvPr id="23" name="Shape 23"/>
          <p:cNvSpPr/>
          <p:nvPr/>
        </p:nvSpPr>
        <p:spPr>
          <a:xfrm>
            <a:off x="822960" y="617220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106424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amount in a USDA report (read)</a:t>
            </a:r>
          </a:p>
        </p:txBody>
      </p:sp>
      <p:sp>
        <p:nvSpPr>
          <p:cNvPr id="25" name="Shape 25"/>
          <p:cNvSpPr/>
          <p:nvPr/>
        </p:nvSpPr>
        <p:spPr>
          <a:xfrm>
            <a:off x="2726741" y="6172200"/>
            <a:ext cx="164592" cy="128016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010205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press extract, not verified 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55080" y="1874520"/>
            <a:ext cx="4114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66560" y="1874520"/>
            <a:ext cx="21945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61120" y="1874520"/>
            <a:ext cx="27432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Who / terms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55080" y="21488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1488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Government loan to all growers (coffee crisis)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961120" y="21488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producers; 20 years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55080" y="251460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66560" y="251460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trust fund (Law of Financial Reactivation, 2003)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61120" y="251460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87,000 producers take part (2011)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55080" y="288036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66560" y="288036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Rust emergency credit (banks, BANHPROVI, BANADESA)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61120" y="288036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growers hit by rust; BANADESA loans up to L25,000; to be repaid by 2019 (USDA)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55080" y="324612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66560" y="324612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61120" y="324612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producers; fertiliser at cost, 1 year, interest-free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55080" y="361188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61188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PAPP (IHCAFE + National Coffee Fund) and PEPP (BANADESA)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61120" y="361188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about 23,000 small producers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55080" y="397764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766560" y="397764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Decreto 93-2018: IHCAFE loan to growers (low prices, rust)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961120" y="397764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registered growers who ask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355080" y="434340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2019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766560" y="434340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Decreto 47-2018 debt readjustment + BANHPROVI coffee fund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961120" y="434340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&gt; 55,000 growers; up to 20 years at 2 %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355080" y="470916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766560" y="470916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(PCM 030-2020): free fertiliser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961120" y="470916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91,778 small and medium producers (87 %); 25,188 t of fertiliser, producers up to 6.8 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55080" y="507492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766560" y="507492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extension (PCM 031-2021)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961120" y="507492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over 91,500 producers; fertiliser; plus state credit at 5 % and guarantees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355080" y="544068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66560" y="544068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961120" y="544068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33,000 producers, 250,000 manzanas (63 % of the coffee park); target 7.0–7.5 million 46-kg bags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55080" y="58064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766560" y="58064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Bono Cafetalero 2025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961120" y="58064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119,803 producers; 300,000 qq of fertiliser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FAS Coffee Annual Honduras 2011, 2015–2017, 2020, 2021, 2024 (amounts, terms, deductions); FAOSTAT exchange rates (L per US$: 2013 20,35, 2019 24,51, 2025 25,95). ⚠ = web-search extracts (El Heraldo, La Prensa, TNH, La Tribuna); the pages could not be opened. The 2018 decree text (L1 900 M, L200/qq) is also an extract; USDA wrote "about $25 per 100 pounds".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Yield: 17–20 bags/ha since 2021, a third below the 2016/17 peak; large farms get 1,7× small ones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Yield per bearing ha (USDA production ÷ bearing area): 22,9 in 2011/12, 17,7 in 2012/13 (rust), peak 26,8 in 2016/17, 17,8 in 2025/26 (60-kg bags; 18 bags/ha ≈ 16 qq/mz)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registry 2024/25: small farms 14,7 bags/ha, medium 19,5, large 24,3. Small farms hold 63 % of the area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PAPP replanting target, 45 qq per manzana (≈ 49 bags/ha), is 2,8× today's national yield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11680"/>
          <a:ext cx="74980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11480" y="17739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60-kg bags per bearing hectare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33719" y="318881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847275" y="440681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01500" y="25207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23504" y="403572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83880" y="2103120"/>
            <a:ext cx="118872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IHCAFE registry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2600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Small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030968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Medium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89336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47704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83880" y="246888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2022/23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72600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30968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9336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31,7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347704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183880" y="283464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72600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30968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9336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30,5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347704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83880" y="320040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2024/25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72600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030968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689336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347704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83880" y="356616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Farmers 2024/25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72600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86 895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30968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6 359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689336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374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47704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93 628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83880" y="3977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60-kg bags per harvested hectare, registered farms</a:t>
            </a:r>
          </a:p>
        </p:txBody>
      </p:sp>
      <p:graphicFrame>
        <p:nvGraphicFramePr>
          <p:cNvPr id="37" name="Chart 37"/>
          <p:cNvGraphicFramePr/>
          <p:nvPr/>
        </p:nvGraphicFramePr>
        <p:xfrm>
          <a:off x="8229600" y="4617720"/>
          <a:ext cx="3749040" cy="1645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TextBox 38"/>
          <p:cNvSpPr txBox="1"/>
          <p:nvPr/>
        </p:nvSpPr>
        <p:spPr>
          <a:xfrm>
            <a:off x="8788603" y="513629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88322" y="49431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988040" y="47566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29600" y="43799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2024/25, bags per ha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PSD (production, 1 000 bags, marketing year Oct–Sep) and USDA FAS Coffee Annual Honduras (bearing area, kha); IHCAFE Coffee Statistics Reports 2022/23–2024/25 as printed in USDA reports 2024–2026 (table 1). Last point (26/27) = USDA forecast. PAPP target: USDA 2017. 1 manzana = 0,7 ha; 1 qq = 46 kg.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coffee: price, rust, varieties, finance</dc:title>
  <dc:language>fr-FR</dc:language>
</cp:coreProperties>
</file>