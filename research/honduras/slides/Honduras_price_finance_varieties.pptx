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45"/>
          <c:y val="0.1"/>
          <c:w val="0.945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75B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7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8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9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4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7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1"/>
            <c:invertIfNegative val="0"/>
            <c:bubble3D val="0"/>
            <c:spPr>
              <a:solidFill>
                <a:srgbClr val="BDD7EE"/>
              </a:solidFill>
            </c:spPr>
          </c:dPt>
          <c:cat>
            <c:strRef>
              <c:f>Sheet1!$A$2:$A$23</c:f>
              <c:strCache>
                <c:ptCount val="22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  <c:pt idx="21">
                  <c:v>2026*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2.533</c:v>
                </c:pt>
                <c:pt idx="1">
                  <c:v>2.522</c:v>
                </c:pt>
                <c:pt idx="2">
                  <c:v>2.724</c:v>
                </c:pt>
                <c:pt idx="3">
                  <c:v>3.081</c:v>
                </c:pt>
                <c:pt idx="4">
                  <c:v>3.171</c:v>
                </c:pt>
                <c:pt idx="5">
                  <c:v>4.32</c:v>
                </c:pt>
                <c:pt idx="6">
                  <c:v>5.977</c:v>
                </c:pt>
                <c:pt idx="7">
                  <c:v>4.112</c:v>
                </c:pt>
                <c:pt idx="8">
                  <c:v>3.077</c:v>
                </c:pt>
                <c:pt idx="9">
                  <c:v>4.425</c:v>
                </c:pt>
                <c:pt idx="10">
                  <c:v>3.526</c:v>
                </c:pt>
                <c:pt idx="11">
                  <c:v>3.613</c:v>
                </c:pt>
                <c:pt idx="12">
                  <c:v>3.324</c:v>
                </c:pt>
                <c:pt idx="13">
                  <c:v>2.925</c:v>
                </c:pt>
                <c:pt idx="14">
                  <c:v>2.88</c:v>
                </c:pt>
                <c:pt idx="15">
                  <c:v>3.323</c:v>
                </c:pt>
                <c:pt idx="16">
                  <c:v>4.511</c:v>
                </c:pt>
                <c:pt idx="17">
                  <c:v>5.631</c:v>
                </c:pt>
                <c:pt idx="18">
                  <c:v>4.541</c:v>
                </c:pt>
                <c:pt idx="19">
                  <c:v>5.621</c:v>
                </c:pt>
                <c:pt idx="20">
                  <c:v>8.47</c:v>
                </c:pt>
                <c:pt idx="21">
                  <c:v>7.424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5"/>
          <c:y val="0.06"/>
          <c:w val="0.9"/>
          <c:h val="0.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 other milds, $/qq</c:v>
                </c:pt>
              </c:strCache>
            </c:strRef>
          </c:tx>
          <c:spPr>
            <a:ln w="31750" cap="rnd">
              <a:solidFill>
                <a:srgbClr val="2E75B6"/>
              </a:solidFill>
              <a:round/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'05</c:v>
                </c:pt>
                <c:pt idx="1">
                  <c:v>'06</c:v>
                </c:pt>
                <c:pt idx="2">
                  <c:v>'07</c:v>
                </c:pt>
                <c:pt idx="3">
                  <c:v>'08</c:v>
                </c:pt>
                <c:pt idx="4">
                  <c:v>'09</c:v>
                </c:pt>
                <c:pt idx="5">
                  <c:v>'10</c:v>
                </c:pt>
                <c:pt idx="6">
                  <c:v>'11</c:v>
                </c:pt>
                <c:pt idx="7">
                  <c:v>'12</c:v>
                </c:pt>
                <c:pt idx="8">
                  <c:v>'13</c:v>
                </c:pt>
                <c:pt idx="9">
                  <c:v>'14</c:v>
                </c:pt>
                <c:pt idx="10">
                  <c:v>'15</c:v>
                </c:pt>
                <c:pt idx="11">
                  <c:v>'16</c:v>
                </c:pt>
                <c:pt idx="12">
                  <c:v>'17</c:v>
                </c:pt>
                <c:pt idx="13">
                  <c:v>'18</c:v>
                </c:pt>
                <c:pt idx="14">
                  <c:v>'19</c:v>
                </c:pt>
                <c:pt idx="15">
                  <c:v>'20</c:v>
                </c:pt>
                <c:pt idx="16">
                  <c:v>'21</c:v>
                </c:pt>
                <c:pt idx="17">
                  <c:v>'22</c:v>
                </c:pt>
                <c:pt idx="18">
                  <c:v>'23</c:v>
                </c:pt>
                <c:pt idx="19">
                  <c:v>'24</c:v>
                </c:pt>
                <c:pt idx="20">
                  <c:v>'25</c:v>
                </c:pt>
                <c:pt idx="21">
                  <c:v>'26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116.5</c:v>
                </c:pt>
                <c:pt idx="1">
                  <c:v>116.0</c:v>
                </c:pt>
                <c:pt idx="2">
                  <c:v>125.3</c:v>
                </c:pt>
                <c:pt idx="3">
                  <c:v>141.7</c:v>
                </c:pt>
                <c:pt idx="4">
                  <c:v>145.9</c:v>
                </c:pt>
                <c:pt idx="5">
                  <c:v>198.7</c:v>
                </c:pt>
                <c:pt idx="6">
                  <c:v>274.9</c:v>
                </c:pt>
                <c:pt idx="7">
                  <c:v>189.1</c:v>
                </c:pt>
                <c:pt idx="8">
                  <c:v>141.5</c:v>
                </c:pt>
                <c:pt idx="9">
                  <c:v>203.5</c:v>
                </c:pt>
                <c:pt idx="10">
                  <c:v>162.2</c:v>
                </c:pt>
                <c:pt idx="11">
                  <c:v>166.2</c:v>
                </c:pt>
                <c:pt idx="12">
                  <c:v>152.9</c:v>
                </c:pt>
                <c:pt idx="13">
                  <c:v>134.6</c:v>
                </c:pt>
                <c:pt idx="14">
                  <c:v>132.5</c:v>
                </c:pt>
                <c:pt idx="15">
                  <c:v>152.9</c:v>
                </c:pt>
                <c:pt idx="16">
                  <c:v>207.5</c:v>
                </c:pt>
                <c:pt idx="17">
                  <c:v>259.0</c:v>
                </c:pt>
                <c:pt idx="18">
                  <c:v>208.9</c:v>
                </c:pt>
                <c:pt idx="19">
                  <c:v>258.6</c:v>
                </c:pt>
                <c:pt idx="20">
                  <c:v>389.6</c:v>
                </c:pt>
                <c:pt idx="21">
                  <c:v>341.5</c:v>
                </c:pt>
              </c:numCache>
            </c:numRef>
          </c:val>
          <c:smooth val="0"/>
        </c:ser>
        <c:marker val="1"/>
        <c:axId val="60010"/>
        <c:axId val="60020"/>
      </c:lineChart>
      <c:catAx>
        <c:axId val="6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20"/>
        <c:crosses val="autoZero"/>
        <c:auto val="1"/>
        <c:lblAlgn val="ctr"/>
        <c:lblOffset val="100"/>
        <c:noMultiLvlLbl val="0"/>
      </c:catAx>
      <c:valAx>
        <c:axId val="60020"/>
        <c:scaling>
          <c:orientation val="minMax"/>
          <c:max val="40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10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6"/>
          <c:w val="0.9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75B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</c:dPt>
          <c:cat>
            <c:strRef>
              <c:f>Sheet1!$A$2:$A$6</c:f>
              <c:strCache>
                <c:ptCount val="5"/>
                <c:pt idx="0">
                  <c:v>Apr 2014</c:v>
                </c:pt>
                <c:pt idx="1">
                  <c:v>Apr 2022</c:v>
                </c:pt>
                <c:pt idx="2">
                  <c:v>May 2023</c:v>
                </c:pt>
                <c:pt idx="3">
                  <c:v>2024/25 (fcst)</c:v>
                </c:pt>
                <c:pt idx="4">
                  <c:v>Mar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5.42</c:v>
                </c:pt>
                <c:pt idx="2">
                  <c:v>5.8</c:v>
                </c:pt>
                <c:pt idx="3">
                  <c:v>2.9</c:v>
                </c:pt>
                <c:pt idx="4">
                  <c:v>8.44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5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5"/>
          <c:w val="0.92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4"/>
            <c:invertIfNegative val="0"/>
            <c:bubble3D val="0"/>
            <c:spPr>
              <a:solidFill>
                <a:srgbClr val="A6A6A6"/>
              </a:solidFill>
            </c:spPr>
          </c:dPt>
          <c:dPt>
            <c:idx val="5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6"/>
            <c:invertIfNegative val="0"/>
            <c:bubble3D val="0"/>
            <c:spPr>
              <a:solidFill>
                <a:srgbClr val="1F3864"/>
              </a:solidFill>
            </c:spPr>
          </c:dPt>
          <c:dPt>
            <c:idx val="7"/>
            <c:invertIfNegative val="0"/>
            <c:bubble3D val="0"/>
            <c:spPr>
              <a:solidFill>
                <a:srgbClr val="A6A6A6"/>
              </a:solidFill>
            </c:spPr>
          </c:dPt>
          <c:cat>
            <c:strRef>
              <c:f>Sheet1!$A$2:$A$9</c:f>
              <c:strCach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84.3</c:v>
                </c:pt>
                <c:pt idx="2">
                  <c:v>17</c:v>
                </c:pt>
                <c:pt idx="3">
                  <c:v>77</c:v>
                </c:pt>
                <c:pt idx="4">
                  <c:v>12.2</c:v>
                </c:pt>
                <c:pt idx="5">
                  <c:v>12</c:v>
                </c:pt>
                <c:pt idx="6">
                  <c:v>12.5</c:v>
                </c:pt>
                <c:pt idx="7">
                  <c:v>13.5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6"/>
          <c:w val="0.92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Yield, 60-kg bags per bearing ha</c:v>
                </c:pt>
              </c:strCache>
            </c:strRef>
          </c:tx>
          <c:spPr>
            <a:ln w="31750" cap="rnd">
              <a:solidFill>
                <a:srgbClr val="2E75B6"/>
              </a:solidFill>
              <a:round/>
            </a:ln>
          </c:spPr>
          <c:marker>
            <c:symbol val="circle"/>
            <c:size val="5"/>
            <c:spPr>
              <a:solidFill>
                <a:srgbClr val="2E75B6"/>
              </a:solidFill>
              <a:ln>
                <a:noFill/>
              </a:ln>
            </c:spPr>
          </c:marker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17.41</c:v>
                </c:pt>
                <c:pt idx="1">
                  <c:v>15.04</c:v>
                </c:pt>
                <c:pt idx="2">
                  <c:v>15.83</c:v>
                </c:pt>
                <c:pt idx="3">
                  <c:v>14.4</c:v>
                </c:pt>
                <c:pt idx="4">
                  <c:v>15.85</c:v>
                </c:pt>
                <c:pt idx="5">
                  <c:v>16.7</c:v>
                </c:pt>
                <c:pt idx="6">
                  <c:v>22.86</c:v>
                </c:pt>
                <c:pt idx="7">
                  <c:v>17.7</c:v>
                </c:pt>
                <c:pt idx="8">
                  <c:v>20.66</c:v>
                </c:pt>
                <c:pt idx="9">
                  <c:v>22.47</c:v>
                </c:pt>
                <c:pt idx="10">
                  <c:v>22.08</c:v>
                </c:pt>
                <c:pt idx="11">
                  <c:v>26.82</c:v>
                </c:pt>
                <c:pt idx="12">
                  <c:v>25.5</c:v>
                </c:pt>
                <c:pt idx="13">
                  <c:v>24.83</c:v>
                </c:pt>
                <c:pt idx="14">
                  <c:v>19.26</c:v>
                </c:pt>
                <c:pt idx="15">
                  <c:v>23.81</c:v>
                </c:pt>
                <c:pt idx="16">
                  <c:v>17.45</c:v>
                </c:pt>
                <c:pt idx="17">
                  <c:v>20.0</c:v>
                </c:pt>
                <c:pt idx="18">
                  <c:v>17.29</c:v>
                </c:pt>
                <c:pt idx="19">
                  <c:v>17.33</c:v>
                </c:pt>
                <c:pt idx="20">
                  <c:v>17.84</c:v>
                </c:pt>
                <c:pt idx="21">
                  <c:v>18.27</c:v>
                </c:pt>
              </c:numCache>
            </c:numRef>
          </c:val>
          <c:smooth val="0"/>
        </c:ser>
        <c:marker val="1"/>
        <c:axId val="60010"/>
        <c:axId val="60020"/>
      </c:lineChart>
      <c:catAx>
        <c:axId val="6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20"/>
        <c:crosses val="autoZero"/>
        <c:auto val="1"/>
        <c:lblAlgn val="ctr"/>
        <c:lblOffset val="100"/>
        <c:noMultiLvlLbl val="0"/>
      </c:catAx>
      <c:valAx>
        <c:axId val="60020"/>
        <c:scaling>
          <c:orientation val="minMax"/>
          <c:max val="30"/>
          <c:min val="1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60010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8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DD7EE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DD7EE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</c:spPr>
          </c:dPt>
          <c:cat>
            <c:strRef>
              <c:f>Sheet1!$A$2:$A$4</c:f>
              <c:strCache>
                <c:ptCount val="3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14.65</c:v>
                </c:pt>
                <c:pt idx="1">
                  <c:v>19.54</c:v>
                </c:pt>
                <c:pt idx="2">
                  <c:v>24.26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30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Arabica price, annual average 2005–2026: ×2,4 to 2011, halved by 2013, +44 % in 2014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2005 → 2011: 2,53 → 5,98 $/kg (+136 %). 2011 → 2013: −48,5 %, down to 3,08 $/kg, the rust years. 2014: 4,43 $/kg (+43,8 %), Brazil drought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2015–2019: between 2,88 and 3,61 $/kg; 2018 (2,93) and 2019 (2,88) were the lowest annual averages since 2007. 2020–2022: back up to 5,63 $/kg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2025: record 8,47 $/kg (+50,7 %). 2026 so far (Jan–Aug): 7,42 $/kg, −12,4 % on 2025</a:t>
            </a:r>
          </a:p>
        </p:txBody>
      </p:sp>
      <p:sp>
        <p:nvSpPr>
          <p:cNvPr id="5" name="Shape 5"/>
          <p:cNvSpPr/>
          <p:nvPr/>
        </p:nvSpPr>
        <p:spPr>
          <a:xfrm>
            <a:off x="4331014" y="2199132"/>
            <a:ext cx="974085" cy="3078785"/>
          </a:xfrm>
          <a:prstGeom prst="rect">
            <a:avLst/>
          </a:prstGeom>
          <a:solidFill>
            <a:srgbClr val="FCE4D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331014" y="2226564"/>
            <a:ext cx="9740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C55A11"/>
                </a:solidFill>
                <a:latin typeface="Arial"/>
                <a:cs typeface="Arial"/>
              </a:rPr>
              <a:t>Rust epidemic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C55A11"/>
                </a:solidFill>
                <a:latin typeface="Arial"/>
                <a:cs typeface="Arial"/>
              </a:rPr>
              <a:t>2012–13</a:t>
            </a:r>
          </a:p>
        </p:txBody>
      </p:sp>
      <p:graphicFrame>
        <p:nvGraphicFramePr>
          <p:cNvPr id="7" name="Chart 7"/>
          <p:cNvGraphicFramePr/>
          <p:nvPr/>
        </p:nvGraphicFramePr>
        <p:xfrm>
          <a:off x="411480" y="1783080"/>
          <a:ext cx="11338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99477" y="427860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2,53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6519" y="428199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2,52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3562" y="42198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2,72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60605" y="410988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7647" y="408217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4690" y="372842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4,32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733" y="321827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5,98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08775" y="379246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4,11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95818" y="411111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3,08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82861" y="369609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4,43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9903" y="397288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3,53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56946" y="394609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3,61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3989" y="403507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3,32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1032" y="415791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2,93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18074" y="417177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2,88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5117" y="403538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3,32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2160" y="366962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4,51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02" y="332479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5,63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6245" y="366038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4,54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53288" y="332787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5,62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40330" y="245073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8,47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27373" y="277277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7,42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1480" y="154533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US$ per kg (annual average)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7959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−0,4 %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65002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+8 %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52045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+13 %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39087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26130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+36 %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13173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+38 %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00215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−31 %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87258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−25 %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74301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+44 %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61343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−20 %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48386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+2 %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35429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−8 %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22472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−12 %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09514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96557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83600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+36 %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70642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57685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−19 %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144728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+24 %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631770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E7D32"/>
                </a:solidFill>
                <a:latin typeface="Arial"/>
                <a:cs typeface="Arial"/>
              </a:rPr>
              <a:t>+51 %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18813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  <a:latin typeface="Arial"/>
                <a:cs typeface="Arial"/>
              </a:rPr>
              <a:t>−12 %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5760" y="551566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YoY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862821" y="3348627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Brazil drought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20290" y="210325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Record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Source: World Bank Pink Sheet (update of 2 Sep 2026), "Coffee, Arabica" = ICO other milds (Honduras's group), ex-dock; annual average = mean of the 12 monthly prices. *2026 = Jan–Aug. 2014: mean 4,425 $/kg, shown rounded half-up (4,43). YoY = change on the previous year.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2018–19: Honduras sold coffee at ~107 $ per quintal, below every cost estimate (117–160 $)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Cost of a quintal oro (46 kg): 117 $ (undated), ~120–127 $ (2019), 130 $ (2023), 160 $ full cost (PROMECAFE 2018). IHCAFE 2012: above 150 $/qq is "favourable"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2018/19 export price 106,89 $/qq (USDA): 10–54 $ under those costs, before the 13,25 $/qq deduction. 2012/13: 140 $/qq, under the 150 $ mark as rust cut yields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Growers get 68–85 % of the world price (FAOSTAT official farm-gate price, 2005–08 and 2022–23)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320040" y="196596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20040" y="172821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US$ per quintal oro (46 kg)</a:t>
            </a:r>
          </a:p>
        </p:txBody>
      </p:sp>
      <p:sp>
        <p:nvSpPr>
          <p:cNvPr id="7" name="Shape 7"/>
          <p:cNvSpPr/>
          <p:nvPr/>
        </p:nvSpPr>
        <p:spPr>
          <a:xfrm>
            <a:off x="2901142" y="3428451"/>
            <a:ext cx="137160" cy="137160"/>
          </a:xfrm>
          <a:prstGeom prst="diamond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8" name="Shape 8"/>
          <p:cNvSpPr/>
          <p:nvPr/>
        </p:nvSpPr>
        <p:spPr>
          <a:xfrm>
            <a:off x="3219104" y="3857488"/>
            <a:ext cx="137160" cy="137160"/>
          </a:xfrm>
          <a:prstGeom prst="diamond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9" name="Shape 9"/>
          <p:cNvSpPr/>
          <p:nvPr/>
        </p:nvSpPr>
        <p:spPr>
          <a:xfrm>
            <a:off x="3537065" y="4336999"/>
            <a:ext cx="137160" cy="137160"/>
          </a:xfrm>
          <a:prstGeom prst="diamond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444836" y="4615536"/>
            <a:ext cx="137160" cy="137160"/>
          </a:xfrm>
          <a:prstGeom prst="diamond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1002515" y="4845796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320477" y="471287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1638439" y="4622783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1956400" y="4603743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407866" y="397077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725828" y="4325896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7043789" y="3514007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7D32"/>
            </a:solidFill>
          </a:ln>
        </p:spPr>
      </p:sp>
      <p:sp>
        <p:nvSpPr>
          <p:cNvPr id="18" name="Shape 18"/>
          <p:cNvSpPr/>
          <p:nvPr/>
        </p:nvSpPr>
        <p:spPr>
          <a:xfrm>
            <a:off x="3228248" y="4262018"/>
            <a:ext cx="118872" cy="118872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5136019" y="4173687"/>
            <a:ext cx="118872" cy="118872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453980" y="4484949"/>
            <a:ext cx="118872" cy="118872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5563708" y="4388206"/>
            <a:ext cx="118872" cy="118872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725828" y="4430268"/>
            <a:ext cx="118872" cy="118872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330536" y="472983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1F3864"/>
                </a:solidFill>
                <a:latin typeface="Arial"/>
                <a:cs typeface="Arial"/>
              </a:rPr>
              <a:t>export 107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96296" y="417332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00000"/>
                </a:solidFill>
                <a:latin typeface="Arial"/>
                <a:cs typeface="Arial"/>
              </a:rPr>
              <a:t>cost 120–135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28527" y="3958803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00000"/>
                </a:solidFill>
                <a:latin typeface="Arial"/>
                <a:cs typeface="Arial"/>
              </a:rPr>
              <a:t>full cost 160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01884" y="437631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00000"/>
                </a:solidFill>
                <a:latin typeface="Arial"/>
                <a:cs typeface="Arial"/>
              </a:rPr>
              <a:t>"favourable" 150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22765" y="4460443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1F3864"/>
                </a:solidFill>
                <a:latin typeface="Arial"/>
                <a:cs typeface="Arial"/>
              </a:rPr>
              <a:t>export 140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56664" y="456285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00000"/>
                </a:solidFill>
                <a:latin typeface="Arial"/>
                <a:cs typeface="Arial"/>
              </a:rPr>
              <a:t>cost 130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8473" y="494180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2E7D32"/>
                </a:solidFill>
                <a:latin typeface="Arial"/>
                <a:cs typeface="Arial"/>
              </a:rPr>
              <a:t>farm-gate 81–109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52902" y="393876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2E7D32"/>
                </a:solidFill>
                <a:latin typeface="Arial"/>
                <a:cs typeface="Arial"/>
              </a:rPr>
              <a:t>farm-gate</a:t>
            </a:r>
          </a:p>
        </p:txBody>
      </p:sp>
      <p:sp>
        <p:nvSpPr>
          <p:cNvPr id="31" name="Shape 31"/>
          <p:cNvSpPr/>
          <p:nvPr/>
        </p:nvSpPr>
        <p:spPr>
          <a:xfrm>
            <a:off x="2651760" y="1792224"/>
            <a:ext cx="27432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980944" y="1709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World price (other milds)</a:t>
            </a:r>
          </a:p>
        </p:txBody>
      </p:sp>
      <p:sp>
        <p:nvSpPr>
          <p:cNvPr id="33" name="Shape 33"/>
          <p:cNvSpPr/>
          <p:nvPr/>
        </p:nvSpPr>
        <p:spPr>
          <a:xfrm>
            <a:off x="4352544" y="1746504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36008" y="1709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Honduras export price (USDA)</a:t>
            </a:r>
          </a:p>
        </p:txBody>
      </p:sp>
      <p:sp>
        <p:nvSpPr>
          <p:cNvPr id="35" name="Shape 35"/>
          <p:cNvSpPr/>
          <p:nvPr/>
        </p:nvSpPr>
        <p:spPr>
          <a:xfrm>
            <a:off x="6156838" y="1746504"/>
            <a:ext cx="164592" cy="128016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440302" y="1709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Farm-gate (FAOSTAT)</a:t>
            </a:r>
          </a:p>
        </p:txBody>
      </p:sp>
      <p:sp>
        <p:nvSpPr>
          <p:cNvPr id="37" name="Shape 37"/>
          <p:cNvSpPr/>
          <p:nvPr/>
        </p:nvSpPr>
        <p:spPr>
          <a:xfrm>
            <a:off x="7513442" y="1746504"/>
            <a:ext cx="164592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796906" y="17099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Cost (hollow = not verified)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5320" y="1874520"/>
            <a:ext cx="201168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FFFF"/>
                </a:solidFill>
                <a:latin typeface="Arial"/>
                <a:cs typeface="Arial"/>
              </a:rPr>
              <a:t>Cost or threshold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0" y="1874520"/>
            <a:ext cx="5029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FFFF"/>
                </a:solidFill>
                <a:latin typeface="Arial"/>
                <a:cs typeface="Arial"/>
              </a:rPr>
              <a:t>$ / qq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89920" y="1874520"/>
            <a:ext cx="123444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2350008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2012: price IHCAFE calls "favourable" (a threshold, not a cost)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87000" y="2350008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150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89920" y="2350008"/>
            <a:ext cx="1234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✔ USDA 2012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75320" y="2825496"/>
            <a:ext cx="201168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2018: total cost, conventional coffee (PROMECAFE 2018 study: 3.49 $/kg)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0" y="2825496"/>
            <a:ext cx="50292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160,5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789920" y="2825496"/>
            <a:ext cx="123444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⚠ PROMECAFE 2018 as cited in Carpio et al.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75320" y="330098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2019: cost implied: producers "20 dollars below" cost at a 100–107 $/qq price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7000" y="3300984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120–127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89920" y="3300984"/>
            <a:ext cx="1234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⚠ La Prensa 2019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75320" y="3776472"/>
            <a:ext cx="201168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2019: minimum price growers said they needed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287000" y="3776472"/>
            <a:ext cx="50292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135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89920" y="3776472"/>
            <a:ext cx="123444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⚠ La Prensa 2019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75320" y="4251960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n.d.: average cost; margin only at 130–140 $/qq (year not given)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87000" y="4251960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117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789920" y="4251960"/>
            <a:ext cx="1234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⚠ El Heraldo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275320" y="4727448"/>
            <a:ext cx="201168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2023: production cost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0" y="4727448"/>
            <a:ext cx="50292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130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789920" y="4727448"/>
            <a:ext cx="1234440" cy="4754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262626"/>
                </a:solidFill>
                <a:latin typeface="Arial"/>
                <a:cs typeface="Arial"/>
              </a:rPr>
              <a:t>⚠ La Prensa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275320" y="5248656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✔ = read in the document   ⚠ = web-search extract, page not accessible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1 qq = 1 quintal oro = 46 kg = 100 lb of green coffee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Sources: World Bank Pink Sheet (arabica other milds, annual mean ×46); USDA FAS Coffee Annual Honduras 2012, 2014, 2020 (export prices, plotted at the second year of the crop); FAOSTAT producer price of green coffee, official values only (2024: lempira value ÷ FAOSTAT exchange rate, the USD cell repeats 2023, hollow); cost figures as listed.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Only 3 rust-resistant varieties from 1990 to 2004, then none until 2024; Lempira broke in 2017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IHCAFE 90 (1990s), Lempira (1997–98), Parainema (2004), all with Timor Hybrid resistance; next: 3 varieties in Feb 2024 (Ihcatú 75, Anacafé 14, Obatá), 4 announced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Use: 50 % of the area resistant in 2013, 60 % of producers and 62 % of farms in 2014. Then Lempira broke (April 2017); 4 new rust strains in 2018, 16 in 2019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Productivity: no official yield by variety found. PAPP replanting aimed at 5 → 45 qq/manzana; USDA 2025–26 credits Parainema for the area growth</a:t>
            </a:r>
          </a:p>
        </p:txBody>
      </p:sp>
      <p:sp>
        <p:nvSpPr>
          <p:cNvPr id="5" name="Shape 5"/>
          <p:cNvSpPr/>
          <p:nvPr/>
        </p:nvSpPr>
        <p:spPr>
          <a:xfrm>
            <a:off x="2516147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247314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1990</a:t>
            </a:r>
          </a:p>
        </p:txBody>
      </p:sp>
      <p:sp>
        <p:nvSpPr>
          <p:cNvPr id="7" name="Shape 7"/>
          <p:cNvSpPr/>
          <p:nvPr/>
        </p:nvSpPr>
        <p:spPr>
          <a:xfrm>
            <a:off x="3219532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950698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1995</a:t>
            </a:r>
          </a:p>
        </p:txBody>
      </p:sp>
      <p:sp>
        <p:nvSpPr>
          <p:cNvPr id="9" name="Shape 9"/>
          <p:cNvSpPr/>
          <p:nvPr/>
        </p:nvSpPr>
        <p:spPr>
          <a:xfrm>
            <a:off x="3922917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54083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2000</a:t>
            </a:r>
          </a:p>
        </p:txBody>
      </p:sp>
      <p:sp>
        <p:nvSpPr>
          <p:cNvPr id="11" name="Shape 11"/>
          <p:cNvSpPr/>
          <p:nvPr/>
        </p:nvSpPr>
        <p:spPr>
          <a:xfrm>
            <a:off x="4626301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357468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2005</a:t>
            </a:r>
          </a:p>
        </p:txBody>
      </p:sp>
      <p:sp>
        <p:nvSpPr>
          <p:cNvPr id="13" name="Shape 13"/>
          <p:cNvSpPr/>
          <p:nvPr/>
        </p:nvSpPr>
        <p:spPr>
          <a:xfrm>
            <a:off x="5329686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060852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2010</a:t>
            </a:r>
          </a:p>
        </p:txBody>
      </p:sp>
      <p:sp>
        <p:nvSpPr>
          <p:cNvPr id="15" name="Shape 15"/>
          <p:cNvSpPr/>
          <p:nvPr/>
        </p:nvSpPr>
        <p:spPr>
          <a:xfrm>
            <a:off x="6033071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64237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2015</a:t>
            </a:r>
          </a:p>
        </p:txBody>
      </p:sp>
      <p:sp>
        <p:nvSpPr>
          <p:cNvPr id="17" name="Shape 17"/>
          <p:cNvSpPr/>
          <p:nvPr/>
        </p:nvSpPr>
        <p:spPr>
          <a:xfrm>
            <a:off x="6736455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467622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19" name="Shape 19"/>
          <p:cNvSpPr/>
          <p:nvPr/>
        </p:nvSpPr>
        <p:spPr>
          <a:xfrm>
            <a:off x="7439840" y="2148840"/>
            <a:ext cx="10973" cy="3383280"/>
          </a:xfrm>
          <a:prstGeom prst="rect">
            <a:avLst/>
          </a:prstGeom>
          <a:solidFill>
            <a:srgbClr val="E3E8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71006" y="55504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2025</a:t>
            </a:r>
          </a:p>
        </p:txBody>
      </p:sp>
      <p:sp>
        <p:nvSpPr>
          <p:cNvPr id="21" name="Shape 21"/>
          <p:cNvSpPr/>
          <p:nvPr/>
        </p:nvSpPr>
        <p:spPr>
          <a:xfrm>
            <a:off x="5616526" y="2148840"/>
            <a:ext cx="281354" cy="3383280"/>
          </a:xfrm>
          <a:prstGeom prst="rect">
            <a:avLst/>
          </a:prstGeom>
          <a:solidFill>
            <a:srgbClr val="FCE4D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8563" y="193852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C55A11"/>
                </a:solidFill>
                <a:latin typeface="Arial"/>
                <a:cs typeface="Arial"/>
              </a:rPr>
              <a:t>rust 2012–13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1480" y="22860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IHCAFE 90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Catimor</a:t>
            </a:r>
          </a:p>
        </p:txBody>
      </p:sp>
      <p:sp>
        <p:nvSpPr>
          <p:cNvPr id="24" name="Shape 24"/>
          <p:cNvSpPr/>
          <p:nvPr/>
        </p:nvSpPr>
        <p:spPr>
          <a:xfrm>
            <a:off x="2521634" y="2350008"/>
            <a:ext cx="4079631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6601265" y="2350008"/>
            <a:ext cx="1083212" cy="18288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018714" y="2551176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7F7F7F"/>
                </a:solidFill>
                <a:latin typeface="Arial"/>
                <a:cs typeface="Arial"/>
              </a:rPr>
              <a:t>1990s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21634" y="213969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resistant in 2018; not listed as resistant in 2020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480" y="29260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Lempira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Catimor</a:t>
            </a:r>
          </a:p>
        </p:txBody>
      </p:sp>
      <p:sp>
        <p:nvSpPr>
          <p:cNvPr id="29" name="Shape 29"/>
          <p:cNvSpPr/>
          <p:nvPr/>
        </p:nvSpPr>
        <p:spPr>
          <a:xfrm>
            <a:off x="3647049" y="2990088"/>
            <a:ext cx="271506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6362114" y="2990088"/>
            <a:ext cx="1322363" cy="18288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144129" y="3191256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7F7F7F"/>
                </a:solidFill>
                <a:latin typeface="Arial"/>
                <a:cs typeface="Arial"/>
              </a:rPr>
              <a:t>1997–98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47049" y="277977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resistance lost, April 2017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1480" y="3566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Parainema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Sarchimor</a:t>
            </a:r>
          </a:p>
        </p:txBody>
      </p:sp>
      <p:sp>
        <p:nvSpPr>
          <p:cNvPr id="34" name="Shape 34"/>
          <p:cNvSpPr/>
          <p:nvPr/>
        </p:nvSpPr>
        <p:spPr>
          <a:xfrm>
            <a:off x="4491111" y="3630168"/>
            <a:ext cx="3193366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988191" y="3831336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7F7F7F"/>
                </a:solidFill>
                <a:latin typeface="Arial"/>
                <a:cs typeface="Arial"/>
              </a:rPr>
              <a:t>2004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91111" y="341985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still resistant (IHCAFE, 2020–21)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1480" y="420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Ihcatú 75, Anacafé 14, Obatá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3 varieties</a:t>
            </a:r>
          </a:p>
        </p:txBody>
      </p:sp>
      <p:sp>
        <p:nvSpPr>
          <p:cNvPr id="38" name="Shape 38"/>
          <p:cNvSpPr/>
          <p:nvPr/>
        </p:nvSpPr>
        <p:spPr>
          <a:xfrm>
            <a:off x="7318717" y="4270248"/>
            <a:ext cx="36576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801729" y="4471416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rgbClr val="7F7F7F"/>
                </a:solidFill>
                <a:latin typeface="Arial"/>
                <a:cs typeface="Arial"/>
              </a:rPr>
              <a:t>Feb 2024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58397" y="405993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seed for ≥ 1 500 manzanas in 2024 ⚠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1480" y="4846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4 more varieties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announced</a:t>
            </a:r>
          </a:p>
        </p:txBody>
      </p:sp>
      <p:sp>
        <p:nvSpPr>
          <p:cNvPr id="42" name="Shape 42"/>
          <p:cNvSpPr/>
          <p:nvPr/>
        </p:nvSpPr>
        <p:spPr>
          <a:xfrm>
            <a:off x="7614138" y="4910328"/>
            <a:ext cx="70338" cy="18288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758397" y="4700016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in preparation ⚠</a:t>
            </a:r>
          </a:p>
        </p:txBody>
      </p:sp>
      <p:sp>
        <p:nvSpPr>
          <p:cNvPr id="44" name="Shape 44"/>
          <p:cNvSpPr/>
          <p:nvPr/>
        </p:nvSpPr>
        <p:spPr>
          <a:xfrm>
            <a:off x="6497304" y="2148840"/>
            <a:ext cx="10973" cy="3383280"/>
          </a:xfrm>
          <a:prstGeom prst="rect">
            <a:avLst/>
          </a:prstGeom>
          <a:solidFill>
            <a:srgbClr val="8497B0"/>
          </a:solidFill>
          <a:ln>
            <a:noFill/>
          </a:ln>
        </p:spPr>
      </p:sp>
      <p:sp>
        <p:nvSpPr>
          <p:cNvPr id="45" name="Shape 45"/>
          <p:cNvSpPr/>
          <p:nvPr/>
        </p:nvSpPr>
        <p:spPr>
          <a:xfrm>
            <a:off x="6637981" y="2148840"/>
            <a:ext cx="10973" cy="3383280"/>
          </a:xfrm>
          <a:prstGeom prst="rect">
            <a:avLst/>
          </a:prstGeom>
          <a:solidFill>
            <a:srgbClr val="8497B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902591" y="51389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1F3864"/>
                </a:solidFill>
                <a:latin typeface="Arial"/>
                <a:cs typeface="Arial"/>
              </a:rPr>
              <a:t>Apr 2018: 4 new strains</a:t>
            </a:r>
          </a:p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1F3864"/>
                </a:solidFill>
                <a:latin typeface="Arial"/>
                <a:cs typeface="Arial"/>
              </a:rPr>
              <a:t>Apr 2019: 16 new strains</a:t>
            </a:r>
          </a:p>
        </p:txBody>
      </p:sp>
      <p:sp>
        <p:nvSpPr>
          <p:cNvPr id="47" name="Shape 47"/>
          <p:cNvSpPr/>
          <p:nvPr/>
        </p:nvSpPr>
        <p:spPr>
          <a:xfrm>
            <a:off x="2286000" y="5833872"/>
            <a:ext cx="164592" cy="128016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569464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resistant</a:t>
            </a:r>
          </a:p>
        </p:txBody>
      </p:sp>
      <p:sp>
        <p:nvSpPr>
          <p:cNvPr id="49" name="Shape 49"/>
          <p:cNvSpPr/>
          <p:nvPr/>
        </p:nvSpPr>
        <p:spPr>
          <a:xfrm>
            <a:off x="3145170" y="5833872"/>
            <a:ext cx="164592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428634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resistance broken</a:t>
            </a:r>
          </a:p>
        </p:txBody>
      </p:sp>
      <p:sp>
        <p:nvSpPr>
          <p:cNvPr id="51" name="Shape 51"/>
          <p:cNvSpPr/>
          <p:nvPr/>
        </p:nvSpPr>
        <p:spPr>
          <a:xfrm>
            <a:off x="4402287" y="5833872"/>
            <a:ext cx="164592" cy="128016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685751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not confirmed / pending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001000" y="1874520"/>
            <a:ext cx="6858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686800" y="1874520"/>
            <a:ext cx="21031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FFFFFF"/>
                </a:solidFill>
                <a:latin typeface="Arial"/>
                <a:cs typeface="Arial"/>
              </a:rPr>
              <a:t>Share with resistant varieties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789920" y="1874520"/>
            <a:ext cx="11887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001000" y="2167128"/>
            <a:ext cx="685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Jun 2013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86800" y="216712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50 % of the coffee area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789920" y="2167128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✔ USDA 2013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001000" y="2532888"/>
            <a:ext cx="6858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2013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686800" y="2532888"/>
            <a:ext cx="21031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50 % (200 000 of 400 000 manzanas)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789920" y="2532888"/>
            <a:ext cx="11887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⚠ El Heraldo 2013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001000" y="2898648"/>
            <a:ext cx="685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2014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686800" y="289864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60 % of producers (national)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789920" y="2898648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✔ USDA 2014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01000" y="3264408"/>
            <a:ext cx="6858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2014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686800" y="3264408"/>
            <a:ext cx="21031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62 % of farms, 5 departments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789920" y="3264408"/>
            <a:ext cx="11887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✔ USDA 2014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001000" y="3630168"/>
            <a:ext cx="685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Aug 2017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686800" y="363016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60 % of the park; seed: 65 % Lempira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789920" y="3630168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⚠ La Prensa, 25 Aug 2017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001000" y="3995928"/>
            <a:ext cx="6858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Oct 2017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686800" y="3995928"/>
            <a:ext cx="21031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Lempira alone = 56,08 % of sampled farms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789920" y="3995928"/>
            <a:ext cx="11887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⚠ IHCAFE SAT bulletin No 8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001000" y="4361688"/>
            <a:ext cx="685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~2020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686800" y="436168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60 % of cultivation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789920" y="4361688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⚠ Perfect Daily Grind, Mar 2020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001000" y="4800600"/>
            <a:ext cx="3977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1F3864"/>
                </a:solidFill>
                <a:latin typeface="Arial"/>
                <a:cs typeface="Arial"/>
              </a:rPr>
              <a:t>Count of releases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1990–2004: 3 (IHCAFE 90, Lempira, Parainema)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2005–2023: 0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2024: 3 · announced: 4 more ⚠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262626"/>
                </a:solidFill>
                <a:latin typeface="Arial"/>
                <a:cs typeface="Arial"/>
              </a:rPr>
              <a:t>Still called resistant by IHCAFE in 2020: Parainema only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00000"/>
                </a:solidFill>
                <a:latin typeface="Arial"/>
                <a:cs typeface="Arial"/>
              </a:rPr>
              <a:t>After Lempira broke: ≈ 3–4 % of the park still resistant ⚠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Sources: USDA FAS Coffee Annual Honduras 2013, 2014, 2017, 2018, 2020, 2021, 2025 (resistance status, adoption, strains, PAPP); release years 1997–98 (Lempira) and 2004 (Parainema), the 2024 releases and the 56 % Lempira share (IHCAFE SAT bulletin No 8, Oct 2017) come from web-search extracts (⚠): the IHCAFE, WCR and press pages could not be opened from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Rust since the epidemic: national incidence 12 % in 2014, 2,9–5,8 % in 2022–25, 8,4 % in March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2012/13: rust hit 25 % of the coffee area (71 000 ha); 22 000 ha were lost entirely (10 000 families) and 58 000 ha lost half their crop (20 000 families)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April 2014 survey: national incidence 12 %, 1 % of farms severely hit. After hurricanes Eta and Iota: 15–25 % in five departments (end 2020)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March 2026: 8,44 % (from 7,57 %), the highest national average USDA reports since 2014; Comayagua 14,1 %. IHCAFE rule: 15 % damage ≈ −20 % production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411480" y="2057400"/>
          <a:ext cx="6035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71677" y="275965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12 %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57984" y="423978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5,42 %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44291" y="415430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5,80 %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30598" y="480663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2,90 %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16906" y="356045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8,44 %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480" y="181965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National average rust incidence, % (IHCAFE surveys)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12280" y="1920240"/>
            <a:ext cx="77724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89520" y="1920240"/>
            <a:ext cx="416052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FFFFFF"/>
                </a:solidFill>
                <a:latin typeface="Arial"/>
                <a:cs typeface="Arial"/>
              </a:rPr>
              <a:t>Other rust facts (not comparable with the bars)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2280" y="2231136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2012/13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89520" y="2231136"/>
            <a:ext cx="4160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25 % of coffee area affected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2280" y="2542032"/>
            <a:ext cx="7772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2012/13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89520" y="2542032"/>
            <a:ext cx="416052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22 000 ha total loss; 58 000 ha −50 % of production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12280" y="2852928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2017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89520" y="2852928"/>
            <a:ext cx="4160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3 % of Lempira plants with rust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2280" y="3163824"/>
            <a:ext cx="7772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89520" y="3163824"/>
            <a:ext cx="416052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4 new rust strains identified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12280" y="3474720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89520" y="3474720"/>
            <a:ext cx="4160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16 new rust strains identified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12280" y="3785616"/>
            <a:ext cx="7772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end 2020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89520" y="3785616"/>
            <a:ext cx="416052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15–25 % incidence in 5 departments (after Eta and Iota)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12280" y="4096512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2022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89520" y="4096512"/>
            <a:ext cx="4160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farms: 66 % low, 29 % medium, 5 % high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12280" y="4407408"/>
            <a:ext cx="7772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2024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89520" y="4407408"/>
            <a:ext cx="416052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farms: 76 % low, 19 % medium, 5 % high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12280" y="4718304"/>
            <a:ext cx="777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Apr 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89520" y="4718304"/>
            <a:ext cx="4160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farms: 16,7 % medium, 7,8 % high, 21,6 % very high (&gt; 15 %)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Source: USDA FAS Coffee Annual Honduras 2014–2026, quoting IHCAFE and its early-warning system (SAT). The 2024/25 bar is the IHCAFE forecast average for Jul 2024–Aug 2025. The 2023 value (5,8 %) is repeated word for word in the 2024 report, so it is shown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Money for growers: rust credit in 2013, a 77 M$ loan in 2018, free fertiliser since 2020, mostly debt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Growers pay in too: 13,25 $ per quintal sold since 2004 (9 $ trust fund, returned if no debt; 1 $ old 1999–2001 loans; 3,25 $ IHCAFE, roads, 2002 loan)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2012–13 rust loans were due by 2019 (USDA), when prices were 2,9 $/kg. 2018 loan: L200/qq ≈ 8,4 $ (8 % of the 107 $ export price), repaid at 1,50 $/qq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2020–21 fertiliser bonus: 12 + 12,5 M$ for ~91 800 producers ≈ 131 $ per producer a year. June 2021: growers owed ≈ L5 565 M (232 M$) ⚠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411480" y="210312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68553" y="440228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0520" y="253963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84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2488" y="44891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17,0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24455" y="27511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77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76422" y="462823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12,2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28389" y="463403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12,0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80356" y="461954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12,5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2324" y="4590581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13,5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1480" y="186537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US$ million (lempiras ÷ FAOSTAT rate of the year)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553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2002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crisis loan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0520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2013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rust credit 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72488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2015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fertiliser line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24455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2018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Decree 93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76422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2019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debt fund 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28389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2020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bono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80356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2021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bono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32324" y="5246827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 dirty="0">
                <a:solidFill>
                  <a:srgbClr val="262626"/>
                </a:solidFill>
                <a:latin typeface="Arial"/>
                <a:cs typeface="Arial"/>
              </a:rPr>
              <a:t>2025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262626"/>
                </a:solidFill>
                <a:latin typeface="Arial"/>
                <a:cs typeface="Arial"/>
              </a:rPr>
              <a:t>bono ⚠</a:t>
            </a:r>
          </a:p>
        </p:txBody>
      </p:sp>
      <p:sp>
        <p:nvSpPr>
          <p:cNvPr id="23" name="Shape 23"/>
          <p:cNvSpPr/>
          <p:nvPr/>
        </p:nvSpPr>
        <p:spPr>
          <a:xfrm>
            <a:off x="822960" y="6172200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06424" y="613562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amount in a USDA report (read)</a:t>
            </a:r>
          </a:p>
        </p:txBody>
      </p:sp>
      <p:sp>
        <p:nvSpPr>
          <p:cNvPr id="25" name="Shape 25"/>
          <p:cNvSpPr/>
          <p:nvPr/>
        </p:nvSpPr>
        <p:spPr>
          <a:xfrm>
            <a:off x="2726741" y="6172200"/>
            <a:ext cx="164592" cy="128016"/>
          </a:xfrm>
          <a:prstGeom prst="rect">
            <a:avLst/>
          </a:prstGeom>
          <a:solidFill>
            <a:srgbClr val="A6A6A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010205" y="613562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press extract, not verified 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55080" y="1874520"/>
            <a:ext cx="41148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66560" y="1874520"/>
            <a:ext cx="219456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 dirty="0">
                <a:solidFill>
                  <a:srgbClr val="FFFFFF"/>
                </a:solidFill>
                <a:latin typeface="Arial"/>
                <a:cs typeface="Arial"/>
              </a:rPr>
              <a:t>Programme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61120" y="1874520"/>
            <a:ext cx="2743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 dirty="0">
                <a:solidFill>
                  <a:srgbClr val="FFFFFF"/>
                </a:solidFill>
                <a:latin typeface="Arial"/>
                <a:cs typeface="Arial"/>
              </a:rPr>
              <a:t>Who / terms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55080" y="214884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0" y="214884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Government loan to all growers (coffee crisis)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61120" y="21488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all producers; 20 years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55080" y="2514600"/>
            <a:ext cx="41148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66560" y="2514600"/>
            <a:ext cx="219456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Coffee trust fund (Law of Financial Reactivation, 2003)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61120" y="2514600"/>
            <a:ext cx="27432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87,000 producers take part (2011)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55080" y="288036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2013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66560" y="288036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⚠ Rust emergency credit (banks, BANHPROVI, BANADESA)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61120" y="28803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growers hit by rust; BANADESA loans up to L25,000; to be repaid by 2019 (USDA)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55080" y="3246120"/>
            <a:ext cx="41148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2015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66560" y="3246120"/>
            <a:ext cx="219456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IHCAFE fertiliser credit line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961120" y="3246120"/>
            <a:ext cx="27432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coffee producers; fertiliser at cost, 1 year, interest-free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55080" y="361188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2015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66560" y="361188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PAPP (IHCAFE + National Coffee Fund) and PEPP (BANADESA)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61120" y="361188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about 23,000 small producers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55080" y="3977640"/>
            <a:ext cx="41148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2018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66560" y="3977640"/>
            <a:ext cx="219456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Decreto 93-2018: IHCAFE loan to growers (low prices, rust)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961120" y="3977640"/>
            <a:ext cx="27432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all registered growers who ask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55080" y="434340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2019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66560" y="434340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⚠ Decreto 47-2018 debt readjustment + BANHPROVI coffee fund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961120" y="43434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&gt; 55,000 growers; up to 20 years at 2 %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55080" y="4709160"/>
            <a:ext cx="41148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66560" y="4709160"/>
            <a:ext cx="219456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Bono Cafetalero (PCM 030-2020): free fertiliser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61120" y="4709160"/>
            <a:ext cx="27432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91,778 small and medium producers (87 %); 25,188 t of fertiliser, producers up to 6.8 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55080" y="50749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2021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766560" y="507492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Bono Cafetalero extension (PCM 031-2021)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961120" y="50749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over 91,500 producers; fertiliser; plus state credit at 5 % and guarantees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55080" y="5440680"/>
            <a:ext cx="41148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2023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766560" y="5440680"/>
            <a:ext cx="219456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IHCAFE renovation programme 2023–2027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961120" y="5440680"/>
            <a:ext cx="274320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33,000 producers, 250,000 manzanas (63 % of the coffee park); target 7.0–7.5 million 46-kg bags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55080" y="580644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2025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66560" y="5806440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⚠ Bono Cafetalero 2025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961120" y="58064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262626"/>
                </a:solidFill>
                <a:latin typeface="Arial"/>
                <a:cs typeface="Arial"/>
              </a:rPr>
              <a:t>119,803 producers; 300,000 qq of fertiliser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Sources: USDA FAS Coffee Annual Honduras 2011, 2015–2017, 2020, 2021, 2024 (amounts, terms, deductions); FAOSTAT exchange rates (L per US$: 2013 20,35, 2019 24,51, 2025 25,95). ⚠ = web-search extracts (El Heraldo, La Prensa, TNH, La Tribuna); the pages could not be opened. The 2018 decree text (L1 900 M, L200/qq) is also an extract; USDA wrote "about $25 per 100 pounds".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Yield: 17–20 bags/ha since 2021, a third below the 2016/17 peak; large farms get 1,7× small ones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Yield per bearing ha (USDA production ÷ bearing area): 22,9 in 2011/12, 17,7 in 2012/13 (rust), peak 26,8 in 2016/17, 17,8 in 2025/26 (60-kg bags; 18 bags/ha ≈ 16 qq/mz)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IHCAFE registry 2024/25: small farms 14,7 bags/ha, medium 19,5, large 24,3. Small farms hold 63 % of the area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5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The PAPP replanting target, 45 qq per manzana (≈ 49 bags/ha), is 2,8× today's national yield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411480" y="2011680"/>
          <a:ext cx="74980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411480" y="177393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60-kg bags per bearing hectare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33719" y="318881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1F3864"/>
                </a:solidFill>
                <a:latin typeface="Arial"/>
                <a:cs typeface="Arial"/>
              </a:rPr>
              <a:t>22,9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7275" y="440681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1F3864"/>
                </a:solidFill>
                <a:latin typeface="Arial"/>
                <a:cs typeface="Arial"/>
              </a:rPr>
              <a:t>17,7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01500" y="252073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1F3864"/>
                </a:solidFill>
                <a:latin typeface="Arial"/>
                <a:cs typeface="Arial"/>
              </a:rPr>
              <a:t>26,8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23504" y="403572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1F3864"/>
                </a:solidFill>
                <a:latin typeface="Arial"/>
                <a:cs typeface="Arial"/>
              </a:rPr>
              <a:t>17,8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83880" y="2103120"/>
            <a:ext cx="118872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IHCAFE registry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72600" y="2103120"/>
            <a:ext cx="658368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30968" y="2103120"/>
            <a:ext cx="658368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Medium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89336" y="2103120"/>
            <a:ext cx="658368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47704" y="2103120"/>
            <a:ext cx="658368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83880" y="246888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2022/23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72600" y="246888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13,9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30968" y="246888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22,8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89336" y="246888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31,7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47704" y="246888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17,7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83880" y="2834640"/>
            <a:ext cx="11887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2023/24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72600" y="283464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13,0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30968" y="283464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22,4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89336" y="283464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30,5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47704" y="283464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16,6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83880" y="3200400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2024/25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72600" y="320040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14,7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30968" y="320040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19,5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89336" y="320040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24,3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47704" y="3200400"/>
            <a:ext cx="658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16,8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83880" y="3566160"/>
            <a:ext cx="1188720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Farmers 2024/25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72600" y="356616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86 895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30968" y="356616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6 359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89336" y="356616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374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47704" y="3566160"/>
            <a:ext cx="658368" cy="365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93 628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83880" y="3977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60-kg bags per harvested hectare, registered farms</a:t>
            </a:r>
          </a:p>
        </p:txBody>
      </p:sp>
      <p:graphicFrame>
        <p:nvGraphicFramePr>
          <p:cNvPr id="37" name="Chart 37"/>
          <p:cNvGraphicFramePr/>
          <p:nvPr/>
        </p:nvGraphicFramePr>
        <p:xfrm>
          <a:off x="8229600" y="4617720"/>
          <a:ext cx="374904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TextBox 38"/>
          <p:cNvSpPr txBox="1"/>
          <p:nvPr/>
        </p:nvSpPr>
        <p:spPr>
          <a:xfrm>
            <a:off x="8788603" y="513629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14,7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88322" y="494312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19,5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88040" y="475668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24,3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29600" y="437997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2024/25, bags per ha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11480" y="641908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Sources: USDA PSD (production, 1 000 bags, marketing year Oct–Sep) and USDA FAS Coffee Annual Honduras (bearing area, kha); IHCAFE Coffee Statistics Reports 2022/23–2024/25 as printed in USDA reports 2024–2026 (table 1). Last point (26/27) = USDA forecast. PAPP target: USDA 2017. 1 manzana = 0,7 ha; 1 qq = 46 kg.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son">
  <a:themeElements>
    <a:clrScheme name="Mousson">
      <a:dk1>
        <a:srgbClr val="1F2A30"/>
      </a:dk1>
      <a:lt1>
        <a:srgbClr val="FFFFFF"/>
      </a:lt1>
      <a:dk2>
        <a:srgbClr val="123A46"/>
      </a:dk2>
      <a:lt2>
        <a:srgbClr val="EEF4F7"/>
      </a:lt2>
      <a:accent1>
        <a:srgbClr val="2F7FC1"/>
      </a:accent1>
      <a:accent2>
        <a:srgbClr val="D9622B"/>
      </a:accent2>
      <a:accent3>
        <a:srgbClr val="8C969B"/>
      </a:accent3>
      <a:accent4>
        <a:srgbClr val="1E9E6A"/>
      </a:accent4>
      <a:accent5>
        <a:srgbClr val="123A46"/>
      </a:accent5>
      <a:accent6>
        <a:srgbClr val="E8A33D"/>
      </a:accent6>
      <a:hlink>
        <a:srgbClr val="2F7FC1"/>
      </a:hlink>
      <a:folHlink>
        <a:srgbClr val="5B6770"/>
      </a:folHlink>
    </a:clrScheme>
    <a:fontScheme name="Mousson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Mou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Honduras coffee: price, rust, varieties, finance</dc:title>
  <dc:language>fr-FR</dc:language>
</cp:coreProperties>
</file>