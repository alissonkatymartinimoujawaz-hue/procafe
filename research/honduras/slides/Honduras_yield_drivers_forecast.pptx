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s/slide9.xml" ContentType="application/vnd.openxmlformats-officedocument.presentationml.slide+xml"/>
  <Override PartName="/ppt/charts/chart8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6"/>
          <c:y val="0.05"/>
          <c:w val="0.93"/>
          <c:h val="0.85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75B6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4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5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6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7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8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9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0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1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2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3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4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5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6"/>
            <c:invertIfNegative val="0"/>
            <c:bubble3D val="0"/>
            <c:spPr>
              <a:solidFill>
                <a:srgbClr val="C00000"/>
              </a:solidFill>
            </c:spPr>
          </c:dPt>
          <c:dPt>
            <c:idx val="17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8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9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0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1"/>
            <c:invertIfNegative val="0"/>
            <c:bubble3D val="0"/>
            <c:spPr>
              <a:solidFill>
                <a:srgbClr val="D9D9D9"/>
              </a:solidFill>
            </c:spPr>
          </c:dPt>
          <c:cat>
            <c:strRef>
              <c:f>Sheet1!$A$2:$A$23</c:f>
              <c:strCache>
                <c:ptCount val="22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  <c:pt idx="20">
                  <c:v>25/26</c:v>
                </c:pt>
                <c:pt idx="21">
                  <c:v>26/27</c:v>
                </c:pt>
              </c:strCache>
            </c:strRef>
          </c:cat>
          <c:val>
            <c:numRef>
              <c:f>Sheet1!$B$2:$B$23</c:f>
              <c:numCache>
                <c:formatCode>General</c:formatCode>
                <c:ptCount val="22"/>
                <c:pt idx="0">
                  <c:v>3.204</c:v>
                </c:pt>
                <c:pt idx="1">
                  <c:v>3.46</c:v>
                </c:pt>
                <c:pt idx="2">
                  <c:v>3.642</c:v>
                </c:pt>
                <c:pt idx="3">
                  <c:v>3.225</c:v>
                </c:pt>
                <c:pt idx="4">
                  <c:v>3.55</c:v>
                </c:pt>
                <c:pt idx="5">
                  <c:v>3.975</c:v>
                </c:pt>
                <c:pt idx="6">
                  <c:v>5.6</c:v>
                </c:pt>
                <c:pt idx="7">
                  <c:v>4.725</c:v>
                </c:pt>
                <c:pt idx="8">
                  <c:v>4.4</c:v>
                </c:pt>
                <c:pt idx="9">
                  <c:v>5.1</c:v>
                </c:pt>
                <c:pt idx="10">
                  <c:v>5.3</c:v>
                </c:pt>
                <c:pt idx="11">
                  <c:v>7.51</c:v>
                </c:pt>
                <c:pt idx="12">
                  <c:v>7.6</c:v>
                </c:pt>
                <c:pt idx="13">
                  <c:v>7.1</c:v>
                </c:pt>
                <c:pt idx="14">
                  <c:v>5.2</c:v>
                </c:pt>
                <c:pt idx="15">
                  <c:v>6.5</c:v>
                </c:pt>
                <c:pt idx="16">
                  <c:v>4.8</c:v>
                </c:pt>
                <c:pt idx="17">
                  <c:v>5.7</c:v>
                </c:pt>
                <c:pt idx="18">
                  <c:v>5.05</c:v>
                </c:pt>
                <c:pt idx="19">
                  <c:v>5.2</c:v>
                </c:pt>
                <c:pt idx="20">
                  <c:v>5.53</c:v>
                </c:pt>
                <c:pt idx="21">
                  <c:v>6.03</c:v>
                </c:pt>
              </c:numCache>
            </c:numRef>
          </c:val>
        </c:ser>
        <c:gapWidth val="45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8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9"/>
          <c:y val="0.04"/>
          <c:w val="0.88"/>
          <c:h val="0.82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crop years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8"/>
            <c:spPr>
              <a:solidFill>
                <a:srgbClr val="2E75B6"/>
              </a:solidFill>
              <a:ln w="9525">
                <a:solidFill>
                  <a:srgbClr val="FFFFFF"/>
                </a:solidFill>
              </a:ln>
            </c:spPr>
          </c:marker>
          <c:dLbls>
            <c:dLbl>
              <c:idx val="16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98/99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99/00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9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11/12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0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12/13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1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13/14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4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16/17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7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19/20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8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20/21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9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21/22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0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22/23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3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25/26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showLegendKey val="0"/>
            <c:showVal val="0"/>
            <c:showCatName val="0"/>
            <c:showSerName val="0"/>
            <c:showPercent val="0"/>
            <c:showBubbleSize val="0"/>
          </c:dLbls>
          <c:xVal>
            <c:numRef>
              <c:f>Sheet1!$A$2:$A$45</c:f>
              <c:numCache>
                <c:formatCode>General</c:formatCode>
                <c:ptCount val="44"/>
                <c:pt idx="0">
                  <c:v>-5.275056538552897</c:v>
                </c:pt>
                <c:pt idx="1">
                  <c:v>22.314355131420978</c:v>
                </c:pt>
                <c:pt idx="2">
                  <c:v>-13.543797089510425</c:v>
                </c:pt>
                <c:pt idx="3">
                  <c:v>6.644509940815276</c:v>
                </c:pt>
                <c:pt idx="4">
                  <c:v>-27.631831380146586</c:v>
                </c:pt>
                <c:pt idx="5">
                  <c:v>36.837645821941344</c:v>
                </c:pt>
                <c:pt idx="6">
                  <c:v>1.1658163127389458</c:v>
                </c:pt>
                <c:pt idx="7">
                  <c:v>5.145426018266672</c:v>
                </c:pt>
                <c:pt idx="8">
                  <c:v>16.48403918391371</c:v>
                </c:pt>
                <c:pt idx="9">
                  <c:v>-13.47176323840288</c:v>
                </c:pt>
                <c:pt idx="10">
                  <c:v>29.138440915031655</c:v>
                </c:pt>
                <c:pt idx="11">
                  <c:v>-12.954820523822775</c:v>
                </c:pt>
                <c:pt idx="12">
                  <c:v>3.910421508507577</c:v>
                </c:pt>
                <c:pt idx="13">
                  <c:v>10.802686071101881</c:v>
                </c:pt>
                <c:pt idx="14">
                  <c:v>-1.8026427894923893</c:v>
                </c:pt>
                <c:pt idx="15">
                  <c:v>1.1030334645962596</c:v>
                </c:pt>
                <c:pt idx="16">
                  <c:v>24.269664004032734</c:v>
                </c:pt>
                <c:pt idx="17">
                  <c:v>-15.25455430460298</c:v>
                </c:pt>
                <c:pt idx="18">
                  <c:v>20.68120378742698</c:v>
                </c:pt>
                <c:pt idx="19">
                  <c:v>-8.360845311225523</c:v>
                </c:pt>
                <c:pt idx="20">
                  <c:v>9.366530997481762</c:v>
                </c:pt>
                <c:pt idx="21">
                  <c:v>-21.606729148749565</c:v>
                </c:pt>
                <c:pt idx="22">
                  <c:v>17.31988747979528</c:v>
                </c:pt>
                <c:pt idx="23">
                  <c:v>-14.203879118943455</c:v>
                </c:pt>
                <c:pt idx="24">
                  <c:v>21.85504950904133</c:v>
                </c:pt>
                <c:pt idx="25">
                  <c:v>7.686855986352008</c:v>
                </c:pt>
                <c:pt idx="26">
                  <c:v>5.126439223578338</c:v>
                </c:pt>
                <c:pt idx="27">
                  <c:v>-12.160003105768045</c:v>
                </c:pt>
                <c:pt idx="28">
                  <c:v>9.601465323958857</c:v>
                </c:pt>
                <c:pt idx="29">
                  <c:v>11.307714461897085</c:v>
                </c:pt>
                <c:pt idx="30">
                  <c:v>34.27418496348083</c:v>
                </c:pt>
                <c:pt idx="31">
                  <c:v>-16.989903679539747</c:v>
                </c:pt>
                <c:pt idx="32">
                  <c:v>-7.126302002149066</c:v>
                </c:pt>
                <c:pt idx="33">
                  <c:v>14.763599880606467</c:v>
                </c:pt>
                <c:pt idx="34">
                  <c:v>3.846628082779614</c:v>
                </c:pt>
                <c:pt idx="35">
                  <c:v>34.852864521796725</c:v>
                </c:pt>
                <c:pt idx="36">
                  <c:v>1.1912781516241961</c:v>
                </c:pt>
                <c:pt idx="37">
                  <c:v>-6.805346324501564</c:v>
                </c:pt>
                <c:pt idx="38">
                  <c:v>-31.143615845988805</c:v>
                </c:pt>
                <c:pt idx="39">
                  <c:v>22.314355131420978</c:v>
                </c:pt>
                <c:pt idx="40">
                  <c:v>-30.318625898774616</c:v>
                </c:pt>
                <c:pt idx="41">
                  <c:v>17.185025692665924</c:v>
                </c:pt>
                <c:pt idx="42">
                  <c:v>-12.107793155323604</c:v>
                </c:pt>
                <c:pt idx="43">
                  <c:v>2.927038230011324</c:v>
                </c:pt>
              </c:numCache>
            </c:numRef>
          </c:xVal>
          <c:yVal>
            <c:numRef>
              <c:f>Sheet1!$B$2:$B$45</c:f>
              <c:numCache>
                <c:formatCode>General</c:formatCode>
                <c:ptCount val="44"/>
                <c:pt idx="0">
                  <c:v>22.314355131420978</c:v>
                </c:pt>
                <c:pt idx="1">
                  <c:v>-13.543797089510425</c:v>
                </c:pt>
                <c:pt idx="2">
                  <c:v>6.644509940815276</c:v>
                </c:pt>
                <c:pt idx="3">
                  <c:v>-27.631831380146586</c:v>
                </c:pt>
                <c:pt idx="4">
                  <c:v>36.837645821941344</c:v>
                </c:pt>
                <c:pt idx="5">
                  <c:v>1.1658163127389458</c:v>
                </c:pt>
                <c:pt idx="6">
                  <c:v>5.145426018266672</c:v>
                </c:pt>
                <c:pt idx="7">
                  <c:v>16.48403918391371</c:v>
                </c:pt>
                <c:pt idx="8">
                  <c:v>-13.47176323840288</c:v>
                </c:pt>
                <c:pt idx="9">
                  <c:v>29.138440915031655</c:v>
                </c:pt>
                <c:pt idx="10">
                  <c:v>-12.954820523822775</c:v>
                </c:pt>
                <c:pt idx="11">
                  <c:v>3.910421508507577</c:v>
                </c:pt>
                <c:pt idx="12">
                  <c:v>10.802686071101881</c:v>
                </c:pt>
                <c:pt idx="13">
                  <c:v>-1.8026427894923893</c:v>
                </c:pt>
                <c:pt idx="14">
                  <c:v>1.1030334645962596</c:v>
                </c:pt>
                <c:pt idx="15">
                  <c:v>24.269664004032734</c:v>
                </c:pt>
                <c:pt idx="16">
                  <c:v>-15.25455430460298</c:v>
                </c:pt>
                <c:pt idx="17">
                  <c:v>20.68120378742698</c:v>
                </c:pt>
                <c:pt idx="18">
                  <c:v>-8.360845311225523</c:v>
                </c:pt>
                <c:pt idx="19">
                  <c:v>9.366530997481762</c:v>
                </c:pt>
                <c:pt idx="20">
                  <c:v>-21.606729148749565</c:v>
                </c:pt>
                <c:pt idx="21">
                  <c:v>17.31988747979528</c:v>
                </c:pt>
                <c:pt idx="22">
                  <c:v>-14.203879118943455</c:v>
                </c:pt>
                <c:pt idx="23">
                  <c:v>21.85504950904133</c:v>
                </c:pt>
                <c:pt idx="24">
                  <c:v>7.686855986352008</c:v>
                </c:pt>
                <c:pt idx="25">
                  <c:v>5.126439223578338</c:v>
                </c:pt>
                <c:pt idx="26">
                  <c:v>-12.160003105768045</c:v>
                </c:pt>
                <c:pt idx="27">
                  <c:v>9.601465323958857</c:v>
                </c:pt>
                <c:pt idx="28">
                  <c:v>11.307714461897085</c:v>
                </c:pt>
                <c:pt idx="29">
                  <c:v>34.27418496348083</c:v>
                </c:pt>
                <c:pt idx="30">
                  <c:v>-16.989903679539747</c:v>
                </c:pt>
                <c:pt idx="31">
                  <c:v>-7.126302002149066</c:v>
                </c:pt>
                <c:pt idx="32">
                  <c:v>14.763599880606467</c:v>
                </c:pt>
                <c:pt idx="33">
                  <c:v>3.846628082779614</c:v>
                </c:pt>
                <c:pt idx="34">
                  <c:v>34.852864521796725</c:v>
                </c:pt>
                <c:pt idx="35">
                  <c:v>1.1912781516241961</c:v>
                </c:pt>
                <c:pt idx="36">
                  <c:v>-6.805346324501564</c:v>
                </c:pt>
                <c:pt idx="37">
                  <c:v>-31.143615845988805</c:v>
                </c:pt>
                <c:pt idx="38">
                  <c:v>22.314355131420978</c:v>
                </c:pt>
                <c:pt idx="39">
                  <c:v>-30.318625898774616</c:v>
                </c:pt>
                <c:pt idx="40">
                  <c:v>17.185025692665924</c:v>
                </c:pt>
                <c:pt idx="41">
                  <c:v>-12.107793155323604</c:v>
                </c:pt>
                <c:pt idx="42">
                  <c:v>2.927038230011324</c:v>
                </c:pt>
                <c:pt idx="43">
                  <c:v>6.152918994686176</c:v>
                </c:pt>
              </c:numCache>
            </c:numRef>
          </c:yVal>
          <c:smooth val="0"/>
        </c:ser>
        <c:axId val="70010"/>
        <c:axId val="70020"/>
      </c:scatterChart>
      <c:valAx>
        <c:axId val="70010"/>
        <c:scaling>
          <c:orientation val="minMax"/>
          <c:max val="40"/>
          <c:min val="-40"/>
        </c:scaling>
        <c:delete val="0"/>
        <c:axPos val="b"/>
        <c:numFmt formatCode="0" sourceLinked="0"/>
        <c:majorTickMark val="none"/>
        <c:minorTickMark val="none"/>
        <c:tickLblPos val="low"/>
        <c:spPr>
          <a:ln w="6350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70020"/>
        <c:crossesAt val="-40"/>
        <c:crossBetween val="midCat"/>
        <c:majorUnit val="20"/>
      </c:valAx>
      <c:valAx>
        <c:axId val="70020"/>
        <c:scaling>
          <c:orientation val="minMax"/>
          <c:max val="40"/>
          <c:min val="-4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70010"/>
        <c:crossesAt val="-40"/>
        <c:crossBetween val="midCat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6"/>
          <c:y val="0.04"/>
          <c:w val="0.93"/>
          <c:h val="0.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Production change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Sheet1!$A$2:$A$21</c:f>
              <c:strCache>
                <c:ptCount val="20"/>
                <c:pt idx="0">
                  <c:v>06/07</c:v>
                </c:pt>
                <c:pt idx="1">
                  <c:v>07/08</c:v>
                </c:pt>
                <c:pt idx="2">
                  <c:v>08/09</c:v>
                </c:pt>
                <c:pt idx="3">
                  <c:v>09/10</c:v>
                </c:pt>
                <c:pt idx="4">
                  <c:v>10/11</c:v>
                </c:pt>
                <c:pt idx="5">
                  <c:v>11/12</c:v>
                </c:pt>
                <c:pt idx="6">
                  <c:v>12/13</c:v>
                </c:pt>
                <c:pt idx="7">
                  <c:v>13/14</c:v>
                </c:pt>
                <c:pt idx="8">
                  <c:v>14/15</c:v>
                </c:pt>
                <c:pt idx="9">
                  <c:v>15/16</c:v>
                </c:pt>
                <c:pt idx="10">
                  <c:v>16/17</c:v>
                </c:pt>
                <c:pt idx="11">
                  <c:v>17/18</c:v>
                </c:pt>
                <c:pt idx="12">
                  <c:v>18/19</c:v>
                </c:pt>
                <c:pt idx="13">
                  <c:v>19/20</c:v>
                </c:pt>
                <c:pt idx="14">
                  <c:v>20/21</c:v>
                </c:pt>
                <c:pt idx="15">
                  <c:v>21/22</c:v>
                </c:pt>
                <c:pt idx="16">
                  <c:v>22/23</c:v>
                </c:pt>
                <c:pt idx="17">
                  <c:v>23/24</c:v>
                </c:pt>
                <c:pt idx="18">
                  <c:v>24/25</c:v>
                </c:pt>
                <c:pt idx="19">
                  <c:v>25/26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7.990012484394504</c:v>
                </c:pt>
                <c:pt idx="1">
                  <c:v>5.260115606936422</c:v>
                </c:pt>
                <c:pt idx="2">
                  <c:v>-11.449752883031305</c:v>
                </c:pt>
                <c:pt idx="3">
                  <c:v>10.077519379844958</c:v>
                </c:pt>
                <c:pt idx="4">
                  <c:v>11.9718309859155</c:v>
                </c:pt>
                <c:pt idx="5">
                  <c:v>40.88050314465408</c:v>
                </c:pt>
                <c:pt idx="6">
                  <c:v>-15.625</c:v>
                </c:pt>
                <c:pt idx="7">
                  <c:v>-6.8783068783068835</c:v>
                </c:pt>
                <c:pt idx="8">
                  <c:v>15.909090909090917</c:v>
                </c:pt>
                <c:pt idx="9">
                  <c:v>3.9215686274509887</c:v>
                </c:pt>
                <c:pt idx="10">
                  <c:v>41.69811320754717</c:v>
                </c:pt>
                <c:pt idx="11">
                  <c:v>1.1984021304926706</c:v>
                </c:pt>
                <c:pt idx="12">
                  <c:v>-6.578947368421051</c:v>
                </c:pt>
                <c:pt idx="13">
                  <c:v>-26.76056338028169</c:v>
                </c:pt>
                <c:pt idx="14">
                  <c:v>25.0</c:v>
                </c:pt>
                <c:pt idx="15">
                  <c:v>-26.15384615384615</c:v>
                </c:pt>
                <c:pt idx="16">
                  <c:v>18.75</c:v>
                </c:pt>
                <c:pt idx="17">
                  <c:v>-11.403508771929827</c:v>
                </c:pt>
                <c:pt idx="18">
                  <c:v>2.970297029702973</c:v>
                </c:pt>
                <c:pt idx="19">
                  <c:v>6.346153846153846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Bearing-area change</c:v>
                </c:pt>
              </c:strCache>
            </c:strRef>
          </c:tx>
          <c:spPr>
            <a:solidFill>
              <a:srgbClr val="C55A11"/>
            </a:solidFill>
          </c:spPr>
          <c:invertIfNegative val="0"/>
          <c:cat>
            <c:strRef>
              <c:f>Sheet1!$A$2:$A$21</c:f>
              <c:strCache>
                <c:ptCount val="20"/>
                <c:pt idx="0">
                  <c:v>06/07</c:v>
                </c:pt>
                <c:pt idx="1">
                  <c:v>07/08</c:v>
                </c:pt>
                <c:pt idx="2">
                  <c:v>08/09</c:v>
                </c:pt>
                <c:pt idx="3">
                  <c:v>09/10</c:v>
                </c:pt>
                <c:pt idx="4">
                  <c:v>10/11</c:v>
                </c:pt>
                <c:pt idx="5">
                  <c:v>11/12</c:v>
                </c:pt>
                <c:pt idx="6">
                  <c:v>12/13</c:v>
                </c:pt>
                <c:pt idx="7">
                  <c:v>13/14</c:v>
                </c:pt>
                <c:pt idx="8">
                  <c:v>14/15</c:v>
                </c:pt>
                <c:pt idx="9">
                  <c:v>15/16</c:v>
                </c:pt>
                <c:pt idx="10">
                  <c:v>16/17</c:v>
                </c:pt>
                <c:pt idx="11">
                  <c:v>17/18</c:v>
                </c:pt>
                <c:pt idx="12">
                  <c:v>18/19</c:v>
                </c:pt>
                <c:pt idx="13">
                  <c:v>19/20</c:v>
                </c:pt>
                <c:pt idx="14">
                  <c:v>20/21</c:v>
                </c:pt>
                <c:pt idx="15">
                  <c:v>21/22</c:v>
                </c:pt>
                <c:pt idx="16">
                  <c:v>22/23</c:v>
                </c:pt>
                <c:pt idx="17">
                  <c:v>23/24</c:v>
                </c:pt>
                <c:pt idx="18">
                  <c:v>24/25</c:v>
                </c:pt>
                <c:pt idx="19">
                  <c:v>25/26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25.0</c:v>
                </c:pt>
                <c:pt idx="1">
                  <c:v>0.0</c:v>
                </c:pt>
                <c:pt idx="2">
                  <c:v>-2.608695652173909</c:v>
                </c:pt>
                <c:pt idx="3">
                  <c:v>0.0</c:v>
                </c:pt>
                <c:pt idx="4">
                  <c:v>6.25</c:v>
                </c:pt>
                <c:pt idx="5">
                  <c:v>2.941176470588225</c:v>
                </c:pt>
                <c:pt idx="6">
                  <c:v>8.979591836734691</c:v>
                </c:pt>
                <c:pt idx="7">
                  <c:v>-20.2247191011236</c:v>
                </c:pt>
                <c:pt idx="8">
                  <c:v>6.572769953051649</c:v>
                </c:pt>
                <c:pt idx="9">
                  <c:v>5.726872246696035</c:v>
                </c:pt>
                <c:pt idx="10">
                  <c:v>16.666666666666675</c:v>
                </c:pt>
                <c:pt idx="11">
                  <c:v>6.428571428571428</c:v>
                </c:pt>
                <c:pt idx="12">
                  <c:v>-4.026845637583898</c:v>
                </c:pt>
                <c:pt idx="13">
                  <c:v>-5.594405594405593</c:v>
                </c:pt>
                <c:pt idx="14">
                  <c:v>1.1111111111111072</c:v>
                </c:pt>
                <c:pt idx="15">
                  <c:v>0.73260073260073</c:v>
                </c:pt>
                <c:pt idx="16">
                  <c:v>3.6363636363636376</c:v>
                </c:pt>
                <c:pt idx="17">
                  <c:v>2.4561403508772006</c:v>
                </c:pt>
                <c:pt idx="18">
                  <c:v>2.7397260273972712</c:v>
                </c:pt>
                <c:pt idx="19">
                  <c:v>3.3333333333333437</c:v>
                </c:pt>
              </c:numCache>
            </c:numRef>
          </c:val>
        </c:ser>
        <c:gapWidth val="60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50"/>
          <c:min val="-3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1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6"/>
          <c:y val="0.04"/>
          <c:w val="0.93"/>
          <c:h val="0.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Nitrogen use change</c:v>
                </c:pt>
              </c:strCache>
            </c:strRef>
          </c:tx>
          <c:spPr>
            <a:solidFill>
              <a:srgbClr val="7F9F3F"/>
            </a:solidFill>
          </c:spPr>
          <c:invertIfNegative val="0"/>
          <c:cat>
            <c:strRef>
              <c:f>Sheet1!$A$2:$A$21</c:f>
              <c:strCache>
                <c:ptCount val="20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59.24305819703308</c:v>
                </c:pt>
                <c:pt idx="1">
                  <c:v>59.29296548429475</c:v>
                </c:pt>
                <c:pt idx="2">
                  <c:v>-4.793965930902111</c:v>
                </c:pt>
                <c:pt idx="3">
                  <c:v>-12.500984391488556</c:v>
                </c:pt>
                <c:pt idx="4">
                  <c:v>-14.28880008640242</c:v>
                </c:pt>
                <c:pt idx="5">
                  <c:v>17.693632392473123</c:v>
                </c:pt>
                <c:pt idx="6">
                  <c:v>52.64181581342231</c:v>
                </c:pt>
                <c:pt idx="7">
                  <c:v>-11.836290944799044</c:v>
                </c:pt>
                <c:pt idx="8">
                  <c:v>-0.9348024981105096</c:v>
                </c:pt>
                <c:pt idx="9">
                  <c:v>-0.943623514294889</c:v>
                </c:pt>
                <c:pt idx="10">
                  <c:v>1.805234639966491</c:v>
                </c:pt>
                <c:pt idx="11">
                  <c:v>27.3429515681616</c:v>
                </c:pt>
                <c:pt idx="12">
                  <c:v>14.832610689568915</c:v>
                </c:pt>
                <c:pt idx="13">
                  <c:v>11.415475380077144</c:v>
                </c:pt>
                <c:pt idx="14">
                  <c:v>-29.82924921793535</c:v>
                </c:pt>
                <c:pt idx="15">
                  <c:v>48.6207857341878</c:v>
                </c:pt>
                <c:pt idx="16">
                  <c:v>-18.08211473565804</c:v>
                </c:pt>
                <c:pt idx="17">
                  <c:v>-0.0028607392150159505</c:v>
                </c:pt>
                <c:pt idx="18">
                  <c:v>-0.4176798741238774</c:v>
                </c:pt>
                <c:pt idx="19">
                  <c:v>2.3011290183573285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Production change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Sheet1!$A$2:$A$21</c:f>
              <c:strCache>
                <c:ptCount val="20"/>
                <c:pt idx="0">
                  <c:v>05/06</c:v>
                </c:pt>
                <c:pt idx="1">
                  <c:v>06/07</c:v>
                </c:pt>
                <c:pt idx="2">
                  <c:v>07/08</c:v>
                </c:pt>
                <c:pt idx="3">
                  <c:v>08/09</c:v>
                </c:pt>
                <c:pt idx="4">
                  <c:v>09/10</c:v>
                </c:pt>
                <c:pt idx="5">
                  <c:v>10/11</c:v>
                </c:pt>
                <c:pt idx="6">
                  <c:v>11/12</c:v>
                </c:pt>
                <c:pt idx="7">
                  <c:v>12/13</c:v>
                </c:pt>
                <c:pt idx="8">
                  <c:v>13/14</c:v>
                </c:pt>
                <c:pt idx="9">
                  <c:v>14/15</c:v>
                </c:pt>
                <c:pt idx="10">
                  <c:v>15/16</c:v>
                </c:pt>
                <c:pt idx="11">
                  <c:v>16/17</c:v>
                </c:pt>
                <c:pt idx="12">
                  <c:v>17/18</c:v>
                </c:pt>
                <c:pt idx="13">
                  <c:v>18/19</c:v>
                </c:pt>
                <c:pt idx="14">
                  <c:v>19/20</c:v>
                </c:pt>
                <c:pt idx="15">
                  <c:v>20/21</c:v>
                </c:pt>
                <c:pt idx="16">
                  <c:v>21/22</c:v>
                </c:pt>
                <c:pt idx="17">
                  <c:v>22/23</c:v>
                </c:pt>
                <c:pt idx="18">
                  <c:v>23/24</c:v>
                </c:pt>
                <c:pt idx="19">
                  <c:v>24/25</c:v>
                </c:pt>
              </c:strCache>
            </c:strRef>
          </c:cat>
          <c:val>
            <c:numRef>
              <c:f>Sheet1!$C$2:$C$21</c:f>
              <c:numCache>
                <c:formatCode>General</c:formatCode>
                <c:ptCount val="20"/>
                <c:pt idx="0">
                  <c:v>24.427184466019412</c:v>
                </c:pt>
                <c:pt idx="1">
                  <c:v>7.990012484394504</c:v>
                </c:pt>
                <c:pt idx="2">
                  <c:v>5.260115606936422</c:v>
                </c:pt>
                <c:pt idx="3">
                  <c:v>-11.449752883031305</c:v>
                </c:pt>
                <c:pt idx="4">
                  <c:v>10.077519379844958</c:v>
                </c:pt>
                <c:pt idx="5">
                  <c:v>11.9718309859155</c:v>
                </c:pt>
                <c:pt idx="6">
                  <c:v>40.88050314465408</c:v>
                </c:pt>
                <c:pt idx="7">
                  <c:v>-15.625</c:v>
                </c:pt>
                <c:pt idx="8">
                  <c:v>-6.8783068783068835</c:v>
                </c:pt>
                <c:pt idx="9">
                  <c:v>15.909090909090917</c:v>
                </c:pt>
                <c:pt idx="10">
                  <c:v>3.9215686274509887</c:v>
                </c:pt>
                <c:pt idx="11">
                  <c:v>41.69811320754717</c:v>
                </c:pt>
                <c:pt idx="12">
                  <c:v>1.1984021304926706</c:v>
                </c:pt>
                <c:pt idx="13">
                  <c:v>-6.578947368421051</c:v>
                </c:pt>
                <c:pt idx="14">
                  <c:v>-26.76056338028169</c:v>
                </c:pt>
                <c:pt idx="15">
                  <c:v>25.0</c:v>
                </c:pt>
                <c:pt idx="16">
                  <c:v>-26.15384615384615</c:v>
                </c:pt>
                <c:pt idx="17">
                  <c:v>18.75</c:v>
                </c:pt>
                <c:pt idx="18">
                  <c:v>-11.403508771929827</c:v>
                </c:pt>
                <c:pt idx="19">
                  <c:v>2.970297029702973</c:v>
                </c:pt>
              </c:numCache>
            </c:numRef>
          </c:val>
        </c:ser>
        <c:gapWidth val="60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80"/>
          <c:min val="-4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12"/>
          <c:y val="0.04"/>
          <c:w val="0.85"/>
          <c:h val="0.84"/>
        </c:manualLayout>
      </c:layout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crop years</c:v>
                </c:pt>
              </c:strCache>
            </c:strRef>
          </c:tx>
          <c:spPr>
            <a:ln w="19050">
              <a:noFill/>
            </a:ln>
          </c:spPr>
          <c:marker>
            <c:symbol val="circle"/>
            <c:size val="8"/>
            <c:spPr>
              <a:solidFill>
                <a:srgbClr val="C55A11"/>
              </a:solidFill>
              <a:ln w="9525">
                <a:solidFill>
                  <a:srgbClr val="FFFFFF"/>
                </a:solidFill>
              </a:ln>
            </c:spPr>
          </c:marker>
          <c:dLbls>
            <c:dLbl>
              <c:idx val="4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86/87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7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99/00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2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04/05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7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09/10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9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11/12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4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16/17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7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19/20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9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21/22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1"/>
              <c:tx>
                <c:rich>
                  <a:bodyPr/>
                  <a:lstStyle/>
                  <a:p>
                    <a:r>
                      <a:rPr lang="fr-FR" sz="800">
                        <a:solidFill>
                          <a:srgbClr val="5B6770"/>
                        </a:solidFill>
                        <a:latin typeface="Arial"/>
                      </a:rPr>
                      <a:t>23/24</a:t>
                    </a:r>
                  </a:p>
                </c:rich>
              </c:tx>
              <c:spPr>
                <a:noFill/>
                <a:ln>
                  <a:noFill/>
                </a:ln>
              </c:spPr>
              <c:dLblPos val="r"/>
              <c:showLegendKey val="0"/>
              <c:showVal val="0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</c:spPr>
            <c:showLegendKey val="0"/>
            <c:showVal val="0"/>
            <c:showCatName val="0"/>
            <c:showSerName val="0"/>
            <c:showPercent val="0"/>
            <c:showBubbleSize val="0"/>
          </c:dLbls>
          <c:xVal>
            <c:numRef>
              <c:f>Sheet1!$A$2:$A$45</c:f>
              <c:numCache>
                <c:formatCode>General</c:formatCode>
                <c:ptCount val="44"/>
                <c:pt idx="0">
                  <c:v>-0.755766666666668</c:v>
                </c:pt>
                <c:pt idx="1">
                  <c:v>-0.16926666666666712</c:v>
                </c:pt>
                <c:pt idx="2">
                  <c:v>-0.6142666666666674</c:v>
                </c:pt>
                <c:pt idx="3">
                  <c:v>-0.06826666666666803</c:v>
                </c:pt>
                <c:pt idx="4">
                  <c:v>-0.7537666666666674</c:v>
                </c:pt>
                <c:pt idx="5">
                  <c:v>-0.5912666666666677</c:v>
                </c:pt>
                <c:pt idx="6">
                  <c:v>-1.0112666666666676</c:v>
                </c:pt>
                <c:pt idx="7">
                  <c:v>-0.6712666666666678</c:v>
                </c:pt>
                <c:pt idx="8">
                  <c:v>0.15923333333333112</c:v>
                </c:pt>
                <c:pt idx="9">
                  <c:v>0.043233333333333235</c:v>
                </c:pt>
                <c:pt idx="10">
                  <c:v>0.0912333333333315</c:v>
                </c:pt>
                <c:pt idx="11">
                  <c:v>-0.6592666666666673</c:v>
                </c:pt>
                <c:pt idx="12">
                  <c:v>0.27823333333333267</c:v>
                </c:pt>
                <c:pt idx="13">
                  <c:v>-0.6827666666666676</c:v>
                </c:pt>
                <c:pt idx="14">
                  <c:v>-0.05276666666666685</c:v>
                </c:pt>
                <c:pt idx="15">
                  <c:v>-0.03276666666666728</c:v>
                </c:pt>
                <c:pt idx="16">
                  <c:v>0.21073333333333188</c:v>
                </c:pt>
                <c:pt idx="17">
                  <c:v>-1.0552666666666664</c:v>
                </c:pt>
                <c:pt idx="18">
                  <c:v>-0.6012666666666675</c:v>
                </c:pt>
                <c:pt idx="19">
                  <c:v>-0.43626666666666836</c:v>
                </c:pt>
                <c:pt idx="20">
                  <c:v>0.5027333333333335</c:v>
                </c:pt>
                <c:pt idx="21">
                  <c:v>0.5002333333333322</c:v>
                </c:pt>
                <c:pt idx="22">
                  <c:v>0.813233333333331</c:v>
                </c:pt>
                <c:pt idx="23">
                  <c:v>-0.7307666666666659</c:v>
                </c:pt>
                <c:pt idx="24">
                  <c:v>0.5617333333333328</c:v>
                </c:pt>
                <c:pt idx="25">
                  <c:v>-0.7302666666666671</c:v>
                </c:pt>
                <c:pt idx="26">
                  <c:v>-0.6442666666666685</c:v>
                </c:pt>
                <c:pt idx="27">
                  <c:v>1.1522333333333332</c:v>
                </c:pt>
                <c:pt idx="28">
                  <c:v>-0.8197666666666681</c:v>
                </c:pt>
                <c:pt idx="29">
                  <c:v>-0.8227666666666664</c:v>
                </c:pt>
                <c:pt idx="30">
                  <c:v>0.0497333333333323</c:v>
                </c:pt>
                <c:pt idx="31">
                  <c:v>0.31223333333333336</c:v>
                </c:pt>
                <c:pt idx="32">
                  <c:v>-0.172266666666669</c:v>
                </c:pt>
                <c:pt idx="33">
                  <c:v>0.8392333333333326</c:v>
                </c:pt>
                <c:pt idx="34">
                  <c:v>0.13723333333333265</c:v>
                </c:pt>
                <c:pt idx="35">
                  <c:v>-0.06326666666666902</c:v>
                </c:pt>
                <c:pt idx="36">
                  <c:v>0.1487333333333325</c:v>
                </c:pt>
                <c:pt idx="37">
                  <c:v>1.6022333333333325</c:v>
                </c:pt>
                <c:pt idx="38">
                  <c:v>0.2607333333333326</c:v>
                </c:pt>
                <c:pt idx="39">
                  <c:v>1.2527333333333317</c:v>
                </c:pt>
                <c:pt idx="40">
                  <c:v>-0.43026666666666635</c:v>
                </c:pt>
                <c:pt idx="41">
                  <c:v>1.386733333333332</c:v>
                </c:pt>
                <c:pt idx="42">
                  <c:v>0.5212333333333312</c:v>
                </c:pt>
                <c:pt idx="43">
                  <c:v>0.6842333333333332</c:v>
                </c:pt>
              </c:numCache>
            </c:numRef>
          </c:xVal>
          <c:yVal>
            <c:numRef>
              <c:f>Sheet1!$B$2:$B$45</c:f>
              <c:numCache>
                <c:formatCode>General</c:formatCode>
                <c:ptCount val="44"/>
                <c:pt idx="0">
                  <c:v>25.0</c:v>
                </c:pt>
                <c:pt idx="1">
                  <c:v>-12.666666666666671</c:v>
                </c:pt>
                <c:pt idx="2">
                  <c:v>6.870229007633588</c:v>
                </c:pt>
                <c:pt idx="3">
                  <c:v>-24.142857142857142</c:v>
                </c:pt>
                <c:pt idx="4">
                  <c:v>44.53860640301319</c:v>
                </c:pt>
                <c:pt idx="5">
                  <c:v>1.1726384364820763</c:v>
                </c:pt>
                <c:pt idx="6">
                  <c:v>5.280103026400518</c:v>
                </c:pt>
                <c:pt idx="7">
                  <c:v>17.920489296636077</c:v>
                </c:pt>
                <c:pt idx="8">
                  <c:v>-12.603734439834025</c:v>
                </c:pt>
                <c:pt idx="9">
                  <c:v>33.82789317507417</c:v>
                </c:pt>
                <c:pt idx="10">
                  <c:v>-12.150776053215074</c:v>
                </c:pt>
                <c:pt idx="11">
                  <c:v>3.9878849066128153</c:v>
                </c:pt>
                <c:pt idx="12">
                  <c:v>11.407766990291268</c:v>
                </c:pt>
                <c:pt idx="13">
                  <c:v>-1.7864923747276662</c:v>
                </c:pt>
                <c:pt idx="14">
                  <c:v>1.1091393078970668</c:v>
                </c:pt>
                <c:pt idx="15">
                  <c:v>27.468187801667398</c:v>
                </c:pt>
                <c:pt idx="16">
                  <c:v>-14.148020654044746</c:v>
                </c:pt>
                <c:pt idx="17">
                  <c:v>22.97514033680834</c:v>
                </c:pt>
                <c:pt idx="18">
                  <c:v>-8.020867297032929</c:v>
                </c:pt>
                <c:pt idx="19">
                  <c:v>9.819213045019492</c:v>
                </c:pt>
                <c:pt idx="20">
                  <c:v>-19.431891542930924</c:v>
                </c:pt>
                <c:pt idx="21">
                  <c:v>18.91025641025641</c:v>
                </c:pt>
                <c:pt idx="22">
                  <c:v>-13.241239892183287</c:v>
                </c:pt>
                <c:pt idx="23">
                  <c:v>24.427184466019412</c:v>
                </c:pt>
                <c:pt idx="24">
                  <c:v>7.990012484394504</c:v>
                </c:pt>
                <c:pt idx="25">
                  <c:v>5.260115606936422</c:v>
                </c:pt>
                <c:pt idx="26">
                  <c:v>-11.449752883031305</c:v>
                </c:pt>
                <c:pt idx="27">
                  <c:v>10.077519379844958</c:v>
                </c:pt>
                <c:pt idx="28">
                  <c:v>11.9718309859155</c:v>
                </c:pt>
                <c:pt idx="29">
                  <c:v>40.88050314465408</c:v>
                </c:pt>
                <c:pt idx="30">
                  <c:v>-15.625</c:v>
                </c:pt>
                <c:pt idx="31">
                  <c:v>-6.8783068783068835</c:v>
                </c:pt>
                <c:pt idx="32">
                  <c:v>15.909090909090917</c:v>
                </c:pt>
                <c:pt idx="33">
                  <c:v>3.9215686274509887</c:v>
                </c:pt>
                <c:pt idx="34">
                  <c:v>41.69811320754717</c:v>
                </c:pt>
                <c:pt idx="35">
                  <c:v>1.1984021304926706</c:v>
                </c:pt>
                <c:pt idx="36">
                  <c:v>-6.578947368421051</c:v>
                </c:pt>
                <c:pt idx="37">
                  <c:v>-26.76056338028169</c:v>
                </c:pt>
                <c:pt idx="38">
                  <c:v>25.0</c:v>
                </c:pt>
                <c:pt idx="39">
                  <c:v>-26.15384615384615</c:v>
                </c:pt>
                <c:pt idx="40">
                  <c:v>18.75</c:v>
                </c:pt>
                <c:pt idx="41">
                  <c:v>-11.403508771929827</c:v>
                </c:pt>
                <c:pt idx="42">
                  <c:v>2.970297029702973</c:v>
                </c:pt>
                <c:pt idx="43">
                  <c:v>6.346153846153846</c:v>
                </c:pt>
              </c:numCache>
            </c:numRef>
          </c:yVal>
          <c:smooth val="0"/>
        </c:ser>
        <c:axId val="70010"/>
        <c:axId val="70020"/>
      </c:scatterChart>
      <c:valAx>
        <c:axId val="70010"/>
        <c:scaling>
          <c:orientation val="minMax"/>
          <c:max val="2.5"/>
          <c:min val="-1.5"/>
        </c:scaling>
        <c:delete val="0"/>
        <c:axPos val="b"/>
        <c:numFmt formatCode="0" sourceLinked="0"/>
        <c:majorTickMark val="none"/>
        <c:minorTickMark val="none"/>
        <c:tickLblPos val="low"/>
        <c:spPr>
          <a:ln w="6350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70020"/>
        <c:crossesAt val="-40"/>
        <c:crossBetween val="midCat"/>
        <c:majorUnit val="0.5"/>
      </c:valAx>
      <c:valAx>
        <c:axId val="70020"/>
        <c:scaling>
          <c:orientation val="minMax"/>
          <c:max val="60"/>
          <c:min val="-4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70010"/>
        <c:crossesAt val="-1.5"/>
        <c:crossBetween val="midCat"/>
        <c:majorUnit val="2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7"/>
          <c:y val="0.05"/>
          <c:w val="0.92"/>
          <c:h val="0.8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E75B6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3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4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5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6"/>
            <c:invertIfNegative val="0"/>
            <c:bubble3D val="0"/>
            <c:spPr>
              <a:solidFill>
                <a:srgbClr val="2E7D32"/>
              </a:solidFill>
            </c:spPr>
          </c:dPt>
          <c:dPt>
            <c:idx val="7"/>
            <c:invertIfNegative val="0"/>
            <c:bubble3D val="0"/>
            <c:spPr>
              <a:solidFill>
                <a:srgbClr val="1F3864"/>
              </a:solidFill>
            </c:spPr>
          </c:dPt>
          <c:cat>
            <c:strRef>
              <c:f>Sheet1!$A$2:$A$9</c:f>
              <c:strCache>
                <c:ptCount val="8"/>
                <c:pt idx="0">
                  <c:v>Last year</c:v>
                </c:pt>
                <c:pt idx="1">
                  <c:v>Trend 8 y</c:v>
                </c:pt>
                <c:pt idx="2">
                  <c:v>Avg 3 y</c:v>
                </c:pt>
                <c:pt idx="3">
                  <c:v>Avg 2 y</c:v>
                </c:pt>
                <c:pt idx="4">
                  <c:v>Model*</c:v>
                </c:pt>
                <c:pt idx="5">
                  <c:v>Model+heat</c:v>
                </c:pt>
                <c:pt idx="6">
                  <c:v>Mix</c:v>
                </c:pt>
                <c:pt idx="7">
                  <c:v>USDA May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14.511296645774237</c:v>
                </c:pt>
                <c:pt idx="1">
                  <c:v>14.057085992143092</c:v>
                </c:pt>
                <c:pt idx="2">
                  <c:v>13.103302311269793</c:v>
                </c:pt>
                <c:pt idx="3">
                  <c:v>12.134963724505326</c:v>
                </c:pt>
                <c:pt idx="4">
                  <c:v>12.46433415769435</c:v>
                </c:pt>
                <c:pt idx="5">
                  <c:v>10.52795508947989</c:v>
                </c:pt>
                <c:pt idx="6">
                  <c:v>10.877187188279278</c:v>
                </c:pt>
                <c:pt idx="7">
                  <c:v>11.550279067917609</c:v>
                </c:pt>
              </c:numCache>
            </c:numRef>
          </c:val>
        </c:ser>
        <c:gapWidth val="45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16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4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07"/>
          <c:y val="0.04"/>
          <c:w val="0.91"/>
          <c:h val="0.8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2024/25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31 Oct 2025</c:v>
                </c:pt>
                <c:pt idx="1">
                  <c:v>3 Mar 2026</c:v>
                </c:pt>
                <c:pt idx="2">
                  <c:v>30 Apr 2026</c:v>
                </c:pt>
                <c:pt idx="3">
                  <c:v>1 Jul 2026</c:v>
                </c:pt>
                <c:pt idx="4">
                  <c:v>14 Jul 2026</c:v>
                </c:pt>
                <c:pt idx="5">
                  <c:v>Full year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0.022580240000000005</c:v>
                </c:pt>
                <c:pt idx="1">
                  <c:v>1.918225</c:v>
                </c:pt>
                <c:pt idx="2">
                  <c:v>3.6</c:v>
                </c:pt>
                <c:pt idx="3">
                  <c:v>5.773579</c:v>
                </c:pt>
                <c:pt idx="4">
                  <c:v>5.51</c:v>
                </c:pt>
                <c:pt idx="5">
                  <c:v>6.11731313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2025/26</c:v>
                </c:pt>
              </c:strCache>
            </c:strRef>
          </c:tx>
          <c:spPr>
            <a:solidFill>
              <a:srgbClr val="1F3864"/>
            </a:solidFill>
          </c:spPr>
          <c:invertIfNegative val="0"/>
          <c:cat>
            <c:strRef>
              <c:f>Sheet1!$A$2:$A$7</c:f>
              <c:strCache>
                <c:ptCount val="6"/>
                <c:pt idx="0">
                  <c:v>31 Oct 2025</c:v>
                </c:pt>
                <c:pt idx="1">
                  <c:v>3 Mar 2026</c:v>
                </c:pt>
                <c:pt idx="2">
                  <c:v>30 Apr 2026</c:v>
                </c:pt>
                <c:pt idx="3">
                  <c:v>1 Jul 2026</c:v>
                </c:pt>
                <c:pt idx="4">
                  <c:v>14 Jul 2026</c:v>
                </c:pt>
                <c:pt idx="5">
                  <c:v>Full year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0.051183910000000006</c:v>
                </c:pt>
                <c:pt idx="1">
                  <c:v>3.023652</c:v>
                </c:pt>
                <c:pt idx="2">
                  <c:v>4.97</c:v>
                </c:pt>
                <c:pt idx="3">
                  <c:v>6.66392</c:v>
                </c:pt>
                <c:pt idx="4">
                  <c:v>6.85339059</c:v>
                </c:pt>
                <c:pt idx="5">
                  <c:v>7.243655295</c:v>
                </c:pt>
              </c:numCache>
            </c:numRef>
          </c:val>
        </c:ser>
        <c:gapWidth val="60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8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roundedCorners val="0"/>
  <c:chart>
    <c:autoTitleDeleted val="1"/>
    <c:plotArea>
      <c:layout>
        <c:manualLayout>
          <c:layoutTarget val="inner"/>
          <c:xMode val="edge"/>
          <c:yMode val="edge"/>
          <c:x val="0.1"/>
          <c:y val="0.05"/>
          <c:w val="0.88"/>
          <c:h val="0.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D9D9D9"/>
            </a:solidFill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</c:spPr>
          </c:dPt>
          <c:dPt>
            <c:idx val="1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2"/>
            <c:invertIfNegative val="0"/>
            <c:bubble3D val="0"/>
            <c:spPr>
              <a:solidFill>
                <a:srgbClr val="2E75B6"/>
              </a:solidFill>
            </c:spPr>
          </c:dPt>
          <c:dPt>
            <c:idx val="3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4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5"/>
            <c:invertIfNegative val="0"/>
            <c:bubble3D val="0"/>
            <c:spPr>
              <a:solidFill>
                <a:srgbClr val="C55A11"/>
              </a:solidFill>
            </c:spPr>
          </c:dPt>
          <c:dPt>
            <c:idx val="6"/>
            <c:invertIfNegative val="0"/>
            <c:bubble3D val="0"/>
            <c:spPr>
              <a:solidFill>
                <a:srgbClr val="2E7D32"/>
              </a:solidFill>
            </c:spPr>
          </c:dPt>
          <c:cat>
            <c:strRef>
              <c:f>Sheet1!$A$2:$A$8</c:f>
              <c:strCache>
                <c:ptCount val="7"/>
                <c:pt idx="0">
                  <c:v>USDA</c:v>
                </c:pt>
                <c:pt idx="1">
                  <c:v>Avg 2 y</c:v>
                </c:pt>
                <c:pt idx="2">
                  <c:v>No heat</c:v>
                </c:pt>
                <c:pt idx="3">
                  <c:v>Mild</c:v>
                </c:pt>
                <c:pt idx="4">
                  <c:v>Central</c:v>
                </c:pt>
                <c:pt idx="5">
                  <c:v>Hot</c:v>
                </c:pt>
                <c:pt idx="6">
                  <c:v>Mix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6.03</c:v>
                </c:pt>
                <c:pt idx="1">
                  <c:v>5.606814748093221</c:v>
                </c:pt>
                <c:pt idx="2">
                  <c:v>6.3902058305563685</c:v>
                </c:pt>
                <c:pt idx="3">
                  <c:v>5.778898675116596</c:v>
                </c:pt>
                <c:pt idx="4">
                  <c:v>5.475853075469783</c:v>
                </c:pt>
                <c:pt idx="5">
                  <c:v>5.188699195098259</c:v>
                </c:pt>
                <c:pt idx="6">
                  <c:v>5.540947011291085</c:v>
                </c:pt>
              </c:numCache>
            </c:numRef>
          </c:val>
        </c:ser>
        <c:gapWidth val="45"/>
        <c:overlap val="0"/>
        <c:axId val="50010"/>
        <c:axId val="50020"/>
      </c:barChart>
      <c:catAx>
        <c:axId val="5001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9525">
            <a:solidFill>
              <a:srgbClr val="B7C0C5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20"/>
        <c:crosses val="autoZero"/>
        <c:auto val="1"/>
        <c:lblAlgn val="ctr"/>
        <c:lblOffset val="100"/>
        <c:noMultiLvlLbl val="0"/>
      </c:catAx>
      <c:valAx>
        <c:axId val="50020"/>
        <c:scaling>
          <c:orientation val="minMax"/>
          <c:max val="7"/>
          <c:min val="0"/>
        </c:scaling>
        <c:delete val="0"/>
        <c:axPos val="l"/>
        <c:majorGridlines>
          <c:spPr>
            <a:ln w="6350">
              <a:solidFill>
                <a:srgbClr val="E3E8EB"/>
              </a:solidFill>
            </a:ln>
          </c:spPr>
        </c:majorGridlines>
        <c:numFmt formatCode="0" sourceLinked="0"/>
        <c:majorTickMark val="none"/>
        <c:minorTickMark val="none"/>
        <c:tickLblPos val="low"/>
        <c:spPr>
          <a:ln w="6350">
            <a:solidFill>
              <a:srgbClr val="FFFFFF"/>
            </a:solidFill>
          </a:ln>
        </c:spPr>
        <c:txPr>
          <a:bodyPr/>
          <a:lstStyle/>
          <a:p>
            <a:pPr>
              <a:defRPr sz="800" b="0">
                <a:solidFill>
                  <a:srgbClr val="5B6770"/>
                </a:solidFill>
                <a:latin typeface="Arial"/>
                <a:cs typeface="Arial"/>
              </a:defRPr>
            </a:pPr>
            <a:endParaRPr lang="fr-FR"/>
          </a:p>
        </c:txPr>
        <c:crossAx val="50010"/>
        <c:crosses val="autoZero"/>
        <c:crossBetween val="between"/>
        <c:majorUnit val="1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sz="1000" b="0">
          <a:solidFill>
            <a:srgbClr val="5B6770"/>
          </a:solidFill>
          <a:latin typeface="Arial"/>
          <a:cs typeface="Arial"/>
        </a:defRPr>
      </a:pPr>
      <a:endParaRPr lang="fr-FR"/>
    </a:p>
  </c:txPr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titleStyle>
    <p:body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3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4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5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6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Output follows fertiliser, one-off shocks and pre-harvest heat, not rain or El Niño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685800" y="713232"/>
            <a:ext cx="10881360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0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Tested on 44 crop years (1982/83–2025/26): each driver against the change in output the same crop year; "robust" = survives the correction for testing 14 drivers.</a:t>
            </a:r>
          </a:p>
          <a:p>
            <a:pPr algn="l" marL="201168" indent="-201168">
              <a:spcBef>
                <a:spcPts val="0"/>
              </a:spcBef>
              <a:spcAft>
                <a:spcPts val="100"/>
              </a:spcAft>
              <a:buFont typeface="Arial"/>
              <a:buChar char="•"/>
            </a:pPr>
            <a:r>
              <a:rPr lang="en-GB" sz="1000" dirty="0">
                <a:solidFill>
                  <a:srgbClr val="262626"/>
                </a:solidFill>
                <a:highlight>
                  <a:srgbClr val="FFFF00"/>
                </a:highlight>
                <a:latin typeface="Arial"/>
                <a:cs typeface="Arial"/>
              </a:rPr>
              <a:t>Two drivers survive: nitrogen use (+0,75) and last year's change (−0,52: a shock is not repeated). Price and dry-season rain pass alone only. Added after: heat in Sep–Oct in the coffee zones (−0,45).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11480" y="1572768"/>
            <a:ext cx="324612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Driver (same crop year as the output)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57600" y="1572768"/>
            <a:ext cx="41148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069080" y="1572768"/>
            <a:ext cx="59436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663440" y="1572768"/>
            <a:ext cx="64008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303520" y="1572768"/>
            <a:ext cx="64008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Holm p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943600" y="1572768"/>
            <a:ext cx="160020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FFFFFF"/>
                </a:solidFill>
                <a:latin typeface="Arial"/>
                <a:cs typeface="Arial"/>
              </a:rPr>
              <a:t>Verdict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1480" y="1883664"/>
            <a:ext cx="3246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Nitrogen use change (FAOSTAT)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657600" y="1883664"/>
            <a:ext cx="4114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20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069080" y="1883664"/>
            <a:ext cx="594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0,75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63440" y="1883664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&lt; 0,001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303520" y="1883664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0,00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5943600" y="1883664"/>
            <a:ext cx="16002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2E7D32"/>
                </a:solidFill>
                <a:latin typeface="Arial"/>
                <a:cs typeface="Arial"/>
              </a:rPr>
              <a:t>robust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11480" y="2148840"/>
            <a:ext cx="324612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Last year's change (mean reversion)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3657600" y="2148840"/>
            <a:ext cx="4114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069080" y="2148840"/>
            <a:ext cx="59436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−0,52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663440" y="2148840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&lt; 0,001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303520" y="2148840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0,01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5943600" y="2148840"/>
            <a:ext cx="160020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2E7D32"/>
                </a:solidFill>
                <a:latin typeface="Arial"/>
                <a:cs typeface="Arial"/>
              </a:rPr>
              <a:t>robust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411480" y="2414016"/>
            <a:ext cx="3246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Coffee / urea price ratio change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3657600" y="2414016"/>
            <a:ext cx="4114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069080" y="2414016"/>
            <a:ext cx="594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0,37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663440" y="2414016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0,015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303520" y="2414016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0,18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943600" y="2414016"/>
            <a:ext cx="16002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C55A11"/>
                </a:solidFill>
                <a:latin typeface="Arial"/>
                <a:cs typeface="Arial"/>
              </a:rPr>
              <a:t>weak: passes alone only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1480" y="2679192"/>
            <a:ext cx="324612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Rain Dec–Mar (before flowering)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3657600" y="2679192"/>
            <a:ext cx="4114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069080" y="2679192"/>
            <a:ext cx="59436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0,34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663440" y="2679192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0,023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303520" y="2679192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0,26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5943600" y="2679192"/>
            <a:ext cx="160020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C55A11"/>
                </a:solidFill>
                <a:latin typeface="Arial"/>
                <a:cs typeface="Arial"/>
              </a:rPr>
              <a:t>weak: passes alone only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11480" y="2944368"/>
            <a:ext cx="3246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World arabica price change, year 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3657600" y="2944368"/>
            <a:ext cx="4114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4069080" y="2944368"/>
            <a:ext cx="594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0,33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663440" y="2944368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0,027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303520" y="2944368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0,27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5943600" y="2944368"/>
            <a:ext cx="16002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C55A11"/>
                </a:solidFill>
                <a:latin typeface="Arial"/>
                <a:cs typeface="Arial"/>
              </a:rPr>
              <a:t>weak: passes alone only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11480" y="3209544"/>
            <a:ext cx="324612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Coffee / urea ratio vs 5-year mean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3657600" y="3209544"/>
            <a:ext cx="4114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4069080" y="3209544"/>
            <a:ext cx="59436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0,32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663440" y="3209544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0,034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303520" y="3209544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0,31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5943600" y="3209544"/>
            <a:ext cx="160020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C55A11"/>
                </a:solidFill>
                <a:latin typeface="Arial"/>
                <a:cs typeface="Arial"/>
              </a:rPr>
              <a:t>weak: passes alone only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11480" y="3474720"/>
            <a:ext cx="3246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Max. temperature Mar–May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3657600" y="3474720"/>
            <a:ext cx="4114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069080" y="3474720"/>
            <a:ext cx="594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0,20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663440" y="3474720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0,201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5303520" y="3474720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1,00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943600" y="3474720"/>
            <a:ext cx="16002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7F7F7F"/>
                </a:solidFill>
                <a:latin typeface="Arial"/>
                <a:cs typeface="Arial"/>
              </a:rPr>
              <a:t>no link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11480" y="3739896"/>
            <a:ext cx="324612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Rain Apr–May (flowering, fruit set)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57600" y="3739896"/>
            <a:ext cx="4114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069080" y="3739896"/>
            <a:ext cx="59436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−0,10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663440" y="3739896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0,509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5303520" y="3739896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1,00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5943600" y="3739896"/>
            <a:ext cx="160020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7F7F7F"/>
                </a:solidFill>
                <a:latin typeface="Arial"/>
                <a:cs typeface="Arial"/>
              </a:rPr>
              <a:t>no link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11480" y="4005072"/>
            <a:ext cx="3246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Rain Jun–Oct (fruit fill)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657600" y="4005072"/>
            <a:ext cx="4114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069080" y="4005072"/>
            <a:ext cx="594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0,10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663440" y="4005072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0,517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5303520" y="4005072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1,00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5943600" y="4005072"/>
            <a:ext cx="16002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7F7F7F"/>
                </a:solidFill>
                <a:latin typeface="Arial"/>
                <a:cs typeface="Arial"/>
              </a:rPr>
              <a:t>no link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11480" y="4270248"/>
            <a:ext cx="324612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Price change a year earlier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657600" y="4270248"/>
            <a:ext cx="4114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069080" y="4270248"/>
            <a:ext cx="59436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−0,08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4663440" y="4270248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0,622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303520" y="4270248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1,00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5943600" y="4270248"/>
            <a:ext cx="160020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7F7F7F"/>
                </a:solidFill>
                <a:latin typeface="Arial"/>
                <a:cs typeface="Arial"/>
              </a:rPr>
              <a:t>no link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11480" y="4535424"/>
            <a:ext cx="3246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Rain May–Oct of the year before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657600" y="4535424"/>
            <a:ext cx="4114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069080" y="4535424"/>
            <a:ext cx="594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−0,07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4663440" y="4535424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0,644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5303520" y="4535424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1,00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5943600" y="4535424"/>
            <a:ext cx="16002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7F7F7F"/>
                </a:solidFill>
                <a:latin typeface="Arial"/>
                <a:cs typeface="Arial"/>
              </a:rPr>
              <a:t>no link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411480" y="4800600"/>
            <a:ext cx="324612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Price level vs its 5-year mean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657600" y="4800600"/>
            <a:ext cx="4114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4069080" y="4800600"/>
            <a:ext cx="59436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−0,03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4663440" y="4800600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0,855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5303520" y="4800600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1,00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943600" y="4800600"/>
            <a:ext cx="160020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7F7F7F"/>
                </a:solidFill>
                <a:latin typeface="Arial"/>
                <a:cs typeface="Arial"/>
              </a:rPr>
              <a:t>no link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411480" y="5065776"/>
            <a:ext cx="3246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El Niño index Jun–Aug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3657600" y="5065776"/>
            <a:ext cx="4114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069080" y="5065776"/>
            <a:ext cx="594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−0,01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4663440" y="5065776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0,944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5303520" y="5065776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1,00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5943600" y="5065776"/>
            <a:ext cx="16002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7F7F7F"/>
                </a:solidFill>
                <a:latin typeface="Arial"/>
                <a:cs typeface="Arial"/>
              </a:rPr>
              <a:t>no link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411480" y="5330952"/>
            <a:ext cx="324612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El Niño index Dec–Feb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3657600" y="5330952"/>
            <a:ext cx="4114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4069080" y="5330952"/>
            <a:ext cx="59436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−0,01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4663440" y="5330952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0,958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5303520" y="5330952"/>
            <a:ext cx="64008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1,00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5943600" y="5330952"/>
            <a:ext cx="1600200" cy="26517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7F7F7F"/>
                </a:solidFill>
                <a:latin typeface="Arial"/>
                <a:cs typeface="Arial"/>
              </a:rPr>
              <a:t>no link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11480" y="5596128"/>
            <a:ext cx="324612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262626"/>
                </a:solidFill>
                <a:latin typeface="Arial"/>
                <a:cs typeface="Arial"/>
              </a:rPr>
              <a:t>Max. temperature Sep–Oct, coffee zones (added)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3657600" y="5596128"/>
            <a:ext cx="4114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44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4069080" y="5596128"/>
            <a:ext cx="59436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−0,45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4663440" y="5596128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0,002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5303520" y="5596128"/>
            <a:ext cx="64008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–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5943600" y="5596128"/>
            <a:ext cx="1600200" cy="2651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b="1" dirty="0">
                <a:solidFill>
                  <a:srgbClr val="C55A11"/>
                </a:solidFill>
                <a:latin typeface="Arial"/>
                <a:cs typeface="Arial"/>
              </a:rPr>
              <a:t>strong hint: tried 4 windows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7863840" y="157276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1F3864"/>
                </a:solidFill>
                <a:latin typeface="Arial"/>
                <a:cs typeface="Arial"/>
              </a:rPr>
              <a:t>The chain, crop year t (harvest Nov t – Mar t+1)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7863840" y="1901952"/>
            <a:ext cx="39319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dirty="0">
                <a:solidFill>
                  <a:srgbClr val="1F3864"/>
                </a:solidFill>
                <a:latin typeface="Arial"/>
                <a:cs typeface="Arial"/>
              </a:rPr>
              <a:t>1  Cash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dirty="0">
                <a:solidFill>
                  <a:srgbClr val="262626"/>
                </a:solidFill>
                <a:latin typeface="Arial"/>
                <a:cs typeface="Arial"/>
              </a:rPr>
              <a:t>price received for the last crop (r = +0,47 with nitrogen, p = 0,06) and state programmes (Bono 2020: 25 188 t of fertiliser)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7863840" y="2688336"/>
            <a:ext cx="3931920" cy="713232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dirty="0">
                <a:solidFill>
                  <a:srgbClr val="1F3864"/>
                </a:solidFill>
                <a:latin typeface="Arial"/>
                <a:cs typeface="Arial"/>
              </a:rPr>
              <a:t>2  Fertiliser, Apr–Sep t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dirty="0">
                <a:solidFill>
                  <a:srgbClr val="262626"/>
                </a:solidFill>
                <a:latin typeface="Arial"/>
                <a:cs typeface="Arial"/>
              </a:rPr>
              <a:t>nitrogen use and output move together: r = +0,75, still +0,69 with any year left out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863840" y="3474720"/>
            <a:ext cx="3931920" cy="713232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dirty="0">
                <a:solidFill>
                  <a:srgbClr val="1F3864"/>
                </a:solidFill>
                <a:latin typeface="Arial"/>
                <a:cs typeface="Arial"/>
              </a:rPr>
              <a:t>3  Fruit set and fill, May–Oct t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dirty="0">
                <a:solidFill>
                  <a:srgbClr val="262626"/>
                </a:solidFill>
                <a:latin typeface="Arial"/>
                <a:cs typeface="Arial"/>
              </a:rPr>
              <a:t>rain: no reliable link in 44 years; heat in Sep–Oct, just before harvest: r = −0,45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7863840" y="4261104"/>
            <a:ext cx="3931920" cy="713232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dirty="0">
                <a:solidFill>
                  <a:srgbClr val="1F3864"/>
                </a:solidFill>
                <a:latin typeface="Arial"/>
                <a:cs typeface="Arial"/>
              </a:rPr>
              <a:t>4  Shocks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dirty="0">
                <a:solidFill>
                  <a:srgbClr val="262626"/>
                </a:solidFill>
                <a:latin typeface="Arial"/>
                <a:cs typeface="Arial"/>
              </a:rPr>
              <a:t>rust 2012/13 (−16 %), price slump 2019/20 (−27 %), rust after Eta/Iota 2021/22 (−26 %)… then back to trend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863840" y="5047488"/>
            <a:ext cx="3931920" cy="71323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dirty="0">
                <a:solidFill>
                  <a:srgbClr val="1F3864"/>
                </a:solidFill>
                <a:latin typeface="Arial"/>
                <a:cs typeface="Arial"/>
              </a:rPr>
              <a:t>5  What USDA calls yield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dirty="0">
                <a:solidFill>
                  <a:srgbClr val="262626"/>
                </a:solidFill>
                <a:latin typeface="Arial"/>
                <a:cs typeface="Arial"/>
              </a:rPr>
              <a:t>production ÷ bearing area: area re-counts (2006, 2012, 2013, 2016) move it on their own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Tests: research/honduras/yield_drivers/analysis.py and robustness.py. r = Pearson correlation of year-on-year log changes; p = 5 000 random shuffles; Holm = correction for 14 tests. USDA PSD (production, 1 000 60-kg bags, crop year Oct–Sep, July 2026 download); FAOSTAT nitrogen use (all crops, 2004–2024); World Bank Pink Sheet; GPCC rain at 3 coffee towns; NOAA ONI; NASA POWER; ERA5-Land max. temperature at 10 coffee points. Bono: USDA GAIN 2021.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Each big fall has a documented cause, and each was followed by a rebound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411480" y="1143000"/>
          <a:ext cx="822960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2800766" y="24016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+41 %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48653" y="2852228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−16 %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40204" y="141817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+42 %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5583867" y="2607640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−27 %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931754" y="1938242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+25 %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79642" y="281360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−26 %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7530" y="235017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+19 %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1480" y="90525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USDA production, million 60-kg bags</a:t>
            </a:r>
          </a:p>
        </p:txBody>
      </p:sp>
      <p:sp>
        <p:nvSpPr>
          <p:cNvPr id="13" name="Shape 13"/>
          <p:cNvSpPr/>
          <p:nvPr/>
        </p:nvSpPr>
        <p:spPr>
          <a:xfrm>
            <a:off x="7963801" y="2318601"/>
            <a:ext cx="146304" cy="146304"/>
          </a:xfrm>
          <a:prstGeom prst="ellipse">
            <a:avLst/>
          </a:prstGeom>
          <a:solidFill>
            <a:srgbClr val="FFFFFF"/>
          </a:solidFill>
          <a:ln w="22225">
            <a:solidFill>
              <a:srgbClr val="C55A11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6619633" y="1916265"/>
            <a:ext cx="137160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C55A11"/>
                </a:solidFill>
                <a:latin typeface="Arial"/>
                <a:cs typeface="Arial"/>
              </a:rPr>
              <a:t>2025/26 implied by exports: 6,0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915400" y="1143000"/>
            <a:ext cx="28803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1F3864"/>
                </a:solidFill>
                <a:latin typeface="Arial"/>
                <a:cs typeface="Arial"/>
              </a:rPr>
              <a:t>What happened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15400" y="146304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2E75B6"/>
                </a:solidFill>
                <a:latin typeface="Arial"/>
                <a:cs typeface="Arial"/>
              </a:rPr>
              <a:t>2011/12  +41 %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price 5,98 $/kg (record at the time), nitrogen +53 %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15400" y="208483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C00000"/>
                </a:solidFill>
                <a:latin typeface="Arial"/>
                <a:cs typeface="Arial"/>
              </a:rPr>
              <a:t>2012/13  −16 %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leaf rust on 25 % of the area (71 000 ha); price −31 %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915400" y="2706624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2E75B6"/>
                </a:solidFill>
                <a:latin typeface="Arial"/>
                <a:cs typeface="Arial"/>
              </a:rPr>
              <a:t>2016/17  +42 %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plantings renewed after the rust come into bearing (USDA); nitrogen +27 %; urea 194 $/t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915400" y="3328416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C00000"/>
                </a:solidFill>
                <a:latin typeface="Arial"/>
                <a:cs typeface="Arial"/>
              </a:rPr>
              <a:t>2019/20  −27 %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price 2,88 $/kg, lowest since 2007, under most cost estimates; nitrogen −30 %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8915400" y="3950208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2E75B6"/>
                </a:solidFill>
                <a:latin typeface="Arial"/>
                <a:cs typeface="Arial"/>
              </a:rPr>
              <a:t>2020/21  +25 %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Bono Cafetalero: 25 188 t of free fertiliser; nitrogen +49 %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915400" y="4572000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C00000"/>
                </a:solidFill>
                <a:latin typeface="Arial"/>
                <a:cs typeface="Arial"/>
              </a:rPr>
              <a:t>2021/22  −26 %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rust after hurricanes Eta and Iota (15–25 % incidence in 5 departments); nitrogen −18 %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915400" y="5193792"/>
            <a:ext cx="2880360" cy="56692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C55A11"/>
                </a:solidFill>
                <a:latin typeface="Arial"/>
                <a:cs typeface="Arial"/>
              </a:rPr>
              <a:t>2025/26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30" dirty="0">
                <a:solidFill>
                  <a:srgbClr val="262626"/>
                </a:solidFill>
                <a:latin typeface="Arial"/>
                <a:cs typeface="Arial"/>
              </a:rPr>
              <a:t>record prices; IHCAFE exports about +18 % on 2024/25, USDA output only +6 %</a:t>
            </a:r>
          </a:p>
        </p:txBody>
      </p:sp>
      <p:sp>
        <p:nvSpPr>
          <p:cNvPr id="23" name="Shape 23"/>
          <p:cNvSpPr/>
          <p:nvPr/>
        </p:nvSpPr>
        <p:spPr>
          <a:xfrm>
            <a:off x="914400" y="6080760"/>
            <a:ext cx="164592" cy="128016"/>
          </a:xfrm>
          <a:prstGeom prst="rect">
            <a:avLst/>
          </a:prstGeom>
          <a:solidFill>
            <a:srgbClr val="2E75B6"/>
          </a:solidFill>
          <a:ln>
            <a:noFill/>
          </a:ln>
        </p:spPr>
      </p:sp>
      <p:sp>
        <p:nvSpPr>
          <p:cNvPr id="24" name="TextBox 24"/>
          <p:cNvSpPr txBox="1"/>
          <p:nvPr/>
        </p:nvSpPr>
        <p:spPr>
          <a:xfrm>
            <a:off x="1197864" y="6044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crop year</a:t>
            </a:r>
          </a:p>
        </p:txBody>
      </p:sp>
      <p:sp>
        <p:nvSpPr>
          <p:cNvPr id="25" name="Shape 25"/>
          <p:cNvSpPr/>
          <p:nvPr/>
        </p:nvSpPr>
        <p:spPr>
          <a:xfrm>
            <a:off x="1801551" y="6080760"/>
            <a:ext cx="164592" cy="128016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2085015" y="6044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documented crisis</a:t>
            </a:r>
          </a:p>
        </p:txBody>
      </p:sp>
      <p:sp>
        <p:nvSpPr>
          <p:cNvPr id="27" name="Shape 27"/>
          <p:cNvSpPr/>
          <p:nvPr/>
        </p:nvSpPr>
        <p:spPr>
          <a:xfrm>
            <a:off x="3111520" y="6080760"/>
            <a:ext cx="164592" cy="128016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3394984" y="6044184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2026/27 = USDA forecast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USDA PSD (production, 1 000 60-kg bags, crop year Oct–Sep, July 2026 download); causes: USDA GAIN 2014, 2016, 2017, 2020, 2021, 2022 (rust area, Bono, Eta/Iota incidence); World Bank arabica (calendar year); FAOSTAT nitrogen use (calendar year = the year the crop is fertilised). 2025/26 export-implied: Exports_nowcast sheet (IHCAFE exports as printed by La Prensa, 15 Jul 2026).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No on/off cycle: after a big year the crop returns to trend, it does not slump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411480" y="1097280"/>
          <a:ext cx="6766560" cy="48920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868680" y="6053328"/>
            <a:ext cx="64008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x: change in output last crop year · y: change this crop year (USDA production, 1982/83–2025/26, n = 44) · dashed: fitted line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589520" y="109728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1F3864"/>
                </a:solidFill>
                <a:latin typeface="Arial"/>
                <a:cs typeface="Arial"/>
              </a:rPr>
              <a:t>How to tell a cycle from one-off shocks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89520" y="1444752"/>
            <a:ext cx="228600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/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875520" y="1444752"/>
            <a:ext cx="96012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USDA production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835640" y="1444752"/>
            <a:ext cx="960120" cy="3291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IHCAFE exports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589520" y="1773936"/>
            <a:ext cx="2286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Correlation this year / last year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875520" y="1773936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−0,52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35640" y="1773936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−0,45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89520" y="2103120"/>
            <a:ext cx="22860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If shocks are one-off: −0,50, 95 % band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75520" y="2103120"/>
            <a:ext cx="96012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−0,67 to −0,27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835640" y="2103120"/>
            <a:ext cx="96012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−0,68 to −0,28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589520" y="2432304"/>
            <a:ext cx="2286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Implied link between yearly levels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875520" y="2432304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−0,04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835640" y="2432304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0,11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589520" y="2761488"/>
            <a:ext cx="228600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Direction flips (one-off: 67 %)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875520" y="2761488"/>
            <a:ext cx="96012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66 %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835640" y="2761488"/>
            <a:ext cx="960120" cy="3291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65 %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589520" y="3090672"/>
            <a:ext cx="22860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Years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875520" y="3090672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1981–2025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835640" y="3090672"/>
            <a:ext cx="96012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1971–2020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89520" y="3566160"/>
            <a:ext cx="4206240" cy="192024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dirty="0">
                <a:solidFill>
                  <a:srgbClr val="1F3864"/>
                </a:solidFill>
                <a:latin typeface="Arial"/>
                <a:cs typeface="Arial"/>
              </a:rPr>
              <a:t>Reading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An on/off cycle would give a correlation below −0,50 and flips more than 2 years in 3. The data sit exactly on the one-off value: the level of one year says nothing about the next (link ≈ 0).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So a record crop is followed by a smaller one only because the shock (price, fertiliser, weather, rust) is not repeated.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262626"/>
                </a:solidFill>
                <a:latin typeface="Arial"/>
                <a:cs typeface="Arial"/>
              </a:rPr>
              <a:t>For a forecast: start from the trend (average of recent years), not from last year's number and not from an "on" or "off" label.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Python: robustness.py (4 000 simulated series of one-off shocks give the band). USDA PSD (production, 1 000 60-kg bags, crop year Oct–Sep, July 2026 download); IHCAFE Resumen Informe 2020-2021 (exports 1970/71–2020/21, 46-kg bags).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Some "yield" jumps are USDA re-counting the area, not trees producing more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411480" y="1188720"/>
          <a:ext cx="813816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5"/>
          <p:cNvSpPr/>
          <p:nvPr/>
        </p:nvSpPr>
        <p:spPr>
          <a:xfrm>
            <a:off x="914400" y="5833872"/>
            <a:ext cx="164592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97864" y="579729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production change</a:t>
            </a:r>
          </a:p>
        </p:txBody>
      </p:sp>
      <p:sp>
        <p:nvSpPr>
          <p:cNvPr id="7" name="Shape 7"/>
          <p:cNvSpPr/>
          <p:nvPr/>
        </p:nvSpPr>
        <p:spPr>
          <a:xfrm>
            <a:off x="2277222" y="5833872"/>
            <a:ext cx="164592" cy="128016"/>
          </a:xfrm>
          <a:prstGeom prst="rect">
            <a:avLst/>
          </a:prstGeom>
          <a:solidFill>
            <a:srgbClr val="C55A11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2560686" y="579729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bearing-area change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869680" y="1188720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1F3864"/>
                </a:solidFill>
                <a:latin typeface="Arial"/>
                <a:cs typeface="Arial"/>
              </a:rPr>
              <a:t>Yield = production ÷ bearing area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869680" y="1536192"/>
            <a:ext cx="868680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Crop year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738360" y="1536192"/>
            <a:ext cx="685800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Output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424160" y="1536192"/>
            <a:ext cx="685800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Area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09960" y="1536192"/>
            <a:ext cx="685800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Yield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869680" y="1837944"/>
            <a:ext cx="868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06/07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738360" y="1837944"/>
            <a:ext cx="685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+8 %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424160" y="1837944"/>
            <a:ext cx="685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+25 %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109960" y="1837944"/>
            <a:ext cx="685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−14 %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869680" y="2139696"/>
            <a:ext cx="86868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12/13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738360" y="2139696"/>
            <a:ext cx="68580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−16 %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424160" y="2139696"/>
            <a:ext cx="68580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+9 %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09960" y="2139696"/>
            <a:ext cx="68580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−23 %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869680" y="2441448"/>
            <a:ext cx="8686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13/14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738360" y="2441448"/>
            <a:ext cx="685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−7 %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424160" y="2441448"/>
            <a:ext cx="685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−20 %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1109960" y="2441448"/>
            <a:ext cx="68580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+17 %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69680" y="2743200"/>
            <a:ext cx="86868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16/17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9738360" y="2743200"/>
            <a:ext cx="68580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+42 %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424160" y="2743200"/>
            <a:ext cx="68580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+17 %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109960" y="2743200"/>
            <a:ext cx="68580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+21 %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69680" y="3182112"/>
            <a:ext cx="2926080" cy="18288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Variance of the yearly yield change: 0,0264; of the area change alone: 0,0072 (27 % of it).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2013/14: yield +17 % while output fell 7 %: the area was cut by 20 %.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b="1" dirty="0">
                <a:solidFill>
                  <a:srgbClr val="262626"/>
                </a:solidFill>
                <a:latin typeface="Arial"/>
                <a:cs typeface="Arial"/>
              </a:rPr>
              <a:t>Use production (and IHCAFE exports) to forecast; treat the USDA yield as a derived number.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USDA PSD (production, 1 000 60-kg bags, crop year Oct–Sep, July 2026 download); USDA FAS Coffee Annual Honduras 2011–2026 (bearing area, kha). Changes in %; the table lists the years when the bearing area moved by more than 8 %.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Nitrogen is the tightest link: output moves with fertiliser use (r = +0,75)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411480" y="1188720"/>
          <a:ext cx="74980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Shape 5"/>
          <p:cNvSpPr/>
          <p:nvPr/>
        </p:nvSpPr>
        <p:spPr>
          <a:xfrm>
            <a:off x="914400" y="5833872"/>
            <a:ext cx="164592" cy="128016"/>
          </a:xfrm>
          <a:prstGeom prst="rect">
            <a:avLst/>
          </a:prstGeom>
          <a:solidFill>
            <a:srgbClr val="7F9F3F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1197864" y="579729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nitrogen use change (FAOSTAT, calendar year t)</a:t>
            </a:r>
          </a:p>
        </p:txBody>
      </p:sp>
      <p:sp>
        <p:nvSpPr>
          <p:cNvPr id="7" name="Shape 7"/>
          <p:cNvSpPr/>
          <p:nvPr/>
        </p:nvSpPr>
        <p:spPr>
          <a:xfrm>
            <a:off x="3900099" y="5833872"/>
            <a:ext cx="164592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4183563" y="579729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production change, crop 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183880" y="1188720"/>
            <a:ext cx="36118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 b="1" dirty="0">
                <a:solidFill>
                  <a:srgbClr val="1F3864"/>
                </a:solidFill>
                <a:latin typeface="Arial"/>
                <a:cs typeface="Arial"/>
              </a:rPr>
              <a:t>What moves nitrogen use? (2005–2024)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183880" y="1536192"/>
            <a:ext cx="2331720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Nitrogen change vs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515600" y="1536192"/>
            <a:ext cx="640080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55680" y="1536192"/>
            <a:ext cx="640080" cy="301752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183880" y="1837944"/>
            <a:ext cx="2331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Output, same crop year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15600" y="1837944"/>
            <a:ext cx="6400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0,75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55680" y="1837944"/>
            <a:ext cx="6400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&lt; 0,001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183880" y="2139696"/>
            <a:ext cx="233172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Output of the crop before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515600" y="2139696"/>
            <a:ext cx="64008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−0,07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155680" y="2139696"/>
            <a:ext cx="64008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0,769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183880" y="2441448"/>
            <a:ext cx="2331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World arabica price, same year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515600" y="2441448"/>
            <a:ext cx="6400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0,28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1155680" y="2441448"/>
            <a:ext cx="6400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0,244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183880" y="2743200"/>
            <a:ext cx="233172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Coffee / urea price ratio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515600" y="2743200"/>
            <a:ext cx="64008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0,18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155680" y="2743200"/>
            <a:ext cx="64008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0,451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183880" y="3044952"/>
            <a:ext cx="233172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Urea price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515600" y="3044952"/>
            <a:ext cx="6400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0,02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1155680" y="3044952"/>
            <a:ext cx="640080" cy="30175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0,950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183880" y="3346704"/>
            <a:ext cx="233172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Export price of the crop before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0515600" y="3346704"/>
            <a:ext cx="64008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0,47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1155680" y="3346704"/>
            <a:ext cx="640080" cy="3017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0,055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183880" y="3758184"/>
            <a:ext cx="3611880" cy="219456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dirty="0">
                <a:solidFill>
                  <a:srgbClr val="262626"/>
                </a:solidFill>
                <a:latin typeface="Arial"/>
                <a:cs typeface="Arial"/>
              </a:rPr>
              <a:t>Nitrogen does not track the world price of the year; it follows (weakly) the price received for the previous crop, i.e. cash in hand, and state help (Bono 2020: nitrogen +49 %).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dirty="0">
                <a:solidFill>
                  <a:srgbClr val="262626"/>
                </a:solidFill>
                <a:latin typeface="Arial"/>
                <a:cs typeface="Arial"/>
              </a:rPr>
              <a:t>Part of the link can run backwards: growers fertilise more when the flowering promises a big crop. Either way fertiliser bought Apr–Sep is a leading sign of the crop.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dirty="0">
                <a:solidFill>
                  <a:srgbClr val="262626"/>
                </a:solidFill>
                <a:latin typeface="Arial"/>
                <a:cs typeface="Arial"/>
              </a:rPr>
              <a:t>FAOSTAT runs to 2024 (2022 imputed): for 2025–26 watch fertiliser imports and the urea price (+33 % in Jan–Aug 2026).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FAOSTAT Inputs/Fertilizers by nutrient (nitrogen, t N, all crops: coffee not separated). USDA PSD (production, 1 000 60-kg bags, crop year Oct–Sep, July 2026 download); World Bank Pink Sheet (arabica, urea). IHCAFE export price: Resumen Informe 2020-2021. Smallest r with any one year left out: 0,69.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Rain and El Niño do not track output; heat just before harvest does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480" y="1097280"/>
            <a:ext cx="1737360" cy="21945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El Niño year (ONI Oct–Dec ≥ 1)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48840" y="1097280"/>
            <a:ext cx="548640" cy="21945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ONI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97480" y="1097280"/>
            <a:ext cx="731520" cy="21945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Crop 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29000" y="1097280"/>
            <a:ext cx="731520" cy="21945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Crop t+1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1480" y="1316736"/>
            <a:ext cx="17373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82/83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48840" y="1316736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2,0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697480" y="1316736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+25 %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429000" y="1316736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−13 %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1480" y="1536192"/>
            <a:ext cx="173736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86/87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148840" y="1536192"/>
            <a:ext cx="54864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1,1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697480" y="1536192"/>
            <a:ext cx="73152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+45 %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29000" y="1536192"/>
            <a:ext cx="73152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+1 %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480" y="1755648"/>
            <a:ext cx="17373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87/88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148840" y="1755648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1,2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97480" y="1755648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+1 %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3429000" y="1755648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+5 %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1480" y="1975104"/>
            <a:ext cx="173736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91/92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148840" y="1975104"/>
            <a:ext cx="54864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1,2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2697480" y="1975104"/>
            <a:ext cx="73152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+34 %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3429000" y="1975104"/>
            <a:ext cx="73152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−12 %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1480" y="2194560"/>
            <a:ext cx="17373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97/98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148840" y="2194560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2,3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97480" y="2194560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+27 %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3429000" y="2194560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−14 %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1480" y="2414016"/>
            <a:ext cx="173736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02/03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148840" y="2414016"/>
            <a:ext cx="54864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1,2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97480" y="2414016"/>
            <a:ext cx="73152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−19 %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429000" y="2414016"/>
            <a:ext cx="73152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+19 %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1480" y="2633472"/>
            <a:ext cx="17373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09/10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148840" y="2633472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1,3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2697480" y="2633472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+10 %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3429000" y="2633472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+12 %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1480" y="2852928"/>
            <a:ext cx="173736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15/16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148840" y="2852928"/>
            <a:ext cx="54864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2,5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2697480" y="2852928"/>
            <a:ext cx="73152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+4 %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429000" y="2852928"/>
            <a:ext cx="73152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+42 %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411480" y="3072384"/>
            <a:ext cx="173736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18/19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148840" y="3072384"/>
            <a:ext cx="54864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1,0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2697480" y="3072384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−7 %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3429000" y="3072384"/>
            <a:ext cx="731520" cy="2194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−27 %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11480" y="3291840"/>
            <a:ext cx="173736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23/24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148840" y="3291840"/>
            <a:ext cx="54864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1,9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2697480" y="3291840"/>
            <a:ext cx="73152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−11 %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3429000" y="3291840"/>
            <a:ext cx="731520" cy="21945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+3 %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11480" y="352958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Crop t filled during the event, t+1 flowered after it: rises and falls alike.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411480" y="3840480"/>
            <a:ext cx="2651760" cy="2148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FFFFFF"/>
                </a:solidFill>
                <a:latin typeface="Arial"/>
                <a:cs typeface="Arial"/>
              </a:rPr>
              <a:t>vs output change, 1982–2025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063240" y="3840480"/>
            <a:ext cx="548640" cy="2148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FFFFFF"/>
                </a:solidFill>
                <a:latin typeface="Arial"/>
                <a:cs typeface="Arial"/>
              </a:rPr>
              <a:t>r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3611880" y="3840480"/>
            <a:ext cx="548640" cy="214884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FFFFFF"/>
                </a:solidFill>
                <a:latin typeface="Arial"/>
                <a:cs typeface="Arial"/>
              </a:rPr>
              <a:t>p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11480" y="4055364"/>
            <a:ext cx="265176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Rain Dec–Mar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3063240" y="4055364"/>
            <a:ext cx="54864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0,34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3611880" y="4055364"/>
            <a:ext cx="54864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0,02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411480" y="4270248"/>
            <a:ext cx="2651760" cy="2148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Rain Apr–May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3063240" y="4270248"/>
            <a:ext cx="548640" cy="2148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−0,10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3611880" y="4270248"/>
            <a:ext cx="548640" cy="2148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0,51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11480" y="4485132"/>
            <a:ext cx="265176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Rain Jun–Oct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063240" y="4485132"/>
            <a:ext cx="54864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0,10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3611880" y="4485132"/>
            <a:ext cx="54864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0,52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11480" y="4700016"/>
            <a:ext cx="2651760" cy="2148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El Niño index Dec–Feb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063240" y="4700016"/>
            <a:ext cx="548640" cy="2148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−0,01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611880" y="4700016"/>
            <a:ext cx="548640" cy="2148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0,96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411480" y="4914900"/>
            <a:ext cx="265176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El Niño index Jun–Aug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3063240" y="4914900"/>
            <a:ext cx="54864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−0,01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611880" y="4914900"/>
            <a:ext cx="54864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0,94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411480" y="5129784"/>
            <a:ext cx="2651760" cy="2148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Max. temp. Mar–May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3063240" y="5129784"/>
            <a:ext cx="548640" cy="2148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0,16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611880" y="5129784"/>
            <a:ext cx="548640" cy="2148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0,303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411480" y="5344668"/>
            <a:ext cx="265176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Max. temp. Jun–Aug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3063240" y="5344668"/>
            <a:ext cx="54864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−0,30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3611880" y="5344668"/>
            <a:ext cx="54864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0,048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411480" y="5559552"/>
            <a:ext cx="2651760" cy="2148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262626"/>
                </a:solidFill>
                <a:latin typeface="Arial"/>
                <a:cs typeface="Arial"/>
              </a:rPr>
              <a:t>Max. temp. Sep–Oct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3063240" y="5559552"/>
            <a:ext cx="548640" cy="2148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C00000"/>
                </a:solidFill>
                <a:latin typeface="Arial"/>
                <a:cs typeface="Arial"/>
              </a:rPr>
              <a:t>−0,45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611880" y="5559552"/>
            <a:ext cx="548640" cy="21488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0,002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411480" y="5774436"/>
            <a:ext cx="265176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262626"/>
                </a:solidFill>
                <a:latin typeface="Arial"/>
                <a:cs typeface="Arial"/>
              </a:rPr>
              <a:t>Sep–Oct, warming trend removed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3063240" y="5774436"/>
            <a:ext cx="54864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b="1" dirty="0">
                <a:solidFill>
                  <a:srgbClr val="C00000"/>
                </a:solidFill>
                <a:latin typeface="Arial"/>
                <a:cs typeface="Arial"/>
              </a:rPr>
              <a:t>−0,44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3611880" y="5774436"/>
            <a:ext cx="548640" cy="2148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262626"/>
                </a:solidFill>
                <a:latin typeface="Arial"/>
                <a:cs typeface="Arial"/>
              </a:rPr>
              <a:t>0,009</a:t>
            </a:r>
          </a:p>
        </p:txBody>
      </p:sp>
      <p:graphicFrame>
        <p:nvGraphicFramePr>
          <p:cNvPr id="79" name="Chart 79"/>
          <p:cNvGraphicFramePr/>
          <p:nvPr/>
        </p:nvGraphicFramePr>
        <p:xfrm>
          <a:off x="4434840" y="1097280"/>
          <a:ext cx="4480560" cy="4160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0" name="Shape 80"/>
          <p:cNvSpPr/>
          <p:nvPr/>
        </p:nvSpPr>
        <p:spPr>
          <a:xfrm>
            <a:off x="8328977" y="1263701"/>
            <a:ext cx="18288" cy="3494837"/>
          </a:xfrm>
          <a:prstGeom prst="rect">
            <a:avLst/>
          </a:prstGeom>
          <a:solidFill>
            <a:srgbClr val="C00000"/>
          </a:solidFill>
          <a:ln>
            <a:noFill/>
          </a:ln>
        </p:spPr>
      </p:sp>
      <p:sp>
        <p:nvSpPr>
          <p:cNvPr id="81" name="TextBox 81"/>
          <p:cNvSpPr txBox="1"/>
          <p:nvPr/>
        </p:nvSpPr>
        <p:spPr>
          <a:xfrm>
            <a:off x="7012241" y="11887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C00000"/>
                </a:solidFill>
                <a:latin typeface="Arial"/>
                <a:cs typeface="Arial"/>
              </a:rPr>
              <a:t>1–18 Sep 2026: +2,0 °C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4434840" y="5303520"/>
            <a:ext cx="4480560" cy="4114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80" dirty="0">
                <a:solidFill>
                  <a:srgbClr val="7F7F7F"/>
                </a:solidFill>
                <a:latin typeface="Arial"/>
                <a:cs typeface="Arial"/>
              </a:rPr>
              <a:t>x: max. temperature Sep–Oct, °C vs 1991–2020 (ERA5-Land, 10 coffee points) · y: output change, % · dashed: fitted line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9144000" y="1097280"/>
            <a:ext cx="2651760" cy="4892040"/>
          </a:xfrm>
          <a:prstGeom prst="rect">
            <a:avLst/>
          </a:prstGeom>
          <a:solidFill>
            <a:srgbClr val="FBE5D6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rgbClr val="1F3864"/>
                </a:solidFill>
                <a:latin typeface="Arial"/>
                <a:cs typeface="Arial"/>
              </a:rPr>
              <a:t>2026 so far (crop 2026/27)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dirty="0">
                <a:solidFill>
                  <a:srgbClr val="262626"/>
                </a:solidFill>
                <a:latin typeface="Arial"/>
                <a:cs typeface="Arial"/>
              </a:rPr>
              <a:t>Rain vs normal (GPCC, 3 towns)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dirty="0">
                <a:solidFill>
                  <a:srgbClr val="262626"/>
                </a:solidFill>
                <a:latin typeface="Arial"/>
                <a:cs typeface="Arial"/>
              </a:rPr>
              <a:t>Dec–Mar +43 % · Apr–May −10 %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dirty="0">
                <a:solidFill>
                  <a:srgbClr val="C00000"/>
                </a:solidFill>
                <a:latin typeface="Arial"/>
                <a:cs typeface="Arial"/>
              </a:rPr>
              <a:t>Jun–Aug −45 %: driest since 1981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dirty="0">
                <a:solidFill>
                  <a:srgbClr val="262626"/>
                </a:solidFill>
                <a:latin typeface="Arial"/>
                <a:cs typeface="Arial"/>
              </a:rPr>
              <a:t>Max. temperature vs normal (coffee zones)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dirty="0">
                <a:solidFill>
                  <a:srgbClr val="262626"/>
                </a:solidFill>
                <a:latin typeface="Arial"/>
                <a:cs typeface="Arial"/>
              </a:rPr>
              <a:t>Dec–Feb −0,9 °C · Mar–May −0,3 °C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dirty="0">
                <a:solidFill>
                  <a:srgbClr val="262626"/>
                </a:solidFill>
                <a:latin typeface="Arial"/>
                <a:cs typeface="Arial"/>
              </a:rPr>
              <a:t>Jun–Aug +0,9 °C (4th hottest)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b="1" dirty="0">
                <a:solidFill>
                  <a:srgbClr val="C00000"/>
                </a:solidFill>
                <a:latin typeface="Arial"/>
                <a:cs typeface="Arial"/>
              </a:rPr>
              <a:t>1–18 Sep +2,0 °C: warmer than any full September since 1981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b="1" dirty="0">
                <a:solidFill>
                  <a:srgbClr val="262626"/>
                </a:solidFill>
                <a:latin typeface="Arial"/>
                <a:cs typeface="Arial"/>
              </a:rPr>
              <a:t>Hottest Sep–Oct before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dirty="0">
                <a:solidFill>
                  <a:srgbClr val="262626"/>
                </a:solidFill>
                <a:latin typeface="Arial"/>
                <a:cs typeface="Arial"/>
              </a:rPr>
              <a:t>19/20  +1,6 °C → output −27 %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dirty="0">
                <a:solidFill>
                  <a:srgbClr val="262626"/>
                </a:solidFill>
                <a:latin typeface="Arial"/>
                <a:cs typeface="Arial"/>
              </a:rPr>
              <a:t>23/24  +1,4 °C → output −11 %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dirty="0">
                <a:solidFill>
                  <a:srgbClr val="262626"/>
                </a:solidFill>
                <a:latin typeface="Arial"/>
                <a:cs typeface="Arial"/>
              </a:rPr>
              <a:t>21/22  +1,3 °C → output −26 %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60" dirty="0">
                <a:solidFill>
                  <a:srgbClr val="262626"/>
                </a:solidFill>
                <a:latin typeface="Arial"/>
                <a:cs typeface="Arial"/>
              </a:rPr>
              <a:t>09/10  +1,2 °C → output +10 %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7F7F7F"/>
                </a:solidFill>
                <a:latin typeface="Arial"/>
                <a:cs typeface="Arial"/>
              </a:rPr>
              <a:t>Why it can matter: heat and drought in the last weeks of fruit fill speed up ripening and lighten the beans. Found after trying 4 windows: a strong hint, not a law.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NOAA CPC ONI; USDA PSD (production, 1 000 60-kg bags, crop year Oct–Sep, July 2026 download); GPCC 1° monthly (First Guess for 2026) at 3 coffee towns; ERA5-Land daily max. temperature (Open-Meteo archive) at 10 coffee municipalities (El Paraíso ×2, Comayagua ×2, La Paz, Santa Bárbara, Copán, Ocotepeque, Yoro, Fco. Morazán), 1981 – 18 Sep 2026; 2026 values preliminary. p = 5 000 shuffles.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Nobody forecasts Honduras better than ±10–12 %: add in-season heat and exports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411480" y="118872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931774" y="150832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14,5 %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730959" y="1608625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14,1 %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530145" y="1819247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13,1 %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329330" y="2033083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12,1 %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28516" y="1960349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12,5 %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927702" y="2387955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10,5 %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26887" y="2310834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10,9 %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526073" y="2162197"/>
            <a:ext cx="73152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b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11,6 %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11480" y="950976"/>
            <a:ext cx="3200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Average miss of the production forecast, % (crop years 2000/01–2025/26; USDA: 11 years)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11480" y="5504688"/>
            <a:ext cx="6949440" cy="7772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* Model = last year's change + world price change + Dec–Mar rain; "+heat" adds coffee-zone max. temperature in Sep–Oct (known by early November, before the harvest). Mix = average of Avg 2 y and Model+heat. All refitted each year with past data only.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dirty="0">
                <a:solidFill>
                  <a:srgbClr val="262626"/>
                </a:solidFill>
                <a:latin typeface="Arial"/>
                <a:cs typeface="Arial"/>
              </a:rPr>
              <a:t>The heat window and the combinations were chosen after seeing the data: treat 10,5–10,9 % as optimistic. On USDA's 11 years: model + heat 13,2 %, USDA 11,6 %.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680960" y="11887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rgbClr val="1F3864"/>
                </a:solidFill>
                <a:latin typeface="Arial"/>
                <a:cs typeface="Arial"/>
              </a:rPr>
              <a:t>USDA first forecast of the coming crop, M bags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680960" y="1499616"/>
            <a:ext cx="100584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Crop year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686800" y="1499616"/>
            <a:ext cx="100584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USDA May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9692640" y="1499616"/>
            <a:ext cx="100584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Actual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698480" y="1499616"/>
            <a:ext cx="914400" cy="27432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Miss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80960" y="177393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11/12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8686800" y="177393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3,9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9692640" y="177393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5,60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698480" y="1773936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−30 %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680960" y="204825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12/13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686800" y="204825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5,0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9692640" y="204825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4,73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10698480" y="2048256"/>
            <a:ext cx="91440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+6 %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680960" y="232257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13/14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686800" y="232257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5,1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692640" y="232257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4,40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0698480" y="2322576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+16 %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680960" y="259689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14/15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686800" y="259689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5,0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9692640" y="259689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5,10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0698480" y="2596896"/>
            <a:ext cx="91440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−2 %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680960" y="287121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15/16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8686800" y="287121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5,9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9692640" y="287121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5,30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10698480" y="2871216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+11 %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7680960" y="314553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16/17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8686800" y="314553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6,1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692640" y="314553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7,51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0698480" y="3145536"/>
            <a:ext cx="91440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−19 %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7680960" y="341985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17/18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686800" y="341985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6,5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9692640" y="341985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7,60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698480" y="3419856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−14 %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680960" y="369417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18/19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686800" y="369417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7,3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9692640" y="369417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7,10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0698480" y="3694176"/>
            <a:ext cx="91440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+3 %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680960" y="396849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20/21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8686800" y="396849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6,1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692640" y="396849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6,50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698480" y="3968496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−6 %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680960" y="424281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21/22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8686800" y="424281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5,5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9692640" y="4242816"/>
            <a:ext cx="100584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4,80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698480" y="4242816"/>
            <a:ext cx="914400" cy="2743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+15 %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680960" y="451713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25/26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686800" y="451713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5,8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9692640" y="4517136"/>
            <a:ext cx="100584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5,53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698480" y="4517136"/>
            <a:ext cx="91440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+5 %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7680960" y="4882896"/>
            <a:ext cx="4069080" cy="11887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Misses of 14–30 % came in the turning years: 2011/12 (price boom), 2016/17 and 2017/18 (renewed plantings), 2013/14 and 2021/22 (rust).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262626"/>
                </a:solidFill>
                <a:latin typeface="Arial"/>
                <a:cs typeface="Arial"/>
              </a:rPr>
              <a:t>Price and rain add nothing out of sample; Sep–Oct heat does. The rest of the edge is in-season information: exports, rust surveys, fertiliser.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Back-test: robustness.py and the Backtest sheet. Actual = USDA production (July 2026 data), itself revised. USDA May forecasts read in USDA FAS Coffee Annual Honduras 2011–2021, 2025 (2019 not found; the 2022–2024 reports forecast the crop being harvested, not the next one).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2025/26 is bigger than USDA says: IHCAFE exports +18 %, USDA exports +1 %</a:t>
            </a:r>
          </a:p>
        </p:txBody>
      </p:sp>
      <p:graphicFrame>
        <p:nvGraphicFramePr>
          <p:cNvPr id="4" name="Chart 4"/>
          <p:cNvGraphicFramePr/>
          <p:nvPr/>
        </p:nvGraphicFramePr>
        <p:xfrm>
          <a:off x="411480" y="1234440"/>
          <a:ext cx="694944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5"/>
          <p:cNvSpPr txBox="1"/>
          <p:nvPr/>
        </p:nvSpPr>
        <p:spPr>
          <a:xfrm>
            <a:off x="411480" y="1005840"/>
            <a:ext cx="694944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7F7F7F"/>
                </a:solidFill>
                <a:latin typeface="Arial"/>
                <a:cs typeface="Arial"/>
              </a:rPr>
              <a:t>Cumulative exports since 1 October, million quintales (46 kg)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67740" y="4722592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1F3864"/>
                </a:solidFill>
                <a:latin typeface="Arial"/>
                <a:cs typeface="Arial"/>
              </a:rPr>
              <a:t>+127 %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021738" y="3378529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1F3864"/>
                </a:solidFill>
                <a:latin typeface="Arial"/>
                <a:cs typeface="Arial"/>
              </a:rPr>
              <a:t>+58 %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075737" y="2498447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1F3864"/>
                </a:solidFill>
                <a:latin typeface="Arial"/>
                <a:cs typeface="Arial"/>
              </a:rPr>
              <a:t>+38 %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29735" y="1732506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1F3864"/>
                </a:solidFill>
                <a:latin typeface="Arial"/>
                <a:cs typeface="Arial"/>
              </a:rPr>
              <a:t>+15 %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183734" y="1646833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1F3864"/>
                </a:solidFill>
                <a:latin typeface="Arial"/>
                <a:cs typeface="Arial"/>
              </a:rPr>
              <a:t>+24 %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237732" y="1470367"/>
            <a:ext cx="914400" cy="21945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1F3864"/>
                </a:solidFill>
                <a:latin typeface="Arial"/>
                <a:cs typeface="Arial"/>
              </a:rPr>
              <a:t>+18 %</a:t>
            </a:r>
          </a:p>
        </p:txBody>
      </p:sp>
      <p:sp>
        <p:nvSpPr>
          <p:cNvPr id="12" name="Shape 12"/>
          <p:cNvSpPr/>
          <p:nvPr/>
        </p:nvSpPr>
        <p:spPr>
          <a:xfrm>
            <a:off x="6795516" y="1699350"/>
            <a:ext cx="18288" cy="90674"/>
          </a:xfrm>
          <a:prstGeom prst="rect">
            <a:avLst/>
          </a:prstGeom>
          <a:solidFill>
            <a:srgbClr val="262626"/>
          </a:solidFill>
          <a:ln>
            <a:noFill/>
          </a:ln>
        </p:spPr>
      </p:sp>
      <p:sp>
        <p:nvSpPr>
          <p:cNvPr id="13" name="Shape 13"/>
          <p:cNvSpPr/>
          <p:nvPr/>
        </p:nvSpPr>
        <p:spPr>
          <a:xfrm>
            <a:off x="914400" y="5833872"/>
            <a:ext cx="164592" cy="128016"/>
          </a:xfrm>
          <a:prstGeom prst="rect">
            <a:avLst/>
          </a:prstGeom>
          <a:solidFill>
            <a:srgbClr val="D9D9D9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1197864" y="579729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2024/25 same date</a:t>
            </a:r>
          </a:p>
        </p:txBody>
      </p:sp>
      <p:sp>
        <p:nvSpPr>
          <p:cNvPr id="15" name="Shape 15"/>
          <p:cNvSpPr/>
          <p:nvPr/>
        </p:nvSpPr>
        <p:spPr>
          <a:xfrm>
            <a:off x="2277222" y="5833872"/>
            <a:ext cx="164592" cy="128016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2560686" y="5797296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00" dirty="0">
                <a:solidFill>
                  <a:srgbClr val="262626"/>
                </a:solidFill>
                <a:latin typeface="Arial"/>
                <a:cs typeface="Arial"/>
              </a:rPr>
              <a:t>2025/26 (last bar: estimate, low–high)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35240" y="1234440"/>
            <a:ext cx="306324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698480" y="1234440"/>
            <a:ext cx="1097280" cy="292608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FFFFFF"/>
                </a:solidFill>
                <a:latin typeface="Arial"/>
                <a:cs typeface="Arial"/>
              </a:rPr>
              <a:t>M bags of 60 kg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35240" y="1527048"/>
            <a:ext cx="3063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Exports to 14 Jul 2026 (IHCAFE via La Prensa)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0698480" y="1527048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5,25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35240" y="1819656"/>
            <a:ext cx="3063240" cy="29260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Full year, low (+ 290 000 qq still to ship)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0698480" y="1819656"/>
            <a:ext cx="1097280" cy="29260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5,48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635240" y="2112264"/>
            <a:ext cx="3063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Full year, high (+ 340 000 qq in Jul and Aug)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698480" y="2112264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5,63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635240" y="2404872"/>
            <a:ext cx="3063240" cy="29260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A. Exports (middle) + domestic use 0,38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698480" y="2404872"/>
            <a:ext cx="1097280" cy="29260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5,93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35240" y="2697480"/>
            <a:ext cx="3063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B. USDA 2024/25 × export growth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698480" y="2697480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6,16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35240" y="2990088"/>
            <a:ext cx="3063240" cy="29260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262626"/>
                </a:solidFill>
                <a:latin typeface="Arial"/>
                <a:cs typeface="Arial"/>
              </a:rPr>
              <a:t>Production 2025/26 implied (A, B average)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698480" y="2990088"/>
            <a:ext cx="1097280" cy="29260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262626"/>
                </a:solidFill>
                <a:latin typeface="Arial"/>
                <a:cs typeface="Arial"/>
              </a:rPr>
              <a:t>6,05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35240" y="3282696"/>
            <a:ext cx="306324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USDA production 2025/26 (May 2026)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698480" y="3282696"/>
            <a:ext cx="1097280" cy="2926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5,53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35240" y="3575304"/>
            <a:ext cx="3063240" cy="29260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USDA exports 2025/26 (May 2026)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698480" y="3575304"/>
            <a:ext cx="1097280" cy="29260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5,03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635240" y="3959352"/>
            <a:ext cx="4160520" cy="18288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 b="1" dirty="0">
                <a:solidFill>
                  <a:srgbClr val="C55A11"/>
                </a:solidFill>
                <a:latin typeface="Arial"/>
                <a:cs typeface="Arial"/>
              </a:rPr>
              <a:t>Implied − USDA: +9 %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dirty="0">
                <a:solidFill>
                  <a:srgbClr val="262626"/>
                </a:solidFill>
                <a:latin typeface="Arial"/>
                <a:cs typeface="Arial"/>
              </a:rPr>
              <a:t>The year was front-loaded (+127 % in October, +58 % to March, +24 % to mid-July): early-season growth overstated the crop. Do not extrapolate Oct–Dec 2026 either.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50" b="1" dirty="0">
                <a:solidFill>
                  <a:srgbClr val="262626"/>
                </a:solidFill>
                <a:latin typeface="Arial"/>
                <a:cs typeface="Arial"/>
              </a:rPr>
              <a:t>USDA's "+9 % in 2026/27" starts from a 2025/26 base that is about 9 % too low.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Pages read in raw/coffee_zones/press: La Prensa 5 Nov 2025, 4 Mar, 3 Jul, 15 Jul 2026; El Heraldo 4 May 2026 (all quoting IHCAFE). 2024/25 same-date figures as printed; two of them disagree (see Exports_nowcast). USDA: PSD and Coffee Annual Honduras, May 2026. 1 bag of 60 kg = 1,304 quintales.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411480" y="201168"/>
            <a:ext cx="1133856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 b="1" dirty="0">
                <a:solidFill>
                  <a:srgbClr val="1F3864"/>
                </a:solidFill>
                <a:latin typeface="Arial"/>
                <a:cs typeface="Arial"/>
              </a:rPr>
              <a:t>2026/27: about 5,5 M bags (4,9–6,1), −8 % on 2025/26; heat is the swing factor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411480" y="1097280"/>
            <a:ext cx="214884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dirty="0">
                <a:solidFill>
                  <a:srgbClr val="FFFFFF"/>
                </a:solidFill>
                <a:latin typeface="Arial"/>
                <a:cs typeface="Arial"/>
              </a:rPr>
              <a:t>Driver, 2026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560320" y="1097280"/>
            <a:ext cx="169164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4251960" y="1097280"/>
            <a:ext cx="150876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dirty="0">
                <a:solidFill>
                  <a:srgbClr val="FFFFFF"/>
                </a:solidFill>
                <a:latin typeface="Arial"/>
                <a:cs typeface="Arial"/>
              </a:rPr>
              <a:t>Evidence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760720" y="1097280"/>
            <a:ext cx="1737360" cy="310896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dirty="0">
                <a:solidFill>
                  <a:srgbClr val="FFFFFF"/>
                </a:solidFill>
                <a:latin typeface="Arial"/>
                <a:cs typeface="Arial"/>
              </a:rPr>
              <a:t>For 2026/27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411480" y="1408176"/>
            <a:ext cx="2148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2025/26 shock (IHCAFE exports)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560320" y="1408176"/>
            <a:ext cx="16916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+16 % output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251960" y="1408176"/>
            <a:ext cx="15087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mean reversion: robust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760720" y="1408176"/>
            <a:ext cx="17373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dirty="0">
                <a:solidFill>
                  <a:srgbClr val="C00000"/>
                </a:solidFill>
                <a:latin typeface="Arial"/>
                <a:cs typeface="Arial"/>
              </a:rPr>
              <a:t>− part does not repeat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11480" y="1719072"/>
            <a:ext cx="21488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Heat, coffee zones, 1–18 Sep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60320" y="1719072"/>
            <a:ext cx="16916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+2,0 °C (above any Sep)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251960" y="1719072"/>
            <a:ext cx="150876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Sep–Oct: r = −0,45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5760720" y="1719072"/>
            <a:ext cx="173736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dirty="0">
                <a:solidFill>
                  <a:srgbClr val="C00000"/>
                </a:solidFill>
                <a:latin typeface="Arial"/>
                <a:cs typeface="Arial"/>
              </a:rPr>
              <a:t>− heat before harvest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11480" y="2029968"/>
            <a:ext cx="2148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Rain Jun–Aug (fruit fill)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560320" y="2029968"/>
            <a:ext cx="16916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−45 %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51960" y="2029968"/>
            <a:ext cx="15087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no link in history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5760720" y="2029968"/>
            <a:ext cx="17373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dirty="0">
                <a:solidFill>
                  <a:srgbClr val="C00000"/>
                </a:solidFill>
                <a:latin typeface="Arial"/>
                <a:cs typeface="Arial"/>
              </a:rPr>
              <a:t>− outside history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1480" y="2340864"/>
            <a:ext cx="21488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Fertiliser: urea price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60320" y="2340864"/>
            <a:ext cx="16916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560 $/t (+33 %)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51960" y="2340864"/>
            <a:ext cx="150876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nitrogen: tightest link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5760720" y="2340864"/>
            <a:ext cx="173736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dirty="0">
                <a:solidFill>
                  <a:srgbClr val="C00000"/>
                </a:solidFill>
                <a:latin typeface="Arial"/>
                <a:cs typeface="Arial"/>
              </a:rPr>
              <a:t>− dearer nitrogen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11480" y="2651760"/>
            <a:ext cx="2148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Cash: export revenue to 14 Jul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2560320" y="2651760"/>
            <a:ext cx="16916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2 158 M$ (record)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251960" y="2651760"/>
            <a:ext cx="15087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weak link (p = 0,06)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760720" y="2651760"/>
            <a:ext cx="17373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dirty="0">
                <a:solidFill>
                  <a:srgbClr val="2E7D32"/>
                </a:solidFill>
                <a:latin typeface="Arial"/>
                <a:cs typeface="Arial"/>
              </a:rPr>
              <a:t>+ money for inputs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411480" y="2962656"/>
            <a:ext cx="21488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Rain Dec–Mar (before flowering)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2560320" y="2962656"/>
            <a:ext cx="16916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+43 %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251960" y="2962656"/>
            <a:ext cx="150876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weak alone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5760720" y="2962656"/>
            <a:ext cx="173736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dirty="0">
                <a:solidFill>
                  <a:srgbClr val="2E7D32"/>
                </a:solidFill>
                <a:latin typeface="Arial"/>
                <a:cs typeface="Arial"/>
              </a:rPr>
              <a:t>+ moist flowering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411480" y="3273552"/>
            <a:ext cx="21488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Rust incidence (end Jan 2026)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560320" y="3273552"/>
            <a:ext cx="169164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8,44 % (7,57 before)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4251960" y="3273552"/>
            <a:ext cx="15087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2012/13: 25 % of area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5760720" y="3273552"/>
            <a:ext cx="1737360" cy="310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dirty="0">
                <a:solidFill>
                  <a:srgbClr val="C55A11"/>
                </a:solidFill>
                <a:latin typeface="Arial"/>
                <a:cs typeface="Arial"/>
              </a:rPr>
              <a:t>− mild, yellow alert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11480" y="3584448"/>
            <a:ext cx="21488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El Niño (ONI Jun–Aug)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2560320" y="3584448"/>
            <a:ext cx="169164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1,8, very strong by Dec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4251960" y="3584448"/>
            <a:ext cx="150876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acts through heat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760720" y="3584448"/>
            <a:ext cx="1737360" cy="31089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ctr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b="1" dirty="0">
                <a:solidFill>
                  <a:srgbClr val="C55A11"/>
                </a:solidFill>
                <a:latin typeface="Arial"/>
                <a:cs typeface="Arial"/>
              </a:rPr>
              <a:t>≈ bigger risk for 2027/28</a:t>
            </a:r>
          </a:p>
        </p:txBody>
      </p:sp>
      <p:graphicFrame>
        <p:nvGraphicFramePr>
          <p:cNvPr id="40" name="Chart 40"/>
          <p:cNvGraphicFramePr/>
          <p:nvPr/>
        </p:nvGraphicFramePr>
        <p:xfrm>
          <a:off x="7635240" y="1371600"/>
          <a:ext cx="416052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1" name="TextBox 41"/>
          <p:cNvSpPr txBox="1"/>
          <p:nvPr/>
        </p:nvSpPr>
        <p:spPr>
          <a:xfrm>
            <a:off x="8038490" y="1917418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262626"/>
                </a:solidFill>
                <a:latin typeface="Arial"/>
                <a:cs typeface="Arial"/>
              </a:rPr>
              <a:t>6,03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8561527" y="2067780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5,61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084564" y="178943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6,39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9607601" y="2006637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5,78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30638" y="2114312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5,48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0653674" y="2216341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5,19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1176711" y="2091184"/>
            <a:ext cx="548640" cy="20116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 b="1" dirty="0">
                <a:solidFill>
                  <a:srgbClr val="FFFFFF"/>
                </a:solidFill>
                <a:latin typeface="Arial"/>
                <a:cs typeface="Arial"/>
              </a:rPr>
              <a:t>5,54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7635240" y="1097280"/>
            <a:ext cx="4160520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80" dirty="0">
                <a:solidFill>
                  <a:srgbClr val="7F7F7F"/>
                </a:solidFill>
                <a:latin typeface="Arial"/>
                <a:cs typeface="Arial"/>
              </a:rPr>
              <a:t>2026/27 production, M bags (on the export-implied base)</a:t>
            </a:r>
          </a:p>
        </p:txBody>
      </p:sp>
      <p:sp>
        <p:nvSpPr>
          <p:cNvPr id="49" name="Shape 49"/>
          <p:cNvSpPr/>
          <p:nvPr/>
        </p:nvSpPr>
        <p:spPr>
          <a:xfrm>
            <a:off x="8051292" y="1857063"/>
            <a:ext cx="3661258" cy="18288"/>
          </a:xfrm>
          <a:prstGeom prst="rect">
            <a:avLst/>
          </a:prstGeom>
          <a:solidFill>
            <a:srgbClr val="1F3864"/>
          </a:solidFill>
          <a:ln>
            <a:noFill/>
          </a:ln>
        </p:spPr>
      </p:sp>
      <p:sp>
        <p:nvSpPr>
          <p:cNvPr id="50" name="TextBox 50"/>
          <p:cNvSpPr txBox="1"/>
          <p:nvPr/>
        </p:nvSpPr>
        <p:spPr>
          <a:xfrm>
            <a:off x="7635240" y="4526280"/>
            <a:ext cx="4160520" cy="10972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Dashed: 2025/26 implied by exports, 6,05. Orange: model with Sep–Oct heat at +0,9 / +1,4 / +2,0 °C. Mix = Avg 2 y and central (back-test miss 10,9 % = the range).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19" dirty="0">
                <a:solidFill>
                  <a:srgbClr val="262626"/>
                </a:solidFill>
                <a:latin typeface="Arial"/>
                <a:cs typeface="Arial"/>
              </a:rPr>
              <a:t>Without the heat term the mix gives 5,99.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11480" y="3986784"/>
            <a:ext cx="7086600" cy="118872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txBody>
          <a:bodyPr wrap="square" lIns="36576" tIns="27432" rIns="36576" bIns="27432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950" b="1" dirty="0">
                <a:solidFill>
                  <a:srgbClr val="1F3864"/>
                </a:solidFill>
                <a:latin typeface="Arial"/>
                <a:cs typeface="Arial"/>
              </a:rPr>
              <a:t>What to watch, in order</a:t>
            </a:r>
          </a:p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40" dirty="0">
                <a:solidFill>
                  <a:srgbClr val="262626"/>
                </a:solidFill>
                <a:latin typeface="Arial"/>
                <a:cs typeface="Arial"/>
              </a:rPr>
              <a:t>1. Temperatures for the rest of Sep and Oct 2026 in the coffee zones · 2. the final 2025/26 export total · 3. IHCAFE exports Nov 2026–Feb 2027 (2025/26 was front-loaded) · 4. IHCAFE rust bulletins · 5. fertiliser imports and urea price · 6. rain Dec 2026–Apr 2027 for the 2027/28 flowering (El Niño).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411480" y="6355080"/>
            <a:ext cx="11338560" cy="38404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750" dirty="0">
                <a:solidFill>
                  <a:srgbClr val="7F7F7F"/>
                </a:solidFill>
                <a:latin typeface="Arial"/>
                <a:cs typeface="Arial"/>
              </a:rPr>
              <a:t>Forecast_2026_27 and Exports_nowcast sheets. World Bank Pink Sheet (Jan–Aug 2026); GPCC First Guess 2026; ERA5-Land (Open-Meteo, to 18 Sep 2026, preliminary); El Heraldo 15 Feb 2026 (rust); La Prensa 15 Jul 2026 (revenue); NOAA CPC ENSO discussion 10 Sep 2026; USDA Coffee Annual Honduras May 2026 (6,03 M).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usson">
  <a:themeElements>
    <a:clrScheme name="Mousson">
      <a:dk1>
        <a:srgbClr val="1F2A30"/>
      </a:dk1>
      <a:lt1>
        <a:srgbClr val="FFFFFF"/>
      </a:lt1>
      <a:dk2>
        <a:srgbClr val="123A46"/>
      </a:dk2>
      <a:lt2>
        <a:srgbClr val="EEF4F7"/>
      </a:lt2>
      <a:accent1>
        <a:srgbClr val="2F7FC1"/>
      </a:accent1>
      <a:accent2>
        <a:srgbClr val="D9622B"/>
      </a:accent2>
      <a:accent3>
        <a:srgbClr val="8C969B"/>
      </a:accent3>
      <a:accent4>
        <a:srgbClr val="1E9E6A"/>
      </a:accent4>
      <a:accent5>
        <a:srgbClr val="123A46"/>
      </a:accent5>
      <a:accent6>
        <a:srgbClr val="E8A33D"/>
      </a:accent6>
      <a:hlink>
        <a:srgbClr val="2F7FC1"/>
      </a:hlink>
      <a:folHlink>
        <a:srgbClr val="5B6770"/>
      </a:folHlink>
    </a:clrScheme>
    <a:fontScheme name="Mousson">
      <a:majorFont>
        <a:latin typeface="Cambria"/>
        <a:ea typeface=""/>
        <a:cs typeface=""/>
      </a:majorFont>
      <a:minorFont>
        <a:latin typeface="Arial"/>
        <a:ea typeface=""/>
        <a:cs typeface=""/>
      </a:minorFont>
    </a:fontScheme>
    <a:fmtScheme name="Mou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9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Honduras coffee: what drives output, and 2026/27</dc:title>
  <dc:language>fr-FR</dc:language>
</cp:coreProperties>
</file>